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34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7997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03520" y="0"/>
            <a:ext cx="6858000" cy="6858000"/>
          </a:xfrm>
          <a:prstGeom prst="rect">
            <a:avLst/>
          </a:prstGeom>
          <a:solidFill>
            <a:srgbClr val="F0F5FF"/>
          </a:solidFill>
          <a:ln w="12700">
            <a:solidFill>
              <a:srgbClr val="F0F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0" y="-1371600"/>
            <a:ext cx="5029200" cy="5029200"/>
          </a:xfrm>
          <a:prstGeom prst="ellipse">
            <a:avLst/>
          </a:prstGeom>
          <a:solidFill>
            <a:srgbClr val="DBEAFE">
              <a:alpha val="70000"/>
            </a:srgbClr>
          </a:solidFill>
          <a:ln w="254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0" y="1828800"/>
            <a:ext cx="2926080" cy="2926080"/>
          </a:xfrm>
          <a:prstGeom prst="ellipse">
            <a:avLst/>
          </a:prstGeom>
          <a:solidFill>
            <a:srgbClr val="EEF4FF"/>
          </a:solidFill>
          <a:ln w="12700">
            <a:solidFill>
              <a:srgbClr val="C7D9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EXECUTIVE BRIEFING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011680" cy="0"/>
          </a:xfrm>
          <a:prstGeom prst="line">
            <a:avLst/>
          </a:prstGeom>
          <a:noFill/>
          <a:ln w="3175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SDLC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Reimagining Software Delivery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AI-Native Agent Workflows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846320"/>
            <a:ext cx="4206240" cy="438912"/>
          </a:xfrm>
          <a:prstGeom prst="roundRect">
            <a:avLst>
              <a:gd name="adj" fmla="val 12500"/>
            </a:avLst>
          </a:prstGeom>
          <a:solidFill>
            <a:srgbClr val="132A52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500 Enterprise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5413248"/>
            <a:ext cx="4206240" cy="438912"/>
          </a:xfrm>
          <a:prstGeom prst="roundRect">
            <a:avLst>
              <a:gd name="adj" fmla="val 12500"/>
            </a:avLst>
          </a:prstGeom>
          <a:solidFill>
            <a:srgbClr val="132A52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541324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5980176"/>
            <a:ext cx="4206240" cy="438912"/>
          </a:xfrm>
          <a:prstGeom prst="roundRect">
            <a:avLst>
              <a:gd name="adj" fmla="val 12500"/>
            </a:avLst>
          </a:prstGeom>
          <a:solidFill>
            <a:srgbClr val="132A52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5980176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Strategy Practice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0" y="3200400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760720" y="327355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760720" y="393192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Assessed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63840" y="3200400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63840" y="327355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7863840" y="393192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Phases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966960" y="3200400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966960" y="327355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9966960" y="393192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to Transform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77840" y="48463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Agent Portfolio Assessment &amp; Transformation Strategy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Structured Narrative from Current Pain to Future Value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704320" y="669340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658368" cy="960120"/>
          </a:xfrm>
          <a:prstGeom prst="roundRect">
            <a:avLst>
              <a:gd name="adj" fmla="val 11111"/>
            </a:avLst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960120"/>
            <a:ext cx="658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88136" y="106984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8136" y="14538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agentic AI now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075688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075688"/>
            <a:ext cx="658368" cy="960120"/>
          </a:xfrm>
          <a:prstGeom prst="roundRect">
            <a:avLst>
              <a:gd name="adj" fmla="val 11111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2075688"/>
            <a:ext cx="658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88136" y="218541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Assessment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88136" y="25694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SDLC breaks down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191256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3191256"/>
            <a:ext cx="658368" cy="960120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3191256"/>
            <a:ext cx="658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88136" y="330098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Automation Propensity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88136" y="36850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of automation potential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4306824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" y="4306824"/>
            <a:ext cx="658368" cy="960120"/>
          </a:xfrm>
          <a:prstGeom prst="roundRect">
            <a:avLst>
              <a:gd name="adj" fmla="val 1111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306824"/>
            <a:ext cx="658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88136" y="44165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Landscape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0040" y="5422392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" y="5422392"/>
            <a:ext cx="658368" cy="960120"/>
          </a:xfrm>
          <a:prstGeom prst="roundRect">
            <a:avLst>
              <a:gd name="adj" fmla="val 1111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0040" y="5422392"/>
            <a:ext cx="658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88136" y="55321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vs  Impact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06424" y="4853153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Dev, Ops &amp; Horizontal agents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09360" y="960120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309360" y="960120"/>
            <a:ext cx="658368" cy="960120"/>
          </a:xfrm>
          <a:prstGeom prst="roundRect">
            <a:avLst>
              <a:gd name="adj" fmla="val 11111"/>
            </a:avLst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09360" y="960120"/>
            <a:ext cx="658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77456" y="106984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cs typeface="Calibri" pitchFamily="34" charset="-120"/>
              </a:rPr>
              <a:t>POC’s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309360" y="2075688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309360" y="2075688"/>
            <a:ext cx="658368" cy="960120"/>
          </a:xfrm>
          <a:prstGeom prst="roundRect">
            <a:avLst>
              <a:gd name="adj" fmla="val 11111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309360" y="2075688"/>
            <a:ext cx="658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077456" y="218541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cs typeface="Calibri" pitchFamily="34" charset="-120"/>
              </a:rPr>
              <a:t>Conceptual Solution Architecture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077456" y="148379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use cases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09360" y="3191256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309360" y="3191256"/>
            <a:ext cx="658368" cy="960120"/>
          </a:xfrm>
          <a:prstGeom prst="roundRect">
            <a:avLst>
              <a:gd name="adj" fmla="val 1111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309360" y="3191256"/>
            <a:ext cx="658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077456" y="330098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Benefits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088136" y="5916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· Investment 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09360" y="4306824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309360" y="4306824"/>
            <a:ext cx="658368" cy="960120"/>
          </a:xfrm>
          <a:prstGeom prst="roundRect">
            <a:avLst>
              <a:gd name="adj" fmla="val 1111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309360" y="4306824"/>
            <a:ext cx="658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077456" y="44165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077456" y="4800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309360" y="5422392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309360" y="5422392"/>
            <a:ext cx="658368" cy="960120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309360" y="5422392"/>
            <a:ext cx="658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077456" y="55321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7077456" y="5916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77456" y="25943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&amp; interaction model</a:t>
            </a:r>
            <a:endParaRPr lang="en-US" sz="1000" dirty="0"/>
          </a:p>
        </p:txBody>
      </p:sp>
      <p:sp>
        <p:nvSpPr>
          <p:cNvPr id="58" name="Text 50">
            <a:extLst>
              <a:ext uri="{FF2B5EF4-FFF2-40B4-BE49-F238E27FC236}">
                <a16:creationId xmlns:a16="http://schemas.microsoft.com/office/drawing/2014/main" id="{89D8047D-E13B-BFD9-3290-D61E342A1ECC}"/>
              </a:ext>
            </a:extLst>
          </p:cNvPr>
          <p:cNvSpPr/>
          <p:nvPr/>
        </p:nvSpPr>
        <p:spPr>
          <a:xfrm>
            <a:off x="7077456" y="3668955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Enterprise Value Realization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Agentic AI. Why Now.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704320" y="669340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2651760" cy="109728"/>
          </a:xfrm>
          <a:prstGeom prst="roundRect">
            <a:avLst>
              <a:gd name="adj" fmla="val 83333"/>
            </a:avLst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143000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5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11480" y="19385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Gap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24942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sprint capacity lost to non-coding tasks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96012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54680" y="960120"/>
            <a:ext cx="2651760" cy="109728"/>
          </a:xfrm>
          <a:prstGeom prst="roundRect">
            <a:avLst>
              <a:gd name="adj" fmla="val 8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54680" y="1143000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3.2×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3246120" y="19385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Debt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46120" y="224942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fix a defect in production vs. design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89320" y="96012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89320" y="960120"/>
            <a:ext cx="2651760" cy="109728"/>
          </a:xfrm>
          <a:prstGeom prst="roundRect">
            <a:avLst>
              <a:gd name="adj" fmla="val 83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89320" y="1143000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080760" y="19385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Pressure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80760" y="224942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engineering leaders cite skills shortage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778240" y="1280160"/>
            <a:ext cx="0" cy="347472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915400" y="960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OUTCOMES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915400" y="1353312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EEF4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006840" y="1371600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5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40–60%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012680" y="137160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manual effort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915400" y="2157984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EEF4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006840" y="2176272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5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012680" y="217627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time-to-production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915400" y="2962656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EEF4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006840" y="2980944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5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0012680" y="2980944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escape rate reduction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915400" y="3767328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EEF4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006840" y="3785616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5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4×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0012680" y="3785616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coverage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5074920"/>
            <a:ext cx="8321040" cy="566928"/>
          </a:xfrm>
          <a:prstGeom prst="roundRect">
            <a:avLst>
              <a:gd name="adj" fmla="val 12903"/>
            </a:avLst>
          </a:prstGeom>
          <a:solidFill>
            <a:srgbClr val="EEF4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" y="50749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INSIGHT:  Only 22% of the SDLC cycle is value-adding development work. Agentic AI targets the remaining 78%.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040" y="5760720"/>
            <a:ext cx="2651760" cy="411480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20040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5 Agents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154680" y="5760720"/>
            <a:ext cx="2651760" cy="411480"/>
          </a:xfrm>
          <a:prstGeom prst="roundRect">
            <a:avLst>
              <a:gd name="adj" fmla="val 13333"/>
            </a:avLst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154680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8 Agents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89320" y="5760720"/>
            <a:ext cx="2651760" cy="41148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989320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9 Agents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CURRENT-STATE ASSESSMENT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SDLC Value Stream — Where Time and Value Are Lost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704320" y="669340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1877568" cy="960120"/>
          </a:xfrm>
          <a:prstGeom prst="roundRect">
            <a:avLst>
              <a:gd name="adj" fmla="val 761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960120"/>
            <a:ext cx="1877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1572768"/>
            <a:ext cx="1877568" cy="182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8600" y="1572768"/>
            <a:ext cx="1877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Avg: 8d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06168" y="1426464"/>
            <a:ext cx="54864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8600" y="2029968"/>
            <a:ext cx="1877568" cy="475488"/>
          </a:xfrm>
          <a:prstGeom prst="roundRect">
            <a:avLst>
              <a:gd name="adj" fmla="val 11538"/>
            </a:avLst>
          </a:prstGeom>
          <a:solidFill>
            <a:srgbClr val="FEE2E2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029968"/>
            <a:ext cx="1786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Ambiguity &amp; rework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179320" y="960120"/>
            <a:ext cx="1877568" cy="960120"/>
          </a:xfrm>
          <a:prstGeom prst="roundRect">
            <a:avLst>
              <a:gd name="adj" fmla="val 761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179320" y="960120"/>
            <a:ext cx="1877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79320" y="1572768"/>
            <a:ext cx="1877568" cy="182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179320" y="1572768"/>
            <a:ext cx="1877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Avg: 5d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056888" y="1426464"/>
            <a:ext cx="54864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179320" y="2029968"/>
            <a:ext cx="1877568" cy="475488"/>
          </a:xfrm>
          <a:prstGeom prst="roundRect">
            <a:avLst>
              <a:gd name="adj" fmla="val 11538"/>
            </a:avLst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225040" y="2029968"/>
            <a:ext cx="1786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Manual decisions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30040" y="960120"/>
            <a:ext cx="1877568" cy="960120"/>
          </a:xfrm>
          <a:prstGeom prst="roundRect">
            <a:avLst>
              <a:gd name="adj" fmla="val 761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30040" y="960120"/>
            <a:ext cx="1877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30040" y="1572768"/>
            <a:ext cx="1877568" cy="182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30040" y="1572768"/>
            <a:ext cx="1877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Avg: 12d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07608" y="1426464"/>
            <a:ext cx="54864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130040" y="2029968"/>
            <a:ext cx="1877568" cy="475488"/>
          </a:xfrm>
          <a:prstGeom prst="roundRect">
            <a:avLst>
              <a:gd name="adj" fmla="val 11538"/>
            </a:avLst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75760" y="2029968"/>
            <a:ext cx="1786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Context switching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80760" y="960120"/>
            <a:ext cx="1877568" cy="960120"/>
          </a:xfrm>
          <a:prstGeom prst="roundRect">
            <a:avLst>
              <a:gd name="adj" fmla="val 761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080760" y="960120"/>
            <a:ext cx="1877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80760" y="1572768"/>
            <a:ext cx="1877568" cy="182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080760" y="1572768"/>
            <a:ext cx="1877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Avg: 9d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958328" y="1426464"/>
            <a:ext cx="54864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080760" y="2029968"/>
            <a:ext cx="1877568" cy="475488"/>
          </a:xfrm>
          <a:prstGeom prst="roundRect">
            <a:avLst>
              <a:gd name="adj" fmla="val 11538"/>
            </a:avLst>
          </a:prstGeom>
          <a:solidFill>
            <a:srgbClr val="FEE2E2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126480" y="2029968"/>
            <a:ext cx="1786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Manual test authoring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031480" y="960120"/>
            <a:ext cx="1877568" cy="960120"/>
          </a:xfrm>
          <a:prstGeom prst="roundRect">
            <a:avLst>
              <a:gd name="adj" fmla="val 761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031480" y="960120"/>
            <a:ext cx="1877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031480" y="1572768"/>
            <a:ext cx="1877568" cy="182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031480" y="1572768"/>
            <a:ext cx="1877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Avg: 3d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909048" y="1426464"/>
            <a:ext cx="54864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031480" y="2029968"/>
            <a:ext cx="1877568" cy="475488"/>
          </a:xfrm>
          <a:prstGeom prst="roundRect">
            <a:avLst>
              <a:gd name="adj" fmla="val 11538"/>
            </a:avLst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077200" y="2029968"/>
            <a:ext cx="1786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Manual pipelines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982200" y="960120"/>
            <a:ext cx="1877568" cy="960120"/>
          </a:xfrm>
          <a:prstGeom prst="roundRect">
            <a:avLst>
              <a:gd name="adj" fmla="val 761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982200" y="960120"/>
            <a:ext cx="1877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982200" y="1572768"/>
            <a:ext cx="1877568" cy="182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982200" y="1572768"/>
            <a:ext cx="1877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Avg: Ongoing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982200" y="2029968"/>
            <a:ext cx="1877568" cy="475488"/>
          </a:xfrm>
          <a:prstGeom prst="roundRect">
            <a:avLst>
              <a:gd name="adj" fmla="val 11538"/>
            </a:avLst>
          </a:prstGeom>
          <a:solidFill>
            <a:srgbClr val="FEE2E2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0027920" y="2029968"/>
            <a:ext cx="1786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Alert fatigue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28600" y="2743200"/>
            <a:ext cx="2834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28600" y="2788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6–8 weeks</a:t>
            </a:r>
            <a:endParaRPr lang="en-US" sz="2800" dirty="0"/>
          </a:p>
        </p:txBody>
      </p:sp>
      <p:sp>
        <p:nvSpPr>
          <p:cNvPr id="51" name="Text 49"/>
          <p:cNvSpPr/>
          <p:nvPr/>
        </p:nvSpPr>
        <p:spPr>
          <a:xfrm>
            <a:off x="320040" y="33101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Lead Time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20040" y="35661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to prod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227832" y="2743200"/>
            <a:ext cx="2834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227832" y="2788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22%</a:t>
            </a:r>
            <a:endParaRPr lang="en-US" sz="2800" dirty="0"/>
          </a:p>
        </p:txBody>
      </p:sp>
      <p:sp>
        <p:nvSpPr>
          <p:cNvPr id="55" name="Text 53"/>
          <p:cNvSpPr/>
          <p:nvPr/>
        </p:nvSpPr>
        <p:spPr>
          <a:xfrm>
            <a:off x="3319272" y="33101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Value-Add Ratio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319272" y="35661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cycle is actual dev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227064" y="2743200"/>
            <a:ext cx="2834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227064" y="2788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18–25%</a:t>
            </a:r>
            <a:endParaRPr lang="en-US" sz="2800" dirty="0"/>
          </a:p>
        </p:txBody>
      </p:sp>
      <p:sp>
        <p:nvSpPr>
          <p:cNvPr id="59" name="Text 57"/>
          <p:cNvSpPr/>
          <p:nvPr/>
        </p:nvSpPr>
        <p:spPr>
          <a:xfrm>
            <a:off x="6318504" y="33101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Escape Rate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318504" y="35661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production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9226296" y="2743200"/>
            <a:ext cx="2834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9226296" y="2788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</a:t>
            </a:r>
            <a:endParaRPr lang="en-US" sz="2800" dirty="0"/>
          </a:p>
        </p:txBody>
      </p:sp>
      <p:sp>
        <p:nvSpPr>
          <p:cNvPr id="63" name="Text 61"/>
          <p:cNvSpPr/>
          <p:nvPr/>
        </p:nvSpPr>
        <p:spPr>
          <a:xfrm>
            <a:off x="9317736" y="33101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 Index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9317736" y="35661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ops tasks manual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28600" y="4041648"/>
            <a:ext cx="11704320" cy="548640"/>
          </a:xfrm>
          <a:prstGeom prst="roundRect">
            <a:avLst>
              <a:gd name="adj" fmla="val 13333"/>
            </a:avLst>
          </a:prstGeom>
          <a:solidFill>
            <a:srgbClr val="EEF4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4114800"/>
            <a:ext cx="320040" cy="320040"/>
          </a:xfrm>
          <a:prstGeom prst="rect">
            <a:avLst/>
          </a:prstGeom>
        </p:spPr>
      </p:pic>
      <p:sp>
        <p:nvSpPr>
          <p:cNvPr id="67" name="Text 64"/>
          <p:cNvSpPr/>
          <p:nvPr/>
        </p:nvSpPr>
        <p:spPr>
          <a:xfrm>
            <a:off x="749808" y="4059936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22% of the typical SDLC cycle is value-adding development work. Agentic AI can compress the remaining 78% by automating handoffs, reviews, and operational toil.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2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AUTOMATION PROPENSITY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Coverage Mapped Across SDLC Stages 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704320" y="669340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932688"/>
            <a:ext cx="1911096" cy="621792"/>
          </a:xfrm>
          <a:prstGeom prst="roundRect">
            <a:avLst>
              <a:gd name="adj" fmla="val 10294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0058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6928" y="932688"/>
            <a:ext cx="1453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82880" y="166420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37744" y="1682496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Elicitation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37744" y="1984248"/>
            <a:ext cx="1801368" cy="164592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37744" y="198424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182880" y="225856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37744" y="2276856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Generator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37744" y="2578608"/>
            <a:ext cx="1801368" cy="164592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37744" y="25786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182880" y="285292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37744" y="2871216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Sizing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37744" y="3172968"/>
            <a:ext cx="1801368" cy="164592"/>
          </a:xfrm>
          <a:prstGeom prst="roundRect">
            <a:avLst>
              <a:gd name="adj" fmla="val 16667"/>
            </a:avLst>
          </a:prstGeom>
          <a:solidFill>
            <a:srgbClr val="E5E7E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37744" y="317296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182880" y="344728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237744" y="3465576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Mapper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37744" y="3767328"/>
            <a:ext cx="1801368" cy="164592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237744" y="376732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2148840" y="932688"/>
            <a:ext cx="1911096" cy="621792"/>
          </a:xfrm>
          <a:prstGeom prst="roundRect">
            <a:avLst>
              <a:gd name="adj" fmla="val 10294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1992" y="1005840"/>
            <a:ext cx="274320" cy="2743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2532888" y="932688"/>
            <a:ext cx="1453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2148840" y="166420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2203704" y="1682496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Advisor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2203704" y="1984248"/>
            <a:ext cx="1801368" cy="164592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2203704" y="198424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2148840" y="225856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2203704" y="2276856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2203704" y="2578608"/>
            <a:ext cx="1801368" cy="164592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2203704" y="25786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8" name="Shape 34"/>
          <p:cNvSpPr/>
          <p:nvPr/>
        </p:nvSpPr>
        <p:spPr>
          <a:xfrm>
            <a:off x="2148840" y="285292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2203704" y="2871216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Modelling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2203704" y="3172968"/>
            <a:ext cx="1801368" cy="164592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2203704" y="317296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42" name="Shape 38"/>
          <p:cNvSpPr/>
          <p:nvPr/>
        </p:nvSpPr>
        <p:spPr>
          <a:xfrm>
            <a:off x="4114800" y="932688"/>
            <a:ext cx="1911096" cy="621792"/>
          </a:xfrm>
          <a:prstGeom prst="roundRect">
            <a:avLst>
              <a:gd name="adj" fmla="val 10294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7952" y="1005840"/>
            <a:ext cx="274320" cy="274320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4498848" y="932688"/>
            <a:ext cx="1453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050" dirty="0"/>
          </a:p>
        </p:txBody>
      </p:sp>
      <p:sp>
        <p:nvSpPr>
          <p:cNvPr id="45" name="Shape 40"/>
          <p:cNvSpPr/>
          <p:nvPr/>
        </p:nvSpPr>
        <p:spPr>
          <a:xfrm>
            <a:off x="4114800" y="166420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1"/>
          <p:cNvSpPr/>
          <p:nvPr/>
        </p:nvSpPr>
        <p:spPr>
          <a:xfrm>
            <a:off x="4169664" y="1682496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950" dirty="0"/>
          </a:p>
        </p:txBody>
      </p:sp>
      <p:sp>
        <p:nvSpPr>
          <p:cNvPr id="47" name="Shape 42"/>
          <p:cNvSpPr/>
          <p:nvPr/>
        </p:nvSpPr>
        <p:spPr>
          <a:xfrm>
            <a:off x="4169664" y="1984248"/>
            <a:ext cx="1801368" cy="164592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3"/>
          <p:cNvSpPr/>
          <p:nvPr/>
        </p:nvSpPr>
        <p:spPr>
          <a:xfrm>
            <a:off x="4169664" y="198424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49" name="Shape 44"/>
          <p:cNvSpPr/>
          <p:nvPr/>
        </p:nvSpPr>
        <p:spPr>
          <a:xfrm>
            <a:off x="4114800" y="225856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5"/>
          <p:cNvSpPr/>
          <p:nvPr/>
        </p:nvSpPr>
        <p:spPr>
          <a:xfrm>
            <a:off x="4169664" y="2276856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Programming</a:t>
            </a:r>
            <a:endParaRPr lang="en-US" sz="950" dirty="0"/>
          </a:p>
        </p:txBody>
      </p:sp>
      <p:sp>
        <p:nvSpPr>
          <p:cNvPr id="51" name="Shape 46"/>
          <p:cNvSpPr/>
          <p:nvPr/>
        </p:nvSpPr>
        <p:spPr>
          <a:xfrm>
            <a:off x="4169664" y="2578608"/>
            <a:ext cx="1801368" cy="164592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7"/>
          <p:cNvSpPr/>
          <p:nvPr/>
        </p:nvSpPr>
        <p:spPr>
          <a:xfrm>
            <a:off x="4169664" y="25786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53" name="Shape 48"/>
          <p:cNvSpPr/>
          <p:nvPr/>
        </p:nvSpPr>
        <p:spPr>
          <a:xfrm>
            <a:off x="4114800" y="285292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9"/>
          <p:cNvSpPr/>
          <p:nvPr/>
        </p:nvSpPr>
        <p:spPr>
          <a:xfrm>
            <a:off x="4169664" y="2871216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950" dirty="0"/>
          </a:p>
        </p:txBody>
      </p:sp>
      <p:sp>
        <p:nvSpPr>
          <p:cNvPr id="55" name="Shape 50"/>
          <p:cNvSpPr/>
          <p:nvPr/>
        </p:nvSpPr>
        <p:spPr>
          <a:xfrm>
            <a:off x="4169664" y="3172968"/>
            <a:ext cx="1801368" cy="164592"/>
          </a:xfrm>
          <a:prstGeom prst="roundRect">
            <a:avLst>
              <a:gd name="adj" fmla="val 16667"/>
            </a:avLst>
          </a:prstGeom>
          <a:solidFill>
            <a:srgbClr val="E5E7E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1"/>
          <p:cNvSpPr/>
          <p:nvPr/>
        </p:nvSpPr>
        <p:spPr>
          <a:xfrm>
            <a:off x="4169664" y="317296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57" name="Shape 52"/>
          <p:cNvSpPr/>
          <p:nvPr/>
        </p:nvSpPr>
        <p:spPr>
          <a:xfrm>
            <a:off x="4114800" y="344728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3"/>
          <p:cNvSpPr/>
          <p:nvPr/>
        </p:nvSpPr>
        <p:spPr>
          <a:xfrm>
            <a:off x="4169664" y="3465576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Planner</a:t>
            </a:r>
            <a:endParaRPr lang="en-US" sz="950" dirty="0"/>
          </a:p>
        </p:txBody>
      </p:sp>
      <p:sp>
        <p:nvSpPr>
          <p:cNvPr id="59" name="Shape 54"/>
          <p:cNvSpPr/>
          <p:nvPr/>
        </p:nvSpPr>
        <p:spPr>
          <a:xfrm>
            <a:off x="4169664" y="3767328"/>
            <a:ext cx="1801368" cy="164592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5"/>
          <p:cNvSpPr/>
          <p:nvPr/>
        </p:nvSpPr>
        <p:spPr>
          <a:xfrm>
            <a:off x="4169664" y="376732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61" name="Shape 56"/>
          <p:cNvSpPr/>
          <p:nvPr/>
        </p:nvSpPr>
        <p:spPr>
          <a:xfrm>
            <a:off x="6080760" y="932688"/>
            <a:ext cx="1911096" cy="621792"/>
          </a:xfrm>
          <a:prstGeom prst="roundRect">
            <a:avLst>
              <a:gd name="adj" fmla="val 10294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1005840"/>
            <a:ext cx="274320" cy="274320"/>
          </a:xfrm>
          <a:prstGeom prst="rect">
            <a:avLst/>
          </a:prstGeom>
        </p:spPr>
      </p:pic>
      <p:sp>
        <p:nvSpPr>
          <p:cNvPr id="63" name="Text 57"/>
          <p:cNvSpPr/>
          <p:nvPr/>
        </p:nvSpPr>
        <p:spPr>
          <a:xfrm>
            <a:off x="6464808" y="932688"/>
            <a:ext cx="1453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50" dirty="0"/>
          </a:p>
        </p:txBody>
      </p:sp>
      <p:sp>
        <p:nvSpPr>
          <p:cNvPr id="64" name="Shape 58"/>
          <p:cNvSpPr/>
          <p:nvPr/>
        </p:nvSpPr>
        <p:spPr>
          <a:xfrm>
            <a:off x="6080760" y="166420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59"/>
          <p:cNvSpPr/>
          <p:nvPr/>
        </p:nvSpPr>
        <p:spPr>
          <a:xfrm>
            <a:off x="6135624" y="1682496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Generation</a:t>
            </a:r>
            <a:endParaRPr lang="en-US" sz="950" dirty="0"/>
          </a:p>
        </p:txBody>
      </p:sp>
      <p:sp>
        <p:nvSpPr>
          <p:cNvPr id="66" name="Shape 60"/>
          <p:cNvSpPr/>
          <p:nvPr/>
        </p:nvSpPr>
        <p:spPr>
          <a:xfrm>
            <a:off x="6135624" y="1984248"/>
            <a:ext cx="1801368" cy="164592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1"/>
          <p:cNvSpPr/>
          <p:nvPr/>
        </p:nvSpPr>
        <p:spPr>
          <a:xfrm>
            <a:off x="6135624" y="198424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68" name="Shape 62"/>
          <p:cNvSpPr/>
          <p:nvPr/>
        </p:nvSpPr>
        <p:spPr>
          <a:xfrm>
            <a:off x="6080760" y="225856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3"/>
          <p:cNvSpPr/>
          <p:nvPr/>
        </p:nvSpPr>
        <p:spPr>
          <a:xfrm>
            <a:off x="6135624" y="2276856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</a:t>
            </a:r>
            <a:endParaRPr lang="en-US" sz="950" dirty="0"/>
          </a:p>
        </p:txBody>
      </p:sp>
      <p:sp>
        <p:nvSpPr>
          <p:cNvPr id="70" name="Shape 64"/>
          <p:cNvSpPr/>
          <p:nvPr/>
        </p:nvSpPr>
        <p:spPr>
          <a:xfrm>
            <a:off x="6135624" y="2578608"/>
            <a:ext cx="1801368" cy="164592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5"/>
          <p:cNvSpPr/>
          <p:nvPr/>
        </p:nvSpPr>
        <p:spPr>
          <a:xfrm>
            <a:off x="6135624" y="25786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72" name="Shape 66"/>
          <p:cNvSpPr/>
          <p:nvPr/>
        </p:nvSpPr>
        <p:spPr>
          <a:xfrm>
            <a:off x="8046720" y="932688"/>
            <a:ext cx="1911096" cy="621792"/>
          </a:xfrm>
          <a:prstGeom prst="roundRect">
            <a:avLst>
              <a:gd name="adj" fmla="val 10294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872" y="1005840"/>
            <a:ext cx="274320" cy="274320"/>
          </a:xfrm>
          <a:prstGeom prst="rect">
            <a:avLst/>
          </a:prstGeom>
        </p:spPr>
      </p:pic>
      <p:sp>
        <p:nvSpPr>
          <p:cNvPr id="74" name="Text 67"/>
          <p:cNvSpPr/>
          <p:nvPr/>
        </p:nvSpPr>
        <p:spPr>
          <a:xfrm>
            <a:off x="8430768" y="932688"/>
            <a:ext cx="1453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75" name="Shape 68"/>
          <p:cNvSpPr/>
          <p:nvPr/>
        </p:nvSpPr>
        <p:spPr>
          <a:xfrm>
            <a:off x="8046720" y="166420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69"/>
          <p:cNvSpPr/>
          <p:nvPr/>
        </p:nvSpPr>
        <p:spPr>
          <a:xfrm>
            <a:off x="8101584" y="1682496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950" dirty="0"/>
          </a:p>
        </p:txBody>
      </p:sp>
      <p:sp>
        <p:nvSpPr>
          <p:cNvPr id="77" name="Shape 70"/>
          <p:cNvSpPr/>
          <p:nvPr/>
        </p:nvSpPr>
        <p:spPr>
          <a:xfrm>
            <a:off x="8101584" y="1984248"/>
            <a:ext cx="1801368" cy="164592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1"/>
          <p:cNvSpPr/>
          <p:nvPr/>
        </p:nvSpPr>
        <p:spPr>
          <a:xfrm>
            <a:off x="8101584" y="198424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79" name="Shape 72"/>
          <p:cNvSpPr/>
          <p:nvPr/>
        </p:nvSpPr>
        <p:spPr>
          <a:xfrm>
            <a:off x="8046720" y="225856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3"/>
          <p:cNvSpPr/>
          <p:nvPr/>
        </p:nvSpPr>
        <p:spPr>
          <a:xfrm>
            <a:off x="8101584" y="2276856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Navigator</a:t>
            </a:r>
            <a:endParaRPr lang="en-US" sz="950" dirty="0"/>
          </a:p>
        </p:txBody>
      </p:sp>
      <p:sp>
        <p:nvSpPr>
          <p:cNvPr id="81" name="Shape 74"/>
          <p:cNvSpPr/>
          <p:nvPr/>
        </p:nvSpPr>
        <p:spPr>
          <a:xfrm>
            <a:off x="8101584" y="2578608"/>
            <a:ext cx="1801368" cy="164592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75"/>
          <p:cNvSpPr/>
          <p:nvPr/>
        </p:nvSpPr>
        <p:spPr>
          <a:xfrm>
            <a:off x="8101584" y="25786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83" name="Shape 76"/>
          <p:cNvSpPr/>
          <p:nvPr/>
        </p:nvSpPr>
        <p:spPr>
          <a:xfrm>
            <a:off x="10012680" y="932688"/>
            <a:ext cx="1911096" cy="621792"/>
          </a:xfrm>
          <a:prstGeom prst="roundRect">
            <a:avLst>
              <a:gd name="adj" fmla="val 10294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5832" y="1005840"/>
            <a:ext cx="274320" cy="274320"/>
          </a:xfrm>
          <a:prstGeom prst="rect">
            <a:avLst/>
          </a:prstGeom>
        </p:spPr>
      </p:pic>
      <p:sp>
        <p:nvSpPr>
          <p:cNvPr id="85" name="Text 77"/>
          <p:cNvSpPr/>
          <p:nvPr/>
        </p:nvSpPr>
        <p:spPr>
          <a:xfrm>
            <a:off x="10396728" y="932688"/>
            <a:ext cx="1453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50" dirty="0"/>
          </a:p>
        </p:txBody>
      </p:sp>
      <p:sp>
        <p:nvSpPr>
          <p:cNvPr id="86" name="Shape 78"/>
          <p:cNvSpPr/>
          <p:nvPr/>
        </p:nvSpPr>
        <p:spPr>
          <a:xfrm>
            <a:off x="10012680" y="166420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79"/>
          <p:cNvSpPr/>
          <p:nvPr/>
        </p:nvSpPr>
        <p:spPr>
          <a:xfrm>
            <a:off x="10067544" y="1682496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Triaging</a:t>
            </a:r>
            <a:endParaRPr lang="en-US" sz="950" dirty="0"/>
          </a:p>
        </p:txBody>
      </p:sp>
      <p:sp>
        <p:nvSpPr>
          <p:cNvPr id="88" name="Shape 80"/>
          <p:cNvSpPr/>
          <p:nvPr/>
        </p:nvSpPr>
        <p:spPr>
          <a:xfrm>
            <a:off x="10067544" y="1984248"/>
            <a:ext cx="1801368" cy="164592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1"/>
          <p:cNvSpPr/>
          <p:nvPr/>
        </p:nvSpPr>
        <p:spPr>
          <a:xfrm>
            <a:off x="10067544" y="198424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90" name="Shape 82"/>
          <p:cNvSpPr/>
          <p:nvPr/>
        </p:nvSpPr>
        <p:spPr>
          <a:xfrm>
            <a:off x="10012680" y="225856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3"/>
          <p:cNvSpPr/>
          <p:nvPr/>
        </p:nvSpPr>
        <p:spPr>
          <a:xfrm>
            <a:off x="10067544" y="2276856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950" dirty="0"/>
          </a:p>
        </p:txBody>
      </p:sp>
      <p:sp>
        <p:nvSpPr>
          <p:cNvPr id="92" name="Shape 84"/>
          <p:cNvSpPr/>
          <p:nvPr/>
        </p:nvSpPr>
        <p:spPr>
          <a:xfrm>
            <a:off x="10067544" y="2578608"/>
            <a:ext cx="1801368" cy="164592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85"/>
          <p:cNvSpPr/>
          <p:nvPr/>
        </p:nvSpPr>
        <p:spPr>
          <a:xfrm>
            <a:off x="10067544" y="25786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94" name="Shape 86"/>
          <p:cNvSpPr/>
          <p:nvPr/>
        </p:nvSpPr>
        <p:spPr>
          <a:xfrm>
            <a:off x="10012680" y="285292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87"/>
          <p:cNvSpPr/>
          <p:nvPr/>
        </p:nvSpPr>
        <p:spPr>
          <a:xfrm>
            <a:off x="10067544" y="2871216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Auto-Remediation</a:t>
            </a:r>
            <a:endParaRPr lang="en-US" sz="950" dirty="0"/>
          </a:p>
        </p:txBody>
      </p:sp>
      <p:sp>
        <p:nvSpPr>
          <p:cNvPr id="96" name="Shape 88"/>
          <p:cNvSpPr/>
          <p:nvPr/>
        </p:nvSpPr>
        <p:spPr>
          <a:xfrm>
            <a:off x="10067544" y="3172968"/>
            <a:ext cx="1801368" cy="164592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89"/>
          <p:cNvSpPr/>
          <p:nvPr/>
        </p:nvSpPr>
        <p:spPr>
          <a:xfrm>
            <a:off x="10067544" y="317296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98" name="Shape 90"/>
          <p:cNvSpPr/>
          <p:nvPr/>
        </p:nvSpPr>
        <p:spPr>
          <a:xfrm>
            <a:off x="10012680" y="344728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1"/>
          <p:cNvSpPr/>
          <p:nvPr/>
        </p:nvSpPr>
        <p:spPr>
          <a:xfrm>
            <a:off x="10067544" y="3465576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Provisioner</a:t>
            </a:r>
            <a:endParaRPr lang="en-US" sz="950" dirty="0"/>
          </a:p>
        </p:txBody>
      </p:sp>
      <p:sp>
        <p:nvSpPr>
          <p:cNvPr id="100" name="Shape 92"/>
          <p:cNvSpPr/>
          <p:nvPr/>
        </p:nvSpPr>
        <p:spPr>
          <a:xfrm>
            <a:off x="10067544" y="3767328"/>
            <a:ext cx="1801368" cy="164592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3"/>
          <p:cNvSpPr/>
          <p:nvPr/>
        </p:nvSpPr>
        <p:spPr>
          <a:xfrm>
            <a:off x="10067544" y="376732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02" name="Shape 94"/>
          <p:cNvSpPr/>
          <p:nvPr/>
        </p:nvSpPr>
        <p:spPr>
          <a:xfrm>
            <a:off x="10012680" y="404164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95"/>
          <p:cNvSpPr/>
          <p:nvPr/>
        </p:nvSpPr>
        <p:spPr>
          <a:xfrm>
            <a:off x="10067544" y="4059936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Tutor</a:t>
            </a:r>
            <a:endParaRPr lang="en-US" sz="950" dirty="0"/>
          </a:p>
        </p:txBody>
      </p:sp>
      <p:sp>
        <p:nvSpPr>
          <p:cNvPr id="104" name="Shape 96"/>
          <p:cNvSpPr/>
          <p:nvPr/>
        </p:nvSpPr>
        <p:spPr>
          <a:xfrm>
            <a:off x="10067544" y="4361688"/>
            <a:ext cx="1801368" cy="164592"/>
          </a:xfrm>
          <a:prstGeom prst="roundRect">
            <a:avLst>
              <a:gd name="adj" fmla="val 16667"/>
            </a:avLst>
          </a:prstGeom>
          <a:solidFill>
            <a:srgbClr val="E5E7E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97"/>
          <p:cNvSpPr/>
          <p:nvPr/>
        </p:nvSpPr>
        <p:spPr>
          <a:xfrm>
            <a:off x="10067544" y="436168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106" name="Shape 98"/>
          <p:cNvSpPr/>
          <p:nvPr/>
        </p:nvSpPr>
        <p:spPr>
          <a:xfrm>
            <a:off x="10012680" y="463600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99"/>
          <p:cNvSpPr/>
          <p:nvPr/>
        </p:nvSpPr>
        <p:spPr>
          <a:xfrm>
            <a:off x="10067544" y="4654296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Leak Detection</a:t>
            </a:r>
            <a:endParaRPr lang="en-US" sz="950" dirty="0"/>
          </a:p>
        </p:txBody>
      </p:sp>
      <p:sp>
        <p:nvSpPr>
          <p:cNvPr id="108" name="Shape 100"/>
          <p:cNvSpPr/>
          <p:nvPr/>
        </p:nvSpPr>
        <p:spPr>
          <a:xfrm>
            <a:off x="10067544" y="4956048"/>
            <a:ext cx="1801368" cy="164592"/>
          </a:xfrm>
          <a:prstGeom prst="roundRect">
            <a:avLst>
              <a:gd name="adj" fmla="val 16667"/>
            </a:avLst>
          </a:prstGeom>
          <a:solidFill>
            <a:srgbClr val="E5E7E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1"/>
          <p:cNvSpPr/>
          <p:nvPr/>
        </p:nvSpPr>
        <p:spPr>
          <a:xfrm>
            <a:off x="10067544" y="495604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110" name="Shape 102"/>
          <p:cNvSpPr/>
          <p:nvPr/>
        </p:nvSpPr>
        <p:spPr>
          <a:xfrm>
            <a:off x="10012680" y="523036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3"/>
          <p:cNvSpPr/>
          <p:nvPr/>
        </p:nvSpPr>
        <p:spPr>
          <a:xfrm>
            <a:off x="10067544" y="5248656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Intelligence</a:t>
            </a:r>
            <a:endParaRPr lang="en-US" sz="950" dirty="0"/>
          </a:p>
        </p:txBody>
      </p:sp>
      <p:sp>
        <p:nvSpPr>
          <p:cNvPr id="112" name="Shape 104"/>
          <p:cNvSpPr/>
          <p:nvPr/>
        </p:nvSpPr>
        <p:spPr>
          <a:xfrm>
            <a:off x="10067544" y="5550408"/>
            <a:ext cx="1801368" cy="164592"/>
          </a:xfrm>
          <a:prstGeom prst="roundRect">
            <a:avLst>
              <a:gd name="adj" fmla="val 16667"/>
            </a:avLst>
          </a:prstGeom>
          <a:solidFill>
            <a:srgbClr val="E5E7E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05"/>
          <p:cNvSpPr/>
          <p:nvPr/>
        </p:nvSpPr>
        <p:spPr>
          <a:xfrm>
            <a:off x="10067544" y="55504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114" name="Shape 106"/>
          <p:cNvSpPr/>
          <p:nvPr/>
        </p:nvSpPr>
        <p:spPr>
          <a:xfrm>
            <a:off x="10012680" y="582472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07"/>
          <p:cNvSpPr/>
          <p:nvPr/>
        </p:nvSpPr>
        <p:spPr>
          <a:xfrm>
            <a:off x="10067544" y="5843016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</a:t>
            </a:r>
            <a:endParaRPr lang="en-US" sz="950" dirty="0"/>
          </a:p>
        </p:txBody>
      </p:sp>
      <p:sp>
        <p:nvSpPr>
          <p:cNvPr id="116" name="Shape 108"/>
          <p:cNvSpPr/>
          <p:nvPr/>
        </p:nvSpPr>
        <p:spPr>
          <a:xfrm>
            <a:off x="10067544" y="6144768"/>
            <a:ext cx="1801368" cy="164592"/>
          </a:xfrm>
          <a:prstGeom prst="roundRect">
            <a:avLst>
              <a:gd name="adj" fmla="val 16667"/>
            </a:avLst>
          </a:prstGeom>
          <a:solidFill>
            <a:srgbClr val="E5E7E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09"/>
          <p:cNvSpPr/>
          <p:nvPr/>
        </p:nvSpPr>
        <p:spPr>
          <a:xfrm>
            <a:off x="10067544" y="614476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118" name="Shape 110"/>
          <p:cNvSpPr/>
          <p:nvPr/>
        </p:nvSpPr>
        <p:spPr>
          <a:xfrm>
            <a:off x="228600" y="6492240"/>
            <a:ext cx="2011680" cy="201168"/>
          </a:xfrm>
          <a:prstGeom prst="roundRect">
            <a:avLst>
              <a:gd name="adj" fmla="val 18182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1"/>
          <p:cNvSpPr/>
          <p:nvPr/>
        </p:nvSpPr>
        <p:spPr>
          <a:xfrm>
            <a:off x="228600" y="6492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900" dirty="0"/>
          </a:p>
        </p:txBody>
      </p:sp>
      <p:sp>
        <p:nvSpPr>
          <p:cNvPr id="120" name="Shape 112"/>
          <p:cNvSpPr/>
          <p:nvPr/>
        </p:nvSpPr>
        <p:spPr>
          <a:xfrm>
            <a:off x="2423160" y="6492240"/>
            <a:ext cx="2011680" cy="201168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3"/>
          <p:cNvSpPr/>
          <p:nvPr/>
        </p:nvSpPr>
        <p:spPr>
          <a:xfrm>
            <a:off x="2423160" y="6492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Impact</a:t>
            </a:r>
            <a:endParaRPr lang="en-US" sz="900" dirty="0"/>
          </a:p>
        </p:txBody>
      </p:sp>
      <p:sp>
        <p:nvSpPr>
          <p:cNvPr id="122" name="Shape 114"/>
          <p:cNvSpPr/>
          <p:nvPr/>
        </p:nvSpPr>
        <p:spPr>
          <a:xfrm>
            <a:off x="4617720" y="6492240"/>
            <a:ext cx="2011680" cy="201168"/>
          </a:xfrm>
          <a:prstGeom prst="roundRect">
            <a:avLst>
              <a:gd name="adj" fmla="val 1818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15"/>
          <p:cNvSpPr/>
          <p:nvPr/>
        </p:nvSpPr>
        <p:spPr>
          <a:xfrm>
            <a:off x="4617720" y="6492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Impact</a:t>
            </a:r>
            <a:endParaRPr lang="en-US" sz="900" dirty="0"/>
          </a:p>
        </p:txBody>
      </p:sp>
      <p:sp>
        <p:nvSpPr>
          <p:cNvPr id="124" name="Text 116"/>
          <p:cNvSpPr/>
          <p:nvPr/>
        </p:nvSpPr>
        <p:spPr>
          <a:xfrm>
            <a:off x="9144000" y="64922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Agents Mapped: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AGENT LANDSCAPE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&amp; Architecting Capability 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704320" y="669340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932688"/>
            <a:ext cx="1165860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1752" y="932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23360" y="93268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93268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138160" y="93268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92640" y="9326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1298448"/>
            <a:ext cx="11658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6032" y="1335024"/>
            <a:ext cx="36576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13167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Elicitation Agent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155448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023360" y="129844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75120" y="138988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75120" y="1389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229600" y="138988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0" y="1389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784080" y="138988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784080" y="1389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" y="1741932"/>
            <a:ext cx="11658600" cy="438912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56032" y="1778508"/>
            <a:ext cx="36576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17602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Generator Agent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199796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023360" y="174193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675120" y="1833372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75120" y="18333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229600" y="1833372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229600" y="18333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784080" y="1833372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784080" y="18333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6032" y="2185416"/>
            <a:ext cx="11658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56032" y="2221992"/>
            <a:ext cx="36576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" y="22037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Advisor Agent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65760" y="24414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023360" y="218541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675120" y="2276856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675120" y="2276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229600" y="2276856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229600" y="2276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784080" y="2276856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784080" y="2276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56032" y="2628900"/>
            <a:ext cx="11658600" cy="438912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56032" y="2665476"/>
            <a:ext cx="36576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65760" y="26471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 Agent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65760" y="288493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023360" y="262890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675120" y="2720340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675120" y="27203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229600" y="2720340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229600" y="27203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9784080" y="2720340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784080" y="27203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56032" y="3072384"/>
            <a:ext cx="11658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256032" y="3108960"/>
            <a:ext cx="36576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65760" y="30906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Modelling Agent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365760" y="332841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023360" y="3072384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675120" y="3163824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675120" y="31638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229600" y="3163824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8229600" y="31638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9784080" y="3163824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9784080" y="31638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56032" y="3515868"/>
            <a:ext cx="11658600" cy="438912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256032" y="3552444"/>
            <a:ext cx="36576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65760" y="353415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Planner Agent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365760" y="377190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&amp; Planning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4023360" y="351586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&amp; Planning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6675120" y="360730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675120" y="36073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8229600" y="360730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8229600" y="36073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9784080" y="360730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9784080" y="36073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56032" y="3959352"/>
            <a:ext cx="11658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256032" y="3995928"/>
            <a:ext cx="36576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365760" y="39776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Sizing Agent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365760" y="421538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&amp; Planning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4023360" y="395935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&amp; Planning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6675120" y="4050792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6675120" y="40507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8229600" y="4050792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8229600" y="40507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9784080" y="4050792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9784080" y="40507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256032" y="4402836"/>
            <a:ext cx="11658600" cy="438912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256032" y="4439412"/>
            <a:ext cx="36576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365760" y="44211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 Agent</a:t>
            </a:r>
            <a:endParaRPr lang="en-US" sz="1050" dirty="0"/>
          </a:p>
        </p:txBody>
      </p:sp>
      <p:sp>
        <p:nvSpPr>
          <p:cNvPr id="94" name="Text 92"/>
          <p:cNvSpPr/>
          <p:nvPr/>
        </p:nvSpPr>
        <p:spPr>
          <a:xfrm>
            <a:off x="365760" y="465886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Coding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4023360" y="440283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Coding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6675120" y="4494276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6675120" y="44942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8229600" y="4494276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8229600" y="44942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784080" y="4494276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9784080" y="44942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256032" y="4846320"/>
            <a:ext cx="11658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256032" y="4882896"/>
            <a:ext cx="36576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365760" y="48646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Programming Agent</a:t>
            </a:r>
            <a:endParaRPr lang="en-US" sz="1050" dirty="0"/>
          </a:p>
        </p:txBody>
      </p:sp>
      <p:sp>
        <p:nvSpPr>
          <p:cNvPr id="105" name="Text 103"/>
          <p:cNvSpPr/>
          <p:nvPr/>
        </p:nvSpPr>
        <p:spPr>
          <a:xfrm>
            <a:off x="365760" y="510235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Coding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4023360" y="484632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Coding</a:t>
            </a: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6675120" y="4937760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6675120" y="4937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8229600" y="4937760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8229600" y="4937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9784080" y="4937760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9784080" y="4937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256032" y="5289804"/>
            <a:ext cx="11658600" cy="438912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256032" y="5326380"/>
            <a:ext cx="36576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365760" y="53080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Agent</a:t>
            </a:r>
            <a:endParaRPr lang="en-US" sz="1050" dirty="0"/>
          </a:p>
        </p:txBody>
      </p:sp>
      <p:sp>
        <p:nvSpPr>
          <p:cNvPr id="116" name="Text 114"/>
          <p:cNvSpPr/>
          <p:nvPr/>
        </p:nvSpPr>
        <p:spPr>
          <a:xfrm>
            <a:off x="365760" y="554583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850" dirty="0"/>
          </a:p>
        </p:txBody>
      </p:sp>
      <p:sp>
        <p:nvSpPr>
          <p:cNvPr id="117" name="Text 115"/>
          <p:cNvSpPr/>
          <p:nvPr/>
        </p:nvSpPr>
        <p:spPr>
          <a:xfrm>
            <a:off x="4023360" y="5289804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6675120" y="5381244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6675120" y="53812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8229600" y="5381244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8229600" y="53812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9784080" y="5381244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9784080" y="53812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256032" y="5733288"/>
            <a:ext cx="11658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256032" y="5769864"/>
            <a:ext cx="36576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/>
          <p:nvPr/>
        </p:nvSpPr>
        <p:spPr>
          <a:xfrm>
            <a:off x="365760" y="575157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Agent</a:t>
            </a:r>
            <a:endParaRPr lang="en-US" sz="1050" dirty="0"/>
          </a:p>
        </p:txBody>
      </p:sp>
      <p:sp>
        <p:nvSpPr>
          <p:cNvPr id="127" name="Text 125"/>
          <p:cNvSpPr/>
          <p:nvPr/>
        </p:nvSpPr>
        <p:spPr>
          <a:xfrm>
            <a:off x="365760" y="598932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Coding</a:t>
            </a:r>
            <a:endParaRPr lang="en-US" sz="850" dirty="0"/>
          </a:p>
        </p:txBody>
      </p:sp>
      <p:sp>
        <p:nvSpPr>
          <p:cNvPr id="128" name="Text 126"/>
          <p:cNvSpPr/>
          <p:nvPr/>
        </p:nvSpPr>
        <p:spPr>
          <a:xfrm>
            <a:off x="4023360" y="573328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Coding</a:t>
            </a:r>
            <a:endParaRPr lang="en-US" sz="950" dirty="0"/>
          </a:p>
        </p:txBody>
      </p:sp>
      <p:sp>
        <p:nvSpPr>
          <p:cNvPr id="129" name="Shape 127"/>
          <p:cNvSpPr/>
          <p:nvPr/>
        </p:nvSpPr>
        <p:spPr>
          <a:xfrm>
            <a:off x="6675120" y="582472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8"/>
          <p:cNvSpPr/>
          <p:nvPr/>
        </p:nvSpPr>
        <p:spPr>
          <a:xfrm>
            <a:off x="6675120" y="58247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8229600" y="582472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/>
          <p:nvPr/>
        </p:nvSpPr>
        <p:spPr>
          <a:xfrm>
            <a:off x="8229600" y="58247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33" name="Shape 131"/>
          <p:cNvSpPr/>
          <p:nvPr/>
        </p:nvSpPr>
        <p:spPr>
          <a:xfrm>
            <a:off x="9784080" y="582472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32"/>
          <p:cNvSpPr/>
          <p:nvPr/>
        </p:nvSpPr>
        <p:spPr>
          <a:xfrm>
            <a:off x="9784080" y="58247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256032" y="6176772"/>
            <a:ext cx="11658600" cy="438912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256032" y="6213348"/>
            <a:ext cx="36576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365760" y="61950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Generation Agent</a:t>
            </a:r>
            <a:endParaRPr lang="en-US" sz="1050" dirty="0"/>
          </a:p>
        </p:txBody>
      </p:sp>
      <p:sp>
        <p:nvSpPr>
          <p:cNvPr id="138" name="Text 136"/>
          <p:cNvSpPr/>
          <p:nvPr/>
        </p:nvSpPr>
        <p:spPr>
          <a:xfrm>
            <a:off x="365760" y="643280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850" dirty="0"/>
          </a:p>
        </p:txBody>
      </p:sp>
      <p:sp>
        <p:nvSpPr>
          <p:cNvPr id="139" name="Text 137"/>
          <p:cNvSpPr/>
          <p:nvPr/>
        </p:nvSpPr>
        <p:spPr>
          <a:xfrm>
            <a:off x="4023360" y="617677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950" dirty="0"/>
          </a:p>
        </p:txBody>
      </p:sp>
      <p:sp>
        <p:nvSpPr>
          <p:cNvPr id="140" name="Shape 138"/>
          <p:cNvSpPr/>
          <p:nvPr/>
        </p:nvSpPr>
        <p:spPr>
          <a:xfrm>
            <a:off x="6675120" y="6268212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139"/>
          <p:cNvSpPr/>
          <p:nvPr/>
        </p:nvSpPr>
        <p:spPr>
          <a:xfrm>
            <a:off x="6675120" y="62682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8229600" y="6268212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 141"/>
          <p:cNvSpPr/>
          <p:nvPr/>
        </p:nvSpPr>
        <p:spPr>
          <a:xfrm>
            <a:off x="8229600" y="62682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44" name="Shape 142"/>
          <p:cNvSpPr/>
          <p:nvPr/>
        </p:nvSpPr>
        <p:spPr>
          <a:xfrm>
            <a:off x="9784080" y="6268212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143"/>
          <p:cNvSpPr/>
          <p:nvPr/>
        </p:nvSpPr>
        <p:spPr>
          <a:xfrm>
            <a:off x="9784080" y="62682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AGENT LANDSCAPE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Ops Capability 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704320" y="669340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960120"/>
            <a:ext cx="1630245" cy="5532120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1168" y="960120"/>
            <a:ext cx="1630245" cy="91440"/>
          </a:xfrm>
          <a:prstGeom prst="roundRect">
            <a:avLst>
              <a:gd name="adj" fmla="val 10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115568"/>
            <a:ext cx="148394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0896" y="1737360"/>
            <a:ext cx="141078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783080"/>
            <a:ext cx="1483941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release pipelines, CAB prep &amp; rollback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3383280"/>
            <a:ext cx="14839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92608" y="3602736"/>
            <a:ext cx="1447365" cy="27432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92608" y="3602736"/>
            <a:ext cx="1447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4187952"/>
            <a:ext cx="14839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92608" y="4407408"/>
            <a:ext cx="1447365" cy="27432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92608" y="4407408"/>
            <a:ext cx="1447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4992624"/>
            <a:ext cx="14839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2608" y="5212080"/>
            <a:ext cx="1447365" cy="27432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92608" y="5212080"/>
            <a:ext cx="1447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86277" y="960120"/>
            <a:ext cx="1630245" cy="5532120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886277" y="960120"/>
            <a:ext cx="1630245" cy="91440"/>
          </a:xfrm>
          <a:prstGeom prst="roundRect">
            <a:avLst>
              <a:gd name="adj" fmla="val 10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959429" y="1115568"/>
            <a:ext cx="148394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996005" y="1737360"/>
            <a:ext cx="141078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959429" y="1783080"/>
            <a:ext cx="1483941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responder: classifies &amp; routes incidents intelligently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959429" y="3383280"/>
            <a:ext cx="14839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977717" y="3602736"/>
            <a:ext cx="1447365" cy="27432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977717" y="3602736"/>
            <a:ext cx="1447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959429" y="4187952"/>
            <a:ext cx="14839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977717" y="4407408"/>
            <a:ext cx="1447365" cy="27432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977717" y="4407408"/>
            <a:ext cx="1447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959429" y="4992624"/>
            <a:ext cx="14839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977717" y="5212080"/>
            <a:ext cx="1447365" cy="27432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977717" y="5212080"/>
            <a:ext cx="1447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571385" y="960120"/>
            <a:ext cx="1630245" cy="5532120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571385" y="960120"/>
            <a:ext cx="1630245" cy="91440"/>
          </a:xfrm>
          <a:prstGeom prst="roundRect">
            <a:avLst>
              <a:gd name="adj" fmla="val 10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44537" y="1115568"/>
            <a:ext cx="148394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681113" y="1737360"/>
            <a:ext cx="141078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44537" y="1783080"/>
            <a:ext cx="1483941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logs, metrics &amp; traces to identify failures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44537" y="3383280"/>
            <a:ext cx="14839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662825" y="3602736"/>
            <a:ext cx="1447365" cy="27432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662825" y="3602736"/>
            <a:ext cx="1447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44537" y="4187952"/>
            <a:ext cx="14839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662825" y="4407408"/>
            <a:ext cx="1447365" cy="27432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662825" y="4407408"/>
            <a:ext cx="1447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644537" y="4992624"/>
            <a:ext cx="14839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662825" y="5212080"/>
            <a:ext cx="1447365" cy="27432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662825" y="5212080"/>
            <a:ext cx="1447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256494" y="960120"/>
            <a:ext cx="1630245" cy="5532120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256494" y="960120"/>
            <a:ext cx="1630245" cy="91440"/>
          </a:xfrm>
          <a:prstGeom prst="roundRect">
            <a:avLst>
              <a:gd name="adj" fmla="val 10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329646" y="1115568"/>
            <a:ext cx="148394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Auto-Remediation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366222" y="1737360"/>
            <a:ext cx="141078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329646" y="1783080"/>
            <a:ext cx="1483941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Self-healing: executes corrective actions autonomously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329646" y="3383280"/>
            <a:ext cx="14839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347934" y="3602736"/>
            <a:ext cx="1447365" cy="27432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347934" y="3602736"/>
            <a:ext cx="1447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329646" y="4187952"/>
            <a:ext cx="14839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347934" y="4407408"/>
            <a:ext cx="1447365" cy="27432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347934" y="4407408"/>
            <a:ext cx="1447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329646" y="4992624"/>
            <a:ext cx="14839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347934" y="5212080"/>
            <a:ext cx="1447365" cy="27432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347934" y="5212080"/>
            <a:ext cx="1447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941602" y="960120"/>
            <a:ext cx="1630245" cy="5532120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6941602" y="960120"/>
            <a:ext cx="1630245" cy="91440"/>
          </a:xfrm>
          <a:prstGeom prst="roundRect">
            <a:avLst>
              <a:gd name="adj" fmla="val 10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014754" y="1115568"/>
            <a:ext cx="148394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Provisioner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7051330" y="1737360"/>
            <a:ext cx="141078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014754" y="1783080"/>
            <a:ext cx="1483941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policy-driven access management &amp; provisioning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014754" y="3383280"/>
            <a:ext cx="14839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7033042" y="3602736"/>
            <a:ext cx="1447365" cy="27432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7033042" y="3602736"/>
            <a:ext cx="1447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7014754" y="4187952"/>
            <a:ext cx="14839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7033042" y="4407408"/>
            <a:ext cx="1447365" cy="27432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033042" y="4407408"/>
            <a:ext cx="1447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7014754" y="4992624"/>
            <a:ext cx="14839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7033042" y="5212080"/>
            <a:ext cx="1447365" cy="27432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7033042" y="5212080"/>
            <a:ext cx="1447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8626711" y="960120"/>
            <a:ext cx="1630245" cy="5532120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8626711" y="960120"/>
            <a:ext cx="1630245" cy="91440"/>
          </a:xfrm>
          <a:prstGeom prst="roundRect">
            <a:avLst>
              <a:gd name="adj" fmla="val 10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8699863" y="1115568"/>
            <a:ext cx="148394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Tutor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8736439" y="1737360"/>
            <a:ext cx="141078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8699863" y="1783080"/>
            <a:ext cx="1483941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guided execution of operational runbooks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8699863" y="3383280"/>
            <a:ext cx="14839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8718151" y="3602736"/>
            <a:ext cx="1447365" cy="27432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8718151" y="3602736"/>
            <a:ext cx="1447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8699863" y="4187952"/>
            <a:ext cx="14839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8718151" y="4407408"/>
            <a:ext cx="1447365" cy="27432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8718151" y="4407408"/>
            <a:ext cx="1447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8699863" y="4992624"/>
            <a:ext cx="14839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8718151" y="5212080"/>
            <a:ext cx="1447365" cy="27432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8718151" y="5212080"/>
            <a:ext cx="1447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10311819" y="960120"/>
            <a:ext cx="1630245" cy="5532120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10311819" y="960120"/>
            <a:ext cx="1630245" cy="91440"/>
          </a:xfrm>
          <a:prstGeom prst="roundRect">
            <a:avLst>
              <a:gd name="adj" fmla="val 10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10384971" y="1115568"/>
            <a:ext cx="148394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Navigator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10421547" y="1737360"/>
            <a:ext cx="141078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10384971" y="1783080"/>
            <a:ext cx="1483941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Detects, classifies &amp; prevents PII data exposure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10384971" y="3383280"/>
            <a:ext cx="14839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10403259" y="3602736"/>
            <a:ext cx="1447365" cy="27432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10403259" y="3602736"/>
            <a:ext cx="1447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10384971" y="4187952"/>
            <a:ext cx="14839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10403259" y="4407408"/>
            <a:ext cx="1447365" cy="27432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10403259" y="4407408"/>
            <a:ext cx="1447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10384971" y="4992624"/>
            <a:ext cx="14839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10403259" y="5212080"/>
            <a:ext cx="1447365" cy="27432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10403259" y="5212080"/>
            <a:ext cx="1447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AGENT LANDSCAPE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Cross-Cutting Enterprise Capabilities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704320" y="669340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960120"/>
            <a:ext cx="2839212" cy="5440680"/>
          </a:xfrm>
          <a:prstGeom prst="roundRect">
            <a:avLst>
              <a:gd name="adj" fmla="val 3221"/>
            </a:avLst>
          </a:prstGeom>
          <a:solidFill>
            <a:srgbClr val="FFFFFF"/>
          </a:solidFill>
          <a:ln w="19050">
            <a:solidFill>
              <a:srgbClr val="DCFCE7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1168" y="960120"/>
            <a:ext cx="2839212" cy="91440"/>
          </a:xfrm>
          <a:prstGeom prst="roundRect">
            <a:avLst>
              <a:gd name="adj" fmla="val 10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0896" y="1115568"/>
            <a:ext cx="26197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Leak Detection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0896" y="1700784"/>
            <a:ext cx="261975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0896" y="1792224"/>
            <a:ext cx="26197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Detects, classifies &amp; prevents PII data exposure across logs, APIs &amp; storage. GDPR/HIPAA compliance enforcement.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0896" y="3520440"/>
            <a:ext cx="261975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0896" y="3611880"/>
            <a:ext cx="1135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393637" y="3611880"/>
            <a:ext cx="1476390" cy="237744"/>
          </a:xfrm>
          <a:prstGeom prst="roundRect">
            <a:avLst>
              <a:gd name="adj" fmla="val 2307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93637" y="3611880"/>
            <a:ext cx="14763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0896" y="4087368"/>
            <a:ext cx="1135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393637" y="4087368"/>
            <a:ext cx="1476390" cy="237744"/>
          </a:xfrm>
          <a:prstGeom prst="roundRect">
            <a:avLst>
              <a:gd name="adj" fmla="val 2307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93637" y="4087368"/>
            <a:ext cx="14763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10896" y="4562856"/>
            <a:ext cx="1135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393637" y="4562856"/>
            <a:ext cx="1476390" cy="237744"/>
          </a:xfrm>
          <a:prstGeom prst="roundRect">
            <a:avLst>
              <a:gd name="adj" fmla="val 2307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393637" y="4562856"/>
            <a:ext cx="14763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10896" y="5138928"/>
            <a:ext cx="2619756" cy="502920"/>
          </a:xfrm>
          <a:prstGeom prst="roundRect">
            <a:avLst>
              <a:gd name="adj" fmla="val 10909"/>
            </a:avLst>
          </a:prstGeom>
          <a:solidFill>
            <a:srgbClr val="EDFBF7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5138928"/>
            <a:ext cx="25100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Compliance risk eliminated at source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50108" y="960120"/>
            <a:ext cx="2839212" cy="5440680"/>
          </a:xfrm>
          <a:prstGeom prst="roundRect">
            <a:avLst>
              <a:gd name="adj" fmla="val 3221"/>
            </a:avLst>
          </a:prstGeom>
          <a:solidFill>
            <a:srgbClr val="FFFFFF"/>
          </a:solidFill>
          <a:ln w="19050">
            <a:solidFill>
              <a:srgbClr val="DCFCE7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150108" y="960120"/>
            <a:ext cx="2839212" cy="91440"/>
          </a:xfrm>
          <a:prstGeom prst="roundRect">
            <a:avLst>
              <a:gd name="adj" fmla="val 10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59836" y="1115568"/>
            <a:ext cx="26197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Migration Agent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59836" y="1700784"/>
            <a:ext cx="261975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59836" y="1792224"/>
            <a:ext cx="26197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legacy codebases, maps dependencies &amp; generates cloud-native migration roadmaps. Automates code transformation.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59836" y="3520440"/>
            <a:ext cx="261975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59836" y="3611880"/>
            <a:ext cx="1135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342577" y="3611880"/>
            <a:ext cx="1476390" cy="237744"/>
          </a:xfrm>
          <a:prstGeom prst="roundRect">
            <a:avLst>
              <a:gd name="adj" fmla="val 2307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342577" y="3611880"/>
            <a:ext cx="14763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59836" y="4087368"/>
            <a:ext cx="1135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342577" y="4087368"/>
            <a:ext cx="1476390" cy="237744"/>
          </a:xfrm>
          <a:prstGeom prst="roundRect">
            <a:avLst>
              <a:gd name="adj" fmla="val 2307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342577" y="4087368"/>
            <a:ext cx="14763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59836" y="4562856"/>
            <a:ext cx="1135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342577" y="4562856"/>
            <a:ext cx="1476390" cy="237744"/>
          </a:xfrm>
          <a:prstGeom prst="roundRect">
            <a:avLst>
              <a:gd name="adj" fmla="val 2307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342577" y="4562856"/>
            <a:ext cx="14763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59836" y="5138928"/>
            <a:ext cx="2619756" cy="502920"/>
          </a:xfrm>
          <a:prstGeom prst="roundRect">
            <a:avLst>
              <a:gd name="adj" fmla="val 10909"/>
            </a:avLst>
          </a:prstGeom>
          <a:solidFill>
            <a:srgbClr val="EDFBF7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314700" y="5138928"/>
            <a:ext cx="25100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50% faster migration analysis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099048" y="960120"/>
            <a:ext cx="2839212" cy="5440680"/>
          </a:xfrm>
          <a:prstGeom prst="roundRect">
            <a:avLst>
              <a:gd name="adj" fmla="val 3221"/>
            </a:avLst>
          </a:prstGeom>
          <a:solidFill>
            <a:srgbClr val="FFFFFF"/>
          </a:solidFill>
          <a:ln w="19050">
            <a:solidFill>
              <a:srgbClr val="DCFCE7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099048" y="960120"/>
            <a:ext cx="2839212" cy="91440"/>
          </a:xfrm>
          <a:prstGeom prst="roundRect">
            <a:avLst>
              <a:gd name="adj" fmla="val 10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208776" y="1115568"/>
            <a:ext cx="26197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Intelligence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208776" y="1700784"/>
            <a:ext cx="261975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208776" y="1792224"/>
            <a:ext cx="26197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conversations into actionable insights, structured summaries &amp; trackable outcomes. Auto-creates Jira tickets.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08776" y="3520440"/>
            <a:ext cx="261975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208776" y="3611880"/>
            <a:ext cx="1135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291517" y="3611880"/>
            <a:ext cx="1476390" cy="237744"/>
          </a:xfrm>
          <a:prstGeom prst="roundRect">
            <a:avLst>
              <a:gd name="adj" fmla="val 2307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291517" y="3611880"/>
            <a:ext cx="14763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08776" y="4087368"/>
            <a:ext cx="1135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291517" y="4087368"/>
            <a:ext cx="1476390" cy="237744"/>
          </a:xfrm>
          <a:prstGeom prst="roundRect">
            <a:avLst>
              <a:gd name="adj" fmla="val 2307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291517" y="4087368"/>
            <a:ext cx="14763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208776" y="4562856"/>
            <a:ext cx="1135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291517" y="4562856"/>
            <a:ext cx="1476390" cy="237744"/>
          </a:xfrm>
          <a:prstGeom prst="roundRect">
            <a:avLst>
              <a:gd name="adj" fmla="val 2307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291517" y="4562856"/>
            <a:ext cx="14763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208776" y="5138928"/>
            <a:ext cx="2619756" cy="502920"/>
          </a:xfrm>
          <a:prstGeom prst="roundRect">
            <a:avLst>
              <a:gd name="adj" fmla="val 10909"/>
            </a:avLst>
          </a:prstGeom>
          <a:solidFill>
            <a:srgbClr val="EDFBF7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263640" y="5138928"/>
            <a:ext cx="25100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40–60% reduction in post-meeting admin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047988" y="960120"/>
            <a:ext cx="2839212" cy="5440680"/>
          </a:xfrm>
          <a:prstGeom prst="roundRect">
            <a:avLst>
              <a:gd name="adj" fmla="val 3221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9047988" y="960120"/>
            <a:ext cx="2839212" cy="91440"/>
          </a:xfrm>
          <a:prstGeom prst="roundRect">
            <a:avLst>
              <a:gd name="adj" fmla="val 10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9157716" y="1115568"/>
            <a:ext cx="26197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 Agent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9157716" y="1700784"/>
            <a:ext cx="261975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9157716" y="1792224"/>
            <a:ext cx="26197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Personalized, goal-driven upskilling journeys by identifying skill gaps from user profile &amp; project requirements.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9157716" y="3520440"/>
            <a:ext cx="261975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9157716" y="3611880"/>
            <a:ext cx="1135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0240457" y="3611880"/>
            <a:ext cx="1476390" cy="237744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10240457" y="3611880"/>
            <a:ext cx="14763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9157716" y="4087368"/>
            <a:ext cx="1135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10240457" y="4087368"/>
            <a:ext cx="1476390" cy="237744"/>
          </a:xfrm>
          <a:prstGeom prst="roundRect">
            <a:avLst>
              <a:gd name="adj" fmla="val 2307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10240457" y="4087368"/>
            <a:ext cx="14763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9157716" y="4562856"/>
            <a:ext cx="1135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0240457" y="4562856"/>
            <a:ext cx="1476390" cy="237744"/>
          </a:xfrm>
          <a:prstGeom prst="roundRect">
            <a:avLst>
              <a:gd name="adj" fmla="val 2307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10240457" y="4562856"/>
            <a:ext cx="14763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9157716" y="5138928"/>
            <a:ext cx="2619756" cy="502920"/>
          </a:xfrm>
          <a:prstGeom prst="roundRect">
            <a:avLst>
              <a:gd name="adj" fmla="val 10909"/>
            </a:avLst>
          </a:prstGeom>
          <a:solidFill>
            <a:srgbClr val="EDFBF7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9212580" y="5138928"/>
            <a:ext cx="25100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30% faster onboarding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VS IMPACT PRIORITIZATION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</a:rPr>
              <a:t>Effort vs Impact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704320" y="669340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960120"/>
            <a:ext cx="5824728" cy="2788920"/>
          </a:xfrm>
          <a:prstGeom prst="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93192" y="1069848"/>
            <a:ext cx="5550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PRIORITY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" y="1362456"/>
            <a:ext cx="5550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Impact · Low Effort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80760" y="960120"/>
            <a:ext cx="5824728" cy="2788920"/>
          </a:xfrm>
          <a:prstGeom prst="rect">
            <a:avLst/>
          </a:prstGeom>
          <a:solidFill>
            <a:srgbClr val="DCFCE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0" y="1069848"/>
            <a:ext cx="5550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1362456"/>
            <a:ext cx="5550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 · Low Effort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" y="3749040"/>
            <a:ext cx="5824728" cy="2788920"/>
          </a:xfrm>
          <a:prstGeom prst="rect">
            <a:avLst/>
          </a:prstGeom>
          <a:solidFill>
            <a:srgbClr val="FEF3C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93192" y="3858768"/>
            <a:ext cx="5550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" y="4151376"/>
            <a:ext cx="5550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Impact · High Effort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3749040"/>
            <a:ext cx="5824728" cy="2788920"/>
          </a:xfrm>
          <a:prstGeom prst="rect">
            <a:avLst/>
          </a:prstGeom>
          <a:solidFill>
            <a:srgbClr val="DBEAF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0" y="3858768"/>
            <a:ext cx="5550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INVESTMENTS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4151376"/>
            <a:ext cx="5550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 · High Effort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80760" y="960120"/>
            <a:ext cx="0" cy="55778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6032" y="3749040"/>
            <a:ext cx="11649456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56032" y="612648"/>
            <a:ext cx="1164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LOW EFFORT     HIGH EFFORT →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 rot="16200000">
            <a:off x="-219456" y="2354580"/>
            <a:ext cx="457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→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8368" y="1682496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04672" y="1645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Sizing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487168" y="1682496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633472" y="1645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Tutor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572768" y="2231136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719072" y="2194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300216" y="1682496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46520" y="1645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037576" y="1682496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183880" y="1645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300216" y="2231136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46520" y="2194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Intelligence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037576" y="2231136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183880" y="2194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Generator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300216" y="2734056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46520" y="2697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Generation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037576" y="2734056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183880" y="2697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168896" y="3236976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315200" y="3200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Triaging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66928" y="4471416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13232" y="4434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Planner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304288" y="4471416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450592" y="4434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Programming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66928" y="5111496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13232" y="5074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Mapper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304288" y="5111496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450592" y="5074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300216" y="4379976"/>
            <a:ext cx="109728" cy="109728"/>
          </a:xfrm>
          <a:prstGeom prst="ellipse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446520" y="4343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 Elicitation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854696" y="4379976"/>
            <a:ext cx="109728" cy="109728"/>
          </a:xfrm>
          <a:prstGeom prst="ellipse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001000" y="4343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300216" y="4974336"/>
            <a:ext cx="109728" cy="109728"/>
          </a:xfrm>
          <a:prstGeom prst="ellipse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446520" y="4937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Modelling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854696" y="4974336"/>
            <a:ext cx="109728" cy="109728"/>
          </a:xfrm>
          <a:prstGeom prst="ellipse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8001000" y="4937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Advisor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300216" y="5568696"/>
            <a:ext cx="109728" cy="109728"/>
          </a:xfrm>
          <a:prstGeom prst="ellipse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446520" y="5532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854696" y="5568696"/>
            <a:ext cx="109728" cy="109728"/>
          </a:xfrm>
          <a:prstGeom prst="ellipse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8001000" y="5532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Navigator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300216" y="6163056"/>
            <a:ext cx="109728" cy="109728"/>
          </a:xfrm>
          <a:prstGeom prst="ellipse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446520" y="6126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854696" y="6163056"/>
            <a:ext cx="109728" cy="109728"/>
          </a:xfrm>
          <a:prstGeom prst="ellipse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8001000" y="6126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Auto-Remediation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388602" y="6675120"/>
            <a:ext cx="109728" cy="109728"/>
          </a:xfrm>
          <a:prstGeom prst="ellipse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9591729" y="658580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Migration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8951976" y="6163056"/>
            <a:ext cx="109728" cy="109728"/>
          </a:xfrm>
          <a:prstGeom prst="ellipse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9098280" y="6126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Provisioner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93776" y="6647687"/>
            <a:ext cx="128016" cy="128016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658368" y="66111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Priority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040380" y="6682631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3225219" y="6638543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— Deploy First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5523521" y="6665976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5717177" y="66284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Transformational — Plan Carefully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9390888" y="5623887"/>
            <a:ext cx="128016" cy="128016"/>
          </a:xfrm>
          <a:prstGeom prst="ellipse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9587484" y="5573595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— Build for Scale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AGENTIC AI — CONCEPTUAL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Solution View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704320" y="669340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960120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9601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CHANNELS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23160" y="1033272"/>
            <a:ext cx="960120" cy="493776"/>
          </a:xfrm>
          <a:prstGeom prst="roundRect">
            <a:avLst>
              <a:gd name="adj" fmla="val 9259"/>
            </a:avLst>
          </a:prstGeom>
          <a:solidFill>
            <a:srgbClr val="1A3560"/>
          </a:solidFill>
          <a:ln w="12700">
            <a:solidFill>
              <a:srgbClr val="2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23160" y="1033272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0" y="1033272"/>
            <a:ext cx="960120" cy="493776"/>
          </a:xfrm>
          <a:prstGeom prst="roundRect">
            <a:avLst>
              <a:gd name="adj" fmla="val 9259"/>
            </a:avLst>
          </a:prstGeom>
          <a:solidFill>
            <a:srgbClr val="1A3560"/>
          </a:solidFill>
          <a:ln w="12700">
            <a:solidFill>
              <a:srgbClr val="2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0" y="1033272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Teams · Slack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26280" y="1033272"/>
            <a:ext cx="960120" cy="493776"/>
          </a:xfrm>
          <a:prstGeom prst="roundRect">
            <a:avLst>
              <a:gd name="adj" fmla="val 9259"/>
            </a:avLst>
          </a:prstGeom>
          <a:solidFill>
            <a:srgbClr val="1A3560"/>
          </a:solidFill>
          <a:ln w="12700">
            <a:solidFill>
              <a:srgbClr val="2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26280" y="1033272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577840" y="1033272"/>
            <a:ext cx="960120" cy="493776"/>
          </a:xfrm>
          <a:prstGeom prst="roundRect">
            <a:avLst>
              <a:gd name="adj" fmla="val 9259"/>
            </a:avLst>
          </a:prstGeom>
          <a:solidFill>
            <a:srgbClr val="1A3560"/>
          </a:solidFill>
          <a:ln w="12700">
            <a:solidFill>
              <a:srgbClr val="2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77840" y="1033272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/ IVR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629400" y="1033272"/>
            <a:ext cx="960120" cy="493776"/>
          </a:xfrm>
          <a:prstGeom prst="roundRect">
            <a:avLst>
              <a:gd name="adj" fmla="val 9259"/>
            </a:avLst>
          </a:prstGeom>
          <a:solidFill>
            <a:srgbClr val="1A3560"/>
          </a:solidFill>
          <a:ln w="12700">
            <a:solidFill>
              <a:srgbClr val="2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29400" y="1033272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Clients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680960" y="1033272"/>
            <a:ext cx="960120" cy="493776"/>
          </a:xfrm>
          <a:prstGeom prst="roundRect">
            <a:avLst>
              <a:gd name="adj" fmla="val 9259"/>
            </a:avLst>
          </a:prstGeom>
          <a:solidFill>
            <a:srgbClr val="1A3560"/>
          </a:solidFill>
          <a:ln w="12700">
            <a:solidFill>
              <a:srgbClr val="2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680960" y="1033272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Portal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480560" y="1618488"/>
            <a:ext cx="0" cy="201168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56032" y="1828800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EEF4FF"/>
          </a:solidFill>
          <a:ln w="1905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56032" y="18288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938528"/>
            <a:ext cx="384048" cy="38404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86384" y="18745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212848" y="1920240"/>
            <a:ext cx="987552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2212848" y="1920240"/>
            <a:ext cx="9875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Planning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Reasoning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3300984" y="1920240"/>
            <a:ext cx="987552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300984" y="1920240"/>
            <a:ext cx="9875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389120" y="1920240"/>
            <a:ext cx="987552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389120" y="1920240"/>
            <a:ext cx="9875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5477256" y="1920240"/>
            <a:ext cx="987552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477256" y="1920240"/>
            <a:ext cx="9875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Gates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6565392" y="1920240"/>
            <a:ext cx="987552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6565392" y="1920240"/>
            <a:ext cx="9875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Routing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7653528" y="1920240"/>
            <a:ext cx="987552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7653528" y="1920240"/>
            <a:ext cx="9875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Access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256032" y="2816352"/>
            <a:ext cx="8503920" cy="2286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347472" y="281635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AGENTS  ·  Agent Collaboration &amp; Handoffs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256032" y="3063240"/>
            <a:ext cx="1993392" cy="987552"/>
          </a:xfrm>
          <a:prstGeom prst="roundRect">
            <a:avLst>
              <a:gd name="adj" fmla="val 740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320040" y="3127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320040" y="354787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 · Review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Gen · Docs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2386584" y="3063240"/>
            <a:ext cx="1993392" cy="987552"/>
          </a:xfrm>
          <a:prstGeom prst="roundRect">
            <a:avLst>
              <a:gd name="adj" fmla="val 7407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2450592" y="3127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F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2450592" y="354787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· Triage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· Remediation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517136" y="3063240"/>
            <a:ext cx="1993392" cy="987552"/>
          </a:xfrm>
          <a:prstGeom prst="roundRect">
            <a:avLst>
              <a:gd name="adj" fmla="val 7407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4581144" y="3127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4581144" y="354787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· Routing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Summarisation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6647688" y="3063240"/>
            <a:ext cx="1993392" cy="987552"/>
          </a:xfrm>
          <a:prstGeom prst="roundRect">
            <a:avLst>
              <a:gd name="adj" fmla="val 7407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6711696" y="3127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6711696" y="354787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· Audit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4480560" y="4069080"/>
            <a:ext cx="0" cy="201168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256032" y="4279392"/>
            <a:ext cx="8503920" cy="640080"/>
          </a:xfrm>
          <a:prstGeom prst="roundRect">
            <a:avLst>
              <a:gd name="adj" fmla="val 11429"/>
            </a:avLst>
          </a:prstGeom>
          <a:solidFill>
            <a:srgbClr val="F3E8FF"/>
          </a:solidFill>
          <a:ln w="19050">
            <a:solidFill>
              <a:srgbClr val="E9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256032" y="4279392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301752" y="427939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MEMORY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2194560" y="4370832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2194560" y="437083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Documents &amp; Wikis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3813048" y="4370832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3813048" y="437083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Knowledge Store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5431536" y="4370832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5431536" y="437083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Short &amp; Long-term Memory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7050024" y="4370832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7050024" y="437083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&amp; APIs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4480560" y="4919472"/>
            <a:ext cx="0" cy="201168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3"/>
          <p:cNvSpPr/>
          <p:nvPr/>
        </p:nvSpPr>
        <p:spPr>
          <a:xfrm>
            <a:off x="256032" y="5138928"/>
            <a:ext cx="8503920" cy="640080"/>
          </a:xfrm>
          <a:prstGeom prst="roundRect">
            <a:avLst>
              <a:gd name="adj" fmla="val 11429"/>
            </a:avLst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4"/>
          <p:cNvSpPr/>
          <p:nvPr/>
        </p:nvSpPr>
        <p:spPr>
          <a:xfrm>
            <a:off x="256032" y="5138928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/>
          <p:nvPr/>
        </p:nvSpPr>
        <p:spPr>
          <a:xfrm>
            <a:off x="301752" y="513892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2194560" y="5230368"/>
            <a:ext cx="98755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2194560" y="5230368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 / ServiceNow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3273552" y="5230368"/>
            <a:ext cx="98755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9"/>
          <p:cNvSpPr/>
          <p:nvPr/>
        </p:nvSpPr>
        <p:spPr>
          <a:xfrm>
            <a:off x="3273552" y="5230368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 / Jira</a:t>
            </a:r>
            <a:endParaRPr lang="en-US" sz="850" dirty="0"/>
          </a:p>
        </p:txBody>
      </p:sp>
      <p:sp>
        <p:nvSpPr>
          <p:cNvPr id="73" name="Shape 70"/>
          <p:cNvSpPr/>
          <p:nvPr/>
        </p:nvSpPr>
        <p:spPr>
          <a:xfrm>
            <a:off x="4352544" y="5230368"/>
            <a:ext cx="98755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1"/>
          <p:cNvSpPr/>
          <p:nvPr/>
        </p:nvSpPr>
        <p:spPr>
          <a:xfrm>
            <a:off x="4352544" y="5230368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/ SAP</a:t>
            </a:r>
            <a:endParaRPr lang="en-US" sz="850" dirty="0"/>
          </a:p>
        </p:txBody>
      </p:sp>
      <p:sp>
        <p:nvSpPr>
          <p:cNvPr id="75" name="Shape 72"/>
          <p:cNvSpPr/>
          <p:nvPr/>
        </p:nvSpPr>
        <p:spPr>
          <a:xfrm>
            <a:off x="5431536" y="5230368"/>
            <a:ext cx="98755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3"/>
          <p:cNvSpPr/>
          <p:nvPr/>
        </p:nvSpPr>
        <p:spPr>
          <a:xfrm>
            <a:off x="5431536" y="5230368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850" dirty="0"/>
          </a:p>
        </p:txBody>
      </p:sp>
      <p:sp>
        <p:nvSpPr>
          <p:cNvPr id="77" name="Shape 74"/>
          <p:cNvSpPr/>
          <p:nvPr/>
        </p:nvSpPr>
        <p:spPr>
          <a:xfrm>
            <a:off x="6510528" y="5230368"/>
            <a:ext cx="98755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5"/>
          <p:cNvSpPr/>
          <p:nvPr/>
        </p:nvSpPr>
        <p:spPr>
          <a:xfrm>
            <a:off x="6510528" y="5230368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850" dirty="0"/>
          </a:p>
        </p:txBody>
      </p:sp>
      <p:sp>
        <p:nvSpPr>
          <p:cNvPr id="79" name="Shape 76"/>
          <p:cNvSpPr/>
          <p:nvPr/>
        </p:nvSpPr>
        <p:spPr>
          <a:xfrm>
            <a:off x="7589520" y="5230368"/>
            <a:ext cx="98755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7"/>
          <p:cNvSpPr/>
          <p:nvPr/>
        </p:nvSpPr>
        <p:spPr>
          <a:xfrm>
            <a:off x="7589520" y="5230368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</a:t>
            </a:r>
            <a:endParaRPr lang="en-US" sz="850" dirty="0"/>
          </a:p>
        </p:txBody>
      </p:sp>
      <p:sp>
        <p:nvSpPr>
          <p:cNvPr id="81" name="Shape 78"/>
          <p:cNvSpPr/>
          <p:nvPr/>
        </p:nvSpPr>
        <p:spPr>
          <a:xfrm>
            <a:off x="8915400" y="960120"/>
            <a:ext cx="2999232" cy="4818888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 w="19050">
            <a:solidFill>
              <a:srgbClr val="FEE2E2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2" name="Shape 79"/>
          <p:cNvSpPr/>
          <p:nvPr/>
        </p:nvSpPr>
        <p:spPr>
          <a:xfrm>
            <a:off x="8915400" y="960120"/>
            <a:ext cx="2999232" cy="502920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0"/>
          <p:cNvSpPr/>
          <p:nvPr/>
        </p:nvSpPr>
        <p:spPr>
          <a:xfrm>
            <a:off x="8979408" y="960120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GOVERNANCE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OBSERVABILITY</a:t>
            </a:r>
            <a:endParaRPr lang="en-US" sz="950" dirty="0"/>
          </a:p>
        </p:txBody>
      </p:sp>
      <p:sp>
        <p:nvSpPr>
          <p:cNvPr id="84" name="Shape 81"/>
          <p:cNvSpPr/>
          <p:nvPr/>
        </p:nvSpPr>
        <p:spPr>
          <a:xfrm>
            <a:off x="9034272" y="1572768"/>
            <a:ext cx="2761488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2"/>
          <p:cNvSpPr/>
          <p:nvPr/>
        </p:nvSpPr>
        <p:spPr>
          <a:xfrm>
            <a:off x="9098280" y="160934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</a:t>
            </a:r>
            <a:endParaRPr lang="en-US" sz="1000" dirty="0"/>
          </a:p>
        </p:txBody>
      </p:sp>
      <p:sp>
        <p:nvSpPr>
          <p:cNvPr id="86" name="Text 83"/>
          <p:cNvSpPr/>
          <p:nvPr/>
        </p:nvSpPr>
        <p:spPr>
          <a:xfrm>
            <a:off x="9098280" y="188366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MFA / RBAC  ·  Secrets Management</a:t>
            </a:r>
            <a:endParaRPr lang="en-US" sz="850" dirty="0"/>
          </a:p>
        </p:txBody>
      </p:sp>
      <p:sp>
        <p:nvSpPr>
          <p:cNvPr id="87" name="Shape 84"/>
          <p:cNvSpPr/>
          <p:nvPr/>
        </p:nvSpPr>
        <p:spPr>
          <a:xfrm>
            <a:off x="9034272" y="2377440"/>
            <a:ext cx="2761488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5"/>
          <p:cNvSpPr/>
          <p:nvPr/>
        </p:nvSpPr>
        <p:spPr>
          <a:xfrm>
            <a:off x="9098280" y="2414016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000" dirty="0"/>
          </a:p>
        </p:txBody>
      </p:sp>
      <p:sp>
        <p:nvSpPr>
          <p:cNvPr id="89" name="Text 86"/>
          <p:cNvSpPr/>
          <p:nvPr/>
        </p:nvSpPr>
        <p:spPr>
          <a:xfrm>
            <a:off x="9098280" y="2688336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(TLS/KMS)  ·  Network Isolation</a:t>
            </a:r>
            <a:endParaRPr lang="en-US" sz="850" dirty="0"/>
          </a:p>
        </p:txBody>
      </p:sp>
      <p:sp>
        <p:nvSpPr>
          <p:cNvPr id="90" name="Shape 87"/>
          <p:cNvSpPr/>
          <p:nvPr/>
        </p:nvSpPr>
        <p:spPr>
          <a:xfrm>
            <a:off x="9034272" y="3182112"/>
            <a:ext cx="2761488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8"/>
          <p:cNvSpPr/>
          <p:nvPr/>
        </p:nvSpPr>
        <p:spPr>
          <a:xfrm>
            <a:off x="9098280" y="321868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Guardrails</a:t>
            </a:r>
            <a:endParaRPr lang="en-US" sz="1000" dirty="0"/>
          </a:p>
        </p:txBody>
      </p:sp>
      <p:sp>
        <p:nvSpPr>
          <p:cNvPr id="92" name="Text 89"/>
          <p:cNvSpPr/>
          <p:nvPr/>
        </p:nvSpPr>
        <p:spPr>
          <a:xfrm>
            <a:off x="9098280" y="349300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Safety  ·  Hallucination Controls</a:t>
            </a:r>
            <a:endParaRPr lang="en-US" sz="850" dirty="0"/>
          </a:p>
        </p:txBody>
      </p:sp>
      <p:sp>
        <p:nvSpPr>
          <p:cNvPr id="93" name="Shape 90"/>
          <p:cNvSpPr/>
          <p:nvPr/>
        </p:nvSpPr>
        <p:spPr>
          <a:xfrm>
            <a:off x="9034272" y="3986784"/>
            <a:ext cx="2761488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1"/>
          <p:cNvSpPr/>
          <p:nvPr/>
        </p:nvSpPr>
        <p:spPr>
          <a:xfrm>
            <a:off x="9098280" y="402336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95" name="Text 92"/>
          <p:cNvSpPr/>
          <p:nvPr/>
        </p:nvSpPr>
        <p:spPr>
          <a:xfrm>
            <a:off x="9098280" y="429768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 ·  Metrics &amp; Alerts</a:t>
            </a:r>
            <a:endParaRPr lang="en-US" sz="850" dirty="0"/>
          </a:p>
        </p:txBody>
      </p:sp>
      <p:sp>
        <p:nvSpPr>
          <p:cNvPr id="96" name="Shape 93"/>
          <p:cNvSpPr/>
          <p:nvPr/>
        </p:nvSpPr>
        <p:spPr>
          <a:xfrm>
            <a:off x="9034272" y="4791456"/>
            <a:ext cx="2761488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4"/>
          <p:cNvSpPr/>
          <p:nvPr/>
        </p:nvSpPr>
        <p:spPr>
          <a:xfrm>
            <a:off x="9098280" y="482803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98" name="Text 95"/>
          <p:cNvSpPr/>
          <p:nvPr/>
        </p:nvSpPr>
        <p:spPr>
          <a:xfrm>
            <a:off x="9098280" y="510235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 ·  SOC 2  ·  GDPR  ·  HIPAA  ·  PCI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SDLC TRANSFORMATION  ·  ENTERPRISE VALUE REALIZATION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Benefits of Agentic SDLC Transformation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6693408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Technology Strategy Practice  |  Not for Distribution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704320" y="669340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960120"/>
            <a:ext cx="3858768" cy="749808"/>
          </a:xfrm>
          <a:prstGeom prst="roundRect">
            <a:avLst>
              <a:gd name="adj" fmla="val 12195"/>
            </a:avLst>
          </a:prstGeom>
          <a:solidFill>
            <a:srgbClr val="EEF4FF"/>
          </a:solidFill>
          <a:ln w="1905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0896" y="1069848"/>
            <a:ext cx="512064" cy="512064"/>
          </a:xfrm>
          <a:prstGeom prst="ellipse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24712"/>
            <a:ext cx="402336" cy="4023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2688" y="10515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REDUCTION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32688" y="13990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delivery without increasing headcount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169664" y="960120"/>
            <a:ext cx="3858768" cy="749808"/>
          </a:xfrm>
          <a:prstGeom prst="roundRect">
            <a:avLst>
              <a:gd name="adj" fmla="val 12195"/>
            </a:avLst>
          </a:prstGeom>
          <a:solidFill>
            <a:srgbClr val="EDFBF7"/>
          </a:solidFill>
          <a:ln w="1905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279392" y="1069848"/>
            <a:ext cx="512064" cy="512064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256" y="1124712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901184" y="10515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IMPROVEMENT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901184" y="13990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software quality &amp; reduce operational risk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8138160" y="960120"/>
            <a:ext cx="3858768" cy="749808"/>
          </a:xfrm>
          <a:prstGeom prst="roundRect">
            <a:avLst>
              <a:gd name="adj" fmla="val 12195"/>
            </a:avLst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8247888" y="1069848"/>
            <a:ext cx="512064" cy="51206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1124712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869680" y="10515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8869680" y="13990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engineering effort from toil to innovation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201168" y="1801368"/>
            <a:ext cx="3858768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274320" y="1837944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30–50%</a:t>
            </a:r>
            <a:endParaRPr lang="en-US" sz="1700" dirty="0"/>
          </a:p>
        </p:txBody>
      </p:sp>
      <p:sp>
        <p:nvSpPr>
          <p:cNvPr id="25" name="Shape 20"/>
          <p:cNvSpPr/>
          <p:nvPr/>
        </p:nvSpPr>
        <p:spPr>
          <a:xfrm>
            <a:off x="1426464" y="1911096"/>
            <a:ext cx="0" cy="38404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1554480" y="187452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requirements analysis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1554480" y="214884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Elicitation Agent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201168" y="2496312"/>
            <a:ext cx="3858768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274320" y="2532888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40–60%</a:t>
            </a:r>
            <a:endParaRPr lang="en-US" sz="1700" dirty="0"/>
          </a:p>
        </p:txBody>
      </p:sp>
      <p:sp>
        <p:nvSpPr>
          <p:cNvPr id="30" name="Shape 25"/>
          <p:cNvSpPr/>
          <p:nvPr/>
        </p:nvSpPr>
        <p:spPr>
          <a:xfrm>
            <a:off x="1426464" y="2606040"/>
            <a:ext cx="0" cy="38404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1554480" y="256946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story-to-code cycle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1554480" y="2843784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Generator + Code Gen Agents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201168" y="3191256"/>
            <a:ext cx="3858768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274320" y="3227832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50–70%</a:t>
            </a:r>
            <a:endParaRPr lang="en-US" sz="1700" dirty="0"/>
          </a:p>
        </p:txBody>
      </p:sp>
      <p:sp>
        <p:nvSpPr>
          <p:cNvPr id="35" name="Shape 30"/>
          <p:cNvSpPr/>
          <p:nvPr/>
        </p:nvSpPr>
        <p:spPr>
          <a:xfrm>
            <a:off x="1426464" y="3300984"/>
            <a:ext cx="0" cy="38404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1554480" y="326440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code review time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1554480" y="3538728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Agent</a:t>
            </a:r>
            <a:endParaRPr lang="en-US" sz="800" dirty="0"/>
          </a:p>
        </p:txBody>
      </p:sp>
      <p:sp>
        <p:nvSpPr>
          <p:cNvPr id="38" name="Shape 33"/>
          <p:cNvSpPr/>
          <p:nvPr/>
        </p:nvSpPr>
        <p:spPr>
          <a:xfrm>
            <a:off x="201168" y="3886200"/>
            <a:ext cx="3858768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274320" y="3922776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40–60%</a:t>
            </a:r>
            <a:endParaRPr lang="en-US" sz="1700" dirty="0"/>
          </a:p>
        </p:txBody>
      </p:sp>
      <p:sp>
        <p:nvSpPr>
          <p:cNvPr id="40" name="Shape 35"/>
          <p:cNvSpPr/>
          <p:nvPr/>
        </p:nvSpPr>
        <p:spPr>
          <a:xfrm>
            <a:off x="1426464" y="3995928"/>
            <a:ext cx="0" cy="38404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/>
          <p:nvPr/>
        </p:nvSpPr>
        <p:spPr>
          <a:xfrm>
            <a:off x="1554480" y="395935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test creation</a:t>
            </a:r>
            <a:endParaRPr lang="en-US" sz="950" dirty="0"/>
          </a:p>
        </p:txBody>
      </p:sp>
      <p:sp>
        <p:nvSpPr>
          <p:cNvPr id="42" name="Text 37"/>
          <p:cNvSpPr/>
          <p:nvPr/>
        </p:nvSpPr>
        <p:spPr>
          <a:xfrm>
            <a:off x="1554480" y="423367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Generation Agent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201168" y="4581144"/>
            <a:ext cx="3858768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39"/>
          <p:cNvSpPr/>
          <p:nvPr/>
        </p:nvSpPr>
        <p:spPr>
          <a:xfrm>
            <a:off x="274320" y="4617720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25–40%</a:t>
            </a:r>
            <a:endParaRPr lang="en-US" sz="1700" dirty="0"/>
          </a:p>
        </p:txBody>
      </p:sp>
      <p:sp>
        <p:nvSpPr>
          <p:cNvPr id="45" name="Shape 40"/>
          <p:cNvSpPr/>
          <p:nvPr/>
        </p:nvSpPr>
        <p:spPr>
          <a:xfrm>
            <a:off x="1426464" y="4690872"/>
            <a:ext cx="0" cy="38404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1"/>
          <p:cNvSpPr/>
          <p:nvPr/>
        </p:nvSpPr>
        <p:spPr>
          <a:xfrm>
            <a:off x="1554480" y="465429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incident triage</a:t>
            </a:r>
            <a:endParaRPr lang="en-US" sz="950" dirty="0"/>
          </a:p>
        </p:txBody>
      </p:sp>
      <p:sp>
        <p:nvSpPr>
          <p:cNvPr id="47" name="Text 42"/>
          <p:cNvSpPr/>
          <p:nvPr/>
        </p:nvSpPr>
        <p:spPr>
          <a:xfrm>
            <a:off x="1554480" y="4928616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Triaging Agent</a:t>
            </a:r>
            <a:endParaRPr lang="en-US" sz="800" dirty="0"/>
          </a:p>
        </p:txBody>
      </p:sp>
      <p:sp>
        <p:nvSpPr>
          <p:cNvPr id="48" name="Shape 43"/>
          <p:cNvSpPr/>
          <p:nvPr/>
        </p:nvSpPr>
        <p:spPr>
          <a:xfrm>
            <a:off x="201168" y="5276088"/>
            <a:ext cx="3858768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Text 44"/>
          <p:cNvSpPr/>
          <p:nvPr/>
        </p:nvSpPr>
        <p:spPr>
          <a:xfrm>
            <a:off x="274320" y="5312664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30–50%</a:t>
            </a:r>
            <a:endParaRPr lang="en-US" sz="1700" dirty="0"/>
          </a:p>
        </p:txBody>
      </p:sp>
      <p:sp>
        <p:nvSpPr>
          <p:cNvPr id="50" name="Shape 45"/>
          <p:cNvSpPr/>
          <p:nvPr/>
        </p:nvSpPr>
        <p:spPr>
          <a:xfrm>
            <a:off x="1426464" y="5385816"/>
            <a:ext cx="0" cy="38404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6"/>
          <p:cNvSpPr/>
          <p:nvPr/>
        </p:nvSpPr>
        <p:spPr>
          <a:xfrm>
            <a:off x="1554480" y="534924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release preparation</a:t>
            </a:r>
            <a:endParaRPr lang="en-US" sz="950" dirty="0"/>
          </a:p>
        </p:txBody>
      </p:sp>
      <p:sp>
        <p:nvSpPr>
          <p:cNvPr id="52" name="Text 47"/>
          <p:cNvSpPr/>
          <p:nvPr/>
        </p:nvSpPr>
        <p:spPr>
          <a:xfrm>
            <a:off x="1554480" y="562356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Agent</a:t>
            </a:r>
            <a:endParaRPr lang="en-US" sz="800" dirty="0"/>
          </a:p>
        </p:txBody>
      </p:sp>
      <p:sp>
        <p:nvSpPr>
          <p:cNvPr id="53" name="Shape 48"/>
          <p:cNvSpPr/>
          <p:nvPr/>
        </p:nvSpPr>
        <p:spPr>
          <a:xfrm>
            <a:off x="4169664" y="1801368"/>
            <a:ext cx="3858768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49"/>
          <p:cNvSpPr/>
          <p:nvPr/>
        </p:nvSpPr>
        <p:spPr>
          <a:xfrm>
            <a:off x="4242816" y="1837944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B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25–40%</a:t>
            </a:r>
            <a:endParaRPr lang="en-US" sz="1700" dirty="0"/>
          </a:p>
        </p:txBody>
      </p:sp>
      <p:sp>
        <p:nvSpPr>
          <p:cNvPr id="55" name="Shape 50"/>
          <p:cNvSpPr/>
          <p:nvPr/>
        </p:nvSpPr>
        <p:spPr>
          <a:xfrm>
            <a:off x="5394960" y="1911096"/>
            <a:ext cx="0" cy="38404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1"/>
          <p:cNvSpPr/>
          <p:nvPr/>
        </p:nvSpPr>
        <p:spPr>
          <a:xfrm>
            <a:off x="5522976" y="187452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escaped defects</a:t>
            </a:r>
            <a:endParaRPr lang="en-US" sz="950" dirty="0"/>
          </a:p>
        </p:txBody>
      </p:sp>
      <p:sp>
        <p:nvSpPr>
          <p:cNvPr id="57" name="Text 52"/>
          <p:cNvSpPr/>
          <p:nvPr/>
        </p:nvSpPr>
        <p:spPr>
          <a:xfrm>
            <a:off x="5522976" y="214884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+ Test Gen Agents</a:t>
            </a:r>
            <a:endParaRPr lang="en-US" sz="800" dirty="0"/>
          </a:p>
        </p:txBody>
      </p:sp>
      <p:sp>
        <p:nvSpPr>
          <p:cNvPr id="58" name="Shape 53"/>
          <p:cNvSpPr/>
          <p:nvPr/>
        </p:nvSpPr>
        <p:spPr>
          <a:xfrm>
            <a:off x="4169664" y="2496312"/>
            <a:ext cx="3858768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Text 54"/>
          <p:cNvSpPr/>
          <p:nvPr/>
        </p:nvSpPr>
        <p:spPr>
          <a:xfrm>
            <a:off x="4242816" y="2532888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B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30–50%</a:t>
            </a:r>
            <a:endParaRPr lang="en-US" sz="1700" dirty="0"/>
          </a:p>
        </p:txBody>
      </p:sp>
      <p:sp>
        <p:nvSpPr>
          <p:cNvPr id="60" name="Shape 55"/>
          <p:cNvSpPr/>
          <p:nvPr/>
        </p:nvSpPr>
        <p:spPr>
          <a:xfrm>
            <a:off x="5394960" y="2606040"/>
            <a:ext cx="0" cy="38404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6"/>
          <p:cNvSpPr/>
          <p:nvPr/>
        </p:nvSpPr>
        <p:spPr>
          <a:xfrm>
            <a:off x="5522976" y="256946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in test coverage</a:t>
            </a:r>
            <a:endParaRPr lang="en-US" sz="950" dirty="0"/>
          </a:p>
        </p:txBody>
      </p:sp>
      <p:sp>
        <p:nvSpPr>
          <p:cNvPr id="62" name="Text 57"/>
          <p:cNvSpPr/>
          <p:nvPr/>
        </p:nvSpPr>
        <p:spPr>
          <a:xfrm>
            <a:off x="5522976" y="2843784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Generation Agent</a:t>
            </a:r>
            <a:endParaRPr lang="en-US" sz="800" dirty="0"/>
          </a:p>
        </p:txBody>
      </p:sp>
      <p:sp>
        <p:nvSpPr>
          <p:cNvPr id="63" name="Shape 58"/>
          <p:cNvSpPr/>
          <p:nvPr/>
        </p:nvSpPr>
        <p:spPr>
          <a:xfrm>
            <a:off x="4169664" y="3191256"/>
            <a:ext cx="3858768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Text 59"/>
          <p:cNvSpPr/>
          <p:nvPr/>
        </p:nvSpPr>
        <p:spPr>
          <a:xfrm>
            <a:off x="4242816" y="3227832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B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20–35%</a:t>
            </a:r>
            <a:endParaRPr lang="en-US" sz="1700" dirty="0"/>
          </a:p>
        </p:txBody>
      </p:sp>
      <p:sp>
        <p:nvSpPr>
          <p:cNvPr id="65" name="Shape 60"/>
          <p:cNvSpPr/>
          <p:nvPr/>
        </p:nvSpPr>
        <p:spPr>
          <a:xfrm>
            <a:off x="5394960" y="3300984"/>
            <a:ext cx="0" cy="38404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1"/>
          <p:cNvSpPr/>
          <p:nvPr/>
        </p:nvSpPr>
        <p:spPr>
          <a:xfrm>
            <a:off x="5522976" y="326440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production incidents</a:t>
            </a:r>
            <a:endParaRPr lang="en-US" sz="950" dirty="0"/>
          </a:p>
        </p:txBody>
      </p:sp>
      <p:sp>
        <p:nvSpPr>
          <p:cNvPr id="67" name="Text 62"/>
          <p:cNvSpPr/>
          <p:nvPr/>
        </p:nvSpPr>
        <p:spPr>
          <a:xfrm>
            <a:off x="5522976" y="3538728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Agent</a:t>
            </a:r>
            <a:endParaRPr lang="en-US" sz="800" dirty="0"/>
          </a:p>
        </p:txBody>
      </p:sp>
      <p:sp>
        <p:nvSpPr>
          <p:cNvPr id="68" name="Shape 63"/>
          <p:cNvSpPr/>
          <p:nvPr/>
        </p:nvSpPr>
        <p:spPr>
          <a:xfrm>
            <a:off x="4169664" y="3886200"/>
            <a:ext cx="3858768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Text 64"/>
          <p:cNvSpPr/>
          <p:nvPr/>
        </p:nvSpPr>
        <p:spPr>
          <a:xfrm>
            <a:off x="4242816" y="3922776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B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60–80%</a:t>
            </a:r>
            <a:endParaRPr lang="en-US" sz="1700" dirty="0"/>
          </a:p>
        </p:txBody>
      </p:sp>
      <p:sp>
        <p:nvSpPr>
          <p:cNvPr id="70" name="Shape 65"/>
          <p:cNvSpPr/>
          <p:nvPr/>
        </p:nvSpPr>
        <p:spPr>
          <a:xfrm>
            <a:off x="5394960" y="3995928"/>
            <a:ext cx="0" cy="38404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6"/>
          <p:cNvSpPr/>
          <p:nvPr/>
        </p:nvSpPr>
        <p:spPr>
          <a:xfrm>
            <a:off x="5522976" y="395935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in documentation</a:t>
            </a:r>
            <a:endParaRPr lang="en-US" sz="950" dirty="0"/>
          </a:p>
        </p:txBody>
      </p:sp>
      <p:sp>
        <p:nvSpPr>
          <p:cNvPr id="72" name="Text 67"/>
          <p:cNvSpPr/>
          <p:nvPr/>
        </p:nvSpPr>
        <p:spPr>
          <a:xfrm>
            <a:off x="5522976" y="423367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Agent</a:t>
            </a:r>
            <a:endParaRPr lang="en-US" sz="800" dirty="0"/>
          </a:p>
        </p:txBody>
      </p:sp>
      <p:sp>
        <p:nvSpPr>
          <p:cNvPr id="73" name="Shape 68"/>
          <p:cNvSpPr/>
          <p:nvPr/>
        </p:nvSpPr>
        <p:spPr>
          <a:xfrm>
            <a:off x="4169664" y="4581144"/>
            <a:ext cx="3858768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4" name="Text 69"/>
          <p:cNvSpPr/>
          <p:nvPr/>
        </p:nvSpPr>
        <p:spPr>
          <a:xfrm>
            <a:off x="4242816" y="4617720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B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40–60%</a:t>
            </a:r>
            <a:endParaRPr lang="en-US" sz="1700" dirty="0"/>
          </a:p>
        </p:txBody>
      </p:sp>
      <p:sp>
        <p:nvSpPr>
          <p:cNvPr id="75" name="Shape 70"/>
          <p:cNvSpPr/>
          <p:nvPr/>
        </p:nvSpPr>
        <p:spPr>
          <a:xfrm>
            <a:off x="5394960" y="4690872"/>
            <a:ext cx="0" cy="38404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1"/>
          <p:cNvSpPr/>
          <p:nvPr/>
        </p:nvSpPr>
        <p:spPr>
          <a:xfrm>
            <a:off x="5522976" y="465429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root cause identification</a:t>
            </a:r>
            <a:endParaRPr lang="en-US" sz="950" dirty="0"/>
          </a:p>
        </p:txBody>
      </p:sp>
      <p:sp>
        <p:nvSpPr>
          <p:cNvPr id="77" name="Text 72"/>
          <p:cNvSpPr/>
          <p:nvPr/>
        </p:nvSpPr>
        <p:spPr>
          <a:xfrm>
            <a:off x="5522976" y="4928616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Agent</a:t>
            </a:r>
            <a:endParaRPr lang="en-US" sz="800" dirty="0"/>
          </a:p>
        </p:txBody>
      </p:sp>
      <p:sp>
        <p:nvSpPr>
          <p:cNvPr id="78" name="Shape 73"/>
          <p:cNvSpPr/>
          <p:nvPr/>
        </p:nvSpPr>
        <p:spPr>
          <a:xfrm>
            <a:off x="4169664" y="5276088"/>
            <a:ext cx="3858768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9" name="Text 74"/>
          <p:cNvSpPr/>
          <p:nvPr/>
        </p:nvSpPr>
        <p:spPr>
          <a:xfrm>
            <a:off x="4242816" y="5312664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Reduced</a:t>
            </a:r>
            <a:endParaRPr lang="en-US" sz="1300" dirty="0"/>
          </a:p>
        </p:txBody>
      </p:sp>
      <p:sp>
        <p:nvSpPr>
          <p:cNvPr id="80" name="Shape 75"/>
          <p:cNvSpPr/>
          <p:nvPr/>
        </p:nvSpPr>
        <p:spPr>
          <a:xfrm>
            <a:off x="5394960" y="5385816"/>
            <a:ext cx="0" cy="38404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6"/>
          <p:cNvSpPr/>
          <p:nvPr/>
        </p:nvSpPr>
        <p:spPr>
          <a:xfrm>
            <a:off x="5522976" y="534924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 defects</a:t>
            </a:r>
            <a:endParaRPr lang="en-US" sz="950" dirty="0"/>
          </a:p>
        </p:txBody>
      </p:sp>
      <p:sp>
        <p:nvSpPr>
          <p:cNvPr id="82" name="Text 77"/>
          <p:cNvSpPr/>
          <p:nvPr/>
        </p:nvSpPr>
        <p:spPr>
          <a:xfrm>
            <a:off x="5522976" y="562356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Leak Detection + Arch Advisor</a:t>
            </a:r>
            <a:endParaRPr lang="en-US" sz="800" dirty="0"/>
          </a:p>
        </p:txBody>
      </p:sp>
      <p:sp>
        <p:nvSpPr>
          <p:cNvPr id="83" name="Shape 78"/>
          <p:cNvSpPr/>
          <p:nvPr/>
        </p:nvSpPr>
        <p:spPr>
          <a:xfrm>
            <a:off x="8138160" y="1801368"/>
            <a:ext cx="3858768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Text 79"/>
          <p:cNvSpPr/>
          <p:nvPr/>
        </p:nvSpPr>
        <p:spPr>
          <a:xfrm>
            <a:off x="8211312" y="1837944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20–40%</a:t>
            </a:r>
            <a:endParaRPr lang="en-US" sz="1700" dirty="0"/>
          </a:p>
        </p:txBody>
      </p:sp>
      <p:sp>
        <p:nvSpPr>
          <p:cNvPr id="85" name="Shape 80"/>
          <p:cNvSpPr/>
          <p:nvPr/>
        </p:nvSpPr>
        <p:spPr>
          <a:xfrm>
            <a:off x="9363456" y="1911096"/>
            <a:ext cx="0" cy="38404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1"/>
          <p:cNvSpPr/>
          <p:nvPr/>
        </p:nvSpPr>
        <p:spPr>
          <a:xfrm>
            <a:off x="9491472" y="187452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engineering toil</a:t>
            </a:r>
            <a:endParaRPr lang="en-US" sz="950" dirty="0"/>
          </a:p>
        </p:txBody>
      </p:sp>
      <p:sp>
        <p:nvSpPr>
          <p:cNvPr id="87" name="Text 82"/>
          <p:cNvSpPr/>
          <p:nvPr/>
        </p:nvSpPr>
        <p:spPr>
          <a:xfrm>
            <a:off x="9491472" y="214884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Auto-Remediation + Code Gen Agents</a:t>
            </a:r>
            <a:endParaRPr lang="en-US" sz="800" dirty="0"/>
          </a:p>
        </p:txBody>
      </p:sp>
      <p:sp>
        <p:nvSpPr>
          <p:cNvPr id="88" name="Shape 83"/>
          <p:cNvSpPr/>
          <p:nvPr/>
        </p:nvSpPr>
        <p:spPr>
          <a:xfrm>
            <a:off x="8138160" y="2496312"/>
            <a:ext cx="3858768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9" name="Text 84"/>
          <p:cNvSpPr/>
          <p:nvPr/>
        </p:nvSpPr>
        <p:spPr>
          <a:xfrm>
            <a:off x="8211312" y="2532888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30–50%</a:t>
            </a:r>
            <a:endParaRPr lang="en-US" sz="1700" dirty="0"/>
          </a:p>
        </p:txBody>
      </p:sp>
      <p:sp>
        <p:nvSpPr>
          <p:cNvPr id="90" name="Shape 85"/>
          <p:cNvSpPr/>
          <p:nvPr/>
        </p:nvSpPr>
        <p:spPr>
          <a:xfrm>
            <a:off x="9363456" y="2606040"/>
            <a:ext cx="0" cy="38404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6"/>
          <p:cNvSpPr/>
          <p:nvPr/>
        </p:nvSpPr>
        <p:spPr>
          <a:xfrm>
            <a:off x="9491472" y="256946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operational support</a:t>
            </a:r>
            <a:endParaRPr lang="en-US" sz="950" dirty="0"/>
          </a:p>
        </p:txBody>
      </p:sp>
      <p:sp>
        <p:nvSpPr>
          <p:cNvPr id="92" name="Text 87"/>
          <p:cNvSpPr/>
          <p:nvPr/>
        </p:nvSpPr>
        <p:spPr>
          <a:xfrm>
            <a:off x="9491472" y="2843784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Auto-Remediation Agent</a:t>
            </a:r>
            <a:endParaRPr lang="en-US" sz="800" dirty="0"/>
          </a:p>
        </p:txBody>
      </p:sp>
      <p:sp>
        <p:nvSpPr>
          <p:cNvPr id="93" name="Shape 88"/>
          <p:cNvSpPr/>
          <p:nvPr/>
        </p:nvSpPr>
        <p:spPr>
          <a:xfrm>
            <a:off x="8138160" y="3191256"/>
            <a:ext cx="3858768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4" name="Text 89"/>
          <p:cNvSpPr/>
          <p:nvPr/>
        </p:nvSpPr>
        <p:spPr>
          <a:xfrm>
            <a:off x="8211312" y="3227832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20–30%</a:t>
            </a:r>
            <a:endParaRPr lang="en-US" sz="1700" dirty="0"/>
          </a:p>
        </p:txBody>
      </p:sp>
      <p:sp>
        <p:nvSpPr>
          <p:cNvPr id="95" name="Shape 90"/>
          <p:cNvSpPr/>
          <p:nvPr/>
        </p:nvSpPr>
        <p:spPr>
          <a:xfrm>
            <a:off x="9363456" y="3300984"/>
            <a:ext cx="0" cy="38404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1"/>
          <p:cNvSpPr/>
          <p:nvPr/>
        </p:nvSpPr>
        <p:spPr>
          <a:xfrm>
            <a:off x="9491472" y="326440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onboarding time</a:t>
            </a:r>
            <a:endParaRPr lang="en-US" sz="950" dirty="0"/>
          </a:p>
        </p:txBody>
      </p:sp>
      <p:sp>
        <p:nvSpPr>
          <p:cNvPr id="97" name="Text 92"/>
          <p:cNvSpPr/>
          <p:nvPr/>
        </p:nvSpPr>
        <p:spPr>
          <a:xfrm>
            <a:off x="9491472" y="3538728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 Agent</a:t>
            </a:r>
            <a:endParaRPr lang="en-US" sz="800" dirty="0"/>
          </a:p>
        </p:txBody>
      </p:sp>
      <p:sp>
        <p:nvSpPr>
          <p:cNvPr id="98" name="Shape 93"/>
          <p:cNvSpPr/>
          <p:nvPr/>
        </p:nvSpPr>
        <p:spPr>
          <a:xfrm>
            <a:off x="8138160" y="3886200"/>
            <a:ext cx="3858768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9" name="Text 94"/>
          <p:cNvSpPr/>
          <p:nvPr/>
        </p:nvSpPr>
        <p:spPr>
          <a:xfrm>
            <a:off x="8211312" y="3922776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25–45%</a:t>
            </a:r>
            <a:endParaRPr lang="en-US" sz="1700" dirty="0"/>
          </a:p>
        </p:txBody>
      </p:sp>
      <p:sp>
        <p:nvSpPr>
          <p:cNvPr id="100" name="Shape 95"/>
          <p:cNvSpPr/>
          <p:nvPr/>
        </p:nvSpPr>
        <p:spPr>
          <a:xfrm>
            <a:off x="9363456" y="3995928"/>
            <a:ext cx="0" cy="38404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6"/>
          <p:cNvSpPr/>
          <p:nvPr/>
        </p:nvSpPr>
        <p:spPr>
          <a:xfrm>
            <a:off x="9491472" y="395935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documentation effort</a:t>
            </a:r>
            <a:endParaRPr lang="en-US" sz="950" dirty="0"/>
          </a:p>
        </p:txBody>
      </p:sp>
      <p:sp>
        <p:nvSpPr>
          <p:cNvPr id="102" name="Text 97"/>
          <p:cNvSpPr/>
          <p:nvPr/>
        </p:nvSpPr>
        <p:spPr>
          <a:xfrm>
            <a:off x="9491472" y="423367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Agent</a:t>
            </a:r>
            <a:endParaRPr lang="en-US" sz="800" dirty="0"/>
          </a:p>
        </p:txBody>
      </p:sp>
      <p:sp>
        <p:nvSpPr>
          <p:cNvPr id="103" name="Shape 98"/>
          <p:cNvSpPr/>
          <p:nvPr/>
        </p:nvSpPr>
        <p:spPr>
          <a:xfrm>
            <a:off x="8138160" y="4581144"/>
            <a:ext cx="3858768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" name="Text 99"/>
          <p:cNvSpPr/>
          <p:nvPr/>
        </p:nvSpPr>
        <p:spPr>
          <a:xfrm>
            <a:off x="8211312" y="4617720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Reduced</a:t>
            </a:r>
            <a:endParaRPr lang="en-US" sz="1300" dirty="0"/>
          </a:p>
        </p:txBody>
      </p:sp>
      <p:sp>
        <p:nvSpPr>
          <p:cNvPr id="105" name="Shape 100"/>
          <p:cNvSpPr/>
          <p:nvPr/>
        </p:nvSpPr>
        <p:spPr>
          <a:xfrm>
            <a:off x="9363456" y="4690872"/>
            <a:ext cx="0" cy="38404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1"/>
          <p:cNvSpPr/>
          <p:nvPr/>
        </p:nvSpPr>
        <p:spPr>
          <a:xfrm>
            <a:off x="9491472" y="465429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dependency</a:t>
            </a:r>
            <a:endParaRPr lang="en-US" sz="950" dirty="0"/>
          </a:p>
        </p:txBody>
      </p:sp>
      <p:sp>
        <p:nvSpPr>
          <p:cNvPr id="107" name="Text 102"/>
          <p:cNvSpPr/>
          <p:nvPr/>
        </p:nvSpPr>
        <p:spPr>
          <a:xfrm>
            <a:off x="9491472" y="4928616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 + Meeting Intel Agents</a:t>
            </a:r>
            <a:endParaRPr lang="en-US" sz="800" dirty="0"/>
          </a:p>
        </p:txBody>
      </p:sp>
      <p:sp>
        <p:nvSpPr>
          <p:cNvPr id="108" name="Shape 103"/>
          <p:cNvSpPr/>
          <p:nvPr/>
        </p:nvSpPr>
        <p:spPr>
          <a:xfrm>
            <a:off x="8138160" y="5276088"/>
            <a:ext cx="3858768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9" name="Text 104"/>
          <p:cNvSpPr/>
          <p:nvPr/>
        </p:nvSpPr>
        <p:spPr>
          <a:xfrm>
            <a:off x="8211312" y="5312664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Reduced</a:t>
            </a:r>
            <a:endParaRPr lang="en-US" sz="1300" dirty="0"/>
          </a:p>
        </p:txBody>
      </p:sp>
      <p:sp>
        <p:nvSpPr>
          <p:cNvPr id="110" name="Shape 105"/>
          <p:cNvSpPr/>
          <p:nvPr/>
        </p:nvSpPr>
        <p:spPr>
          <a:xfrm>
            <a:off x="9363456" y="5385816"/>
            <a:ext cx="0" cy="38404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6"/>
          <p:cNvSpPr/>
          <p:nvPr/>
        </p:nvSpPr>
        <p:spPr>
          <a:xfrm>
            <a:off x="9491472" y="534924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management cost</a:t>
            </a:r>
            <a:endParaRPr lang="en-US" sz="950" dirty="0"/>
          </a:p>
        </p:txBody>
      </p:sp>
      <p:sp>
        <p:nvSpPr>
          <p:cNvPr id="112" name="Text 107"/>
          <p:cNvSpPr/>
          <p:nvPr/>
        </p:nvSpPr>
        <p:spPr>
          <a:xfrm>
            <a:off x="9491472" y="562356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Auto-Remediation + RCA Agents</a:t>
            </a:r>
            <a:endParaRPr lang="en-US" sz="800" dirty="0"/>
          </a:p>
        </p:txBody>
      </p:sp>
      <p:sp>
        <p:nvSpPr>
          <p:cNvPr id="113" name="Shape 108"/>
          <p:cNvSpPr/>
          <p:nvPr/>
        </p:nvSpPr>
        <p:spPr>
          <a:xfrm>
            <a:off x="201168" y="6446520"/>
            <a:ext cx="11759184" cy="438912"/>
          </a:xfrm>
          <a:prstGeom prst="roundRect">
            <a:avLst>
              <a:gd name="adj" fmla="val 1458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6537960"/>
            <a:ext cx="237744" cy="237744"/>
          </a:xfrm>
          <a:prstGeom prst="rect">
            <a:avLst/>
          </a:prstGeom>
        </p:spPr>
      </p:pic>
      <p:sp>
        <p:nvSpPr>
          <p:cNvPr id="115" name="Text 109"/>
          <p:cNvSpPr/>
          <p:nvPr/>
        </p:nvSpPr>
        <p:spPr>
          <a:xfrm>
            <a:off x="658368" y="651052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30–50% Faster</a:t>
            </a:r>
            <a:endParaRPr lang="en-US" sz="1000" dirty="0"/>
          </a:p>
        </p:txBody>
      </p:sp>
      <p:sp>
        <p:nvSpPr>
          <p:cNvPr id="116" name="Text 110"/>
          <p:cNvSpPr/>
          <p:nvPr/>
        </p:nvSpPr>
        <p:spPr>
          <a:xfrm>
            <a:off x="658368" y="670255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800" dirty="0"/>
          </a:p>
        </p:txBody>
      </p:sp>
      <p:sp>
        <p:nvSpPr>
          <p:cNvPr id="117" name="Shape 111"/>
          <p:cNvSpPr/>
          <p:nvPr/>
        </p:nvSpPr>
        <p:spPr>
          <a:xfrm>
            <a:off x="2103120" y="6519672"/>
            <a:ext cx="0" cy="292608"/>
          </a:xfrm>
          <a:prstGeom prst="line">
            <a:avLst/>
          </a:prstGeom>
          <a:noFill/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9192" y="6537960"/>
            <a:ext cx="237744" cy="237744"/>
          </a:xfrm>
          <a:prstGeom prst="rect">
            <a:avLst/>
          </a:prstGeom>
        </p:spPr>
      </p:pic>
      <p:sp>
        <p:nvSpPr>
          <p:cNvPr id="119" name="Text 112"/>
          <p:cNvSpPr/>
          <p:nvPr/>
        </p:nvSpPr>
        <p:spPr>
          <a:xfrm>
            <a:off x="2990088" y="651052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25–40% Higher</a:t>
            </a:r>
            <a:endParaRPr lang="en-US" sz="1000" dirty="0"/>
          </a:p>
        </p:txBody>
      </p:sp>
      <p:sp>
        <p:nvSpPr>
          <p:cNvPr id="120" name="Text 113"/>
          <p:cNvSpPr/>
          <p:nvPr/>
        </p:nvSpPr>
        <p:spPr>
          <a:xfrm>
            <a:off x="2990088" y="670255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800" dirty="0"/>
          </a:p>
        </p:txBody>
      </p:sp>
      <p:sp>
        <p:nvSpPr>
          <p:cNvPr id="121" name="Shape 114"/>
          <p:cNvSpPr/>
          <p:nvPr/>
        </p:nvSpPr>
        <p:spPr>
          <a:xfrm>
            <a:off x="4434840" y="6519672"/>
            <a:ext cx="0" cy="292608"/>
          </a:xfrm>
          <a:prstGeom prst="line">
            <a:avLst/>
          </a:prstGeom>
          <a:noFill/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0912" y="6537960"/>
            <a:ext cx="237744" cy="237744"/>
          </a:xfrm>
          <a:prstGeom prst="rect">
            <a:avLst/>
          </a:prstGeom>
        </p:spPr>
      </p:pic>
      <p:sp>
        <p:nvSpPr>
          <p:cNvPr id="123" name="Text 115"/>
          <p:cNvSpPr/>
          <p:nvPr/>
        </p:nvSpPr>
        <p:spPr>
          <a:xfrm>
            <a:off x="5321808" y="651052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20–35% Lower</a:t>
            </a:r>
            <a:endParaRPr lang="en-US" sz="1000" dirty="0"/>
          </a:p>
        </p:txBody>
      </p:sp>
      <p:sp>
        <p:nvSpPr>
          <p:cNvPr id="124" name="Text 116"/>
          <p:cNvSpPr/>
          <p:nvPr/>
        </p:nvSpPr>
        <p:spPr>
          <a:xfrm>
            <a:off x="5321808" y="670255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Cost</a:t>
            </a:r>
            <a:endParaRPr lang="en-US" sz="800" dirty="0"/>
          </a:p>
        </p:txBody>
      </p:sp>
      <p:sp>
        <p:nvSpPr>
          <p:cNvPr id="125" name="Shape 117"/>
          <p:cNvSpPr/>
          <p:nvPr/>
        </p:nvSpPr>
        <p:spPr>
          <a:xfrm>
            <a:off x="7479792" y="6510528"/>
            <a:ext cx="0" cy="310896"/>
          </a:xfrm>
          <a:prstGeom prst="line">
            <a:avLst/>
          </a:prstGeom>
          <a:noFill/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18"/>
          <p:cNvSpPr/>
          <p:nvPr/>
        </p:nvSpPr>
        <p:spPr>
          <a:xfrm>
            <a:off x="7635240" y="651052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SDLC typically delivers 30–50% faster delivery, 25–40% higher quality, and 20–35% lower operational cost within the first 12 months.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0" y="-1097280"/>
            <a:ext cx="4572000" cy="4572000"/>
          </a:xfrm>
          <a:prstGeom prst="ellipse">
            <a:avLst/>
          </a:prstGeom>
          <a:solidFill>
            <a:srgbClr val="DBEAFE">
              <a:alpha val="75000"/>
            </a:srgbClr>
          </a:solidFill>
          <a:ln w="254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0" y="3200400"/>
            <a:ext cx="2286000" cy="2286000"/>
          </a:xfrm>
          <a:prstGeom prst="ellipse">
            <a:avLst/>
          </a:prstGeom>
          <a:solidFill>
            <a:srgbClr val="EEF4FF"/>
          </a:solidFill>
          <a:ln w="12700">
            <a:solidFill>
              <a:srgbClr val="C7D9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828800" cy="0"/>
          </a:xfrm>
          <a:prstGeom prst="line">
            <a:avLst/>
          </a:prstGeom>
          <a:noFill/>
          <a:ln w="3175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Agentic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SDLC is Here.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question is whether you lead it or follow it.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27648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27648" y="32095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27648" y="4105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1403</Words>
  <Application>Microsoft Macintosh PowerPoint</Application>
  <PresentationFormat>Widescreen</PresentationFormat>
  <Paragraphs>538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SDLC Transformation — Executive Portfolio Assessment</dc:title>
  <dc:subject>PptxGenJS Presentation</dc:subject>
  <dc:creator>PptxGenJS</dc:creator>
  <cp:lastModifiedBy>sourav mahapatra</cp:lastModifiedBy>
  <cp:revision>21</cp:revision>
  <dcterms:created xsi:type="dcterms:W3CDTF">2026-06-22T05:46:05Z</dcterms:created>
  <dcterms:modified xsi:type="dcterms:W3CDTF">2026-06-22T06:18:40Z</dcterms:modified>
</cp:coreProperties>
</file>