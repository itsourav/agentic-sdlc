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1350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promise: in 90 minutes, every table will have built a car, and every function will have used AI on its own kind of work. This deck asks for three things at the end: a date, the participants, and a server to run the open models on. Nothing in this edition sends data to a cloud AI service.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Senior message: this is not a demo day. Generic AI training does not change behaviour because people never see their own work in it. Here each function drives the module that looks like its job, and the outputs chain together like the real value chain. Three outcomes we commit to: fluency, a pipeline of candidate use cases, and confidence in the platform.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slide to remember. Mixed tables of 4 to 6 people, one from each function. The driver for each module has the keyboard; the rest have co-pilot jobs. The sketches feed the engineering spec, the spec drives the parts graph, the parts graph drives the build, and the build goes through an AI quality gate. Every module can also start from bundled sample data, so no table gets stuck.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Timings are tight but tested against the lab. Opening and close are 7 minutes each. If a table falls behind, it loads the sample data and jumps to the next checkpoint. The facilitator keeps a visible timer on the main screen.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does this together as the warm-up. The question is about a fictional car, so a confident number from the naive prompt is a hallucination and the sceptic rings the bell. With tools, the agent returns 269 miles and 6 in stock, computed from data. The model swap (for example an 8B model for a 1.7B one) shows that prompts and tools are portable, and that smaller models trade accuracy for speed.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person sketches for 3 minutes, colouring body, doors, mirrors, bonnet and wheels. The model extracts all five attributes per image plus a quality score with a reason, then ranks them. MCP is the enterprise point: the catalogue server is written once and any agent can use it, including Continue on the builders laptops and Open WebUI for the no-code track. The vision model is an open-weight 7B model running on the room server.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Engineers see where AI belongs and where code must stay exact: the vote and the de-duplication are deterministic, the documents are generated, and compliance is retrieval-grounded with citations. Humans vote with sticky dots before the AI vote, which makes a good debate. The 3D model is optional if the room is running ahead.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cards or string in this edition. Each person names the supplier they think would hurt the car most, then the table clicks it in the app's what-if. With the sample data, knocking out TaiSemi turns 4 parts and 3 of the 4 spec options red, all through one microcontroller; only the paint survives. Then try a supplier with more parts but less impact, which shows why risk ratings alone mislead. The guardrail game is a crowd-pleaser: the room votes with paddles, then sees the rails act. Evals give leaders the language for trust: pass rate, safety, groundedness, before and after a change.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build the dominant spec in LEGO against an 8-minute takt, photograph it and run the harness. The model makes one vision call; everything else is code: validation, comparison to spec, the release rule, and the human gate for physical checks. Memory makes the second inspection visibly smarter. This is the slide that explains why production AI is mostly engineering around the model.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 want to know this is not a toy. Each concept the participants touch has an open-source production component they can run on their own infrastructure, with no per-call fees and no data leaving the building. The starter kit is deliberately thin so the step from lab to pilot is a swap of components, not a rewrite. Licences differ: most are Apache 2.0 or MIT, Neo4j Community is GPLv3, and open-weight model licences vary by model and size. Have the open-source office review the list before a pilot.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gets in through the browser. Builders and no-code makers get optional stretch paths. One Docker Compose file starts Ollama, the lab app, Open WebUI and an MCP bridge on a single machine with a 16 GB GPU or a 32 GB Apple Silicon Mac, which serves about six tables. The model layer speaks the OpenAI-compatible API, so any open model on Ollama, vLLM or llama.cpp drops in; with a bigger GPU, Mistral Small 3.1 can handle both text and vision. Model names and licences change, so check the model cards before the event. Offline mode means a server failure does not end the session.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format is the engagement strategy. Rotating drivers means every function has its moment at the keyboard. Co-pilot jobs keep everyone busy, and the sceptic role normalises spotting AI mistakes, which is the healthiest habit to build. The Concours gives a light competitive close with a physical car on the table.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return is what happens afterwards. The sticky-note wall is turned into a scored shortlist within two weeks, and the first pilot reuses the starter kit components: the model layer, the MCP pattern, the guardrails and the eval harness. Adjust the bracketed numbers to the customer plan.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asks. Everything else, the kit, data, guide and props list, is ready. The longest lead items are a GPU server (16 GB or more of GPU memory, or a 32 GB Apple Silicon Mac) and a licence review of the open-weight models by the customer's open-source office, so ask for those first. Optional: rebrand the sample data with the customer palette and parts a week before.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547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5191F"/>
                </a:solidFill>
                <a:latin typeface="Oswald" pitchFamily="34" charset="0"/>
                <a:ea typeface="Oswald" pitchFamily="34" charset="-122"/>
                <a:cs typeface="Oswal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062411"/>
            <a:ext cx="10566400" cy="3982789"/>
          </a:xfrm>
          <a:prstGeom prst="rect">
            <a:avLst/>
          </a:prstGeom>
          <a:noFill/>
          <a:ln/>
        </p:spPr>
        <p:txBody>
          <a:bodyPr wrap="square" lIns="0" tIns="0" rIns="0" bIns="0" rtlCol="0" anchor="t"/>
          <a:lstStyle>
            <a:lvl1pPr marL="0" indent="0" algn="l">
              <a:lnSpc>
                <a:spcPct val="140000"/>
              </a:lnSpc>
              <a:buNone/>
              <a:defRPr lang="en-US" sz="1600" dirty="0">
                <a:solidFill>
                  <a:srgbClr val="15191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91F"/>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C8102E"/>
          </a:solidFill>
          <a:ln/>
        </p:spPr>
        <p:txBody>
          <a:bodyPr/>
          <a:lstStyle/>
          <a:p>
            <a:endParaRPr lang="en-US"/>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6B"/>
                </a:solidFill>
                <a:latin typeface="IBM Plex Sans" pitchFamily="34" charset="0"/>
                <a:ea typeface="IBM Plex Sans" pitchFamily="34" charset="-122"/>
                <a:cs typeface="IBM Plex Sans" pitchFamily="34" charset="-120"/>
              </a:rPr>
              <a:t>AI IMMERSION DAY · AUTOMOTIVE · OPEN EDITION</a:t>
            </a:r>
            <a:endParaRPr lang="en-US" sz="1200" dirty="0"/>
          </a:p>
        </p:txBody>
      </p:sp>
      <p:sp>
        <p:nvSpPr>
          <p:cNvPr id="4" name="Text 2"/>
          <p:cNvSpPr>
            <a:spLocks noGrp="1"/>
          </p:cNvSpPr>
          <p:nvPr>
            <p:ph type="title"/>
          </p:nvPr>
        </p:nvSpPr>
        <p:spPr>
          <a:xfrm>
            <a:off x="812800" y="210061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4F1EA"/>
                </a:solidFill>
                <a:latin typeface="Oswald" pitchFamily="34" charset="0"/>
                <a:ea typeface="Oswald" pitchFamily="34" charset="-122"/>
                <a:cs typeface="Oswald" pitchFamily="34" charset="-120"/>
              </a:rPr>
              <a:t>One car. Five desks.</a:t>
            </a:r>
            <a:endParaRPr lang="en-US" sz="6000" dirty="0"/>
          </a:p>
          <a:p>
            <a:pPr marL="0" indent="0" algn="l">
              <a:lnSpc>
                <a:spcPts val="6300"/>
              </a:lnSpc>
              <a:buNone/>
            </a:pPr>
            <a:r>
              <a:rPr lang="en-US" sz="6000" b="1" i="0" dirty="0">
                <a:solidFill>
                  <a:srgbClr val="F4F1EA"/>
                </a:solidFill>
                <a:latin typeface="Oswald" pitchFamily="34" charset="0"/>
                <a:ea typeface="Oswald" pitchFamily="34" charset="-122"/>
                <a:cs typeface="Oswald" pitchFamily="34" charset="-120"/>
              </a:rPr>
              <a:t>Ninety minutes.</a:t>
            </a:r>
            <a:endParaRPr lang="en-US" sz="6000" dirty="0"/>
          </a:p>
        </p:txBody>
      </p:sp>
      <p:sp>
        <p:nvSpPr>
          <p:cNvPr id="5" name="Text 3"/>
          <p:cNvSpPr/>
          <p:nvPr/>
        </p:nvSpPr>
        <p:spPr>
          <a:xfrm>
            <a:off x="812800" y="3904010"/>
            <a:ext cx="8502650"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0C9"/>
                </a:solidFill>
                <a:latin typeface="IBM Plex Sans" pitchFamily="34" charset="0"/>
                <a:ea typeface="IBM Plex Sans" pitchFamily="34" charset="-122"/>
                <a:cs typeface="IBM Plex Sans" pitchFamily="34" charset="-120"/>
              </a:rPr>
              <a:t>A hands-on day where Marketing, Engineering, Supply Chain and Manufacturing take a dream car from paper sketch to quality-approved build, with AI agents at every desk. Built entirely on open-source software and open-weight models you run yourself.</a:t>
            </a:r>
            <a:endParaRPr lang="en-US" sz="1600" dirty="0"/>
          </a:p>
        </p:txBody>
      </p:sp>
      <p:sp>
        <p:nvSpPr>
          <p:cNvPr id="6" name="Text 4"/>
          <p:cNvSpPr/>
          <p:nvPr/>
        </p:nvSpPr>
        <p:spPr>
          <a:xfrm>
            <a:off x="812800" y="58318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9"/>
                </a:solidFill>
                <a:latin typeface="IBM Plex Sans" pitchFamily="34" charset="0"/>
                <a:ea typeface="IBM Plex Sans" pitchFamily="34" charset="-122"/>
                <a:cs typeface="IBM Plex Sans" pitchFamily="34" charset="-120"/>
              </a:rPr>
              <a:t>[Customer name] · [Date] · Prepared by [Consultant name]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IBM Plex Sans" pitchFamily="34" charset="0"/>
                <a:ea typeface="IBM Plex Sans" pitchFamily="34" charset="-122"/>
                <a:cs typeface="IBM Plex Sans" pitchFamily="34" charset="-120"/>
              </a:rPr>
              <a:t>WHY AN IMMERSION DAY</a:t>
            </a:r>
            <a:endParaRPr lang="en-US" sz="1200" dirty="0"/>
          </a:p>
        </p:txBody>
      </p:sp>
      <p:sp>
        <p:nvSpPr>
          <p:cNvPr id="3" name="Text 1"/>
          <p:cNvSpPr>
            <a:spLocks noGrp="1"/>
          </p:cNvSpPr>
          <p:nvPr>
            <p:ph type="title"/>
          </p:nvPr>
        </p:nvSpPr>
        <p:spPr>
          <a:xfrm>
            <a:off x="812800" y="12801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191F"/>
                </a:solidFill>
                <a:latin typeface="Oswald" pitchFamily="34" charset="0"/>
                <a:ea typeface="Oswald" pitchFamily="34" charset="-122"/>
                <a:cs typeface="Oswald" pitchFamily="34" charset="-120"/>
              </a:rPr>
              <a:t>People learn AI fastest by building something they recognise</a:t>
            </a:r>
            <a:endParaRPr lang="en-US" sz="3600" dirty="0"/>
          </a:p>
        </p:txBody>
      </p:sp>
      <p:sp>
        <p:nvSpPr>
          <p:cNvPr id="4" name="Shape 2"/>
          <p:cNvSpPr/>
          <p:nvPr/>
        </p:nvSpPr>
        <p:spPr>
          <a:xfrm>
            <a:off x="815975" y="2543076"/>
            <a:ext cx="3380284" cy="3295749"/>
          </a:xfrm>
          <a:prstGeom prst="roundRect">
            <a:avLst>
              <a:gd name="adj" fmla="val 2216"/>
            </a:avLst>
          </a:prstGeom>
          <a:solidFill>
            <a:srgbClr val="FBFAF6"/>
          </a:solidFill>
          <a:ln w="6350">
            <a:solidFill>
              <a:srgbClr val="DDD8CC"/>
            </a:solidFill>
            <a:prstDash val="solid"/>
          </a:ln>
        </p:spPr>
        <p:txBody>
          <a:bodyPr/>
          <a:lstStyle/>
          <a:p>
            <a:endParaRPr lang="en-US"/>
          </a:p>
        </p:txBody>
      </p:sp>
      <p:sp>
        <p:nvSpPr>
          <p:cNvPr id="5" name="Text 3"/>
          <p:cNvSpPr/>
          <p:nvPr/>
        </p:nvSpPr>
        <p:spPr>
          <a:xfrm>
            <a:off x="1073150" y="2800251"/>
            <a:ext cx="2951912"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15191F"/>
                </a:solidFill>
                <a:latin typeface="Oswald" pitchFamily="34" charset="0"/>
                <a:ea typeface="Oswald" pitchFamily="34" charset="-122"/>
                <a:cs typeface="Oswald" pitchFamily="34" charset="-120"/>
              </a:rPr>
              <a:t>Fluency</a:t>
            </a:r>
            <a:endParaRPr lang="en-US" sz="2200" dirty="0"/>
          </a:p>
        </p:txBody>
      </p:sp>
      <p:sp>
        <p:nvSpPr>
          <p:cNvPr id="6" name="Text 4"/>
          <p:cNvSpPr/>
          <p:nvPr/>
        </p:nvSpPr>
        <p:spPr>
          <a:xfrm>
            <a:off x="1073150" y="3237111"/>
            <a:ext cx="2951912"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4F57"/>
                </a:solidFill>
                <a:latin typeface="IBM Plex Sans" pitchFamily="34" charset="0"/>
                <a:ea typeface="IBM Plex Sans" pitchFamily="34" charset="-122"/>
                <a:cs typeface="IBM Plex Sans" pitchFamily="34" charset="-120"/>
              </a:rPr>
              <a:t>Every participant builds and tests an agent, a RAG check, a guardrail and an eval. They learn by doing, not watching.</a:t>
            </a:r>
            <a:endParaRPr lang="en-US" sz="1200" dirty="0"/>
          </a:p>
        </p:txBody>
      </p:sp>
      <p:sp>
        <p:nvSpPr>
          <p:cNvPr id="7" name="Shape 5"/>
          <p:cNvSpPr/>
          <p:nvPr/>
        </p:nvSpPr>
        <p:spPr>
          <a:xfrm>
            <a:off x="4405809" y="2543076"/>
            <a:ext cx="3380333" cy="3295749"/>
          </a:xfrm>
          <a:prstGeom prst="roundRect">
            <a:avLst>
              <a:gd name="adj" fmla="val 2216"/>
            </a:avLst>
          </a:prstGeom>
          <a:solidFill>
            <a:srgbClr val="FBFAF6"/>
          </a:solidFill>
          <a:ln w="6350">
            <a:solidFill>
              <a:srgbClr val="DDD8CC"/>
            </a:solidFill>
            <a:prstDash val="solid"/>
          </a:ln>
        </p:spPr>
        <p:txBody>
          <a:bodyPr/>
          <a:lstStyle/>
          <a:p>
            <a:endParaRPr lang="en-US"/>
          </a:p>
        </p:txBody>
      </p:sp>
      <p:sp>
        <p:nvSpPr>
          <p:cNvPr id="8" name="Text 6"/>
          <p:cNvSpPr/>
          <p:nvPr/>
        </p:nvSpPr>
        <p:spPr>
          <a:xfrm>
            <a:off x="4662984" y="2800251"/>
            <a:ext cx="2951963"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15191F"/>
                </a:solidFill>
                <a:latin typeface="Oswald" pitchFamily="34" charset="0"/>
                <a:ea typeface="Oswald" pitchFamily="34" charset="-122"/>
                <a:cs typeface="Oswald" pitchFamily="34" charset="-120"/>
              </a:rPr>
              <a:t>A use-case pipeline</a:t>
            </a:r>
            <a:endParaRPr lang="en-US" sz="2200" dirty="0"/>
          </a:p>
        </p:txBody>
      </p:sp>
      <p:sp>
        <p:nvSpPr>
          <p:cNvPr id="9" name="Text 7"/>
          <p:cNvSpPr/>
          <p:nvPr/>
        </p:nvSpPr>
        <p:spPr>
          <a:xfrm>
            <a:off x="4662984" y="3237111"/>
            <a:ext cx="2951963"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4F57"/>
                </a:solidFill>
                <a:latin typeface="IBM Plex Sans" pitchFamily="34" charset="0"/>
                <a:ea typeface="IBM Plex Sans" pitchFamily="34" charset="-122"/>
                <a:cs typeface="IBM Plex Sans" pitchFamily="34" charset="-120"/>
              </a:rPr>
              <a:t>Each person leaves one sticky note: where this saves time on Monday. The wall becomes your pilot shortlist.</a:t>
            </a:r>
            <a:endParaRPr lang="en-US" sz="1200" dirty="0"/>
          </a:p>
        </p:txBody>
      </p:sp>
      <p:sp>
        <p:nvSpPr>
          <p:cNvPr id="10" name="Shape 8"/>
          <p:cNvSpPr/>
          <p:nvPr/>
        </p:nvSpPr>
        <p:spPr>
          <a:xfrm>
            <a:off x="7995692" y="2543076"/>
            <a:ext cx="3380333" cy="3295749"/>
          </a:xfrm>
          <a:prstGeom prst="roundRect">
            <a:avLst>
              <a:gd name="adj" fmla="val 2216"/>
            </a:avLst>
          </a:prstGeom>
          <a:solidFill>
            <a:srgbClr val="FBFAF6"/>
          </a:solidFill>
          <a:ln w="6350">
            <a:solidFill>
              <a:srgbClr val="DDD8CC"/>
            </a:solidFill>
            <a:prstDash val="solid"/>
          </a:ln>
        </p:spPr>
        <p:txBody>
          <a:bodyPr/>
          <a:lstStyle/>
          <a:p>
            <a:endParaRPr lang="en-US"/>
          </a:p>
        </p:txBody>
      </p:sp>
      <p:sp>
        <p:nvSpPr>
          <p:cNvPr id="11" name="Text 9"/>
          <p:cNvSpPr/>
          <p:nvPr/>
        </p:nvSpPr>
        <p:spPr>
          <a:xfrm>
            <a:off x="8252867" y="2800251"/>
            <a:ext cx="2951963"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15191F"/>
                </a:solidFill>
                <a:latin typeface="Oswald" pitchFamily="34" charset="0"/>
                <a:ea typeface="Oswald" pitchFamily="34" charset="-122"/>
                <a:cs typeface="Oswald" pitchFamily="34" charset="-120"/>
              </a:rPr>
              <a:t>Control and confidence</a:t>
            </a:r>
            <a:endParaRPr lang="en-US" sz="2200" dirty="0"/>
          </a:p>
        </p:txBody>
      </p:sp>
      <p:sp>
        <p:nvSpPr>
          <p:cNvPr id="12" name="Text 10"/>
          <p:cNvSpPr/>
          <p:nvPr/>
        </p:nvSpPr>
        <p:spPr>
          <a:xfrm>
            <a:off x="8252867" y="3237111"/>
            <a:ext cx="2951963" cy="9398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4F57"/>
                </a:solidFill>
                <a:latin typeface="IBM Plex Sans" pitchFamily="34" charset="0"/>
                <a:ea typeface="IBM Plex Sans" pitchFamily="34" charset="-122"/>
                <a:cs typeface="IBM Plex Sans" pitchFamily="34" charset="-120"/>
              </a:rPr>
              <a:t>Open models on your own hardware: no data leaves the building, no lock-in. The same code becomes the starting point for real pilots.</a:t>
            </a:r>
            <a:endParaRPr lang="en-US" sz="1200" dirty="0"/>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AI Immersion Day · Automotive</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7"/>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19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6B"/>
                </a:solidFill>
                <a:latin typeface="IBM Plex Sans" pitchFamily="34" charset="0"/>
                <a:ea typeface="IBM Plex Sans" pitchFamily="34" charset="-122"/>
                <a:cs typeface="IBM Plex Sans" pitchFamily="34" charset="-120"/>
              </a:rPr>
              <a:t>THE CONSTRUCT</a:t>
            </a:r>
            <a:endParaRPr lang="en-US" sz="1200" dirty="0"/>
          </a:p>
        </p:txBody>
      </p:sp>
      <p:sp>
        <p:nvSpPr>
          <p:cNvPr id="3" name="Text 1"/>
          <p:cNvSpPr>
            <a:spLocks noGrp="1"/>
          </p:cNvSpPr>
          <p:nvPr>
            <p:ph type="title"/>
          </p:nvPr>
        </p:nvSpPr>
        <p:spPr>
          <a:xfrm>
            <a:off x="812800" y="12801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1EA"/>
                </a:solidFill>
                <a:latin typeface="Oswald" pitchFamily="34" charset="0"/>
                <a:ea typeface="Oswald" pitchFamily="34" charset="-122"/>
                <a:cs typeface="Oswald" pitchFamily="34" charset="-120"/>
              </a:rPr>
              <a:t>Each desk hands its output to the next, like the real value chain</a:t>
            </a:r>
            <a:endParaRPr lang="en-US" sz="3600" dirty="0"/>
          </a:p>
        </p:txBody>
      </p:sp>
      <p:sp>
        <p:nvSpPr>
          <p:cNvPr id="4" name="Shape 2"/>
          <p:cNvSpPr/>
          <p:nvPr/>
        </p:nvSpPr>
        <p:spPr>
          <a:xfrm>
            <a:off x="812800" y="2539901"/>
            <a:ext cx="1991320" cy="3302099"/>
          </a:xfrm>
          <a:prstGeom prst="roundRect">
            <a:avLst>
              <a:gd name="adj" fmla="val 3827"/>
            </a:avLst>
          </a:prstGeom>
          <a:solidFill>
            <a:srgbClr val="232A34"/>
          </a:solidFill>
          <a:ln/>
        </p:spPr>
        <p:txBody>
          <a:bodyPr/>
          <a:lstStyle/>
          <a:p>
            <a:endParaRPr lang="en-US"/>
          </a:p>
        </p:txBody>
      </p:sp>
      <p:sp>
        <p:nvSpPr>
          <p:cNvPr id="5" name="Text 3"/>
          <p:cNvSpPr/>
          <p:nvPr/>
        </p:nvSpPr>
        <p:spPr>
          <a:xfrm>
            <a:off x="965200" y="2743101"/>
            <a:ext cx="173732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6B6B"/>
                </a:solidFill>
                <a:latin typeface="Oswald" pitchFamily="34" charset="0"/>
                <a:ea typeface="Oswald" pitchFamily="34" charset="-122"/>
                <a:cs typeface="Oswald" pitchFamily="34" charset="-120"/>
              </a:rPr>
              <a:t>01</a:t>
            </a:r>
            <a:endParaRPr lang="en-US" sz="2200" dirty="0"/>
          </a:p>
        </p:txBody>
      </p:sp>
      <p:sp>
        <p:nvSpPr>
          <p:cNvPr id="6" name="Text 4"/>
          <p:cNvSpPr/>
          <p:nvPr/>
        </p:nvSpPr>
        <p:spPr>
          <a:xfrm>
            <a:off x="965200" y="3210421"/>
            <a:ext cx="173732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9C0C9"/>
                </a:solidFill>
                <a:latin typeface="IBM Plex Sans" pitchFamily="34" charset="0"/>
                <a:ea typeface="IBM Plex Sans" pitchFamily="34" charset="-122"/>
                <a:cs typeface="IBM Plex Sans" pitchFamily="34" charset="-120"/>
              </a:rPr>
              <a:t>EVERYONE</a:t>
            </a:r>
            <a:endParaRPr lang="en-US" sz="1200" dirty="0"/>
          </a:p>
        </p:txBody>
      </p:sp>
      <p:sp>
        <p:nvSpPr>
          <p:cNvPr id="7" name="Text 5"/>
          <p:cNvSpPr/>
          <p:nvPr/>
        </p:nvSpPr>
        <p:spPr>
          <a:xfrm>
            <a:off x="965200" y="3499941"/>
            <a:ext cx="1737320" cy="332730"/>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F4F1EA"/>
                </a:solidFill>
                <a:latin typeface="Oswald" pitchFamily="34" charset="0"/>
                <a:ea typeface="Oswald" pitchFamily="34" charset="-122"/>
                <a:cs typeface="Oswald" pitchFamily="34" charset="-120"/>
              </a:rPr>
              <a:t>Agent basics</a:t>
            </a:r>
            <a:endParaRPr lang="en-US" sz="2200" dirty="0"/>
          </a:p>
        </p:txBody>
      </p:sp>
      <p:sp>
        <p:nvSpPr>
          <p:cNvPr id="8" name="Text 6"/>
          <p:cNvSpPr/>
          <p:nvPr/>
        </p:nvSpPr>
        <p:spPr>
          <a:xfrm>
            <a:off x="965200" y="3883471"/>
            <a:ext cx="17373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IBM Plex Sans" pitchFamily="34" charset="0"/>
                <a:ea typeface="IBM Plex Sans" pitchFamily="34" charset="-122"/>
                <a:cs typeface="IBM Plex Sans" pitchFamily="34" charset="-120"/>
              </a:rPr>
              <a:t>Prompt · model · tool</a:t>
            </a:r>
            <a:endParaRPr lang="en-US" sz="1200" dirty="0"/>
          </a:p>
        </p:txBody>
      </p:sp>
      <p:sp>
        <p:nvSpPr>
          <p:cNvPr id="9" name="Shape 7"/>
          <p:cNvSpPr/>
          <p:nvPr/>
        </p:nvSpPr>
        <p:spPr>
          <a:xfrm>
            <a:off x="965200" y="5320705"/>
            <a:ext cx="1686520" cy="0"/>
          </a:xfrm>
          <a:prstGeom prst="line">
            <a:avLst/>
          </a:prstGeom>
          <a:noFill/>
          <a:ln w="6350">
            <a:solidFill>
              <a:srgbClr val="3A4350"/>
            </a:solidFill>
            <a:prstDash val="solid"/>
          </a:ln>
        </p:spPr>
        <p:txBody>
          <a:bodyPr/>
          <a:lstStyle/>
          <a:p>
            <a:endParaRPr lang="en-US"/>
          </a:p>
        </p:txBody>
      </p:sp>
      <p:sp>
        <p:nvSpPr>
          <p:cNvPr id="10" name="Text 8"/>
          <p:cNvSpPr/>
          <p:nvPr/>
        </p:nvSpPr>
        <p:spPr>
          <a:xfrm>
            <a:off x="965200" y="5425480"/>
            <a:ext cx="17373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9"/>
                </a:solidFill>
                <a:latin typeface="IBM Plex Sans" pitchFamily="34" charset="0"/>
                <a:ea typeface="IBM Plex Sans" pitchFamily="34" charset="-122"/>
                <a:cs typeface="IBM Plex Sans" pitchFamily="34" charset="-120"/>
              </a:rPr>
              <a:t>Hands on: </a:t>
            </a:r>
            <a:r>
              <a:rPr lang="en-US" sz="1200" b="1" dirty="0">
                <a:solidFill>
                  <a:srgbClr val="B9C0C9"/>
                </a:solidFill>
                <a:latin typeface="IBM Plex Sans" pitchFamily="34" charset="0"/>
                <a:ea typeface="IBM Plex Sans" pitchFamily="34" charset="-122"/>
                <a:cs typeface="IBM Plex Sans" pitchFamily="34" charset="-120"/>
              </a:rPr>
              <a:t>warm-up</a:t>
            </a:r>
            <a:endParaRPr lang="en-US" sz="1200" dirty="0"/>
          </a:p>
        </p:txBody>
      </p:sp>
      <p:sp>
        <p:nvSpPr>
          <p:cNvPr id="11" name="Shape 9"/>
          <p:cNvSpPr/>
          <p:nvPr/>
        </p:nvSpPr>
        <p:spPr>
          <a:xfrm>
            <a:off x="2956520" y="2539901"/>
            <a:ext cx="1991370" cy="3302099"/>
          </a:xfrm>
          <a:prstGeom prst="roundRect">
            <a:avLst>
              <a:gd name="adj" fmla="val 3827"/>
            </a:avLst>
          </a:prstGeom>
          <a:solidFill>
            <a:srgbClr val="232A34"/>
          </a:solidFill>
          <a:ln/>
        </p:spPr>
        <p:txBody>
          <a:bodyPr/>
          <a:lstStyle/>
          <a:p>
            <a:endParaRPr lang="en-US"/>
          </a:p>
        </p:txBody>
      </p:sp>
      <p:sp>
        <p:nvSpPr>
          <p:cNvPr id="12" name="Text 10"/>
          <p:cNvSpPr/>
          <p:nvPr/>
        </p:nvSpPr>
        <p:spPr>
          <a:xfrm>
            <a:off x="3108920" y="2743101"/>
            <a:ext cx="173737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6B6B"/>
                </a:solidFill>
                <a:latin typeface="Oswald" pitchFamily="34" charset="0"/>
                <a:ea typeface="Oswald" pitchFamily="34" charset="-122"/>
                <a:cs typeface="Oswald" pitchFamily="34" charset="-120"/>
              </a:rPr>
              <a:t>02</a:t>
            </a:r>
            <a:endParaRPr lang="en-US" sz="2200" dirty="0"/>
          </a:p>
        </p:txBody>
      </p:sp>
      <p:sp>
        <p:nvSpPr>
          <p:cNvPr id="13" name="Text 11"/>
          <p:cNvSpPr/>
          <p:nvPr/>
        </p:nvSpPr>
        <p:spPr>
          <a:xfrm>
            <a:off x="3108920" y="3210421"/>
            <a:ext cx="17373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9C0C9"/>
                </a:solidFill>
                <a:latin typeface="IBM Plex Sans" pitchFamily="34" charset="0"/>
                <a:ea typeface="IBM Plex Sans" pitchFamily="34" charset="-122"/>
                <a:cs typeface="IBM Plex Sans" pitchFamily="34" charset="-120"/>
              </a:rPr>
              <a:t>MARKETING</a:t>
            </a:r>
            <a:endParaRPr lang="en-US" sz="1200" dirty="0"/>
          </a:p>
        </p:txBody>
      </p:sp>
      <p:sp>
        <p:nvSpPr>
          <p:cNvPr id="14" name="Text 12"/>
          <p:cNvSpPr/>
          <p:nvPr/>
        </p:nvSpPr>
        <p:spPr>
          <a:xfrm>
            <a:off x="3108920" y="3499941"/>
            <a:ext cx="1737370" cy="332730"/>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F4F1EA"/>
                </a:solidFill>
                <a:latin typeface="Oswald" pitchFamily="34" charset="0"/>
                <a:ea typeface="Oswald" pitchFamily="34" charset="-122"/>
                <a:cs typeface="Oswald" pitchFamily="34" charset="-120"/>
              </a:rPr>
              <a:t>Design studio</a:t>
            </a:r>
            <a:endParaRPr lang="en-US" sz="2200" dirty="0"/>
          </a:p>
        </p:txBody>
      </p:sp>
      <p:sp>
        <p:nvSpPr>
          <p:cNvPr id="15" name="Text 13"/>
          <p:cNvSpPr/>
          <p:nvPr/>
        </p:nvSpPr>
        <p:spPr>
          <a:xfrm>
            <a:off x="3108920" y="3883471"/>
            <a:ext cx="17373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IBM Plex Sans" pitchFamily="34" charset="0"/>
                <a:ea typeface="IBM Plex Sans" pitchFamily="34" charset="-122"/>
                <a:cs typeface="IBM Plex Sans" pitchFamily="34" charset="-120"/>
              </a:rPr>
              <a:t>Vision · MCP</a:t>
            </a:r>
            <a:endParaRPr lang="en-US" sz="1200" dirty="0"/>
          </a:p>
        </p:txBody>
      </p:sp>
      <p:sp>
        <p:nvSpPr>
          <p:cNvPr id="16" name="Shape 14"/>
          <p:cNvSpPr/>
          <p:nvPr/>
        </p:nvSpPr>
        <p:spPr>
          <a:xfrm>
            <a:off x="3108920" y="5320705"/>
            <a:ext cx="1686570" cy="0"/>
          </a:xfrm>
          <a:prstGeom prst="line">
            <a:avLst/>
          </a:prstGeom>
          <a:noFill/>
          <a:ln w="6350">
            <a:solidFill>
              <a:srgbClr val="3A4350"/>
            </a:solidFill>
            <a:prstDash val="solid"/>
          </a:ln>
        </p:spPr>
        <p:txBody>
          <a:bodyPr/>
          <a:lstStyle/>
          <a:p>
            <a:endParaRPr lang="en-US"/>
          </a:p>
        </p:txBody>
      </p:sp>
      <p:sp>
        <p:nvSpPr>
          <p:cNvPr id="17" name="Text 15"/>
          <p:cNvSpPr/>
          <p:nvPr/>
        </p:nvSpPr>
        <p:spPr>
          <a:xfrm>
            <a:off x="3108920" y="5425480"/>
            <a:ext cx="17373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9"/>
                </a:solidFill>
                <a:latin typeface="IBM Plex Sans" pitchFamily="34" charset="0"/>
                <a:ea typeface="IBM Plex Sans" pitchFamily="34" charset="-122"/>
                <a:cs typeface="IBM Plex Sans" pitchFamily="34" charset="-120"/>
              </a:rPr>
              <a:t>Hands on: </a:t>
            </a:r>
            <a:r>
              <a:rPr lang="en-US" sz="1200" b="1" dirty="0">
                <a:solidFill>
                  <a:srgbClr val="B9C0C9"/>
                </a:solidFill>
                <a:latin typeface="IBM Plex Sans" pitchFamily="34" charset="0"/>
                <a:ea typeface="IBM Plex Sans" pitchFamily="34" charset="-122"/>
                <a:cs typeface="IBM Plex Sans" pitchFamily="34" charset="-120"/>
              </a:rPr>
              <a:t>sketch specs</a:t>
            </a:r>
            <a:endParaRPr lang="en-US" sz="1200" dirty="0"/>
          </a:p>
        </p:txBody>
      </p:sp>
      <p:sp>
        <p:nvSpPr>
          <p:cNvPr id="18" name="Shape 16"/>
          <p:cNvSpPr/>
          <p:nvPr/>
        </p:nvSpPr>
        <p:spPr>
          <a:xfrm>
            <a:off x="5100290" y="2539901"/>
            <a:ext cx="1991370" cy="3302099"/>
          </a:xfrm>
          <a:prstGeom prst="roundRect">
            <a:avLst>
              <a:gd name="adj" fmla="val 3827"/>
            </a:avLst>
          </a:prstGeom>
          <a:solidFill>
            <a:srgbClr val="232A34"/>
          </a:solidFill>
          <a:ln/>
        </p:spPr>
        <p:txBody>
          <a:bodyPr/>
          <a:lstStyle/>
          <a:p>
            <a:endParaRPr lang="en-US"/>
          </a:p>
        </p:txBody>
      </p:sp>
      <p:sp>
        <p:nvSpPr>
          <p:cNvPr id="19" name="Text 17"/>
          <p:cNvSpPr/>
          <p:nvPr/>
        </p:nvSpPr>
        <p:spPr>
          <a:xfrm>
            <a:off x="5252690" y="2743101"/>
            <a:ext cx="173737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6B6B"/>
                </a:solidFill>
                <a:latin typeface="Oswald" pitchFamily="34" charset="0"/>
                <a:ea typeface="Oswald" pitchFamily="34" charset="-122"/>
                <a:cs typeface="Oswald" pitchFamily="34" charset="-120"/>
              </a:rPr>
              <a:t>03</a:t>
            </a:r>
            <a:endParaRPr lang="en-US" sz="2200" dirty="0"/>
          </a:p>
        </p:txBody>
      </p:sp>
      <p:sp>
        <p:nvSpPr>
          <p:cNvPr id="20" name="Text 18"/>
          <p:cNvSpPr/>
          <p:nvPr/>
        </p:nvSpPr>
        <p:spPr>
          <a:xfrm>
            <a:off x="5252690" y="3210421"/>
            <a:ext cx="17373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9C0C9"/>
                </a:solidFill>
                <a:latin typeface="IBM Plex Sans" pitchFamily="34" charset="0"/>
                <a:ea typeface="IBM Plex Sans" pitchFamily="34" charset="-122"/>
                <a:cs typeface="IBM Plex Sans" pitchFamily="34" charset="-120"/>
              </a:rPr>
              <a:t>ENGINEERING</a:t>
            </a:r>
            <a:endParaRPr lang="en-US" sz="1200" dirty="0"/>
          </a:p>
        </p:txBody>
      </p:sp>
      <p:sp>
        <p:nvSpPr>
          <p:cNvPr id="21" name="Text 19"/>
          <p:cNvSpPr/>
          <p:nvPr/>
        </p:nvSpPr>
        <p:spPr>
          <a:xfrm>
            <a:off x="5252690" y="3499941"/>
            <a:ext cx="1737370" cy="332730"/>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F4F1EA"/>
                </a:solidFill>
                <a:latin typeface="Oswald" pitchFamily="34" charset="0"/>
                <a:ea typeface="Oswald" pitchFamily="34" charset="-122"/>
                <a:cs typeface="Oswald" pitchFamily="34" charset="-120"/>
              </a:rPr>
              <a:t>Dominant spec</a:t>
            </a:r>
            <a:endParaRPr lang="en-US" sz="2200" dirty="0"/>
          </a:p>
        </p:txBody>
      </p:sp>
      <p:sp>
        <p:nvSpPr>
          <p:cNvPr id="22" name="Text 20"/>
          <p:cNvSpPr/>
          <p:nvPr/>
        </p:nvSpPr>
        <p:spPr>
          <a:xfrm>
            <a:off x="5252690" y="3883471"/>
            <a:ext cx="17373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IBM Plex Sans" pitchFamily="34" charset="0"/>
                <a:ea typeface="IBM Plex Sans" pitchFamily="34" charset="-122"/>
                <a:cs typeface="IBM Plex Sans" pitchFamily="34" charset="-120"/>
              </a:rPr>
              <a:t>RAG · test spec</a:t>
            </a:r>
            <a:endParaRPr lang="en-US" sz="1200" dirty="0"/>
          </a:p>
        </p:txBody>
      </p:sp>
      <p:sp>
        <p:nvSpPr>
          <p:cNvPr id="23" name="Shape 21"/>
          <p:cNvSpPr/>
          <p:nvPr/>
        </p:nvSpPr>
        <p:spPr>
          <a:xfrm>
            <a:off x="5252690" y="5107384"/>
            <a:ext cx="1686570" cy="0"/>
          </a:xfrm>
          <a:prstGeom prst="line">
            <a:avLst/>
          </a:prstGeom>
          <a:noFill/>
          <a:ln w="6350">
            <a:solidFill>
              <a:srgbClr val="3A4350"/>
            </a:solidFill>
            <a:prstDash val="solid"/>
          </a:ln>
        </p:spPr>
        <p:txBody>
          <a:bodyPr/>
          <a:lstStyle/>
          <a:p>
            <a:endParaRPr lang="en-US"/>
          </a:p>
        </p:txBody>
      </p:sp>
      <p:sp>
        <p:nvSpPr>
          <p:cNvPr id="24" name="Text 22"/>
          <p:cNvSpPr/>
          <p:nvPr/>
        </p:nvSpPr>
        <p:spPr>
          <a:xfrm>
            <a:off x="5252690" y="5212159"/>
            <a:ext cx="17373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9"/>
                </a:solidFill>
                <a:latin typeface="IBM Plex Sans" pitchFamily="34" charset="0"/>
                <a:ea typeface="IBM Plex Sans" pitchFamily="34" charset="-122"/>
                <a:cs typeface="IBM Plex Sans" pitchFamily="34" charset="-120"/>
              </a:rPr>
              <a:t>Hands on: </a:t>
            </a:r>
            <a:r>
              <a:rPr lang="en-US" sz="1200" b="1" dirty="0">
                <a:solidFill>
                  <a:srgbClr val="B9C0C9"/>
                </a:solidFill>
                <a:latin typeface="IBM Plex Sans" pitchFamily="34" charset="0"/>
                <a:ea typeface="IBM Plex Sans" pitchFamily="34" charset="-122"/>
                <a:cs typeface="IBM Plex Sans" pitchFamily="34" charset="-120"/>
              </a:rPr>
              <a:t>approved spec</a:t>
            </a:r>
            <a:endParaRPr lang="en-US" sz="1200" dirty="0"/>
          </a:p>
        </p:txBody>
      </p:sp>
      <p:sp>
        <p:nvSpPr>
          <p:cNvPr id="25" name="Shape 23"/>
          <p:cNvSpPr/>
          <p:nvPr/>
        </p:nvSpPr>
        <p:spPr>
          <a:xfrm>
            <a:off x="7244060" y="2539901"/>
            <a:ext cx="1991370" cy="3302099"/>
          </a:xfrm>
          <a:prstGeom prst="roundRect">
            <a:avLst>
              <a:gd name="adj" fmla="val 3827"/>
            </a:avLst>
          </a:prstGeom>
          <a:solidFill>
            <a:srgbClr val="232A34"/>
          </a:solidFill>
          <a:ln/>
        </p:spPr>
        <p:txBody>
          <a:bodyPr/>
          <a:lstStyle/>
          <a:p>
            <a:endParaRPr lang="en-US"/>
          </a:p>
        </p:txBody>
      </p:sp>
      <p:sp>
        <p:nvSpPr>
          <p:cNvPr id="26" name="Text 24"/>
          <p:cNvSpPr/>
          <p:nvPr/>
        </p:nvSpPr>
        <p:spPr>
          <a:xfrm>
            <a:off x="7396460" y="2743101"/>
            <a:ext cx="173737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6B6B"/>
                </a:solidFill>
                <a:latin typeface="Oswald" pitchFamily="34" charset="0"/>
                <a:ea typeface="Oswald" pitchFamily="34" charset="-122"/>
                <a:cs typeface="Oswald" pitchFamily="34" charset="-120"/>
              </a:rPr>
              <a:t>04</a:t>
            </a:r>
            <a:endParaRPr lang="en-US" sz="2200" dirty="0"/>
          </a:p>
        </p:txBody>
      </p:sp>
      <p:sp>
        <p:nvSpPr>
          <p:cNvPr id="27" name="Text 25"/>
          <p:cNvSpPr/>
          <p:nvPr/>
        </p:nvSpPr>
        <p:spPr>
          <a:xfrm>
            <a:off x="7396460" y="3210421"/>
            <a:ext cx="17373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9C0C9"/>
                </a:solidFill>
                <a:latin typeface="IBM Plex Sans" pitchFamily="34" charset="0"/>
                <a:ea typeface="IBM Plex Sans" pitchFamily="34" charset="-122"/>
                <a:cs typeface="IBM Plex Sans" pitchFamily="34" charset="-120"/>
              </a:rPr>
              <a:t>SUPPLY CHAIN</a:t>
            </a:r>
            <a:endParaRPr lang="en-US" sz="1200" dirty="0"/>
          </a:p>
        </p:txBody>
      </p:sp>
      <p:sp>
        <p:nvSpPr>
          <p:cNvPr id="28" name="Text 26"/>
          <p:cNvSpPr/>
          <p:nvPr/>
        </p:nvSpPr>
        <p:spPr>
          <a:xfrm>
            <a:off x="7396460" y="3499941"/>
            <a:ext cx="1737370" cy="332730"/>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F4F1EA"/>
                </a:solidFill>
                <a:latin typeface="Oswald" pitchFamily="34" charset="0"/>
                <a:ea typeface="Oswald" pitchFamily="34" charset="-122"/>
                <a:cs typeface="Oswald" pitchFamily="34" charset="-120"/>
              </a:rPr>
              <a:t>Parts risk</a:t>
            </a:r>
            <a:endParaRPr lang="en-US" sz="2200" dirty="0"/>
          </a:p>
        </p:txBody>
      </p:sp>
      <p:sp>
        <p:nvSpPr>
          <p:cNvPr id="29" name="Text 27"/>
          <p:cNvSpPr/>
          <p:nvPr/>
        </p:nvSpPr>
        <p:spPr>
          <a:xfrm>
            <a:off x="7396460" y="3883471"/>
            <a:ext cx="17373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IBM Plex Sans" pitchFamily="34" charset="0"/>
                <a:ea typeface="IBM Plex Sans" pitchFamily="34" charset="-122"/>
                <a:cs typeface="IBM Plex Sans" pitchFamily="34" charset="-120"/>
              </a:rPr>
              <a:t>Graph · guardrails · evals</a:t>
            </a:r>
            <a:endParaRPr lang="en-US" sz="1200" dirty="0"/>
          </a:p>
        </p:txBody>
      </p:sp>
      <p:sp>
        <p:nvSpPr>
          <p:cNvPr id="30" name="Shape 28"/>
          <p:cNvSpPr/>
          <p:nvPr/>
        </p:nvSpPr>
        <p:spPr>
          <a:xfrm>
            <a:off x="7396460" y="5320705"/>
            <a:ext cx="1686570" cy="0"/>
          </a:xfrm>
          <a:prstGeom prst="line">
            <a:avLst/>
          </a:prstGeom>
          <a:noFill/>
          <a:ln w="6350">
            <a:solidFill>
              <a:srgbClr val="3A4350"/>
            </a:solidFill>
            <a:prstDash val="solid"/>
          </a:ln>
        </p:spPr>
        <p:txBody>
          <a:bodyPr/>
          <a:lstStyle/>
          <a:p>
            <a:endParaRPr lang="en-US"/>
          </a:p>
        </p:txBody>
      </p:sp>
      <p:sp>
        <p:nvSpPr>
          <p:cNvPr id="31" name="Text 29"/>
          <p:cNvSpPr/>
          <p:nvPr/>
        </p:nvSpPr>
        <p:spPr>
          <a:xfrm>
            <a:off x="7396460" y="5425480"/>
            <a:ext cx="17373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9"/>
                </a:solidFill>
                <a:latin typeface="IBM Plex Sans" pitchFamily="34" charset="0"/>
                <a:ea typeface="IBM Plex Sans" pitchFamily="34" charset="-122"/>
                <a:cs typeface="IBM Plex Sans" pitchFamily="34" charset="-120"/>
              </a:rPr>
              <a:t>Hands on: </a:t>
            </a:r>
            <a:r>
              <a:rPr lang="en-US" sz="1200" b="1" dirty="0">
                <a:solidFill>
                  <a:srgbClr val="B9C0C9"/>
                </a:solidFill>
                <a:latin typeface="IBM Plex Sans" pitchFamily="34" charset="0"/>
                <a:ea typeface="IBM Plex Sans" pitchFamily="34" charset="-122"/>
                <a:cs typeface="IBM Plex Sans" pitchFamily="34" charset="-120"/>
              </a:rPr>
              <a:t>risk report</a:t>
            </a:r>
            <a:endParaRPr lang="en-US" sz="1200" dirty="0"/>
          </a:p>
        </p:txBody>
      </p:sp>
      <p:sp>
        <p:nvSpPr>
          <p:cNvPr id="32" name="Shape 30"/>
          <p:cNvSpPr/>
          <p:nvPr/>
        </p:nvSpPr>
        <p:spPr>
          <a:xfrm>
            <a:off x="9387830" y="2539901"/>
            <a:ext cx="1991370" cy="3302099"/>
          </a:xfrm>
          <a:prstGeom prst="roundRect">
            <a:avLst>
              <a:gd name="adj" fmla="val 3827"/>
            </a:avLst>
          </a:prstGeom>
          <a:solidFill>
            <a:srgbClr val="232A34"/>
          </a:solidFill>
          <a:ln/>
        </p:spPr>
        <p:txBody>
          <a:bodyPr/>
          <a:lstStyle/>
          <a:p>
            <a:endParaRPr lang="en-US"/>
          </a:p>
        </p:txBody>
      </p:sp>
      <p:sp>
        <p:nvSpPr>
          <p:cNvPr id="33" name="Text 31"/>
          <p:cNvSpPr/>
          <p:nvPr/>
        </p:nvSpPr>
        <p:spPr>
          <a:xfrm>
            <a:off x="9540230" y="2743101"/>
            <a:ext cx="173737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6B6B"/>
                </a:solidFill>
                <a:latin typeface="Oswald" pitchFamily="34" charset="0"/>
                <a:ea typeface="Oswald" pitchFamily="34" charset="-122"/>
                <a:cs typeface="Oswald" pitchFamily="34" charset="-120"/>
              </a:rPr>
              <a:t>05</a:t>
            </a:r>
            <a:endParaRPr lang="en-US" sz="2200" dirty="0"/>
          </a:p>
        </p:txBody>
      </p:sp>
      <p:sp>
        <p:nvSpPr>
          <p:cNvPr id="34" name="Text 32"/>
          <p:cNvSpPr/>
          <p:nvPr/>
        </p:nvSpPr>
        <p:spPr>
          <a:xfrm>
            <a:off x="9540230" y="3210421"/>
            <a:ext cx="17373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9C0C9"/>
                </a:solidFill>
                <a:latin typeface="IBM Plex Sans" pitchFamily="34" charset="0"/>
                <a:ea typeface="IBM Plex Sans" pitchFamily="34" charset="-122"/>
                <a:cs typeface="IBM Plex Sans" pitchFamily="34" charset="-120"/>
              </a:rPr>
              <a:t>MANUFACTURING</a:t>
            </a:r>
            <a:endParaRPr lang="en-US" sz="1200" dirty="0"/>
          </a:p>
        </p:txBody>
      </p:sp>
      <p:sp>
        <p:nvSpPr>
          <p:cNvPr id="35" name="Text 33"/>
          <p:cNvSpPr/>
          <p:nvPr/>
        </p:nvSpPr>
        <p:spPr>
          <a:xfrm>
            <a:off x="9540230" y="3499941"/>
            <a:ext cx="1737370" cy="332730"/>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F4F1EA"/>
                </a:solidFill>
                <a:latin typeface="Oswald" pitchFamily="34" charset="0"/>
                <a:ea typeface="Oswald" pitchFamily="34" charset="-122"/>
                <a:cs typeface="Oswald" pitchFamily="34" charset="-120"/>
              </a:rPr>
              <a:t>Build and QA</a:t>
            </a:r>
            <a:endParaRPr lang="en-US" sz="2200" dirty="0"/>
          </a:p>
        </p:txBody>
      </p:sp>
      <p:sp>
        <p:nvSpPr>
          <p:cNvPr id="36" name="Text 34"/>
          <p:cNvSpPr/>
          <p:nvPr/>
        </p:nvSpPr>
        <p:spPr>
          <a:xfrm>
            <a:off x="9540230" y="3883471"/>
            <a:ext cx="17373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1EA"/>
                </a:solidFill>
                <a:latin typeface="IBM Plex Sans" pitchFamily="34" charset="0"/>
                <a:ea typeface="IBM Plex Sans" pitchFamily="34" charset="-122"/>
                <a:cs typeface="IBM Plex Sans" pitchFamily="34" charset="-120"/>
              </a:rPr>
              <a:t>Context · memory · harness</a:t>
            </a:r>
            <a:endParaRPr lang="en-US" sz="1200" dirty="0"/>
          </a:p>
        </p:txBody>
      </p:sp>
      <p:sp>
        <p:nvSpPr>
          <p:cNvPr id="37" name="Shape 35"/>
          <p:cNvSpPr/>
          <p:nvPr/>
        </p:nvSpPr>
        <p:spPr>
          <a:xfrm>
            <a:off x="9540230" y="5320705"/>
            <a:ext cx="1686570" cy="0"/>
          </a:xfrm>
          <a:prstGeom prst="line">
            <a:avLst/>
          </a:prstGeom>
          <a:noFill/>
          <a:ln w="6350">
            <a:solidFill>
              <a:srgbClr val="3A4350"/>
            </a:solidFill>
            <a:prstDash val="solid"/>
          </a:ln>
        </p:spPr>
        <p:txBody>
          <a:bodyPr/>
          <a:lstStyle/>
          <a:p>
            <a:endParaRPr lang="en-US"/>
          </a:p>
        </p:txBody>
      </p:sp>
      <p:sp>
        <p:nvSpPr>
          <p:cNvPr id="38" name="Text 36"/>
          <p:cNvSpPr/>
          <p:nvPr/>
        </p:nvSpPr>
        <p:spPr>
          <a:xfrm>
            <a:off x="9540230" y="5425480"/>
            <a:ext cx="17373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9"/>
                </a:solidFill>
                <a:latin typeface="IBM Plex Sans" pitchFamily="34" charset="0"/>
                <a:ea typeface="IBM Plex Sans" pitchFamily="34" charset="-122"/>
                <a:cs typeface="IBM Plex Sans" pitchFamily="34" charset="-120"/>
              </a:rPr>
              <a:t>Hands on: </a:t>
            </a:r>
            <a:r>
              <a:rPr lang="en-US" sz="1200" b="1" dirty="0">
                <a:solidFill>
                  <a:srgbClr val="B9C0C9"/>
                </a:solidFill>
                <a:latin typeface="IBM Plex Sans" pitchFamily="34" charset="0"/>
                <a:ea typeface="IBM Plex Sans" pitchFamily="34" charset="-122"/>
                <a:cs typeface="IBM Plex Sans" pitchFamily="34" charset="-120"/>
              </a:rPr>
              <a:t>QA verdict</a:t>
            </a:r>
            <a:endParaRPr lang="en-US" sz="1200" dirty="0"/>
          </a:p>
        </p:txBody>
      </p:sp>
      <p:sp>
        <p:nvSpPr>
          <p:cNvPr id="39" name="Text 37"/>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9"/>
                </a:solidFill>
                <a:latin typeface="IBM Plex Sans" pitchFamily="34" charset="0"/>
                <a:ea typeface="IBM Plex Sans" pitchFamily="34" charset="-122"/>
                <a:cs typeface="IBM Plex Sans" pitchFamily="34" charset="-120"/>
              </a:rPr>
              <a:t>AI Immersion Day · Automotive</a:t>
            </a:r>
            <a:endParaRPr lang="en-US" sz="1200" dirty="0"/>
          </a:p>
        </p:txBody>
      </p:sp>
      <p:sp>
        <p:nvSpPr>
          <p:cNvPr id="40" name="Text 3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C9"/>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IBM Plex Sans" pitchFamily="34" charset="0"/>
                <a:ea typeface="IBM Plex Sans" pitchFamily="34" charset="-122"/>
                <a:cs typeface="IBM Plex Sans" pitchFamily="34" charset="-120"/>
              </a:rPr>
              <a:t>RUN OF SHOW</a:t>
            </a:r>
            <a:endParaRPr lang="en-US" sz="1200" dirty="0"/>
          </a:p>
        </p:txBody>
      </p:sp>
      <p:sp>
        <p:nvSpPr>
          <p:cNvPr id="3" name="Text 1"/>
          <p:cNvSpPr>
            <a:spLocks noGrp="1"/>
          </p:cNvSpPr>
          <p:nvPr>
            <p:ph type="title"/>
          </p:nvPr>
        </p:nvSpPr>
        <p:spPr>
          <a:xfrm>
            <a:off x="812800" y="12801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191F"/>
                </a:solidFill>
                <a:latin typeface="Oswald" pitchFamily="34" charset="0"/>
                <a:ea typeface="Oswald" pitchFamily="34" charset="-122"/>
                <a:cs typeface="Oswald" pitchFamily="34" charset="-120"/>
              </a:rPr>
              <a:t>Ninety minutes, and 83 of them hands-on</a:t>
            </a:r>
            <a:endParaRPr lang="en-US" sz="3600" dirty="0"/>
          </a:p>
        </p:txBody>
      </p:sp>
      <p:sp>
        <p:nvSpPr>
          <p:cNvPr id="4" name="Text 2"/>
          <p:cNvSpPr/>
          <p:nvPr/>
        </p:nvSpPr>
        <p:spPr>
          <a:xfrm>
            <a:off x="812800" y="2037011"/>
            <a:ext cx="819150" cy="609600"/>
          </a:xfrm>
          <a:prstGeom prst="roundRect">
            <a:avLst>
              <a:gd name="adj" fmla="val 8333"/>
            </a:avLst>
          </a:prstGeom>
          <a:solidFill>
            <a:srgbClr val="8A8F98"/>
          </a:solidFill>
          <a:ln/>
        </p:spPr>
        <p:txBody>
          <a:bodyPr wrap="square" lIns="0" tIns="0" rIns="0" bIns="0" rtlCol="0" anchor="ctr">
            <a:normAutofit/>
          </a:bodyPr>
          <a:lstStyle/>
          <a:p>
            <a:pPr marL="0" indent="0" algn="ctr">
              <a:lnSpc>
                <a:spcPts val="3080"/>
              </a:lnSpc>
              <a:buNone/>
            </a:pPr>
            <a:r>
              <a:rPr lang="en-US" sz="2200" b="1" dirty="0">
                <a:solidFill>
                  <a:srgbClr val="FBFAF6"/>
                </a:solidFill>
                <a:latin typeface="Oswald" pitchFamily="34" charset="0"/>
                <a:ea typeface="Oswald" pitchFamily="34" charset="-122"/>
                <a:cs typeface="Oswald" pitchFamily="34" charset="-120"/>
              </a:rPr>
              <a:t>7</a:t>
            </a:r>
            <a:endParaRPr lang="en-US" sz="2200" dirty="0"/>
          </a:p>
        </p:txBody>
      </p:sp>
      <p:sp>
        <p:nvSpPr>
          <p:cNvPr id="5" name="Text 3"/>
          <p:cNvSpPr/>
          <p:nvPr/>
        </p:nvSpPr>
        <p:spPr>
          <a:xfrm>
            <a:off x="812800" y="2722811"/>
            <a:ext cx="869950" cy="2234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5191F"/>
                </a:solidFill>
                <a:latin typeface="IBM Plex Sans" pitchFamily="34" charset="0"/>
                <a:ea typeface="IBM Plex Sans" pitchFamily="34" charset="-122"/>
                <a:cs typeface="IBM Plex Sans" pitchFamily="34" charset="-120"/>
              </a:rPr>
              <a:t>Opening</a:t>
            </a:r>
            <a:endParaRPr lang="en-US" sz="1200" dirty="0"/>
          </a:p>
        </p:txBody>
      </p:sp>
      <p:sp>
        <p:nvSpPr>
          <p:cNvPr id="6" name="Text 4"/>
          <p:cNvSpPr/>
          <p:nvPr/>
        </p:nvSpPr>
        <p:spPr>
          <a:xfrm>
            <a:off x="812800" y="2997101"/>
            <a:ext cx="86995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4F57"/>
                </a:solidFill>
                <a:latin typeface="IBM Plex Sans" pitchFamily="34" charset="0"/>
                <a:ea typeface="IBM Plex Sans" pitchFamily="34" charset="-122"/>
                <a:cs typeface="IBM Plex Sans" pitchFamily="34" charset="-120"/>
              </a:rPr>
              <a:t>Facilitator</a:t>
            </a:r>
            <a:endParaRPr lang="en-US" sz="1200" dirty="0"/>
          </a:p>
        </p:txBody>
      </p:sp>
      <p:sp>
        <p:nvSpPr>
          <p:cNvPr id="7" name="Text 5"/>
          <p:cNvSpPr/>
          <p:nvPr/>
        </p:nvSpPr>
        <p:spPr>
          <a:xfrm>
            <a:off x="1631950" y="2037011"/>
            <a:ext cx="1174750" cy="609600"/>
          </a:xfrm>
          <a:prstGeom prst="roundRect">
            <a:avLst>
              <a:gd name="adj" fmla="val 8333"/>
            </a:avLst>
          </a:prstGeom>
          <a:solidFill>
            <a:srgbClr val="C8102E"/>
          </a:solidFill>
          <a:ln/>
        </p:spPr>
        <p:txBody>
          <a:bodyPr wrap="square" lIns="0" tIns="0" rIns="0" bIns="0" rtlCol="0" anchor="ctr">
            <a:normAutofit/>
          </a:bodyPr>
          <a:lstStyle/>
          <a:p>
            <a:pPr marL="0" indent="0" algn="ctr">
              <a:lnSpc>
                <a:spcPts val="3080"/>
              </a:lnSpc>
              <a:buNone/>
            </a:pPr>
            <a:r>
              <a:rPr lang="en-US" sz="2200" b="1" dirty="0">
                <a:solidFill>
                  <a:srgbClr val="FBFAF6"/>
                </a:solidFill>
                <a:latin typeface="Oswald" pitchFamily="34" charset="0"/>
                <a:ea typeface="Oswald" pitchFamily="34" charset="-122"/>
                <a:cs typeface="Oswald" pitchFamily="34" charset="-120"/>
              </a:rPr>
              <a:t>10</a:t>
            </a:r>
            <a:endParaRPr lang="en-US" sz="2200" dirty="0"/>
          </a:p>
        </p:txBody>
      </p:sp>
      <p:sp>
        <p:nvSpPr>
          <p:cNvPr id="8" name="Text 6"/>
          <p:cNvSpPr/>
          <p:nvPr/>
        </p:nvSpPr>
        <p:spPr>
          <a:xfrm>
            <a:off x="1631950" y="2722811"/>
            <a:ext cx="1225550" cy="2234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5191F"/>
                </a:solidFill>
                <a:latin typeface="IBM Plex Sans" pitchFamily="34" charset="0"/>
                <a:ea typeface="IBM Plex Sans" pitchFamily="34" charset="-122"/>
                <a:cs typeface="IBM Plex Sans" pitchFamily="34" charset="-120"/>
              </a:rPr>
              <a:t>1 Agent basics</a:t>
            </a:r>
            <a:endParaRPr lang="en-US" sz="1200" dirty="0"/>
          </a:p>
        </p:txBody>
      </p:sp>
      <p:sp>
        <p:nvSpPr>
          <p:cNvPr id="9" name="Text 7"/>
          <p:cNvSpPr/>
          <p:nvPr/>
        </p:nvSpPr>
        <p:spPr>
          <a:xfrm>
            <a:off x="1631950" y="2997101"/>
            <a:ext cx="122555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4F57"/>
                </a:solidFill>
                <a:latin typeface="IBM Plex Sans" pitchFamily="34" charset="0"/>
                <a:ea typeface="IBM Plex Sans" pitchFamily="34" charset="-122"/>
                <a:cs typeface="IBM Plex Sans" pitchFamily="34" charset="-120"/>
              </a:rPr>
              <a:t>Everyone</a:t>
            </a:r>
            <a:endParaRPr lang="en-US" sz="1200" dirty="0"/>
          </a:p>
        </p:txBody>
      </p:sp>
      <p:sp>
        <p:nvSpPr>
          <p:cNvPr id="10" name="Text 8"/>
          <p:cNvSpPr/>
          <p:nvPr/>
        </p:nvSpPr>
        <p:spPr>
          <a:xfrm>
            <a:off x="2806700" y="2037011"/>
            <a:ext cx="2114550" cy="609600"/>
          </a:xfrm>
          <a:prstGeom prst="roundRect">
            <a:avLst>
              <a:gd name="adj" fmla="val 8333"/>
            </a:avLst>
          </a:prstGeom>
          <a:solidFill>
            <a:srgbClr val="C8102E"/>
          </a:solidFill>
          <a:ln/>
        </p:spPr>
        <p:txBody>
          <a:bodyPr wrap="square" lIns="0" tIns="0" rIns="0" bIns="0" rtlCol="0" anchor="ctr">
            <a:normAutofit/>
          </a:bodyPr>
          <a:lstStyle/>
          <a:p>
            <a:pPr marL="0" indent="0" algn="ctr">
              <a:lnSpc>
                <a:spcPts val="3080"/>
              </a:lnSpc>
              <a:buNone/>
            </a:pPr>
            <a:r>
              <a:rPr lang="en-US" sz="2200" b="1" dirty="0">
                <a:solidFill>
                  <a:srgbClr val="FBFAF6"/>
                </a:solidFill>
                <a:latin typeface="Oswald" pitchFamily="34" charset="0"/>
                <a:ea typeface="Oswald" pitchFamily="34" charset="-122"/>
                <a:cs typeface="Oswald" pitchFamily="34" charset="-120"/>
              </a:rPr>
              <a:t>18</a:t>
            </a:r>
            <a:endParaRPr lang="en-US" sz="2200" dirty="0"/>
          </a:p>
        </p:txBody>
      </p:sp>
      <p:sp>
        <p:nvSpPr>
          <p:cNvPr id="11" name="Text 9"/>
          <p:cNvSpPr/>
          <p:nvPr/>
        </p:nvSpPr>
        <p:spPr>
          <a:xfrm>
            <a:off x="2806700" y="2722811"/>
            <a:ext cx="2177987" cy="2234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5191F"/>
                </a:solidFill>
                <a:latin typeface="IBM Plex Sans" pitchFamily="34" charset="0"/>
                <a:ea typeface="IBM Plex Sans" pitchFamily="34" charset="-122"/>
                <a:cs typeface="IBM Plex Sans" pitchFamily="34" charset="-120"/>
              </a:rPr>
              <a:t>2 Design studio</a:t>
            </a:r>
            <a:endParaRPr lang="en-US" sz="1200" dirty="0"/>
          </a:p>
        </p:txBody>
      </p:sp>
      <p:sp>
        <p:nvSpPr>
          <p:cNvPr id="12" name="Text 10"/>
          <p:cNvSpPr/>
          <p:nvPr/>
        </p:nvSpPr>
        <p:spPr>
          <a:xfrm>
            <a:off x="2806700" y="2997101"/>
            <a:ext cx="2177987"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4F57"/>
                </a:solidFill>
                <a:latin typeface="IBM Plex Sans" pitchFamily="34" charset="0"/>
                <a:ea typeface="IBM Plex Sans" pitchFamily="34" charset="-122"/>
                <a:cs typeface="IBM Plex Sans" pitchFamily="34" charset="-120"/>
              </a:rPr>
              <a:t>Marketing</a:t>
            </a:r>
            <a:endParaRPr lang="en-US" sz="1200" dirty="0"/>
          </a:p>
        </p:txBody>
      </p:sp>
      <p:sp>
        <p:nvSpPr>
          <p:cNvPr id="13" name="Text 11"/>
          <p:cNvSpPr/>
          <p:nvPr/>
        </p:nvSpPr>
        <p:spPr>
          <a:xfrm>
            <a:off x="4921250" y="2037011"/>
            <a:ext cx="1993900" cy="609600"/>
          </a:xfrm>
          <a:prstGeom prst="roundRect">
            <a:avLst>
              <a:gd name="adj" fmla="val 8333"/>
            </a:avLst>
          </a:prstGeom>
          <a:solidFill>
            <a:srgbClr val="C8102E"/>
          </a:solidFill>
          <a:ln/>
        </p:spPr>
        <p:txBody>
          <a:bodyPr wrap="square" lIns="0" tIns="0" rIns="0" bIns="0" rtlCol="0" anchor="ctr">
            <a:normAutofit/>
          </a:bodyPr>
          <a:lstStyle/>
          <a:p>
            <a:pPr marL="0" indent="0" algn="ctr">
              <a:lnSpc>
                <a:spcPts val="3080"/>
              </a:lnSpc>
              <a:buNone/>
            </a:pPr>
            <a:r>
              <a:rPr lang="en-US" sz="2200" b="1" dirty="0">
                <a:solidFill>
                  <a:srgbClr val="FBFAF6"/>
                </a:solidFill>
                <a:latin typeface="Oswald" pitchFamily="34" charset="0"/>
                <a:ea typeface="Oswald" pitchFamily="34" charset="-122"/>
                <a:cs typeface="Oswald" pitchFamily="34" charset="-120"/>
              </a:rPr>
              <a:t>17</a:t>
            </a:r>
            <a:endParaRPr lang="en-US" sz="2200" dirty="0"/>
          </a:p>
        </p:txBody>
      </p:sp>
      <p:sp>
        <p:nvSpPr>
          <p:cNvPr id="14" name="Text 12"/>
          <p:cNvSpPr/>
          <p:nvPr/>
        </p:nvSpPr>
        <p:spPr>
          <a:xfrm>
            <a:off x="4921250" y="2722811"/>
            <a:ext cx="2053717" cy="2234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5191F"/>
                </a:solidFill>
                <a:latin typeface="IBM Plex Sans" pitchFamily="34" charset="0"/>
                <a:ea typeface="IBM Plex Sans" pitchFamily="34" charset="-122"/>
                <a:cs typeface="IBM Plex Sans" pitchFamily="34" charset="-120"/>
              </a:rPr>
              <a:t>3 Engineering</a:t>
            </a:r>
            <a:endParaRPr lang="en-US" sz="1200" dirty="0"/>
          </a:p>
        </p:txBody>
      </p:sp>
      <p:sp>
        <p:nvSpPr>
          <p:cNvPr id="15" name="Text 13"/>
          <p:cNvSpPr/>
          <p:nvPr/>
        </p:nvSpPr>
        <p:spPr>
          <a:xfrm>
            <a:off x="4921250" y="2997101"/>
            <a:ext cx="2053717"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4F57"/>
                </a:solidFill>
                <a:latin typeface="IBM Plex Sans" pitchFamily="34" charset="0"/>
                <a:ea typeface="IBM Plex Sans" pitchFamily="34" charset="-122"/>
                <a:cs typeface="IBM Plex Sans" pitchFamily="34" charset="-120"/>
              </a:rPr>
              <a:t>Engineering</a:t>
            </a:r>
            <a:endParaRPr lang="en-US" sz="1200" dirty="0"/>
          </a:p>
        </p:txBody>
      </p:sp>
      <p:sp>
        <p:nvSpPr>
          <p:cNvPr id="16" name="Text 14"/>
          <p:cNvSpPr/>
          <p:nvPr/>
        </p:nvSpPr>
        <p:spPr>
          <a:xfrm>
            <a:off x="6915150" y="2037011"/>
            <a:ext cx="1758950" cy="609600"/>
          </a:xfrm>
          <a:prstGeom prst="roundRect">
            <a:avLst>
              <a:gd name="adj" fmla="val 8333"/>
            </a:avLst>
          </a:prstGeom>
          <a:solidFill>
            <a:srgbClr val="C8102E"/>
          </a:solidFill>
          <a:ln/>
        </p:spPr>
        <p:txBody>
          <a:bodyPr wrap="square" lIns="0" tIns="0" rIns="0" bIns="0" rtlCol="0" anchor="ctr">
            <a:normAutofit/>
          </a:bodyPr>
          <a:lstStyle/>
          <a:p>
            <a:pPr marL="0" indent="0" algn="ctr">
              <a:lnSpc>
                <a:spcPts val="3080"/>
              </a:lnSpc>
              <a:buNone/>
            </a:pPr>
            <a:r>
              <a:rPr lang="en-US" sz="2200" b="1" dirty="0">
                <a:solidFill>
                  <a:srgbClr val="FBFAF6"/>
                </a:solidFill>
                <a:latin typeface="Oswald" pitchFamily="34" charset="0"/>
                <a:ea typeface="Oswald" pitchFamily="34" charset="-122"/>
                <a:cs typeface="Oswald" pitchFamily="34" charset="-120"/>
              </a:rPr>
              <a:t>15</a:t>
            </a:r>
            <a:endParaRPr lang="en-US" sz="2200" dirty="0"/>
          </a:p>
        </p:txBody>
      </p:sp>
      <p:sp>
        <p:nvSpPr>
          <p:cNvPr id="17" name="Text 15"/>
          <p:cNvSpPr/>
          <p:nvPr/>
        </p:nvSpPr>
        <p:spPr>
          <a:xfrm>
            <a:off x="6915150" y="2722811"/>
            <a:ext cx="1811719" cy="2234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5191F"/>
                </a:solidFill>
                <a:latin typeface="IBM Plex Sans" pitchFamily="34" charset="0"/>
                <a:ea typeface="IBM Plex Sans" pitchFamily="34" charset="-122"/>
                <a:cs typeface="IBM Plex Sans" pitchFamily="34" charset="-120"/>
              </a:rPr>
              <a:t>4 Supply chain</a:t>
            </a:r>
            <a:endParaRPr lang="en-US" sz="1200" dirty="0"/>
          </a:p>
        </p:txBody>
      </p:sp>
      <p:sp>
        <p:nvSpPr>
          <p:cNvPr id="18" name="Text 16"/>
          <p:cNvSpPr/>
          <p:nvPr/>
        </p:nvSpPr>
        <p:spPr>
          <a:xfrm>
            <a:off x="6915150" y="2997101"/>
            <a:ext cx="1811719"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4F57"/>
                </a:solidFill>
                <a:latin typeface="IBM Plex Sans" pitchFamily="34" charset="0"/>
                <a:ea typeface="IBM Plex Sans" pitchFamily="34" charset="-122"/>
                <a:cs typeface="IBM Plex Sans" pitchFamily="34" charset="-120"/>
              </a:rPr>
              <a:t>Supply chain</a:t>
            </a:r>
            <a:endParaRPr lang="en-US" sz="1200" dirty="0"/>
          </a:p>
        </p:txBody>
      </p:sp>
      <p:sp>
        <p:nvSpPr>
          <p:cNvPr id="19" name="Text 17"/>
          <p:cNvSpPr/>
          <p:nvPr/>
        </p:nvSpPr>
        <p:spPr>
          <a:xfrm>
            <a:off x="8674100" y="2037011"/>
            <a:ext cx="1879600" cy="609600"/>
          </a:xfrm>
          <a:prstGeom prst="roundRect">
            <a:avLst>
              <a:gd name="adj" fmla="val 8333"/>
            </a:avLst>
          </a:prstGeom>
          <a:solidFill>
            <a:srgbClr val="C8102E"/>
          </a:solidFill>
          <a:ln/>
        </p:spPr>
        <p:txBody>
          <a:bodyPr wrap="square" lIns="0" tIns="0" rIns="0" bIns="0" rtlCol="0" anchor="ctr">
            <a:normAutofit/>
          </a:bodyPr>
          <a:lstStyle/>
          <a:p>
            <a:pPr marL="0" indent="0" algn="ctr">
              <a:lnSpc>
                <a:spcPts val="3080"/>
              </a:lnSpc>
              <a:buNone/>
            </a:pPr>
            <a:r>
              <a:rPr lang="en-US" sz="2200" b="1" dirty="0">
                <a:solidFill>
                  <a:srgbClr val="FBFAF6"/>
                </a:solidFill>
                <a:latin typeface="Oswald" pitchFamily="34" charset="0"/>
                <a:ea typeface="Oswald" pitchFamily="34" charset="-122"/>
                <a:cs typeface="Oswald" pitchFamily="34" charset="-120"/>
              </a:rPr>
              <a:t>16</a:t>
            </a:r>
            <a:endParaRPr lang="en-US" sz="2200" dirty="0"/>
          </a:p>
        </p:txBody>
      </p:sp>
      <p:sp>
        <p:nvSpPr>
          <p:cNvPr id="20" name="Text 18"/>
          <p:cNvSpPr/>
          <p:nvPr/>
        </p:nvSpPr>
        <p:spPr>
          <a:xfrm>
            <a:off x="8674100" y="2722811"/>
            <a:ext cx="1935988" cy="2234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5191F"/>
                </a:solidFill>
                <a:latin typeface="IBM Plex Sans" pitchFamily="34" charset="0"/>
                <a:ea typeface="IBM Plex Sans" pitchFamily="34" charset="-122"/>
                <a:cs typeface="IBM Plex Sans" pitchFamily="34" charset="-120"/>
              </a:rPr>
              <a:t>5 Build and QA</a:t>
            </a:r>
            <a:endParaRPr lang="en-US" sz="1200" dirty="0"/>
          </a:p>
        </p:txBody>
      </p:sp>
      <p:sp>
        <p:nvSpPr>
          <p:cNvPr id="21" name="Text 19"/>
          <p:cNvSpPr/>
          <p:nvPr/>
        </p:nvSpPr>
        <p:spPr>
          <a:xfrm>
            <a:off x="8674100" y="2997101"/>
            <a:ext cx="1935988"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4F57"/>
                </a:solidFill>
                <a:latin typeface="IBM Plex Sans" pitchFamily="34" charset="0"/>
                <a:ea typeface="IBM Plex Sans" pitchFamily="34" charset="-122"/>
                <a:cs typeface="IBM Plex Sans" pitchFamily="34" charset="-120"/>
              </a:rPr>
              <a:t>Manufacturing</a:t>
            </a:r>
            <a:endParaRPr lang="en-US" sz="1200" dirty="0"/>
          </a:p>
        </p:txBody>
      </p:sp>
      <p:sp>
        <p:nvSpPr>
          <p:cNvPr id="22" name="Text 20"/>
          <p:cNvSpPr/>
          <p:nvPr/>
        </p:nvSpPr>
        <p:spPr>
          <a:xfrm>
            <a:off x="10553700" y="2037011"/>
            <a:ext cx="819150" cy="609600"/>
          </a:xfrm>
          <a:prstGeom prst="roundRect">
            <a:avLst>
              <a:gd name="adj" fmla="val 8333"/>
            </a:avLst>
          </a:prstGeom>
          <a:solidFill>
            <a:srgbClr val="8A8F98"/>
          </a:solidFill>
          <a:ln/>
        </p:spPr>
        <p:txBody>
          <a:bodyPr wrap="square" lIns="0" tIns="0" rIns="0" bIns="0" rtlCol="0" anchor="ctr">
            <a:normAutofit/>
          </a:bodyPr>
          <a:lstStyle/>
          <a:p>
            <a:pPr marL="0" indent="0" algn="ctr">
              <a:lnSpc>
                <a:spcPts val="3080"/>
              </a:lnSpc>
              <a:buNone/>
            </a:pPr>
            <a:r>
              <a:rPr lang="en-US" sz="2200" b="1" dirty="0">
                <a:solidFill>
                  <a:srgbClr val="FBFAF6"/>
                </a:solidFill>
                <a:latin typeface="Oswald" pitchFamily="34" charset="0"/>
                <a:ea typeface="Oswald" pitchFamily="34" charset="-122"/>
                <a:cs typeface="Oswald" pitchFamily="34" charset="-120"/>
              </a:rPr>
              <a:t>7</a:t>
            </a:r>
            <a:endParaRPr lang="en-US" sz="2200" dirty="0"/>
          </a:p>
        </p:txBody>
      </p:sp>
      <p:sp>
        <p:nvSpPr>
          <p:cNvPr id="23" name="Text 21"/>
          <p:cNvSpPr/>
          <p:nvPr/>
        </p:nvSpPr>
        <p:spPr>
          <a:xfrm>
            <a:off x="10553700" y="2722811"/>
            <a:ext cx="869950" cy="2234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5191F"/>
                </a:solidFill>
                <a:latin typeface="IBM Plex Sans" pitchFamily="34" charset="0"/>
                <a:ea typeface="IBM Plex Sans" pitchFamily="34" charset="-122"/>
                <a:cs typeface="IBM Plex Sans" pitchFamily="34" charset="-120"/>
              </a:rPr>
              <a:t>Concours</a:t>
            </a:r>
            <a:endParaRPr lang="en-US" sz="1200" dirty="0"/>
          </a:p>
        </p:txBody>
      </p:sp>
      <p:sp>
        <p:nvSpPr>
          <p:cNvPr id="24" name="Text 22"/>
          <p:cNvSpPr/>
          <p:nvPr/>
        </p:nvSpPr>
        <p:spPr>
          <a:xfrm>
            <a:off x="10553700" y="2997101"/>
            <a:ext cx="86995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4F57"/>
                </a:solidFill>
                <a:latin typeface="IBM Plex Sans" pitchFamily="34" charset="0"/>
                <a:ea typeface="IBM Plex Sans" pitchFamily="34" charset="-122"/>
                <a:cs typeface="IBM Plex Sans" pitchFamily="34" charset="-120"/>
              </a:rPr>
              <a:t>Facilitator</a:t>
            </a:r>
            <a:endParaRPr lang="en-US" sz="1200" dirty="0"/>
          </a:p>
        </p:txBody>
      </p:sp>
      <p:sp>
        <p:nvSpPr>
          <p:cNvPr id="25" name="Text 23"/>
          <p:cNvSpPr/>
          <p:nvPr/>
        </p:nvSpPr>
        <p:spPr>
          <a:xfrm>
            <a:off x="812800" y="56286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Bar widths are to scale; numbers are minutes. Red = hands-on module, grey = facilitated.</a:t>
            </a:r>
            <a:endParaRPr lang="en-US" sz="1200" dirty="0"/>
          </a:p>
        </p:txBody>
      </p:sp>
      <p:sp>
        <p:nvSpPr>
          <p:cNvPr id="26" name="Text 2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AI Immersion Day · Automotive</a:t>
            </a:r>
            <a:endParaRPr lang="en-US" sz="1200" dirty="0"/>
          </a:p>
        </p:txBody>
      </p:sp>
      <p:sp>
        <p:nvSpPr>
          <p:cNvPr id="27" name="Text 2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7"/>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IBM Plex Sans" pitchFamily="34" charset="0"/>
                <a:ea typeface="IBM Plex Sans" pitchFamily="34" charset="-122"/>
                <a:cs typeface="IBM Plex Sans" pitchFamily="34" charset="-120"/>
              </a:rPr>
              <a:t>MODULE 1 · EVERYONE · 10 MIN</a:t>
            </a:r>
            <a:endParaRPr lang="en-US" sz="1200" dirty="0"/>
          </a:p>
        </p:txBody>
      </p:sp>
      <p:sp>
        <p:nvSpPr>
          <p:cNvPr id="3" name="Text 1"/>
          <p:cNvSpPr>
            <a:spLocks noGrp="1"/>
          </p:cNvSpPr>
          <p:nvPr>
            <p:ph type="title"/>
          </p:nvPr>
        </p:nvSpPr>
        <p:spPr>
          <a:xfrm>
            <a:off x="812800" y="1229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191F"/>
                </a:solidFill>
                <a:latin typeface="Oswald" pitchFamily="34" charset="0"/>
                <a:ea typeface="Oswald" pitchFamily="34" charset="-122"/>
                <a:cs typeface="Oswald" pitchFamily="34" charset="-120"/>
              </a:rPr>
              <a:t>Prompt + model + tool = an agent</a:t>
            </a:r>
            <a:endParaRPr lang="en-US" sz="3600" dirty="0"/>
          </a:p>
        </p:txBody>
      </p:sp>
      <p:sp>
        <p:nvSpPr>
          <p:cNvPr id="4" name="Shape 2"/>
          <p:cNvSpPr/>
          <p:nvPr/>
        </p:nvSpPr>
        <p:spPr>
          <a:xfrm>
            <a:off x="815975" y="1938586"/>
            <a:ext cx="3414167" cy="3371949"/>
          </a:xfrm>
          <a:prstGeom prst="roundRect">
            <a:avLst>
              <a:gd name="adj" fmla="val 2166"/>
            </a:avLst>
          </a:prstGeom>
          <a:solidFill>
            <a:srgbClr val="FBFAF6"/>
          </a:solidFill>
          <a:ln w="6350">
            <a:solidFill>
              <a:srgbClr val="DDD8CC"/>
            </a:solidFill>
            <a:prstDash val="solid"/>
          </a:ln>
        </p:spPr>
        <p:txBody>
          <a:bodyPr/>
          <a:lstStyle/>
          <a:p>
            <a:endParaRPr lang="en-US"/>
          </a:p>
        </p:txBody>
      </p:sp>
      <p:sp>
        <p:nvSpPr>
          <p:cNvPr id="5" name="Text 3"/>
          <p:cNvSpPr/>
          <p:nvPr/>
        </p:nvSpPr>
        <p:spPr>
          <a:xfrm>
            <a:off x="1022350" y="2144961"/>
            <a:ext cx="3091459"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C8102E"/>
                </a:solidFill>
                <a:latin typeface="IBM Plex Sans" pitchFamily="34" charset="0"/>
                <a:ea typeface="IBM Plex Sans" pitchFamily="34" charset="-122"/>
                <a:cs typeface="IBM Plex Sans" pitchFamily="34" charset="-120"/>
              </a:rPr>
              <a:t>A · CONCEPT</a:t>
            </a:r>
            <a:endParaRPr lang="en-US" sz="1200" dirty="0"/>
          </a:p>
        </p:txBody>
      </p:sp>
      <p:sp>
        <p:nvSpPr>
          <p:cNvPr id="6" name="Text 4"/>
          <p:cNvSpPr/>
          <p:nvPr/>
        </p:nvSpPr>
        <p:spPr>
          <a:xfrm>
            <a:off x="1121156" y="2429421"/>
            <a:ext cx="2985033" cy="1130201"/>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The same question, asked three ways</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A naive prompt invents an answer</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A role prompt admits it does not know</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An agent calls tools and answers from data</a:t>
            </a:r>
            <a:endParaRPr lang="en-US" sz="1200" dirty="0"/>
          </a:p>
        </p:txBody>
      </p:sp>
      <p:sp>
        <p:nvSpPr>
          <p:cNvPr id="7" name="Shape 5"/>
          <p:cNvSpPr/>
          <p:nvPr/>
        </p:nvSpPr>
        <p:spPr>
          <a:xfrm>
            <a:off x="4388892" y="1938586"/>
            <a:ext cx="3414216" cy="3371949"/>
          </a:xfrm>
          <a:prstGeom prst="roundRect">
            <a:avLst>
              <a:gd name="adj" fmla="val 2166"/>
            </a:avLst>
          </a:prstGeom>
          <a:solidFill>
            <a:srgbClr val="FBFAF6"/>
          </a:solidFill>
          <a:ln w="6350">
            <a:solidFill>
              <a:srgbClr val="DDD8CC"/>
            </a:solidFill>
            <a:prstDash val="solid"/>
          </a:ln>
        </p:spPr>
        <p:txBody>
          <a:bodyPr/>
          <a:lstStyle/>
          <a:p>
            <a:endParaRPr lang="en-US"/>
          </a:p>
        </p:txBody>
      </p:sp>
      <p:sp>
        <p:nvSpPr>
          <p:cNvPr id="8" name="Text 6"/>
          <p:cNvSpPr/>
          <p:nvPr/>
        </p:nvSpPr>
        <p:spPr>
          <a:xfrm>
            <a:off x="4595267" y="2144961"/>
            <a:ext cx="3091510"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C8102E"/>
                </a:solidFill>
                <a:latin typeface="IBM Plex Sans" pitchFamily="34" charset="0"/>
                <a:ea typeface="IBM Plex Sans" pitchFamily="34" charset="-122"/>
                <a:cs typeface="IBM Plex Sans" pitchFamily="34" charset="-120"/>
              </a:rPr>
              <a:t>B · CODE COMPONENTS</a:t>
            </a:r>
            <a:endParaRPr lang="en-US" sz="1200" dirty="0"/>
          </a:p>
        </p:txBody>
      </p:sp>
      <p:sp>
        <p:nvSpPr>
          <p:cNvPr id="9" name="Text 7"/>
          <p:cNvSpPr/>
          <p:nvPr/>
        </p:nvSpPr>
        <p:spPr>
          <a:xfrm>
            <a:off x="4694073" y="2429421"/>
            <a:ext cx="2985084" cy="1130201"/>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agent_basics.py</a:t>
            </a:r>
            <a:r>
              <a:rPr lang="en-US" sz="1200" dirty="0">
                <a:solidFill>
                  <a:srgbClr val="15191F"/>
                </a:solidFill>
                <a:latin typeface="IBM Plex Sans" pitchFamily="34" charset="0"/>
                <a:ea typeface="IBM Plex Sans" pitchFamily="34" charset="-122"/>
                <a:cs typeface="IBM Plex Sans" pitchFamily="34" charset="-120"/>
              </a:rPr>
              <a:t>: 3 prompts, 3 tools</a:t>
            </a:r>
            <a:endParaRPr lang="en-US" sz="1200" dirty="0"/>
          </a:p>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llm.py</a:t>
            </a:r>
            <a:r>
              <a:rPr lang="en-US" sz="1200" dirty="0">
                <a:solidFill>
                  <a:srgbClr val="15191F"/>
                </a:solidFill>
                <a:latin typeface="IBM Plex Sans" pitchFamily="34" charset="0"/>
                <a:ea typeface="IBM Plex Sans" pitchFamily="34" charset="-122"/>
                <a:cs typeface="IBM Plex Sans" pitchFamily="34" charset="-120"/>
              </a:rPr>
              <a:t>: one agent loop for any open model on Ollama or vLLM, or offline</a:t>
            </a:r>
            <a:endParaRPr lang="en-US" sz="1200" dirty="0"/>
          </a:p>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vehicle_fleet.json</a:t>
            </a:r>
            <a:r>
              <a:rPr lang="en-US" sz="1200" dirty="0">
                <a:solidFill>
                  <a:srgbClr val="15191F"/>
                </a:solidFill>
                <a:latin typeface="IBM Plex Sans" pitchFamily="34" charset="0"/>
                <a:ea typeface="IBM Plex Sans" pitchFamily="34" charset="-122"/>
                <a:cs typeface="IBM Plex Sans" pitchFamily="34" charset="-120"/>
              </a:rPr>
              <a:t>: fictional line-up and stock</a:t>
            </a:r>
            <a:endParaRPr lang="en-US" sz="1200" dirty="0"/>
          </a:p>
        </p:txBody>
      </p:sp>
      <p:sp>
        <p:nvSpPr>
          <p:cNvPr id="10" name="Shape 8"/>
          <p:cNvSpPr/>
          <p:nvPr/>
        </p:nvSpPr>
        <p:spPr>
          <a:xfrm>
            <a:off x="7961858" y="1938586"/>
            <a:ext cx="3414167" cy="3371949"/>
          </a:xfrm>
          <a:prstGeom prst="roundRect">
            <a:avLst>
              <a:gd name="adj" fmla="val 2166"/>
            </a:avLst>
          </a:prstGeom>
          <a:solidFill>
            <a:srgbClr val="FBFAF6"/>
          </a:solidFill>
          <a:ln w="6350">
            <a:solidFill>
              <a:srgbClr val="DDD8CC"/>
            </a:solidFill>
            <a:prstDash val="solid"/>
          </a:ln>
        </p:spPr>
        <p:txBody>
          <a:bodyPr/>
          <a:lstStyle/>
          <a:p>
            <a:endParaRPr lang="en-US"/>
          </a:p>
        </p:txBody>
      </p:sp>
      <p:sp>
        <p:nvSpPr>
          <p:cNvPr id="11" name="Text 9"/>
          <p:cNvSpPr/>
          <p:nvPr/>
        </p:nvSpPr>
        <p:spPr>
          <a:xfrm>
            <a:off x="8168233" y="2144961"/>
            <a:ext cx="3091459"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C8102E"/>
                </a:solidFill>
                <a:latin typeface="IBM Plex Sans" pitchFamily="34" charset="0"/>
                <a:ea typeface="IBM Plex Sans" pitchFamily="34" charset="-122"/>
                <a:cs typeface="IBM Plex Sans" pitchFamily="34" charset="-120"/>
              </a:rPr>
              <a:t>C · PROPS</a:t>
            </a:r>
            <a:endParaRPr lang="en-US" sz="1200" dirty="0"/>
          </a:p>
        </p:txBody>
      </p:sp>
      <p:sp>
        <p:nvSpPr>
          <p:cNvPr id="12" name="Text 10"/>
          <p:cNvSpPr/>
          <p:nvPr/>
        </p:nvSpPr>
        <p:spPr>
          <a:xfrm>
            <a:off x="8267039" y="2429421"/>
            <a:ext cx="2985033" cy="688280"/>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Hallucination bell</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Role badges</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Lab app, one laptop per table</a:t>
            </a:r>
            <a:endParaRPr lang="en-US" sz="1200" dirty="0"/>
          </a:p>
        </p:txBody>
      </p:sp>
      <p:sp>
        <p:nvSpPr>
          <p:cNvPr id="13" name="Shape 11"/>
          <p:cNvSpPr/>
          <p:nvPr/>
        </p:nvSpPr>
        <p:spPr>
          <a:xfrm>
            <a:off x="838200" y="5516910"/>
            <a:ext cx="0" cy="325090"/>
          </a:xfrm>
          <a:prstGeom prst="line">
            <a:avLst/>
          </a:prstGeom>
          <a:noFill/>
          <a:ln w="50800">
            <a:solidFill>
              <a:srgbClr val="C8102E"/>
            </a:solidFill>
            <a:prstDash val="solid"/>
          </a:ln>
        </p:spPr>
        <p:txBody>
          <a:bodyPr/>
          <a:lstStyle/>
          <a:p>
            <a:endParaRPr lang="en-US"/>
          </a:p>
        </p:txBody>
      </p:sp>
      <p:sp>
        <p:nvSpPr>
          <p:cNvPr id="14" name="Text 12"/>
          <p:cNvSpPr/>
          <p:nvPr/>
        </p:nvSpPr>
        <p:spPr>
          <a:xfrm>
            <a:off x="1016000" y="5542310"/>
            <a:ext cx="10674096" cy="29969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5191F"/>
                </a:solidFill>
                <a:latin typeface="IBM Plex Sans" pitchFamily="34" charset="0"/>
                <a:ea typeface="IBM Plex Sans" pitchFamily="34" charset="-122"/>
                <a:cs typeface="IBM Plex Sans" pitchFamily="34" charset="-120"/>
              </a:rPr>
              <a:t>The moment:</a:t>
            </a:r>
            <a:r>
              <a:rPr lang="en-US" sz="1600" dirty="0">
                <a:solidFill>
                  <a:srgbClr val="15191F"/>
                </a:solidFill>
                <a:latin typeface="IBM Plex Sans" pitchFamily="34" charset="0"/>
                <a:ea typeface="IBM Plex Sans" pitchFamily="34" charset="-122"/>
                <a:cs typeface="IBM Plex Sans" pitchFamily="34" charset="-120"/>
              </a:rPr>
              <a:t> swap one open model for another in the sidebar, and nothing else changes.</a:t>
            </a:r>
            <a:endParaRPr lang="en-US" sz="1600" dirty="0"/>
          </a:p>
        </p:txBody>
      </p:sp>
      <p:sp>
        <p:nvSpPr>
          <p:cNvPr id="15" name="Text 1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AI Immersion Day · Automotive</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7"/>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IBM Plex Sans" pitchFamily="34" charset="0"/>
                <a:ea typeface="IBM Plex Sans" pitchFamily="34" charset="-122"/>
                <a:cs typeface="IBM Plex Sans" pitchFamily="34" charset="-120"/>
              </a:rPr>
              <a:t>MODULE 2 · MARKETING · 18 MIN</a:t>
            </a:r>
            <a:endParaRPr lang="en-US" sz="1200" dirty="0"/>
          </a:p>
        </p:txBody>
      </p:sp>
      <p:sp>
        <p:nvSpPr>
          <p:cNvPr id="3" name="Text 1"/>
          <p:cNvSpPr>
            <a:spLocks noGrp="1"/>
          </p:cNvSpPr>
          <p:nvPr>
            <p:ph type="title"/>
          </p:nvPr>
        </p:nvSpPr>
        <p:spPr>
          <a:xfrm>
            <a:off x="812800" y="1229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191F"/>
                </a:solidFill>
                <a:latin typeface="Oswald" pitchFamily="34" charset="0"/>
                <a:ea typeface="Oswald" pitchFamily="34" charset="-122"/>
                <a:cs typeface="Oswald" pitchFamily="34" charset="-120"/>
              </a:rPr>
              <a:t>Paper sketches become a ranked, coded specification</a:t>
            </a:r>
            <a:endParaRPr lang="en-US" sz="3600" dirty="0"/>
          </a:p>
        </p:txBody>
      </p:sp>
      <p:sp>
        <p:nvSpPr>
          <p:cNvPr id="4" name="Shape 2"/>
          <p:cNvSpPr/>
          <p:nvPr/>
        </p:nvSpPr>
        <p:spPr>
          <a:xfrm>
            <a:off x="815975" y="1938586"/>
            <a:ext cx="3414167" cy="3097659"/>
          </a:xfrm>
          <a:prstGeom prst="roundRect">
            <a:avLst>
              <a:gd name="adj" fmla="val 2357"/>
            </a:avLst>
          </a:prstGeom>
          <a:solidFill>
            <a:srgbClr val="FBFAF6"/>
          </a:solidFill>
          <a:ln w="6350">
            <a:solidFill>
              <a:srgbClr val="DDD8CC"/>
            </a:solidFill>
            <a:prstDash val="solid"/>
          </a:ln>
        </p:spPr>
        <p:txBody>
          <a:bodyPr/>
          <a:lstStyle/>
          <a:p>
            <a:endParaRPr lang="en-US"/>
          </a:p>
        </p:txBody>
      </p:sp>
      <p:sp>
        <p:nvSpPr>
          <p:cNvPr id="5" name="Text 3"/>
          <p:cNvSpPr/>
          <p:nvPr/>
        </p:nvSpPr>
        <p:spPr>
          <a:xfrm>
            <a:off x="1022350" y="2144961"/>
            <a:ext cx="3091459"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C8102E"/>
                </a:solidFill>
                <a:latin typeface="IBM Plex Sans" pitchFamily="34" charset="0"/>
                <a:ea typeface="IBM Plex Sans" pitchFamily="34" charset="-122"/>
                <a:cs typeface="IBM Plex Sans" pitchFamily="34" charset="-120"/>
              </a:rPr>
              <a:t>A · CONCEPT</a:t>
            </a:r>
            <a:endParaRPr lang="en-US" sz="1200" dirty="0"/>
          </a:p>
        </p:txBody>
      </p:sp>
      <p:sp>
        <p:nvSpPr>
          <p:cNvPr id="6" name="Text 4"/>
          <p:cNvSpPr/>
          <p:nvPr/>
        </p:nvSpPr>
        <p:spPr>
          <a:xfrm>
            <a:off x="1121156" y="2429421"/>
            <a:ext cx="2985033" cy="1130201"/>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Multimodal: reads photos of sketches</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Structured JSON output for every image</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Rubric scoring ranks sketch quality</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MCP plugs the agent into the paint catalogue</a:t>
            </a:r>
            <a:endParaRPr lang="en-US" sz="1200" dirty="0"/>
          </a:p>
        </p:txBody>
      </p:sp>
      <p:sp>
        <p:nvSpPr>
          <p:cNvPr id="7" name="Shape 5"/>
          <p:cNvSpPr/>
          <p:nvPr/>
        </p:nvSpPr>
        <p:spPr>
          <a:xfrm>
            <a:off x="4388892" y="1938586"/>
            <a:ext cx="3414216" cy="3097659"/>
          </a:xfrm>
          <a:prstGeom prst="roundRect">
            <a:avLst>
              <a:gd name="adj" fmla="val 2357"/>
            </a:avLst>
          </a:prstGeom>
          <a:solidFill>
            <a:srgbClr val="FBFAF6"/>
          </a:solidFill>
          <a:ln w="6350">
            <a:solidFill>
              <a:srgbClr val="DDD8CC"/>
            </a:solidFill>
            <a:prstDash val="solid"/>
          </a:ln>
        </p:spPr>
        <p:txBody>
          <a:bodyPr/>
          <a:lstStyle/>
          <a:p>
            <a:endParaRPr lang="en-US"/>
          </a:p>
        </p:txBody>
      </p:sp>
      <p:sp>
        <p:nvSpPr>
          <p:cNvPr id="8" name="Text 6"/>
          <p:cNvSpPr/>
          <p:nvPr/>
        </p:nvSpPr>
        <p:spPr>
          <a:xfrm>
            <a:off x="4595267" y="2144961"/>
            <a:ext cx="3091510"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C8102E"/>
                </a:solidFill>
                <a:latin typeface="IBM Plex Sans" pitchFamily="34" charset="0"/>
                <a:ea typeface="IBM Plex Sans" pitchFamily="34" charset="-122"/>
                <a:cs typeface="IBM Plex Sans" pitchFamily="34" charset="-120"/>
              </a:rPr>
              <a:t>B · CODE COMPONENTS</a:t>
            </a:r>
            <a:endParaRPr lang="en-US" sz="1200" dirty="0"/>
          </a:p>
        </p:txBody>
      </p:sp>
      <p:sp>
        <p:nvSpPr>
          <p:cNvPr id="9" name="Text 7"/>
          <p:cNvSpPr/>
          <p:nvPr/>
        </p:nvSpPr>
        <p:spPr>
          <a:xfrm>
            <a:off x="4694073" y="2429421"/>
            <a:ext cx="2985084" cy="1351161"/>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analyse_sketches.py</a:t>
            </a:r>
            <a:r>
              <a:rPr lang="en-US" sz="1200" dirty="0">
                <a:solidFill>
                  <a:srgbClr val="15191F"/>
                </a:solidFill>
                <a:latin typeface="IBM Plex Sans" pitchFamily="34" charset="0"/>
                <a:ea typeface="IBM Plex Sans" pitchFamily="34" charset="-122"/>
                <a:cs typeface="IBM Plex Sans" pitchFamily="34" charset="-120"/>
              </a:rPr>
              <a:t>: schema, rubric, ranking</a:t>
            </a:r>
            <a:endParaRPr lang="en-US" sz="1200" dirty="0"/>
          </a:p>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catalogue_server.py</a:t>
            </a:r>
            <a:r>
              <a:rPr lang="en-US" sz="1200" dirty="0">
                <a:solidFill>
                  <a:srgbClr val="15191F"/>
                </a:solidFill>
                <a:latin typeface="IBM Plex Sans" pitchFamily="34" charset="0"/>
                <a:ea typeface="IBM Plex Sans" pitchFamily="34" charset="-122"/>
                <a:cs typeface="IBM Plex Sans" pitchFamily="34" charset="-120"/>
              </a:rPr>
              <a:t>: 5 MCP tools</a:t>
            </a:r>
            <a:endParaRPr lang="en-US" sz="1200" dirty="0"/>
          </a:p>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mcp_bridge.py</a:t>
            </a:r>
            <a:r>
              <a:rPr lang="en-US" sz="1200" dirty="0">
                <a:solidFill>
                  <a:srgbClr val="15191F"/>
                </a:solidFill>
                <a:latin typeface="IBM Plex Sans" pitchFamily="34" charset="0"/>
                <a:ea typeface="IBM Plex Sans" pitchFamily="34" charset="-122"/>
                <a:cs typeface="IBM Plex Sans" pitchFamily="34" charset="-120"/>
              </a:rPr>
              <a:t>: discovers MCP tools</a:t>
            </a:r>
            <a:endParaRPr lang="en-US" sz="1200" dirty="0"/>
          </a:p>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mcp_config.json</a:t>
            </a:r>
            <a:r>
              <a:rPr lang="en-US" sz="1200" dirty="0">
                <a:solidFill>
                  <a:srgbClr val="15191F"/>
                </a:solidFill>
                <a:latin typeface="IBM Plex Sans" pitchFamily="34" charset="0"/>
                <a:ea typeface="IBM Plex Sans" pitchFamily="34" charset="-122"/>
                <a:cs typeface="IBM Plex Sans" pitchFamily="34" charset="-120"/>
              </a:rPr>
              <a:t>: same server in Continue</a:t>
            </a:r>
            <a:endParaRPr lang="en-US" sz="1200" dirty="0"/>
          </a:p>
        </p:txBody>
      </p:sp>
      <p:sp>
        <p:nvSpPr>
          <p:cNvPr id="10" name="Shape 8"/>
          <p:cNvSpPr/>
          <p:nvPr/>
        </p:nvSpPr>
        <p:spPr>
          <a:xfrm>
            <a:off x="7961858" y="1938586"/>
            <a:ext cx="3414167" cy="3097659"/>
          </a:xfrm>
          <a:prstGeom prst="roundRect">
            <a:avLst>
              <a:gd name="adj" fmla="val 2357"/>
            </a:avLst>
          </a:prstGeom>
          <a:solidFill>
            <a:srgbClr val="FBFAF6"/>
          </a:solidFill>
          <a:ln w="6350">
            <a:solidFill>
              <a:srgbClr val="DDD8CC"/>
            </a:solidFill>
            <a:prstDash val="solid"/>
          </a:ln>
        </p:spPr>
        <p:txBody>
          <a:bodyPr/>
          <a:lstStyle/>
          <a:p>
            <a:endParaRPr lang="en-US"/>
          </a:p>
        </p:txBody>
      </p:sp>
      <p:sp>
        <p:nvSpPr>
          <p:cNvPr id="11" name="Text 9"/>
          <p:cNvSpPr/>
          <p:nvPr/>
        </p:nvSpPr>
        <p:spPr>
          <a:xfrm>
            <a:off x="8168233" y="2144961"/>
            <a:ext cx="3091459"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C8102E"/>
                </a:solidFill>
                <a:latin typeface="IBM Plex Sans" pitchFamily="34" charset="0"/>
                <a:ea typeface="IBM Plex Sans" pitchFamily="34" charset="-122"/>
                <a:cs typeface="IBM Plex Sans" pitchFamily="34" charset="-120"/>
              </a:rPr>
              <a:t>C · PROPS</a:t>
            </a:r>
            <a:endParaRPr lang="en-US" sz="1200" dirty="0"/>
          </a:p>
        </p:txBody>
      </p:sp>
      <p:sp>
        <p:nvSpPr>
          <p:cNvPr id="12" name="Text 10"/>
          <p:cNvSpPr/>
          <p:nvPr/>
        </p:nvSpPr>
        <p:spPr>
          <a:xfrm>
            <a:off x="8267039" y="2429421"/>
            <a:ext cx="2985033" cy="909241"/>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A4 sketch templates</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Marker packs</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White A3 backdrop and a phone</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8 sample sketches as backup</a:t>
            </a:r>
            <a:endParaRPr lang="en-US" sz="1200" dirty="0"/>
          </a:p>
        </p:txBody>
      </p:sp>
      <p:sp>
        <p:nvSpPr>
          <p:cNvPr id="13" name="Shape 11"/>
          <p:cNvSpPr/>
          <p:nvPr/>
        </p:nvSpPr>
        <p:spPr>
          <a:xfrm>
            <a:off x="838200" y="5242620"/>
            <a:ext cx="0" cy="599380"/>
          </a:xfrm>
          <a:prstGeom prst="line">
            <a:avLst/>
          </a:prstGeom>
          <a:noFill/>
          <a:ln w="50800">
            <a:solidFill>
              <a:srgbClr val="C8102E"/>
            </a:solidFill>
            <a:prstDash val="solid"/>
          </a:ln>
        </p:spPr>
        <p:txBody>
          <a:bodyPr/>
          <a:lstStyle/>
          <a:p>
            <a:endParaRPr lang="en-US"/>
          </a:p>
        </p:txBody>
      </p:sp>
      <p:sp>
        <p:nvSpPr>
          <p:cNvPr id="14" name="Text 12"/>
          <p:cNvSpPr/>
          <p:nvPr/>
        </p:nvSpPr>
        <p:spPr>
          <a:xfrm>
            <a:off x="1016000" y="5268020"/>
            <a:ext cx="10674096" cy="57398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5191F"/>
                </a:solidFill>
                <a:latin typeface="IBM Plex Sans" pitchFamily="34" charset="0"/>
                <a:ea typeface="IBM Plex Sans" pitchFamily="34" charset="-122"/>
                <a:cs typeface="IBM Plex Sans" pitchFamily="34" charset="-120"/>
              </a:rPr>
              <a:t>The moment:</a:t>
            </a:r>
            <a:r>
              <a:rPr lang="en-US" sz="1600" dirty="0">
                <a:solidFill>
                  <a:srgbClr val="15191F"/>
                </a:solidFill>
                <a:latin typeface="IBM Plex Sans" pitchFamily="34" charset="0"/>
                <a:ea typeface="IBM Plex Sans" pitchFamily="34" charset="-122"/>
                <a:cs typeface="IBM Plex Sans" pitchFamily="34" charset="-120"/>
              </a:rPr>
              <a:t> "bright red" becomes RR-301 Rosso Racing Red, approved, through a system the agent was never coded against.</a:t>
            </a:r>
            <a:endParaRPr lang="en-US" sz="1600" dirty="0"/>
          </a:p>
        </p:txBody>
      </p:sp>
      <p:sp>
        <p:nvSpPr>
          <p:cNvPr id="15" name="Text 1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AI Immersion Day · Automotive</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7"/>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IBM Plex Sans" pitchFamily="34" charset="0"/>
                <a:ea typeface="IBM Plex Sans" pitchFamily="34" charset="-122"/>
                <a:cs typeface="IBM Plex Sans" pitchFamily="34" charset="-120"/>
              </a:rPr>
              <a:t>MODULE 3 · ENGINEERING · 17 MIN</a:t>
            </a:r>
            <a:endParaRPr lang="en-US" sz="1200" dirty="0"/>
          </a:p>
        </p:txBody>
      </p:sp>
      <p:sp>
        <p:nvSpPr>
          <p:cNvPr id="3" name="Text 1"/>
          <p:cNvSpPr>
            <a:spLocks noGrp="1"/>
          </p:cNvSpPr>
          <p:nvPr>
            <p:ph type="title"/>
          </p:nvPr>
        </p:nvSpPr>
        <p:spPr>
          <a:xfrm>
            <a:off x="812800" y="12293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191F"/>
                </a:solidFill>
                <a:latin typeface="Oswald" pitchFamily="34" charset="0"/>
                <a:ea typeface="Oswald" pitchFamily="34" charset="-122"/>
                <a:cs typeface="Oswald" pitchFamily="34" charset="-120"/>
              </a:rPr>
              <a:t>Many sketches, one dominant spec, checked against the rulebook</a:t>
            </a:r>
            <a:endParaRPr lang="en-US" sz="3600" dirty="0"/>
          </a:p>
        </p:txBody>
      </p:sp>
      <p:sp>
        <p:nvSpPr>
          <p:cNvPr id="4" name="Shape 2"/>
          <p:cNvSpPr/>
          <p:nvPr/>
        </p:nvSpPr>
        <p:spPr>
          <a:xfrm>
            <a:off x="815975" y="2441476"/>
            <a:ext cx="3414167" cy="2869059"/>
          </a:xfrm>
          <a:prstGeom prst="roundRect">
            <a:avLst>
              <a:gd name="adj" fmla="val 2545"/>
            </a:avLst>
          </a:prstGeom>
          <a:solidFill>
            <a:srgbClr val="FBFAF6"/>
          </a:solidFill>
          <a:ln w="6350">
            <a:solidFill>
              <a:srgbClr val="DDD8CC"/>
            </a:solidFill>
            <a:prstDash val="solid"/>
          </a:ln>
        </p:spPr>
        <p:txBody>
          <a:bodyPr/>
          <a:lstStyle/>
          <a:p>
            <a:endParaRPr lang="en-US"/>
          </a:p>
        </p:txBody>
      </p:sp>
      <p:sp>
        <p:nvSpPr>
          <p:cNvPr id="5" name="Text 3"/>
          <p:cNvSpPr/>
          <p:nvPr/>
        </p:nvSpPr>
        <p:spPr>
          <a:xfrm>
            <a:off x="1022350" y="2647851"/>
            <a:ext cx="3091459"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C8102E"/>
                </a:solidFill>
                <a:latin typeface="IBM Plex Sans" pitchFamily="34" charset="0"/>
                <a:ea typeface="IBM Plex Sans" pitchFamily="34" charset="-122"/>
                <a:cs typeface="IBM Plex Sans" pitchFamily="34" charset="-120"/>
              </a:rPr>
              <a:t>A · CONCEPT</a:t>
            </a:r>
            <a:endParaRPr lang="en-US" sz="1200" dirty="0"/>
          </a:p>
        </p:txBody>
      </p:sp>
      <p:sp>
        <p:nvSpPr>
          <p:cNvPr id="6" name="Text 4"/>
          <p:cNvSpPr/>
          <p:nvPr/>
        </p:nvSpPr>
        <p:spPr>
          <a:xfrm>
            <a:off x="1121156" y="2932311"/>
            <a:ext cx="2985033" cy="1351161"/>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Free text turned into catalogue codes</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Duplicates merged, quality-weighted vote</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Test spec drafted from your template</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RAG check that cites the rule it used</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Optional: 3D model of the winner</a:t>
            </a:r>
            <a:endParaRPr lang="en-US" sz="1200" dirty="0"/>
          </a:p>
        </p:txBody>
      </p:sp>
      <p:sp>
        <p:nvSpPr>
          <p:cNvPr id="7" name="Shape 5"/>
          <p:cNvSpPr/>
          <p:nvPr/>
        </p:nvSpPr>
        <p:spPr>
          <a:xfrm>
            <a:off x="4388892" y="2441476"/>
            <a:ext cx="3414216" cy="2869059"/>
          </a:xfrm>
          <a:prstGeom prst="roundRect">
            <a:avLst>
              <a:gd name="adj" fmla="val 2545"/>
            </a:avLst>
          </a:prstGeom>
          <a:solidFill>
            <a:srgbClr val="FBFAF6"/>
          </a:solidFill>
          <a:ln w="6350">
            <a:solidFill>
              <a:srgbClr val="DDD8CC"/>
            </a:solidFill>
            <a:prstDash val="solid"/>
          </a:ln>
        </p:spPr>
        <p:txBody>
          <a:bodyPr/>
          <a:lstStyle/>
          <a:p>
            <a:endParaRPr lang="en-US"/>
          </a:p>
        </p:txBody>
      </p:sp>
      <p:sp>
        <p:nvSpPr>
          <p:cNvPr id="8" name="Text 6"/>
          <p:cNvSpPr/>
          <p:nvPr/>
        </p:nvSpPr>
        <p:spPr>
          <a:xfrm>
            <a:off x="4595267" y="2647851"/>
            <a:ext cx="3091510"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C8102E"/>
                </a:solidFill>
                <a:latin typeface="IBM Plex Sans" pitchFamily="34" charset="0"/>
                <a:ea typeface="IBM Plex Sans" pitchFamily="34" charset="-122"/>
                <a:cs typeface="IBM Plex Sans" pitchFamily="34" charset="-120"/>
              </a:rPr>
              <a:t>B · CODE COMPONENTS</a:t>
            </a:r>
            <a:endParaRPr lang="en-US" sz="1200" dirty="0"/>
          </a:p>
        </p:txBody>
      </p:sp>
      <p:sp>
        <p:nvSpPr>
          <p:cNvPr id="9" name="Text 7"/>
          <p:cNvSpPr/>
          <p:nvPr/>
        </p:nvSpPr>
        <p:spPr>
          <a:xfrm>
            <a:off x="4694073" y="2932311"/>
            <a:ext cx="2985084" cy="909241"/>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reconcile.py</a:t>
            </a:r>
            <a:r>
              <a:rPr lang="en-US" sz="1200" dirty="0">
                <a:solidFill>
                  <a:srgbClr val="15191F"/>
                </a:solidFill>
                <a:latin typeface="IBM Plex Sans" pitchFamily="34" charset="0"/>
                <a:ea typeface="IBM Plex Sans" pitchFamily="34" charset="-122"/>
                <a:cs typeface="IBM Plex Sans" pitchFamily="34" charset="-120"/>
              </a:rPr>
              <a:t>: de-duplicate and vote</a:t>
            </a:r>
            <a:endParaRPr lang="en-US" sz="1200" dirty="0"/>
          </a:p>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test_spec.py</a:t>
            </a:r>
            <a:r>
              <a:rPr lang="en-US" sz="1200" dirty="0">
                <a:solidFill>
                  <a:srgbClr val="15191F"/>
                </a:solidFill>
                <a:latin typeface="IBM Plex Sans" pitchFamily="34" charset="0"/>
                <a:ea typeface="IBM Plex Sans" pitchFamily="34" charset="-122"/>
                <a:cs typeface="IBM Plex Sans" pitchFamily="34" charset="-120"/>
              </a:rPr>
              <a:t> with tests T01 to T07</a:t>
            </a:r>
            <a:endParaRPr lang="en-US" sz="1200" dirty="0"/>
          </a:p>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rag_check.py</a:t>
            </a:r>
            <a:r>
              <a:rPr lang="en-US" sz="1200" dirty="0">
                <a:solidFill>
                  <a:srgbClr val="15191F"/>
                </a:solidFill>
                <a:latin typeface="IBM Plex Sans" pitchFamily="34" charset="0"/>
                <a:ea typeface="IBM Plex Sans" pitchFamily="34" charset="-122"/>
                <a:cs typeface="IBM Plex Sans" pitchFamily="34" charset="-120"/>
              </a:rPr>
              <a:t> with 12 guideline rules</a:t>
            </a:r>
            <a:endParaRPr lang="en-US" sz="1200" dirty="0"/>
          </a:p>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make_3d.py</a:t>
            </a:r>
            <a:r>
              <a:rPr lang="en-US" sz="1200" dirty="0">
                <a:solidFill>
                  <a:srgbClr val="15191F"/>
                </a:solidFill>
                <a:latin typeface="IBM Plex Sans" pitchFamily="34" charset="0"/>
                <a:ea typeface="IBM Plex Sans" pitchFamily="34" charset="-122"/>
                <a:cs typeface="IBM Plex Sans" pitchFamily="34" charset="-120"/>
              </a:rPr>
              <a:t>: three.js viewer</a:t>
            </a:r>
            <a:endParaRPr lang="en-US" sz="1200" dirty="0"/>
          </a:p>
        </p:txBody>
      </p:sp>
      <p:sp>
        <p:nvSpPr>
          <p:cNvPr id="10" name="Shape 8"/>
          <p:cNvSpPr/>
          <p:nvPr/>
        </p:nvSpPr>
        <p:spPr>
          <a:xfrm>
            <a:off x="7961858" y="2441476"/>
            <a:ext cx="3414167" cy="2869059"/>
          </a:xfrm>
          <a:prstGeom prst="roundRect">
            <a:avLst>
              <a:gd name="adj" fmla="val 2545"/>
            </a:avLst>
          </a:prstGeom>
          <a:solidFill>
            <a:srgbClr val="FBFAF6"/>
          </a:solidFill>
          <a:ln w="6350">
            <a:solidFill>
              <a:srgbClr val="DDD8CC"/>
            </a:solidFill>
            <a:prstDash val="solid"/>
          </a:ln>
        </p:spPr>
        <p:txBody>
          <a:bodyPr/>
          <a:lstStyle/>
          <a:p>
            <a:endParaRPr lang="en-US"/>
          </a:p>
        </p:txBody>
      </p:sp>
      <p:sp>
        <p:nvSpPr>
          <p:cNvPr id="11" name="Text 9"/>
          <p:cNvSpPr/>
          <p:nvPr/>
        </p:nvSpPr>
        <p:spPr>
          <a:xfrm>
            <a:off x="8168233" y="2647851"/>
            <a:ext cx="3091459"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C8102E"/>
                </a:solidFill>
                <a:latin typeface="IBM Plex Sans" pitchFamily="34" charset="0"/>
                <a:ea typeface="IBM Plex Sans" pitchFamily="34" charset="-122"/>
                <a:cs typeface="IBM Plex Sans" pitchFamily="34" charset="-120"/>
              </a:rPr>
              <a:t>C · PROPS</a:t>
            </a:r>
            <a:endParaRPr lang="en-US" sz="1200" dirty="0"/>
          </a:p>
        </p:txBody>
      </p:sp>
      <p:sp>
        <p:nvSpPr>
          <p:cNvPr id="12" name="Text 10"/>
          <p:cNvSpPr/>
          <p:nvPr/>
        </p:nvSpPr>
        <p:spPr>
          <a:xfrm>
            <a:off x="8267039" y="2932311"/>
            <a:ext cx="2985033" cy="467320"/>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Sticky dots: humans vote first</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Paint swatch cards (optional)</a:t>
            </a:r>
            <a:endParaRPr lang="en-US" sz="1200" dirty="0"/>
          </a:p>
        </p:txBody>
      </p:sp>
      <p:sp>
        <p:nvSpPr>
          <p:cNvPr id="13" name="Shape 11"/>
          <p:cNvSpPr/>
          <p:nvPr/>
        </p:nvSpPr>
        <p:spPr>
          <a:xfrm>
            <a:off x="838200" y="5516910"/>
            <a:ext cx="0" cy="325090"/>
          </a:xfrm>
          <a:prstGeom prst="line">
            <a:avLst/>
          </a:prstGeom>
          <a:noFill/>
          <a:ln w="50800">
            <a:solidFill>
              <a:srgbClr val="C8102E"/>
            </a:solidFill>
            <a:prstDash val="solid"/>
          </a:ln>
        </p:spPr>
        <p:txBody>
          <a:bodyPr/>
          <a:lstStyle/>
          <a:p>
            <a:endParaRPr lang="en-US"/>
          </a:p>
        </p:txBody>
      </p:sp>
      <p:sp>
        <p:nvSpPr>
          <p:cNvPr id="14" name="Text 12"/>
          <p:cNvSpPr/>
          <p:nvPr/>
        </p:nvSpPr>
        <p:spPr>
          <a:xfrm>
            <a:off x="1016000" y="5542310"/>
            <a:ext cx="10674096" cy="29969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5191F"/>
                </a:solidFill>
                <a:latin typeface="IBM Plex Sans" pitchFamily="34" charset="0"/>
                <a:ea typeface="IBM Plex Sans" pitchFamily="34" charset="-122"/>
                <a:cs typeface="IBM Plex Sans" pitchFamily="34" charset="-120"/>
              </a:rPr>
              <a:t>The moment:</a:t>
            </a:r>
            <a:r>
              <a:rPr lang="en-US" sz="1600" dirty="0">
                <a:solidFill>
                  <a:srgbClr val="15191F"/>
                </a:solidFill>
                <a:latin typeface="IBM Plex Sans" pitchFamily="34" charset="0"/>
                <a:ea typeface="IBM Plex Sans" pitchFamily="34" charset="-122"/>
                <a:cs typeface="IBM Plex Sans" pitchFamily="34" charset="-120"/>
              </a:rPr>
              <a:t> 8 sketches become 5 designs and 1 spec, and the bonnet scoop is flagged under rule DEG-3.2.</a:t>
            </a:r>
            <a:endParaRPr lang="en-US" sz="1600" dirty="0"/>
          </a:p>
        </p:txBody>
      </p:sp>
      <p:sp>
        <p:nvSpPr>
          <p:cNvPr id="15" name="Text 1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AI Immersion Day · Automotive</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7"/>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IBM Plex Sans" pitchFamily="34" charset="0"/>
                <a:ea typeface="IBM Plex Sans" pitchFamily="34" charset="-122"/>
                <a:cs typeface="IBM Plex Sans" pitchFamily="34" charset="-120"/>
              </a:rPr>
              <a:t>MODULE 4 · SUPPLY CHAIN · 15 MIN</a:t>
            </a:r>
            <a:endParaRPr lang="en-US" sz="1200" dirty="0"/>
          </a:p>
        </p:txBody>
      </p:sp>
      <p:sp>
        <p:nvSpPr>
          <p:cNvPr id="3" name="Text 1"/>
          <p:cNvSpPr>
            <a:spLocks noGrp="1"/>
          </p:cNvSpPr>
          <p:nvPr>
            <p:ph type="title"/>
          </p:nvPr>
        </p:nvSpPr>
        <p:spPr>
          <a:xfrm>
            <a:off x="812800" y="1229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191F"/>
                </a:solidFill>
                <a:latin typeface="Oswald" pitchFamily="34" charset="0"/>
                <a:ea typeface="Oswald" pitchFamily="34" charset="-122"/>
                <a:cs typeface="Oswald" pitchFamily="34" charset="-120"/>
              </a:rPr>
              <a:t>Find the 120-day risk before it finds you</a:t>
            </a:r>
            <a:endParaRPr lang="en-US" sz="3600" dirty="0"/>
          </a:p>
        </p:txBody>
      </p:sp>
      <p:sp>
        <p:nvSpPr>
          <p:cNvPr id="4" name="Shape 2"/>
          <p:cNvSpPr/>
          <p:nvPr/>
        </p:nvSpPr>
        <p:spPr>
          <a:xfrm>
            <a:off x="815975" y="1938586"/>
            <a:ext cx="3414167" cy="3097659"/>
          </a:xfrm>
          <a:prstGeom prst="roundRect">
            <a:avLst>
              <a:gd name="adj" fmla="val 2357"/>
            </a:avLst>
          </a:prstGeom>
          <a:solidFill>
            <a:srgbClr val="FBFAF6"/>
          </a:solidFill>
          <a:ln w="6350">
            <a:solidFill>
              <a:srgbClr val="DDD8CC"/>
            </a:solidFill>
            <a:prstDash val="solid"/>
          </a:ln>
        </p:spPr>
        <p:txBody>
          <a:bodyPr/>
          <a:lstStyle/>
          <a:p>
            <a:endParaRPr lang="en-US"/>
          </a:p>
        </p:txBody>
      </p:sp>
      <p:sp>
        <p:nvSpPr>
          <p:cNvPr id="5" name="Text 3"/>
          <p:cNvSpPr/>
          <p:nvPr/>
        </p:nvSpPr>
        <p:spPr>
          <a:xfrm>
            <a:off x="1022350" y="2144961"/>
            <a:ext cx="3091459"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C8102E"/>
                </a:solidFill>
                <a:latin typeface="IBM Plex Sans" pitchFamily="34" charset="0"/>
                <a:ea typeface="IBM Plex Sans" pitchFamily="34" charset="-122"/>
                <a:cs typeface="IBM Plex Sans" pitchFamily="34" charset="-120"/>
              </a:rPr>
              <a:t>A · CONCEPT</a:t>
            </a:r>
            <a:endParaRPr lang="en-US" sz="1200" dirty="0"/>
          </a:p>
        </p:txBody>
      </p:sp>
      <p:sp>
        <p:nvSpPr>
          <p:cNvPr id="6" name="Text 4"/>
          <p:cNvSpPr/>
          <p:nvPr/>
        </p:nvSpPr>
        <p:spPr>
          <a:xfrm>
            <a:off x="1121156" y="2429421"/>
            <a:ext cx="2985033" cy="1130201"/>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A knowledge graph answers multi-hop questions</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A what-if knocks out a supplier</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Guardrails check what goes in and out</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Evals score the agent on a fixed test set</a:t>
            </a:r>
            <a:endParaRPr lang="en-US" sz="1200" dirty="0"/>
          </a:p>
        </p:txBody>
      </p:sp>
      <p:sp>
        <p:nvSpPr>
          <p:cNvPr id="7" name="Shape 5"/>
          <p:cNvSpPr/>
          <p:nvPr/>
        </p:nvSpPr>
        <p:spPr>
          <a:xfrm>
            <a:off x="4388892" y="1938586"/>
            <a:ext cx="3414216" cy="3097659"/>
          </a:xfrm>
          <a:prstGeom prst="roundRect">
            <a:avLst>
              <a:gd name="adj" fmla="val 2357"/>
            </a:avLst>
          </a:prstGeom>
          <a:solidFill>
            <a:srgbClr val="FBFAF6"/>
          </a:solidFill>
          <a:ln w="6350">
            <a:solidFill>
              <a:srgbClr val="DDD8CC"/>
            </a:solidFill>
            <a:prstDash val="solid"/>
          </a:ln>
        </p:spPr>
        <p:txBody>
          <a:bodyPr/>
          <a:lstStyle/>
          <a:p>
            <a:endParaRPr lang="en-US"/>
          </a:p>
        </p:txBody>
      </p:sp>
      <p:sp>
        <p:nvSpPr>
          <p:cNvPr id="8" name="Text 6"/>
          <p:cNvSpPr/>
          <p:nvPr/>
        </p:nvSpPr>
        <p:spPr>
          <a:xfrm>
            <a:off x="4595267" y="2144961"/>
            <a:ext cx="3091510"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C8102E"/>
                </a:solidFill>
                <a:latin typeface="IBM Plex Sans" pitchFamily="34" charset="0"/>
                <a:ea typeface="IBM Plex Sans" pitchFamily="34" charset="-122"/>
                <a:cs typeface="IBM Plex Sans" pitchFamily="34" charset="-120"/>
              </a:rPr>
              <a:t>B · CODE COMPONENTS</a:t>
            </a:r>
            <a:endParaRPr lang="en-US" sz="1200" dirty="0"/>
          </a:p>
        </p:txBody>
      </p:sp>
      <p:sp>
        <p:nvSpPr>
          <p:cNvPr id="9" name="Text 7"/>
          <p:cNvSpPr/>
          <p:nvPr/>
        </p:nvSpPr>
        <p:spPr>
          <a:xfrm>
            <a:off x="4694073" y="2429421"/>
            <a:ext cx="2985084" cy="1130201"/>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kg.py</a:t>
            </a:r>
            <a:r>
              <a:rPr lang="en-US" sz="1200" dirty="0">
                <a:solidFill>
                  <a:srgbClr val="15191F"/>
                </a:solidFill>
                <a:latin typeface="IBM Plex Sans" pitchFamily="34" charset="0"/>
                <a:ea typeface="IBM Plex Sans" pitchFamily="34" charset="-122"/>
                <a:cs typeface="IBM Plex Sans" pitchFamily="34" charset="-120"/>
              </a:rPr>
              <a:t> on NetworkX: impact, what-if, alternatives</a:t>
            </a:r>
            <a:endParaRPr lang="en-US" sz="1200" dirty="0"/>
          </a:p>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guardrails.py</a:t>
            </a:r>
            <a:r>
              <a:rPr lang="en-US" sz="1200" dirty="0">
                <a:solidFill>
                  <a:srgbClr val="15191F"/>
                </a:solidFill>
                <a:latin typeface="IBM Plex Sans" pitchFamily="34" charset="0"/>
                <a:ea typeface="IBM Plex Sans" pitchFamily="34" charset="-122"/>
                <a:cs typeface="IBM Plex Sans" pitchFamily="34" charset="-120"/>
              </a:rPr>
              <a:t>: 4 input, 3 output rails</a:t>
            </a:r>
            <a:endParaRPr lang="en-US" sz="1200" dirty="0"/>
          </a:p>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evals.py</a:t>
            </a:r>
            <a:r>
              <a:rPr lang="en-US" sz="1200" dirty="0">
                <a:solidFill>
                  <a:srgbClr val="15191F"/>
                </a:solidFill>
                <a:latin typeface="IBM Plex Sans" pitchFamily="34" charset="0"/>
                <a:ea typeface="IBM Plex Sans" pitchFamily="34" charset="-122"/>
                <a:cs typeface="IBM Plex Sans" pitchFamily="34" charset="-120"/>
              </a:rPr>
              <a:t> with 10 golden cases</a:t>
            </a:r>
            <a:endParaRPr lang="en-US" sz="1200" dirty="0"/>
          </a:p>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parts graph</a:t>
            </a:r>
            <a:r>
              <a:rPr lang="en-US" sz="1200" dirty="0">
                <a:solidFill>
                  <a:srgbClr val="15191F"/>
                </a:solidFill>
                <a:latin typeface="IBM Plex Sans" pitchFamily="34" charset="0"/>
                <a:ea typeface="IBM Plex Sans" pitchFamily="34" charset="-122"/>
                <a:cs typeface="IBM Plex Sans" pitchFamily="34" charset="-120"/>
              </a:rPr>
              <a:t>: 71 nodes, 112 edges</a:t>
            </a:r>
            <a:endParaRPr lang="en-US" sz="1200" dirty="0"/>
          </a:p>
        </p:txBody>
      </p:sp>
      <p:sp>
        <p:nvSpPr>
          <p:cNvPr id="10" name="Shape 8"/>
          <p:cNvSpPr/>
          <p:nvPr/>
        </p:nvSpPr>
        <p:spPr>
          <a:xfrm>
            <a:off x="7961858" y="1938586"/>
            <a:ext cx="3414167" cy="3097659"/>
          </a:xfrm>
          <a:prstGeom prst="roundRect">
            <a:avLst>
              <a:gd name="adj" fmla="val 2357"/>
            </a:avLst>
          </a:prstGeom>
          <a:solidFill>
            <a:srgbClr val="FBFAF6"/>
          </a:solidFill>
          <a:ln w="6350">
            <a:solidFill>
              <a:srgbClr val="DDD8CC"/>
            </a:solidFill>
            <a:prstDash val="solid"/>
          </a:ln>
        </p:spPr>
        <p:txBody>
          <a:bodyPr/>
          <a:lstStyle/>
          <a:p>
            <a:endParaRPr lang="en-US"/>
          </a:p>
        </p:txBody>
      </p:sp>
      <p:sp>
        <p:nvSpPr>
          <p:cNvPr id="11" name="Text 9"/>
          <p:cNvSpPr/>
          <p:nvPr/>
        </p:nvSpPr>
        <p:spPr>
          <a:xfrm>
            <a:off x="8168233" y="2144961"/>
            <a:ext cx="3091459"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C8102E"/>
                </a:solidFill>
                <a:latin typeface="IBM Plex Sans" pitchFamily="34" charset="0"/>
                <a:ea typeface="IBM Plex Sans" pitchFamily="34" charset="-122"/>
                <a:cs typeface="IBM Plex Sans" pitchFamily="34" charset="-120"/>
              </a:rPr>
              <a:t>C · PROPS</a:t>
            </a:r>
            <a:endParaRPr lang="en-US" sz="1200" dirty="0"/>
          </a:p>
        </p:txBody>
      </p:sp>
      <p:sp>
        <p:nvSpPr>
          <p:cNvPr id="12" name="Text 10"/>
          <p:cNvSpPr/>
          <p:nvPr/>
        </p:nvSpPr>
        <p:spPr>
          <a:xfrm>
            <a:off x="8267039" y="2429421"/>
            <a:ext cx="2985033" cy="688280"/>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None for the graph: a spoken guess</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PASS / REDACT / BLOCK paddles</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Eval scorecard</a:t>
            </a:r>
            <a:endParaRPr lang="en-US" sz="1200" dirty="0"/>
          </a:p>
        </p:txBody>
      </p:sp>
      <p:sp>
        <p:nvSpPr>
          <p:cNvPr id="13" name="Shape 11"/>
          <p:cNvSpPr/>
          <p:nvPr/>
        </p:nvSpPr>
        <p:spPr>
          <a:xfrm>
            <a:off x="838200" y="5242620"/>
            <a:ext cx="0" cy="599380"/>
          </a:xfrm>
          <a:prstGeom prst="line">
            <a:avLst/>
          </a:prstGeom>
          <a:noFill/>
          <a:ln w="50800">
            <a:solidFill>
              <a:srgbClr val="C8102E"/>
            </a:solidFill>
            <a:prstDash val="solid"/>
          </a:ln>
        </p:spPr>
        <p:txBody>
          <a:bodyPr/>
          <a:lstStyle/>
          <a:p>
            <a:endParaRPr lang="en-US"/>
          </a:p>
        </p:txBody>
      </p:sp>
      <p:sp>
        <p:nvSpPr>
          <p:cNvPr id="14" name="Text 12"/>
          <p:cNvSpPr/>
          <p:nvPr/>
        </p:nvSpPr>
        <p:spPr>
          <a:xfrm>
            <a:off x="1016000" y="5268020"/>
            <a:ext cx="10674096" cy="57398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5191F"/>
                </a:solidFill>
                <a:latin typeface="IBM Plex Sans" pitchFamily="34" charset="0"/>
                <a:ea typeface="IBM Plex Sans" pitchFamily="34" charset="-122"/>
                <a:cs typeface="IBM Plex Sans" pitchFamily="34" charset="-120"/>
              </a:rPr>
              <a:t>The moment:</a:t>
            </a:r>
            <a:r>
              <a:rPr lang="en-US" sz="1600" dirty="0">
                <a:solidFill>
                  <a:srgbClr val="15191F"/>
                </a:solidFill>
                <a:latin typeface="IBM Plex Sans" pitchFamily="34" charset="0"/>
                <a:ea typeface="IBM Plex Sans" pitchFamily="34" charset="-122"/>
                <a:cs typeface="IBM Plex Sans" pitchFamily="34" charset="-120"/>
              </a:rPr>
              <a:t> everyone calls out a supplier, one click knocks it out, and 3 of 4 options turn red through a single chip.</a:t>
            </a:r>
            <a:endParaRPr lang="en-US" sz="1600" dirty="0"/>
          </a:p>
        </p:txBody>
      </p:sp>
      <p:sp>
        <p:nvSpPr>
          <p:cNvPr id="15" name="Text 1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AI Immersion Day · Automotive</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7"/>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IBM Plex Sans" pitchFamily="34" charset="0"/>
                <a:ea typeface="IBM Plex Sans" pitchFamily="34" charset="-122"/>
                <a:cs typeface="IBM Plex Sans" pitchFamily="34" charset="-120"/>
              </a:rPr>
              <a:t>MODULE 5 · MANUFACTURING · 16 MIN</a:t>
            </a:r>
            <a:endParaRPr lang="en-US" sz="1200" dirty="0"/>
          </a:p>
        </p:txBody>
      </p:sp>
      <p:sp>
        <p:nvSpPr>
          <p:cNvPr id="3" name="Text 1"/>
          <p:cNvSpPr>
            <a:spLocks noGrp="1"/>
          </p:cNvSpPr>
          <p:nvPr>
            <p:ph type="title"/>
          </p:nvPr>
        </p:nvSpPr>
        <p:spPr>
          <a:xfrm>
            <a:off x="812800" y="12293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191F"/>
                </a:solidFill>
                <a:latin typeface="Oswald" pitchFamily="34" charset="0"/>
                <a:ea typeface="Oswald" pitchFamily="34" charset="-122"/>
                <a:cs typeface="Oswald" pitchFamily="34" charset="-120"/>
              </a:rPr>
              <a:t>Build it, inspect it, remember it</a:t>
            </a:r>
            <a:endParaRPr lang="en-US" sz="3600" dirty="0"/>
          </a:p>
        </p:txBody>
      </p:sp>
      <p:sp>
        <p:nvSpPr>
          <p:cNvPr id="4" name="Shape 2"/>
          <p:cNvSpPr/>
          <p:nvPr/>
        </p:nvSpPr>
        <p:spPr>
          <a:xfrm>
            <a:off x="815975" y="1938586"/>
            <a:ext cx="3414167" cy="3371949"/>
          </a:xfrm>
          <a:prstGeom prst="roundRect">
            <a:avLst>
              <a:gd name="adj" fmla="val 2166"/>
            </a:avLst>
          </a:prstGeom>
          <a:solidFill>
            <a:srgbClr val="FBFAF6"/>
          </a:solidFill>
          <a:ln w="6350">
            <a:solidFill>
              <a:srgbClr val="DDD8CC"/>
            </a:solidFill>
            <a:prstDash val="solid"/>
          </a:ln>
        </p:spPr>
        <p:txBody>
          <a:bodyPr/>
          <a:lstStyle/>
          <a:p>
            <a:endParaRPr lang="en-US"/>
          </a:p>
        </p:txBody>
      </p:sp>
      <p:sp>
        <p:nvSpPr>
          <p:cNvPr id="5" name="Text 3"/>
          <p:cNvSpPr/>
          <p:nvPr/>
        </p:nvSpPr>
        <p:spPr>
          <a:xfrm>
            <a:off x="1022350" y="2144961"/>
            <a:ext cx="3091459"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C8102E"/>
                </a:solidFill>
                <a:latin typeface="IBM Plex Sans" pitchFamily="34" charset="0"/>
                <a:ea typeface="IBM Plex Sans" pitchFamily="34" charset="-122"/>
                <a:cs typeface="IBM Plex Sans" pitchFamily="34" charset="-120"/>
              </a:rPr>
              <a:t>A · CONCEPT</a:t>
            </a:r>
            <a:endParaRPr lang="en-US" sz="1200" dirty="0"/>
          </a:p>
        </p:txBody>
      </p:sp>
      <p:sp>
        <p:nvSpPr>
          <p:cNvPr id="6" name="Text 4"/>
          <p:cNvSpPr/>
          <p:nvPr/>
        </p:nvSpPr>
        <p:spPr>
          <a:xfrm>
            <a:off x="1121156" y="2429421"/>
            <a:ext cx="2985033" cy="1572121"/>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Context: only what this inspection needs</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Memory: past defects steer the next check</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Harness: plan, see, check in code, decide</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A human signs off the physical checks</a:t>
            </a:r>
            <a:endParaRPr lang="en-US" sz="1200" dirty="0"/>
          </a:p>
        </p:txBody>
      </p:sp>
      <p:sp>
        <p:nvSpPr>
          <p:cNvPr id="7" name="Shape 5"/>
          <p:cNvSpPr/>
          <p:nvPr/>
        </p:nvSpPr>
        <p:spPr>
          <a:xfrm>
            <a:off x="4388892" y="1938586"/>
            <a:ext cx="3414216" cy="3371949"/>
          </a:xfrm>
          <a:prstGeom prst="roundRect">
            <a:avLst>
              <a:gd name="adj" fmla="val 2166"/>
            </a:avLst>
          </a:prstGeom>
          <a:solidFill>
            <a:srgbClr val="FBFAF6"/>
          </a:solidFill>
          <a:ln w="6350">
            <a:solidFill>
              <a:srgbClr val="DDD8CC"/>
            </a:solidFill>
            <a:prstDash val="solid"/>
          </a:ln>
        </p:spPr>
        <p:txBody>
          <a:bodyPr/>
          <a:lstStyle/>
          <a:p>
            <a:endParaRPr lang="en-US"/>
          </a:p>
        </p:txBody>
      </p:sp>
      <p:sp>
        <p:nvSpPr>
          <p:cNvPr id="8" name="Text 6"/>
          <p:cNvSpPr/>
          <p:nvPr/>
        </p:nvSpPr>
        <p:spPr>
          <a:xfrm>
            <a:off x="4595267" y="2144961"/>
            <a:ext cx="3091510"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C8102E"/>
                </a:solidFill>
                <a:latin typeface="IBM Plex Sans" pitchFamily="34" charset="0"/>
                <a:ea typeface="IBM Plex Sans" pitchFamily="34" charset="-122"/>
                <a:cs typeface="IBM Plex Sans" pitchFamily="34" charset="-120"/>
              </a:rPr>
              <a:t>B · CODE COMPONENTS</a:t>
            </a:r>
            <a:endParaRPr lang="en-US" sz="1200" dirty="0"/>
          </a:p>
        </p:txBody>
      </p:sp>
      <p:sp>
        <p:nvSpPr>
          <p:cNvPr id="9" name="Text 7"/>
          <p:cNvSpPr/>
          <p:nvPr/>
        </p:nvSpPr>
        <p:spPr>
          <a:xfrm>
            <a:off x="4694073" y="2429421"/>
            <a:ext cx="2985084" cy="909241"/>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build_instructions.py</a:t>
            </a:r>
            <a:r>
              <a:rPr lang="en-US" sz="1200" dirty="0">
                <a:solidFill>
                  <a:srgbClr val="15191F"/>
                </a:solidFill>
                <a:latin typeface="IBM Plex Sans" pitchFamily="34" charset="0"/>
                <a:ea typeface="IBM Plex Sans" pitchFamily="34" charset="-122"/>
                <a:cs typeface="IBM Plex Sans" pitchFamily="34" charset="-120"/>
              </a:rPr>
              <a:t> with brick map</a:t>
            </a:r>
            <a:endParaRPr lang="en-US" sz="1200" dirty="0"/>
          </a:p>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harness.py</a:t>
            </a:r>
            <a:r>
              <a:rPr lang="en-US" sz="1200" dirty="0">
                <a:solidFill>
                  <a:srgbClr val="15191F"/>
                </a:solidFill>
                <a:latin typeface="IBM Plex Sans" pitchFamily="34" charset="0"/>
                <a:ea typeface="IBM Plex Sans" pitchFamily="34" charset="-122"/>
                <a:cs typeface="IBM Plex Sans" pitchFamily="34" charset="-120"/>
              </a:rPr>
              <a:t>: 7 logged steps with retries</a:t>
            </a:r>
            <a:endParaRPr lang="en-US" sz="1200" dirty="0"/>
          </a:p>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memory.py</a:t>
            </a:r>
            <a:r>
              <a:rPr lang="en-US" sz="1200" dirty="0">
                <a:solidFill>
                  <a:srgbClr val="15191F"/>
                </a:solidFill>
                <a:latin typeface="IBM Plex Sans" pitchFamily="34" charset="0"/>
                <a:ea typeface="IBM Plex Sans" pitchFamily="34" charset="-122"/>
                <a:cs typeface="IBM Plex Sans" pitchFamily="34" charset="-120"/>
              </a:rPr>
              <a:t>: short and long term</a:t>
            </a:r>
            <a:endParaRPr lang="en-US" sz="1200" dirty="0"/>
          </a:p>
          <a:p>
            <a:pPr marL="155194" indent="-155194" algn="l">
              <a:lnSpc>
                <a:spcPts val="1740"/>
              </a:lnSpc>
              <a:buSzPct val="100000"/>
              <a:buChar char="•"/>
            </a:pPr>
            <a:r>
              <a:rPr lang="en-US" sz="1200" b="1" dirty="0">
                <a:solidFill>
                  <a:srgbClr val="15191F"/>
                </a:solidFill>
                <a:latin typeface="IBM Plex Sans" pitchFamily="34" charset="0"/>
                <a:ea typeface="IBM Plex Sans" pitchFamily="34" charset="-122"/>
                <a:cs typeface="IBM Plex Sans" pitchFamily="34" charset="-120"/>
              </a:rPr>
              <a:t>quality_checklist.json</a:t>
            </a:r>
            <a:r>
              <a:rPr lang="en-US" sz="1200" dirty="0">
                <a:solidFill>
                  <a:srgbClr val="15191F"/>
                </a:solidFill>
                <a:latin typeface="IBM Plex Sans" pitchFamily="34" charset="0"/>
                <a:ea typeface="IBM Plex Sans" pitchFamily="34" charset="-122"/>
                <a:cs typeface="IBM Plex Sans" pitchFamily="34" charset="-120"/>
              </a:rPr>
              <a:t>: 10 checks</a:t>
            </a:r>
            <a:endParaRPr lang="en-US" sz="1200" dirty="0"/>
          </a:p>
        </p:txBody>
      </p:sp>
      <p:sp>
        <p:nvSpPr>
          <p:cNvPr id="10" name="Shape 8"/>
          <p:cNvSpPr/>
          <p:nvPr/>
        </p:nvSpPr>
        <p:spPr>
          <a:xfrm>
            <a:off x="7961858" y="1938586"/>
            <a:ext cx="3414167" cy="3371949"/>
          </a:xfrm>
          <a:prstGeom prst="roundRect">
            <a:avLst>
              <a:gd name="adj" fmla="val 2166"/>
            </a:avLst>
          </a:prstGeom>
          <a:solidFill>
            <a:srgbClr val="FBFAF6"/>
          </a:solidFill>
          <a:ln w="6350">
            <a:solidFill>
              <a:srgbClr val="DDD8CC"/>
            </a:solidFill>
            <a:prstDash val="solid"/>
          </a:ln>
        </p:spPr>
        <p:txBody>
          <a:bodyPr/>
          <a:lstStyle/>
          <a:p>
            <a:endParaRPr lang="en-US"/>
          </a:p>
        </p:txBody>
      </p:sp>
      <p:sp>
        <p:nvSpPr>
          <p:cNvPr id="11" name="Text 9"/>
          <p:cNvSpPr/>
          <p:nvPr/>
        </p:nvSpPr>
        <p:spPr>
          <a:xfrm>
            <a:off x="8168233" y="2144961"/>
            <a:ext cx="3091459" cy="208260"/>
          </a:xfrm>
          <a:prstGeom prst="rect">
            <a:avLst/>
          </a:prstGeom>
          <a:noFill/>
          <a:ln/>
        </p:spPr>
        <p:txBody>
          <a:bodyPr wrap="square" lIns="0" tIns="0" rIns="0" bIns="0" rtlCol="0" anchor="t">
            <a:normAutofit/>
          </a:bodyPr>
          <a:lstStyle/>
          <a:p>
            <a:pPr marL="0" indent="0" algn="l">
              <a:lnSpc>
                <a:spcPts val="1440"/>
              </a:lnSpc>
              <a:buNone/>
            </a:pPr>
            <a:r>
              <a:rPr lang="en-US" sz="1200" b="1" kern="0" spc="100" dirty="0">
                <a:solidFill>
                  <a:srgbClr val="C8102E"/>
                </a:solidFill>
                <a:latin typeface="IBM Plex Sans" pitchFamily="34" charset="0"/>
                <a:ea typeface="IBM Plex Sans" pitchFamily="34" charset="-122"/>
                <a:cs typeface="IBM Plex Sans" pitchFamily="34" charset="-120"/>
              </a:rPr>
              <a:t>C · PROPS</a:t>
            </a:r>
            <a:endParaRPr lang="en-US" sz="1200" dirty="0"/>
          </a:p>
        </p:txBody>
      </p:sp>
      <p:sp>
        <p:nvSpPr>
          <p:cNvPr id="12" name="Text 10"/>
          <p:cNvSpPr/>
          <p:nvPr/>
        </p:nvSpPr>
        <p:spPr>
          <a:xfrm>
            <a:off x="8267039" y="2429421"/>
            <a:ext cx="2985033" cy="688280"/>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LEGO bag, about 150 bricks per table</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QA inspection sheet</a:t>
            </a:r>
            <a:endParaRPr lang="en-US" sz="1200" dirty="0"/>
          </a:p>
          <a:p>
            <a:pPr marL="155194" indent="-155194" algn="l">
              <a:lnSpc>
                <a:spcPts val="1740"/>
              </a:lnSpc>
              <a:buSzPct val="100000"/>
              <a:buChar char="•"/>
            </a:pPr>
            <a:r>
              <a:rPr lang="en-US" sz="1200" dirty="0">
                <a:solidFill>
                  <a:srgbClr val="15191F"/>
                </a:solidFill>
                <a:latin typeface="IBM Plex Sans" pitchFamily="34" charset="0"/>
                <a:ea typeface="IBM Plex Sans" pitchFamily="34" charset="-122"/>
                <a:cs typeface="IBM Plex Sans" pitchFamily="34" charset="-120"/>
              </a:rPr>
              <a:t>Stopwatch for an 8-minute takt</a:t>
            </a:r>
            <a:endParaRPr lang="en-US" sz="1200" dirty="0"/>
          </a:p>
        </p:txBody>
      </p:sp>
      <p:sp>
        <p:nvSpPr>
          <p:cNvPr id="13" name="Shape 11"/>
          <p:cNvSpPr/>
          <p:nvPr/>
        </p:nvSpPr>
        <p:spPr>
          <a:xfrm>
            <a:off x="838200" y="5516910"/>
            <a:ext cx="0" cy="325090"/>
          </a:xfrm>
          <a:prstGeom prst="line">
            <a:avLst/>
          </a:prstGeom>
          <a:noFill/>
          <a:ln w="50800">
            <a:solidFill>
              <a:srgbClr val="C8102E"/>
            </a:solidFill>
            <a:prstDash val="solid"/>
          </a:ln>
        </p:spPr>
        <p:txBody>
          <a:bodyPr/>
          <a:lstStyle/>
          <a:p>
            <a:endParaRPr lang="en-US"/>
          </a:p>
        </p:txBody>
      </p:sp>
      <p:sp>
        <p:nvSpPr>
          <p:cNvPr id="14" name="Text 12"/>
          <p:cNvSpPr/>
          <p:nvPr/>
        </p:nvSpPr>
        <p:spPr>
          <a:xfrm>
            <a:off x="1016000" y="5542310"/>
            <a:ext cx="10674096" cy="29969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5191F"/>
                </a:solidFill>
                <a:latin typeface="IBM Plex Sans" pitchFamily="34" charset="0"/>
                <a:ea typeface="IBM Plex Sans" pitchFamily="34" charset="-122"/>
                <a:cs typeface="IBM Plex Sans" pitchFamily="34" charset="-120"/>
              </a:rPr>
              <a:t>The moment:</a:t>
            </a:r>
            <a:r>
              <a:rPr lang="en-US" sz="1600" dirty="0">
                <a:solidFill>
                  <a:srgbClr val="15191F"/>
                </a:solidFill>
                <a:latin typeface="IBM Plex Sans" pitchFamily="34" charset="0"/>
                <a:ea typeface="IBM Plex Sans" pitchFamily="34" charset="-122"/>
                <a:cs typeface="IBM Plex Sans" pitchFamily="34" charset="-120"/>
              </a:rPr>
              <a:t> rejected for a blue door and a missing mirror, and the next inspection checks those first.</a:t>
            </a:r>
            <a:endParaRPr lang="en-US" sz="1600" dirty="0"/>
          </a:p>
        </p:txBody>
      </p:sp>
      <p:sp>
        <p:nvSpPr>
          <p:cNvPr id="15" name="Text 1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AI Immersion Day · Automotive</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7"/>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IBM Plex Sans" pitchFamily="34" charset="0"/>
                <a:ea typeface="IBM Plex Sans" pitchFamily="34" charset="-122"/>
                <a:cs typeface="IBM Plex Sans" pitchFamily="34" charset="-120"/>
              </a:rPr>
              <a:t>FROM LAB TO PRODUCTION</a:t>
            </a:r>
            <a:endParaRPr lang="en-US" sz="1200" dirty="0"/>
          </a:p>
        </p:txBody>
      </p:sp>
      <p:sp>
        <p:nvSpPr>
          <p:cNvPr id="3" name="Text 1"/>
          <p:cNvSpPr>
            <a:spLocks noGrp="1"/>
          </p:cNvSpPr>
          <p:nvPr>
            <p:ph type="title"/>
          </p:nvPr>
        </p:nvSpPr>
        <p:spPr>
          <a:xfrm>
            <a:off x="812800" y="12801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191F"/>
                </a:solidFill>
                <a:latin typeface="Oswald" pitchFamily="34" charset="0"/>
                <a:ea typeface="Oswald" pitchFamily="34" charset="-122"/>
                <a:cs typeface="Oswald" pitchFamily="34" charset="-120"/>
              </a:rPr>
              <a:t>Every lab concept has an open-source production home</a:t>
            </a:r>
            <a:endParaRPr lang="en-US" sz="3600" dirty="0"/>
          </a:p>
        </p:txBody>
      </p:sp>
      <p:sp>
        <p:nvSpPr>
          <p:cNvPr id="4" name="Shape 2"/>
          <p:cNvSpPr/>
          <p:nvPr/>
        </p:nvSpPr>
        <p:spPr>
          <a:xfrm>
            <a:off x="11376025" y="2037011"/>
            <a:ext cx="0" cy="3498255"/>
          </a:xfrm>
          <a:prstGeom prst="line">
            <a:avLst/>
          </a:prstGeom>
          <a:noFill/>
          <a:ln w="6350">
            <a:solidFill>
              <a:srgbClr val="DDD8CC"/>
            </a:solidFill>
            <a:prstDash val="solid"/>
          </a:ln>
        </p:spPr>
        <p:txBody>
          <a:bodyPr/>
          <a:lstStyle/>
          <a:p>
            <a:endParaRPr lang="en-US"/>
          </a:p>
        </p:txBody>
      </p:sp>
      <p:sp>
        <p:nvSpPr>
          <p:cNvPr id="5" name="Shape 3"/>
          <p:cNvSpPr/>
          <p:nvPr/>
        </p:nvSpPr>
        <p:spPr>
          <a:xfrm>
            <a:off x="812800" y="5532090"/>
            <a:ext cx="10566400" cy="0"/>
          </a:xfrm>
          <a:prstGeom prst="line">
            <a:avLst/>
          </a:prstGeom>
          <a:noFill/>
          <a:ln w="6350">
            <a:solidFill>
              <a:srgbClr val="DDD8CC"/>
            </a:solidFill>
            <a:prstDash val="solid"/>
          </a:ln>
        </p:spPr>
        <p:txBody>
          <a:bodyPr/>
          <a:lstStyle/>
          <a:p>
            <a:endParaRPr lang="en-US"/>
          </a:p>
        </p:txBody>
      </p:sp>
      <p:sp>
        <p:nvSpPr>
          <p:cNvPr id="6" name="Shape 4"/>
          <p:cNvSpPr/>
          <p:nvPr/>
        </p:nvSpPr>
        <p:spPr>
          <a:xfrm>
            <a:off x="812800" y="2043361"/>
            <a:ext cx="10566400" cy="0"/>
          </a:xfrm>
          <a:prstGeom prst="line">
            <a:avLst/>
          </a:prstGeom>
          <a:noFill/>
          <a:ln w="12700">
            <a:solidFill>
              <a:srgbClr val="141413">
                <a:alpha val="22000"/>
              </a:srgbClr>
            </a:solidFill>
            <a:prstDash val="solid"/>
          </a:ln>
        </p:spPr>
        <p:txBody>
          <a:bodyPr/>
          <a:lstStyle/>
          <a:p>
            <a:endParaRPr lang="en-US"/>
          </a:p>
        </p:txBody>
      </p:sp>
      <p:sp>
        <p:nvSpPr>
          <p:cNvPr id="7" name="Shape 5"/>
          <p:cNvSpPr/>
          <p:nvPr/>
        </p:nvSpPr>
        <p:spPr>
          <a:xfrm>
            <a:off x="819150" y="2037011"/>
            <a:ext cx="0" cy="3498255"/>
          </a:xfrm>
          <a:prstGeom prst="line">
            <a:avLst/>
          </a:prstGeom>
          <a:noFill/>
          <a:ln w="12700">
            <a:solidFill>
              <a:srgbClr val="141413">
                <a:alpha val="22000"/>
              </a:srgbClr>
            </a:solidFill>
            <a:prstDash val="solid"/>
          </a:ln>
        </p:spPr>
        <p:txBody>
          <a:bodyPr/>
          <a:lstStyle/>
          <a:p>
            <a:endParaRPr lang="en-US"/>
          </a:p>
        </p:txBody>
      </p:sp>
      <p:graphicFrame>
        <p:nvGraphicFramePr>
          <p:cNvPr id="8" name="Table 0"/>
          <p:cNvGraphicFramePr>
            <a:graphicFrameLocks noGrp="1"/>
          </p:cNvGraphicFramePr>
          <p:nvPr>
            <p:extLst>
              <p:ext uri="{D42A27DB-BD31-4B8C-83A1-F6EECF244321}">
                <p14:modId xmlns:p14="http://schemas.microsoft.com/office/powerpoint/2010/main" val="1889393914"/>
              </p:ext>
            </p:extLst>
          </p:nvPr>
        </p:nvGraphicFramePr>
        <p:xfrm>
          <a:off x="952500" y="2125911"/>
          <a:ext cx="10293350" cy="3326800"/>
        </p:xfrm>
        <a:graphic>
          <a:graphicData uri="http://schemas.openxmlformats.org/drawingml/2006/table">
            <a:tbl>
              <a:tblPr/>
              <a:tblGrid>
                <a:gridCol w="3088005">
                  <a:extLst>
                    <a:ext uri="{9D8B030D-6E8A-4147-A177-3AD203B41FA5}">
                      <a16:colId xmlns:a16="http://schemas.microsoft.com/office/drawing/2014/main" val="20000"/>
                    </a:ext>
                  </a:extLst>
                </a:gridCol>
                <a:gridCol w="1029335">
                  <a:extLst>
                    <a:ext uri="{9D8B030D-6E8A-4147-A177-3AD203B41FA5}">
                      <a16:colId xmlns:a16="http://schemas.microsoft.com/office/drawing/2014/main" val="20001"/>
                    </a:ext>
                  </a:extLst>
                </a:gridCol>
                <a:gridCol w="3088005">
                  <a:extLst>
                    <a:ext uri="{9D8B030D-6E8A-4147-A177-3AD203B41FA5}">
                      <a16:colId xmlns:a16="http://schemas.microsoft.com/office/drawing/2014/main" val="20002"/>
                    </a:ext>
                  </a:extLst>
                </a:gridCol>
                <a:gridCol w="3088005">
                  <a:extLst>
                    <a:ext uri="{9D8B030D-6E8A-4147-A177-3AD203B41FA5}">
                      <a16:colId xmlns:a16="http://schemas.microsoft.com/office/drawing/2014/main" val="20003"/>
                    </a:ext>
                  </a:extLst>
                </a:gridCol>
              </a:tblGrid>
              <a:tr h="332680">
                <a:tc>
                  <a:txBody>
                    <a:bodyPr/>
                    <a:lstStyle/>
                    <a:p>
                      <a:pPr marL="0" indent="0">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Concept</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15181C"/>
                      </a:solidFill>
                      <a:prstDash val="solid"/>
                      <a:round/>
                      <a:headEnd type="none" w="med" len="med"/>
                      <a:tailEnd type="none" w="med" len="med"/>
                    </a:lnR>
                    <a:lnT w="0" cap="flat" cmpd="sng" algn="ctr">
                      <a:noFill/>
                    </a:lnT>
                    <a:lnB w="12700" cap="flat" cmpd="sng" algn="ctr">
                      <a:solidFill>
                        <a:srgbClr val="15181C"/>
                      </a:solidFill>
                      <a:prstDash val="solid"/>
                      <a:round/>
                      <a:headEnd type="none" w="med" len="med"/>
                      <a:tailEnd type="none" w="med" len="med"/>
                    </a:lnB>
                    <a:solidFill>
                      <a:srgbClr val="15191F"/>
                    </a:solidFill>
                  </a:tcPr>
                </a:tc>
                <a:tc>
                  <a:txBody>
                    <a:bodyPr/>
                    <a:lstStyle/>
                    <a:p>
                      <a:pPr marL="0" indent="0">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Module</a:t>
                      </a:r>
                      <a:endParaRPr lang="en-US" sz="1200" dirty="0">
                        <a:latin typeface="IBM Plex Sans" charset="0"/>
                        <a:ea typeface="IBM Plex Sans" charset="0"/>
                        <a:cs typeface="IBM Plex Sans" charset="0"/>
                      </a:endParaRPr>
                    </a:p>
                  </a:txBody>
                  <a:tcPr marL="53340" marR="53340" marT="53340" marB="53340">
                    <a:lnL w="12700" cap="flat" cmpd="sng" algn="ctr">
                      <a:solidFill>
                        <a:srgbClr val="15181C"/>
                      </a:solidFill>
                      <a:prstDash val="solid"/>
                      <a:round/>
                      <a:headEnd type="none" w="med" len="med"/>
                      <a:tailEnd type="none" w="med" len="med"/>
                    </a:lnL>
                    <a:lnR w="12700" cap="flat" cmpd="sng" algn="ctr">
                      <a:solidFill>
                        <a:srgbClr val="15181C"/>
                      </a:solidFill>
                      <a:prstDash val="solid"/>
                      <a:round/>
                      <a:headEnd type="none" w="med" len="med"/>
                      <a:tailEnd type="none" w="med" len="med"/>
                    </a:lnR>
                    <a:lnT w="0" cap="flat" cmpd="sng" algn="ctr">
                      <a:noFill/>
                    </a:lnT>
                    <a:lnB w="12700" cap="flat" cmpd="sng" algn="ctr">
                      <a:solidFill>
                        <a:srgbClr val="15181C"/>
                      </a:solidFill>
                      <a:prstDash val="solid"/>
                      <a:round/>
                      <a:headEnd type="none" w="med" len="med"/>
                      <a:tailEnd type="none" w="med" len="med"/>
                    </a:lnB>
                    <a:solidFill>
                      <a:srgbClr val="15191F"/>
                    </a:solidFill>
                  </a:tcPr>
                </a:tc>
                <a:tc>
                  <a:txBody>
                    <a:bodyPr/>
                    <a:lstStyle/>
                    <a:p>
                      <a:pPr marL="0" indent="0">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In the lab</a:t>
                      </a:r>
                      <a:endParaRPr lang="en-US" sz="1200" dirty="0">
                        <a:latin typeface="IBM Plex Sans" charset="0"/>
                        <a:ea typeface="IBM Plex Sans" charset="0"/>
                        <a:cs typeface="IBM Plex Sans" charset="0"/>
                      </a:endParaRPr>
                    </a:p>
                  </a:txBody>
                  <a:tcPr marL="53340" marR="53340" marT="53340" marB="53340">
                    <a:lnL w="12700" cap="flat" cmpd="sng" algn="ctr">
                      <a:solidFill>
                        <a:srgbClr val="15181C"/>
                      </a:solidFill>
                      <a:prstDash val="solid"/>
                      <a:round/>
                      <a:headEnd type="none" w="med" len="med"/>
                      <a:tailEnd type="none" w="med" len="med"/>
                    </a:lnL>
                    <a:lnR w="12700" cap="flat" cmpd="sng" algn="ctr">
                      <a:solidFill>
                        <a:srgbClr val="15181C"/>
                      </a:solidFill>
                      <a:prstDash val="solid"/>
                      <a:round/>
                      <a:headEnd type="none" w="med" len="med"/>
                      <a:tailEnd type="none" w="med" len="med"/>
                    </a:lnR>
                    <a:lnT w="0" cap="flat" cmpd="sng" algn="ctr">
                      <a:noFill/>
                    </a:lnT>
                    <a:lnB w="12700" cap="flat" cmpd="sng" algn="ctr">
                      <a:solidFill>
                        <a:srgbClr val="15181C"/>
                      </a:solidFill>
                      <a:prstDash val="solid"/>
                      <a:round/>
                      <a:headEnd type="none" w="med" len="med"/>
                      <a:tailEnd type="none" w="med" len="med"/>
                    </a:lnB>
                    <a:solidFill>
                      <a:srgbClr val="15191F"/>
                    </a:solidFill>
                  </a:tcPr>
                </a:tc>
                <a:tc>
                  <a:txBody>
                    <a:bodyPr/>
                    <a:lstStyle/>
                    <a:p>
                      <a:pPr marL="0" indent="0">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In production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15181C"/>
                      </a:solidFill>
                      <a:prstDash val="solid"/>
                      <a:round/>
                      <a:headEnd type="none" w="med" len="med"/>
                      <a:tailEnd type="none" w="med" len="med"/>
                    </a:lnL>
                    <a:lnR w="12700" cap="flat" cmpd="sng" algn="ctr">
                      <a:solidFill>
                        <a:srgbClr val="15181C"/>
                      </a:solidFill>
                      <a:prstDash val="solid"/>
                      <a:round/>
                      <a:headEnd type="none" w="med" len="med"/>
                      <a:tailEnd type="none" w="med" len="med"/>
                    </a:lnR>
                    <a:lnT w="0" cap="flat" cmpd="sng" algn="ctr">
                      <a:noFill/>
                    </a:lnT>
                    <a:lnB w="12700" cap="flat" cmpd="sng" algn="ctr">
                      <a:solidFill>
                        <a:srgbClr val="15181C"/>
                      </a:solidFill>
                      <a:prstDash val="solid"/>
                      <a:round/>
                      <a:headEnd type="none" w="med" len="med"/>
                      <a:tailEnd type="none" w="med" len="med"/>
                    </a:lnB>
                    <a:solidFill>
                      <a:srgbClr val="15191F"/>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Prompt, model, tool</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8C7C4"/>
                      </a:solidFill>
                      <a:prstDash val="solid"/>
                      <a:round/>
                      <a:headEnd type="none" w="med" len="med"/>
                      <a:tailEnd type="none" w="med" len="med"/>
                    </a:lnR>
                    <a:lnT w="12700" cap="flat" cmpd="sng" algn="ctr">
                      <a:solidFill>
                        <a:srgbClr val="15181C"/>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5181C"/>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Ollama, Qwen3</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5181C"/>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vLLM, </a:t>
                      </a:r>
                      <a:r>
                        <a:rPr lang="en-US" sz="1200" dirty="0" err="1">
                          <a:solidFill>
                            <a:srgbClr val="15191F"/>
                          </a:solidFill>
                          <a:latin typeface="IBM Plex Sans" pitchFamily="34" charset="0"/>
                          <a:ea typeface="IBM Plex Sans" pitchFamily="34" charset="-122"/>
                          <a:cs typeface="IBM Plex Sans" pitchFamily="34" charset="-120"/>
                        </a:rPr>
                        <a:t>LangGraph</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5181C"/>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Multimodal output</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Qwen2.5-VL</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vLLM, JSON schemas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MCP</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MCP Python SDK</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MCP server per system</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RAG</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nomic-embed-text</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Qdrant or pgvector</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Knowledge graph</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NetworkX</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Neo4j or Apache AGE</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Guardrails</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Rule-based rails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NeMo Guardrails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Evals</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Golden test set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promptfoo, Ragas</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7"/>
                  </a:ext>
                </a:extLst>
              </a:tr>
              <a:tr h="332680">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Memory, harness</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JSON memory</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Mem0, Langfuse</a:t>
                      </a:r>
                      <a:endParaRPr lang="en-US" sz="1200" dirty="0">
                        <a:latin typeface="IBM Plex Sans" charset="0"/>
                        <a:ea typeface="IBM Plex Sans" charset="0"/>
                        <a:cs typeface="IBM Plex Sans" charset="0"/>
                      </a:endParaRPr>
                    </a:p>
                  </a:txBody>
                  <a:tcPr marL="53340" marR="53340" marT="53340" marB="5334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extLst>
                  <a:ext uri="{0D108BD9-81ED-4DB2-BD59-A6C34878D82A}">
                    <a16:rowId xmlns:a16="http://schemas.microsoft.com/office/drawing/2014/main" val="10008"/>
                  </a:ext>
                </a:extLst>
              </a:tr>
              <a:tr h="332680">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The apps</a:t>
                      </a:r>
                      <a:endParaRPr lang="en-US" sz="1200" dirty="0">
                        <a:latin typeface="IBM Plex Sans" charset="0"/>
                        <a:ea typeface="IBM Plex Sans" charset="0"/>
                        <a:cs typeface="IBM Plex Sans" charset="0"/>
                      </a:endParaRPr>
                    </a:p>
                  </a:txBody>
                  <a:tcPr marL="53340" marR="53340" marT="53340" marB="53340">
                    <a:lnL w="0" cap="flat" cmpd="sng" algn="ctr">
                      <a:noFill/>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Streamlit, Compose</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marL="0" indent="0">
                        <a:lnSpc>
                          <a:spcPts val="1680"/>
                        </a:lnSpc>
                        <a:buNone/>
                      </a:pPr>
                      <a:r>
                        <a:rPr lang="en-US" sz="1200" dirty="0">
                          <a:solidFill>
                            <a:srgbClr val="15191F"/>
                          </a:solidFill>
                          <a:latin typeface="IBM Plex Sans" pitchFamily="34" charset="0"/>
                          <a:ea typeface="IBM Plex Sans" pitchFamily="34" charset="-122"/>
                          <a:cs typeface="IBM Plex Sans" pitchFamily="34" charset="-120"/>
                        </a:rPr>
                        <a:t>Docker, Kubernetes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extLst>
                  <a:ext uri="{0D108BD9-81ED-4DB2-BD59-A6C34878D82A}">
                    <a16:rowId xmlns:a16="http://schemas.microsoft.com/office/drawing/2014/main" val="10009"/>
                  </a:ext>
                </a:extLst>
              </a:tr>
            </a:tbl>
          </a:graphicData>
        </a:graphic>
      </p:graphicFrame>
      <p:sp>
        <p:nvSpPr>
          <p:cNvPr id="9" name="Text 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AI Immersion Day · Automotive</a:t>
            </a:r>
            <a:endParaRPr lang="en-US" sz="1200" dirty="0"/>
          </a:p>
        </p:txBody>
      </p:sp>
      <p:sp>
        <p:nvSpPr>
          <p:cNvPr id="10" name="Text 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7"/>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9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6B"/>
                </a:solidFill>
                <a:latin typeface="IBM Plex Sans" pitchFamily="34" charset="0"/>
                <a:ea typeface="IBM Plex Sans" pitchFamily="34" charset="-122"/>
                <a:cs typeface="IBM Plex Sans" pitchFamily="34" charset="-120"/>
              </a:rPr>
              <a:t>TECHNOLOGY</a:t>
            </a:r>
            <a:endParaRPr lang="en-US" sz="1200" dirty="0"/>
          </a:p>
        </p:txBody>
      </p:sp>
      <p:sp>
        <p:nvSpPr>
          <p:cNvPr id="3" name="Text 1"/>
          <p:cNvSpPr>
            <a:spLocks noGrp="1"/>
          </p:cNvSpPr>
          <p:nvPr>
            <p:ph type="title"/>
          </p:nvPr>
        </p:nvSpPr>
        <p:spPr>
          <a:xfrm>
            <a:off x="812800" y="12801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1EA"/>
                </a:solidFill>
                <a:latin typeface="Oswald" pitchFamily="34" charset="0"/>
                <a:ea typeface="Oswald" pitchFamily="34" charset="-122"/>
                <a:cs typeface="Oswald" pitchFamily="34" charset="-120"/>
              </a:rPr>
              <a:t>Three ways in, one open stack on one room server</a:t>
            </a:r>
            <a:endParaRPr lang="en-US" sz="3600" dirty="0"/>
          </a:p>
        </p:txBody>
      </p:sp>
      <p:sp>
        <p:nvSpPr>
          <p:cNvPr id="4" name="Shape 2"/>
          <p:cNvSpPr/>
          <p:nvPr/>
        </p:nvSpPr>
        <p:spPr>
          <a:xfrm>
            <a:off x="812800" y="2037011"/>
            <a:ext cx="3420517" cy="1549301"/>
          </a:xfrm>
          <a:prstGeom prst="roundRect">
            <a:avLst>
              <a:gd name="adj" fmla="val 4918"/>
            </a:avLst>
          </a:prstGeom>
          <a:solidFill>
            <a:srgbClr val="232A34"/>
          </a:solidFill>
          <a:ln/>
        </p:spPr>
        <p:txBody>
          <a:bodyPr/>
          <a:lstStyle/>
          <a:p>
            <a:endParaRPr lang="en-US"/>
          </a:p>
        </p:txBody>
      </p:sp>
      <p:sp>
        <p:nvSpPr>
          <p:cNvPr id="5" name="Text 3"/>
          <p:cNvSpPr/>
          <p:nvPr/>
        </p:nvSpPr>
        <p:spPr>
          <a:xfrm>
            <a:off x="1016000" y="2240211"/>
            <a:ext cx="3104540"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F4F1EA"/>
                </a:solidFill>
                <a:latin typeface="Oswald" pitchFamily="34" charset="0"/>
                <a:ea typeface="Oswald" pitchFamily="34" charset="-122"/>
                <a:cs typeface="Oswald" pitchFamily="34" charset="-120"/>
              </a:rPr>
              <a:t>Browser</a:t>
            </a:r>
            <a:endParaRPr lang="en-US" sz="2200" dirty="0"/>
          </a:p>
        </p:txBody>
      </p:sp>
      <p:sp>
        <p:nvSpPr>
          <p:cNvPr id="6" name="Text 4"/>
          <p:cNvSpPr/>
          <p:nvPr/>
        </p:nvSpPr>
        <p:spPr>
          <a:xfrm>
            <a:off x="1016000" y="2651671"/>
            <a:ext cx="31045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6B6B"/>
                </a:solidFill>
                <a:latin typeface="IBM Plex Sans" pitchFamily="34" charset="0"/>
                <a:ea typeface="IBM Plex Sans" pitchFamily="34" charset="-122"/>
                <a:cs typeface="IBM Plex Sans" pitchFamily="34" charset="-120"/>
              </a:rPr>
              <a:t>EVERYONE</a:t>
            </a:r>
            <a:endParaRPr lang="en-US" sz="1200" dirty="0"/>
          </a:p>
        </p:txBody>
      </p:sp>
      <p:sp>
        <p:nvSpPr>
          <p:cNvPr id="7" name="Text 5"/>
          <p:cNvSpPr/>
          <p:nvPr/>
        </p:nvSpPr>
        <p:spPr>
          <a:xfrm>
            <a:off x="1016000" y="2941191"/>
            <a:ext cx="310454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B9C0C9"/>
                </a:solidFill>
                <a:latin typeface="IBM Plex Sans" pitchFamily="34" charset="0"/>
                <a:ea typeface="IBM Plex Sans" pitchFamily="34" charset="-122"/>
                <a:cs typeface="IBM Plex Sans" pitchFamily="34" charset="-120"/>
              </a:rPr>
              <a:t>The Streamlit lab app on the room server. Nothing to install.</a:t>
            </a:r>
            <a:endParaRPr lang="en-US" sz="1200" dirty="0"/>
          </a:p>
        </p:txBody>
      </p:sp>
      <p:sp>
        <p:nvSpPr>
          <p:cNvPr id="8" name="Shape 6"/>
          <p:cNvSpPr/>
          <p:nvPr/>
        </p:nvSpPr>
        <p:spPr>
          <a:xfrm>
            <a:off x="4385717" y="2037011"/>
            <a:ext cx="3420566" cy="1549301"/>
          </a:xfrm>
          <a:prstGeom prst="roundRect">
            <a:avLst>
              <a:gd name="adj" fmla="val 4918"/>
            </a:avLst>
          </a:prstGeom>
          <a:solidFill>
            <a:srgbClr val="232A34"/>
          </a:solidFill>
          <a:ln/>
        </p:spPr>
        <p:txBody>
          <a:bodyPr/>
          <a:lstStyle/>
          <a:p>
            <a:endParaRPr lang="en-US"/>
          </a:p>
        </p:txBody>
      </p:sp>
      <p:sp>
        <p:nvSpPr>
          <p:cNvPr id="9" name="Text 7"/>
          <p:cNvSpPr/>
          <p:nvPr/>
        </p:nvSpPr>
        <p:spPr>
          <a:xfrm>
            <a:off x="4588917" y="2240211"/>
            <a:ext cx="3104591"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F4F1EA"/>
                </a:solidFill>
                <a:latin typeface="Oswald" pitchFamily="34" charset="0"/>
                <a:ea typeface="Oswald" pitchFamily="34" charset="-122"/>
                <a:cs typeface="Oswald" pitchFamily="34" charset="-120"/>
              </a:rPr>
              <a:t>Builder</a:t>
            </a:r>
            <a:endParaRPr lang="en-US" sz="2200" dirty="0"/>
          </a:p>
        </p:txBody>
      </p:sp>
      <p:sp>
        <p:nvSpPr>
          <p:cNvPr id="10" name="Text 8"/>
          <p:cNvSpPr/>
          <p:nvPr/>
        </p:nvSpPr>
        <p:spPr>
          <a:xfrm>
            <a:off x="4588917" y="2651671"/>
            <a:ext cx="310459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6B6B"/>
                </a:solidFill>
                <a:latin typeface="IBM Plex Sans" pitchFamily="34" charset="0"/>
                <a:ea typeface="IBM Plex Sans" pitchFamily="34" charset="-122"/>
                <a:cs typeface="IBM Plex Sans" pitchFamily="34" charset="-120"/>
              </a:rPr>
              <a:t>TECHNICAL STAFF</a:t>
            </a:r>
            <a:endParaRPr lang="en-US" sz="1200" dirty="0"/>
          </a:p>
        </p:txBody>
      </p:sp>
      <p:sp>
        <p:nvSpPr>
          <p:cNvPr id="11" name="Text 9"/>
          <p:cNvSpPr/>
          <p:nvPr/>
        </p:nvSpPr>
        <p:spPr>
          <a:xfrm>
            <a:off x="4588917" y="2941191"/>
            <a:ext cx="3104591"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B9C0C9"/>
                </a:solidFill>
                <a:latin typeface="IBM Plex Sans" pitchFamily="34" charset="0"/>
                <a:ea typeface="IBM Plex Sans" pitchFamily="34" charset="-122"/>
                <a:cs typeface="IBM Plex Sans" pitchFamily="34" charset="-120"/>
              </a:rPr>
              <a:t>The starter kit in VSCodium with Continue, using the room's models.</a:t>
            </a:r>
            <a:endParaRPr lang="en-US" sz="1200" dirty="0"/>
          </a:p>
        </p:txBody>
      </p:sp>
      <p:sp>
        <p:nvSpPr>
          <p:cNvPr id="12" name="Shape 10"/>
          <p:cNvSpPr/>
          <p:nvPr/>
        </p:nvSpPr>
        <p:spPr>
          <a:xfrm>
            <a:off x="7958683" y="2037011"/>
            <a:ext cx="3420517" cy="1549301"/>
          </a:xfrm>
          <a:prstGeom prst="roundRect">
            <a:avLst>
              <a:gd name="adj" fmla="val 4918"/>
            </a:avLst>
          </a:prstGeom>
          <a:solidFill>
            <a:srgbClr val="232A34"/>
          </a:solidFill>
          <a:ln/>
        </p:spPr>
        <p:txBody>
          <a:bodyPr/>
          <a:lstStyle/>
          <a:p>
            <a:endParaRPr lang="en-US"/>
          </a:p>
        </p:txBody>
      </p:sp>
      <p:sp>
        <p:nvSpPr>
          <p:cNvPr id="13" name="Text 11"/>
          <p:cNvSpPr/>
          <p:nvPr/>
        </p:nvSpPr>
        <p:spPr>
          <a:xfrm>
            <a:off x="8161883" y="2240211"/>
            <a:ext cx="3104540"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F4F1EA"/>
                </a:solidFill>
                <a:latin typeface="Oswald" pitchFamily="34" charset="0"/>
                <a:ea typeface="Oswald" pitchFamily="34" charset="-122"/>
                <a:cs typeface="Oswald" pitchFamily="34" charset="-120"/>
              </a:rPr>
              <a:t>No-code</a:t>
            </a:r>
            <a:endParaRPr lang="en-US" sz="2200" dirty="0"/>
          </a:p>
        </p:txBody>
      </p:sp>
      <p:sp>
        <p:nvSpPr>
          <p:cNvPr id="14" name="Text 12"/>
          <p:cNvSpPr/>
          <p:nvPr/>
        </p:nvSpPr>
        <p:spPr>
          <a:xfrm>
            <a:off x="8161883" y="2651671"/>
            <a:ext cx="31045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6B6B"/>
                </a:solidFill>
                <a:latin typeface="IBM Plex Sans" pitchFamily="34" charset="0"/>
                <a:ea typeface="IBM Plex Sans" pitchFamily="34" charset="-122"/>
                <a:cs typeface="IBM Plex Sans" pitchFamily="34" charset="-120"/>
              </a:rPr>
              <a:t>CURIOUS MAKERS</a:t>
            </a:r>
            <a:endParaRPr lang="en-US" sz="1200" dirty="0"/>
          </a:p>
        </p:txBody>
      </p:sp>
      <p:sp>
        <p:nvSpPr>
          <p:cNvPr id="15" name="Text 13"/>
          <p:cNvSpPr/>
          <p:nvPr/>
        </p:nvSpPr>
        <p:spPr>
          <a:xfrm>
            <a:off x="8161883" y="2941191"/>
            <a:ext cx="310454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B9C0C9"/>
                </a:solidFill>
                <a:latin typeface="IBM Plex Sans" pitchFamily="34" charset="0"/>
                <a:ea typeface="IBM Plex Sans" pitchFamily="34" charset="-122"/>
                <a:cs typeface="IBM Plex Sans" pitchFamily="34" charset="-120"/>
              </a:rPr>
              <a:t>Open WebUI: chat, knowledge files and MCP tools, one model per module.</a:t>
            </a:r>
            <a:endParaRPr lang="en-US" sz="1200" dirty="0"/>
          </a:p>
        </p:txBody>
      </p:sp>
      <p:sp>
        <p:nvSpPr>
          <p:cNvPr id="16" name="Text 14"/>
          <p:cNvSpPr/>
          <p:nvPr/>
        </p:nvSpPr>
        <p:spPr>
          <a:xfrm>
            <a:off x="812800" y="384031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9C0C9"/>
                </a:solidFill>
                <a:latin typeface="IBM Plex Sans" pitchFamily="34" charset="0"/>
                <a:ea typeface="IBM Plex Sans" pitchFamily="34" charset="-122"/>
                <a:cs typeface="IBM Plex Sans" pitchFamily="34" charset="-120"/>
              </a:rPr>
              <a:t>OPEN-WEIGHT MODELS BEHIND EVERY TRACK, SERVED BY OLLAMA OR VLLM</a:t>
            </a:r>
            <a:endParaRPr lang="en-US" sz="1200" dirty="0"/>
          </a:p>
        </p:txBody>
      </p:sp>
      <p:sp>
        <p:nvSpPr>
          <p:cNvPr id="17" name="Shape 15"/>
          <p:cNvSpPr/>
          <p:nvPr/>
        </p:nvSpPr>
        <p:spPr>
          <a:xfrm>
            <a:off x="815975" y="4310807"/>
            <a:ext cx="3414167" cy="859730"/>
          </a:xfrm>
          <a:prstGeom prst="roundRect">
            <a:avLst>
              <a:gd name="adj" fmla="val 8494"/>
            </a:avLst>
          </a:prstGeom>
          <a:noFill/>
          <a:ln w="6350">
            <a:solidFill>
              <a:srgbClr val="3A4350"/>
            </a:solidFill>
            <a:prstDash val="solid"/>
          </a:ln>
        </p:spPr>
        <p:txBody>
          <a:bodyPr/>
          <a:lstStyle/>
          <a:p>
            <a:endParaRPr lang="en-US"/>
          </a:p>
        </p:txBody>
      </p:sp>
      <p:sp>
        <p:nvSpPr>
          <p:cNvPr id="18" name="Text 16"/>
          <p:cNvSpPr/>
          <p:nvPr/>
        </p:nvSpPr>
        <p:spPr>
          <a:xfrm>
            <a:off x="1022350" y="4466382"/>
            <a:ext cx="3091459"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4F1EA"/>
                </a:solidFill>
                <a:latin typeface="IBM Plex Sans" pitchFamily="34" charset="0"/>
                <a:ea typeface="IBM Plex Sans" pitchFamily="34" charset="-122"/>
                <a:cs typeface="IBM Plex Sans" pitchFamily="34" charset="-120"/>
              </a:rPr>
              <a:t>Qwen3 8B</a:t>
            </a:r>
            <a:endParaRPr lang="en-US" sz="1600" dirty="0"/>
          </a:p>
        </p:txBody>
      </p:sp>
      <p:sp>
        <p:nvSpPr>
          <p:cNvPr id="19" name="Text 17"/>
          <p:cNvSpPr/>
          <p:nvPr/>
        </p:nvSpPr>
        <p:spPr>
          <a:xfrm>
            <a:off x="1022350" y="4801642"/>
            <a:ext cx="30914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9"/>
                </a:solidFill>
                <a:latin typeface="IBM Plex Sans" pitchFamily="34" charset="0"/>
                <a:ea typeface="IBM Plex Sans" pitchFamily="34" charset="-122"/>
                <a:cs typeface="IBM Plex Sans" pitchFamily="34" charset="-120"/>
              </a:rPr>
              <a:t>Text and tool calling</a:t>
            </a:r>
            <a:endParaRPr lang="en-US" sz="1200" dirty="0"/>
          </a:p>
        </p:txBody>
      </p:sp>
      <p:sp>
        <p:nvSpPr>
          <p:cNvPr id="20" name="Shape 18"/>
          <p:cNvSpPr/>
          <p:nvPr/>
        </p:nvSpPr>
        <p:spPr>
          <a:xfrm>
            <a:off x="4388892" y="4310807"/>
            <a:ext cx="3414216" cy="859730"/>
          </a:xfrm>
          <a:prstGeom prst="roundRect">
            <a:avLst>
              <a:gd name="adj" fmla="val 8494"/>
            </a:avLst>
          </a:prstGeom>
          <a:noFill/>
          <a:ln w="6350">
            <a:solidFill>
              <a:srgbClr val="3A4350"/>
            </a:solidFill>
            <a:prstDash val="solid"/>
          </a:ln>
        </p:spPr>
        <p:txBody>
          <a:bodyPr/>
          <a:lstStyle/>
          <a:p>
            <a:endParaRPr lang="en-US"/>
          </a:p>
        </p:txBody>
      </p:sp>
      <p:sp>
        <p:nvSpPr>
          <p:cNvPr id="21" name="Text 19"/>
          <p:cNvSpPr/>
          <p:nvPr/>
        </p:nvSpPr>
        <p:spPr>
          <a:xfrm>
            <a:off x="4595267" y="4466382"/>
            <a:ext cx="309151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4F1EA"/>
                </a:solidFill>
                <a:latin typeface="IBM Plex Sans" pitchFamily="34" charset="0"/>
                <a:ea typeface="IBM Plex Sans" pitchFamily="34" charset="-122"/>
                <a:cs typeface="IBM Plex Sans" pitchFamily="34" charset="-120"/>
              </a:rPr>
              <a:t>Qwen2.5-VL 7B</a:t>
            </a:r>
            <a:endParaRPr lang="en-US" sz="1600" dirty="0"/>
          </a:p>
        </p:txBody>
      </p:sp>
      <p:sp>
        <p:nvSpPr>
          <p:cNvPr id="22" name="Text 20"/>
          <p:cNvSpPr/>
          <p:nvPr/>
        </p:nvSpPr>
        <p:spPr>
          <a:xfrm>
            <a:off x="4595267" y="4801642"/>
            <a:ext cx="30915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9"/>
                </a:solidFill>
                <a:latin typeface="IBM Plex Sans" pitchFamily="34" charset="0"/>
                <a:ea typeface="IBM Plex Sans" pitchFamily="34" charset="-122"/>
                <a:cs typeface="IBM Plex Sans" pitchFamily="34" charset="-120"/>
              </a:rPr>
              <a:t>Sketches and build photos</a:t>
            </a:r>
            <a:endParaRPr lang="en-US" sz="1200" dirty="0"/>
          </a:p>
        </p:txBody>
      </p:sp>
      <p:sp>
        <p:nvSpPr>
          <p:cNvPr id="23" name="Shape 21"/>
          <p:cNvSpPr/>
          <p:nvPr/>
        </p:nvSpPr>
        <p:spPr>
          <a:xfrm>
            <a:off x="7961858" y="4310807"/>
            <a:ext cx="3414167" cy="859730"/>
          </a:xfrm>
          <a:prstGeom prst="roundRect">
            <a:avLst>
              <a:gd name="adj" fmla="val 8494"/>
            </a:avLst>
          </a:prstGeom>
          <a:noFill/>
          <a:ln w="6350">
            <a:solidFill>
              <a:srgbClr val="3A4350"/>
            </a:solidFill>
            <a:prstDash val="solid"/>
          </a:ln>
        </p:spPr>
        <p:txBody>
          <a:bodyPr/>
          <a:lstStyle/>
          <a:p>
            <a:endParaRPr lang="en-US"/>
          </a:p>
        </p:txBody>
      </p:sp>
      <p:sp>
        <p:nvSpPr>
          <p:cNvPr id="24" name="Text 22"/>
          <p:cNvSpPr/>
          <p:nvPr/>
        </p:nvSpPr>
        <p:spPr>
          <a:xfrm>
            <a:off x="8168233" y="4466382"/>
            <a:ext cx="3091459"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4F1EA"/>
                </a:solidFill>
                <a:latin typeface="IBM Plex Sans" pitchFamily="34" charset="0"/>
                <a:ea typeface="IBM Plex Sans" pitchFamily="34" charset="-122"/>
                <a:cs typeface="IBM Plex Sans" pitchFamily="34" charset="-120"/>
              </a:rPr>
              <a:t>Offline mode</a:t>
            </a:r>
            <a:endParaRPr lang="en-US" sz="1600" dirty="0"/>
          </a:p>
        </p:txBody>
      </p:sp>
      <p:sp>
        <p:nvSpPr>
          <p:cNvPr id="25" name="Text 23"/>
          <p:cNvSpPr/>
          <p:nvPr/>
        </p:nvSpPr>
        <p:spPr>
          <a:xfrm>
            <a:off x="8168233" y="4801642"/>
            <a:ext cx="30914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9"/>
                </a:solidFill>
                <a:latin typeface="IBM Plex Sans" pitchFamily="34" charset="0"/>
                <a:ea typeface="IBM Plex Sans" pitchFamily="34" charset="-122"/>
                <a:cs typeface="IBM Plex Sans" pitchFamily="34" charset="-120"/>
              </a:rPr>
              <a:t>Same labs, no server, as a safety net</a:t>
            </a:r>
            <a:endParaRPr lang="en-US" sz="1200" dirty="0"/>
          </a:p>
        </p:txBody>
      </p:sp>
      <p:sp>
        <p:nvSpPr>
          <p:cNvPr id="26" name="Text 2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9"/>
                </a:solidFill>
                <a:latin typeface="IBM Plex Sans" pitchFamily="34" charset="0"/>
                <a:ea typeface="IBM Plex Sans" pitchFamily="34" charset="-122"/>
                <a:cs typeface="IBM Plex Sans" pitchFamily="34" charset="-120"/>
              </a:rPr>
              <a:t>AI Immersion Day · Automotive</a:t>
            </a:r>
            <a:endParaRPr lang="en-US" sz="1200" dirty="0"/>
          </a:p>
        </p:txBody>
      </p:sp>
      <p:sp>
        <p:nvSpPr>
          <p:cNvPr id="27" name="Text 2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C9"/>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IBM Plex Sans" pitchFamily="34" charset="0"/>
                <a:ea typeface="IBM Plex Sans" pitchFamily="34" charset="-122"/>
                <a:cs typeface="IBM Plex Sans" pitchFamily="34" charset="-120"/>
              </a:rPr>
              <a:t>ENGAGEMENT DESIGN</a:t>
            </a:r>
            <a:endParaRPr lang="en-US" sz="1200" dirty="0"/>
          </a:p>
        </p:txBody>
      </p:sp>
      <p:sp>
        <p:nvSpPr>
          <p:cNvPr id="3" name="Text 1"/>
          <p:cNvSpPr>
            <a:spLocks noGrp="1"/>
          </p:cNvSpPr>
          <p:nvPr>
            <p:ph type="title"/>
          </p:nvPr>
        </p:nvSpPr>
        <p:spPr>
          <a:xfrm>
            <a:off x="812800" y="12801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191F"/>
                </a:solidFill>
                <a:latin typeface="Oswald" pitchFamily="34" charset="0"/>
                <a:ea typeface="Oswald" pitchFamily="34" charset="-122"/>
                <a:cs typeface="Oswald" pitchFamily="34" charset="-120"/>
              </a:rPr>
              <a:t>Built so nobody watches from the back</a:t>
            </a:r>
            <a:endParaRPr lang="en-US" sz="3600" dirty="0"/>
          </a:p>
        </p:txBody>
      </p:sp>
      <p:sp>
        <p:nvSpPr>
          <p:cNvPr id="4" name="Shape 2"/>
          <p:cNvSpPr/>
          <p:nvPr/>
        </p:nvSpPr>
        <p:spPr>
          <a:xfrm>
            <a:off x="812800" y="2040186"/>
            <a:ext cx="10566400" cy="0"/>
          </a:xfrm>
          <a:prstGeom prst="line">
            <a:avLst/>
          </a:prstGeom>
          <a:noFill/>
          <a:ln w="6350">
            <a:solidFill>
              <a:srgbClr val="DDD8CC"/>
            </a:solidFill>
            <a:prstDash val="solid"/>
          </a:ln>
        </p:spPr>
        <p:txBody>
          <a:bodyPr/>
          <a:lstStyle/>
          <a:p>
            <a:endParaRPr lang="en-US"/>
          </a:p>
        </p:txBody>
      </p:sp>
      <p:sp>
        <p:nvSpPr>
          <p:cNvPr id="5" name="Text 3"/>
          <p:cNvSpPr/>
          <p:nvPr/>
        </p:nvSpPr>
        <p:spPr>
          <a:xfrm>
            <a:off x="812800" y="2195761"/>
            <a:ext cx="235458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8102E"/>
                </a:solidFill>
                <a:latin typeface="Oswald" pitchFamily="34" charset="0"/>
                <a:ea typeface="Oswald" pitchFamily="34" charset="-122"/>
                <a:cs typeface="Oswald" pitchFamily="34" charset="-120"/>
              </a:rPr>
              <a:t>Mixed tables</a:t>
            </a:r>
            <a:endParaRPr lang="en-US" sz="2200" dirty="0"/>
          </a:p>
        </p:txBody>
      </p:sp>
      <p:sp>
        <p:nvSpPr>
          <p:cNvPr id="6" name="Text 4"/>
          <p:cNvSpPr/>
          <p:nvPr/>
        </p:nvSpPr>
        <p:spPr>
          <a:xfrm>
            <a:off x="3302000" y="2195761"/>
            <a:ext cx="7879973"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5191F"/>
                </a:solidFill>
                <a:latin typeface="IBM Plex Sans" pitchFamily="34" charset="0"/>
                <a:ea typeface="IBM Plex Sans" pitchFamily="34" charset="-122"/>
                <a:cs typeface="IBM Plex Sans" pitchFamily="34" charset="-120"/>
              </a:rPr>
              <a:t>4 to 6 people, one from each function. The driver changes every module.</a:t>
            </a:r>
            <a:endParaRPr lang="en-US" sz="1600" dirty="0"/>
          </a:p>
        </p:txBody>
      </p:sp>
      <p:sp>
        <p:nvSpPr>
          <p:cNvPr id="7" name="Shape 5"/>
          <p:cNvSpPr/>
          <p:nvPr/>
        </p:nvSpPr>
        <p:spPr>
          <a:xfrm>
            <a:off x="812800" y="2793256"/>
            <a:ext cx="10566400" cy="0"/>
          </a:xfrm>
          <a:prstGeom prst="line">
            <a:avLst/>
          </a:prstGeom>
          <a:noFill/>
          <a:ln w="6350">
            <a:solidFill>
              <a:srgbClr val="DDD8CC"/>
            </a:solidFill>
            <a:prstDash val="solid"/>
          </a:ln>
        </p:spPr>
        <p:txBody>
          <a:bodyPr/>
          <a:lstStyle/>
          <a:p>
            <a:endParaRPr lang="en-US"/>
          </a:p>
        </p:txBody>
      </p:sp>
      <p:sp>
        <p:nvSpPr>
          <p:cNvPr id="8" name="Text 6"/>
          <p:cNvSpPr/>
          <p:nvPr/>
        </p:nvSpPr>
        <p:spPr>
          <a:xfrm>
            <a:off x="812800" y="2948831"/>
            <a:ext cx="235458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8102E"/>
                </a:solidFill>
                <a:latin typeface="Oswald" pitchFamily="34" charset="0"/>
                <a:ea typeface="Oswald" pitchFamily="34" charset="-122"/>
                <a:cs typeface="Oswald" pitchFamily="34" charset="-120"/>
              </a:rPr>
              <a:t>Co-pilot jobs</a:t>
            </a:r>
            <a:endParaRPr lang="en-US" sz="2200" dirty="0"/>
          </a:p>
        </p:txBody>
      </p:sp>
      <p:sp>
        <p:nvSpPr>
          <p:cNvPr id="9" name="Text 7"/>
          <p:cNvSpPr/>
          <p:nvPr/>
        </p:nvSpPr>
        <p:spPr>
          <a:xfrm>
            <a:off x="3302000" y="2948831"/>
            <a:ext cx="80772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5191F"/>
                </a:solidFill>
                <a:latin typeface="IBM Plex Sans" pitchFamily="34" charset="0"/>
                <a:ea typeface="IBM Plex Sans" pitchFamily="34" charset="-122"/>
                <a:cs typeface="IBM Plex Sans" pitchFamily="34" charset="-120"/>
              </a:rPr>
              <a:t>Sceptic hunts errors. Expert checks realism. Scribe captures Monday use cases.</a:t>
            </a:r>
            <a:endParaRPr lang="en-US" sz="1600" dirty="0"/>
          </a:p>
        </p:txBody>
      </p:sp>
      <p:sp>
        <p:nvSpPr>
          <p:cNvPr id="10" name="Shape 8"/>
          <p:cNvSpPr/>
          <p:nvPr/>
        </p:nvSpPr>
        <p:spPr>
          <a:xfrm>
            <a:off x="812800" y="3546326"/>
            <a:ext cx="10566400" cy="0"/>
          </a:xfrm>
          <a:prstGeom prst="line">
            <a:avLst/>
          </a:prstGeom>
          <a:noFill/>
          <a:ln w="6350">
            <a:solidFill>
              <a:srgbClr val="DDD8CC"/>
            </a:solidFill>
            <a:prstDash val="solid"/>
          </a:ln>
        </p:spPr>
        <p:txBody>
          <a:bodyPr/>
          <a:lstStyle/>
          <a:p>
            <a:endParaRPr lang="en-US"/>
          </a:p>
        </p:txBody>
      </p:sp>
      <p:sp>
        <p:nvSpPr>
          <p:cNvPr id="11" name="Text 9"/>
          <p:cNvSpPr/>
          <p:nvPr/>
        </p:nvSpPr>
        <p:spPr>
          <a:xfrm>
            <a:off x="812800" y="3701901"/>
            <a:ext cx="235458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8102E"/>
                </a:solidFill>
                <a:latin typeface="Oswald" pitchFamily="34" charset="0"/>
                <a:ea typeface="Oswald" pitchFamily="34" charset="-122"/>
                <a:cs typeface="Oswald" pitchFamily="34" charset="-120"/>
              </a:rPr>
              <a:t>Concours d'IA</a:t>
            </a:r>
            <a:endParaRPr lang="en-US" sz="2200" dirty="0"/>
          </a:p>
        </p:txBody>
      </p:sp>
      <p:sp>
        <p:nvSpPr>
          <p:cNvPr id="12" name="Text 10"/>
          <p:cNvSpPr/>
          <p:nvPr/>
        </p:nvSpPr>
        <p:spPr>
          <a:xfrm>
            <a:off x="3302000" y="3701901"/>
            <a:ext cx="828272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5191F"/>
                </a:solidFill>
                <a:latin typeface="IBM Plex Sans" pitchFamily="34" charset="0"/>
                <a:ea typeface="IBM Plex Sans" pitchFamily="34" charset="-122"/>
                <a:cs typeface="IBM Plex Sans" pitchFamily="34" charset="-120"/>
              </a:rPr>
              <a:t>Points for best sketch, cleanest compliance, best eval score and a car released first time.</a:t>
            </a:r>
            <a:endParaRPr lang="en-US" sz="1600" dirty="0"/>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AI Immersion Day · Automotive</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7"/>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102E"/>
                </a:solidFill>
                <a:latin typeface="IBM Plex Sans" pitchFamily="34" charset="0"/>
                <a:ea typeface="IBM Plex Sans" pitchFamily="34" charset="-122"/>
                <a:cs typeface="IBM Plex Sans" pitchFamily="34" charset="-120"/>
              </a:rPr>
              <a:t>AFTER THE DAY</a:t>
            </a:r>
            <a:endParaRPr lang="en-US" sz="1200" dirty="0"/>
          </a:p>
        </p:txBody>
      </p:sp>
      <p:sp>
        <p:nvSpPr>
          <p:cNvPr id="3" name="Text 1"/>
          <p:cNvSpPr>
            <a:spLocks noGrp="1"/>
          </p:cNvSpPr>
          <p:nvPr>
            <p:ph type="title"/>
          </p:nvPr>
        </p:nvSpPr>
        <p:spPr>
          <a:xfrm>
            <a:off x="812800" y="12801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191F"/>
                </a:solidFill>
                <a:latin typeface="Oswald" pitchFamily="34" charset="0"/>
                <a:ea typeface="Oswald" pitchFamily="34" charset="-122"/>
                <a:cs typeface="Oswald" pitchFamily="34" charset="-120"/>
              </a:rPr>
              <a:t>The day ends with a pilot shortlist, not just a certificate</a:t>
            </a:r>
            <a:endParaRPr lang="en-US" sz="3600" dirty="0"/>
          </a:p>
        </p:txBody>
      </p:sp>
      <p:sp>
        <p:nvSpPr>
          <p:cNvPr id="4" name="Shape 2"/>
          <p:cNvSpPr/>
          <p:nvPr/>
        </p:nvSpPr>
        <p:spPr>
          <a:xfrm>
            <a:off x="815975" y="2040186"/>
            <a:ext cx="3414167" cy="3331319"/>
          </a:xfrm>
          <a:prstGeom prst="roundRect">
            <a:avLst>
              <a:gd name="adj" fmla="val 2192"/>
            </a:avLst>
          </a:prstGeom>
          <a:solidFill>
            <a:srgbClr val="FBFAF6"/>
          </a:solidFill>
          <a:ln w="6350">
            <a:solidFill>
              <a:srgbClr val="DDD8CC"/>
            </a:solidFill>
            <a:prstDash val="solid"/>
          </a:ln>
        </p:spPr>
        <p:txBody>
          <a:bodyPr/>
          <a:lstStyle/>
          <a:p>
            <a:endParaRPr lang="en-US"/>
          </a:p>
        </p:txBody>
      </p:sp>
      <p:sp>
        <p:nvSpPr>
          <p:cNvPr id="5" name="Text 3"/>
          <p:cNvSpPr/>
          <p:nvPr/>
        </p:nvSpPr>
        <p:spPr>
          <a:xfrm>
            <a:off x="1073150" y="2297361"/>
            <a:ext cx="2986811"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C8102E"/>
                </a:solidFill>
                <a:latin typeface="Oswald" pitchFamily="34" charset="0"/>
                <a:ea typeface="Oswald" pitchFamily="34" charset="-122"/>
                <a:cs typeface="Oswald" pitchFamily="34" charset="-120"/>
              </a:rPr>
              <a:t>Day 0</a:t>
            </a:r>
            <a:endParaRPr lang="en-US" sz="3600" dirty="0"/>
          </a:p>
        </p:txBody>
      </p:sp>
      <p:sp>
        <p:nvSpPr>
          <p:cNvPr id="6" name="Text 4"/>
          <p:cNvSpPr/>
          <p:nvPr/>
        </p:nvSpPr>
        <p:spPr>
          <a:xfrm>
            <a:off x="1073150" y="3039021"/>
            <a:ext cx="2986811"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5191F"/>
                </a:solidFill>
                <a:latin typeface="IBM Plex Sans" pitchFamily="34" charset="0"/>
                <a:ea typeface="IBM Plex Sans" pitchFamily="34" charset="-122"/>
                <a:cs typeface="IBM Plex Sans" pitchFamily="34" charset="-120"/>
              </a:rPr>
              <a:t>Use-case wall, sorted by function, from every participant</a:t>
            </a:r>
            <a:endParaRPr lang="en-US" sz="1600" dirty="0"/>
          </a:p>
        </p:txBody>
      </p:sp>
      <p:sp>
        <p:nvSpPr>
          <p:cNvPr id="7" name="Shape 5"/>
          <p:cNvSpPr/>
          <p:nvPr/>
        </p:nvSpPr>
        <p:spPr>
          <a:xfrm>
            <a:off x="4388892" y="2040186"/>
            <a:ext cx="3414216" cy="3331319"/>
          </a:xfrm>
          <a:prstGeom prst="roundRect">
            <a:avLst>
              <a:gd name="adj" fmla="val 2192"/>
            </a:avLst>
          </a:prstGeom>
          <a:solidFill>
            <a:srgbClr val="FBFAF6"/>
          </a:solidFill>
          <a:ln w="6350">
            <a:solidFill>
              <a:srgbClr val="DDD8CC"/>
            </a:solidFill>
            <a:prstDash val="solid"/>
          </a:ln>
        </p:spPr>
        <p:txBody>
          <a:bodyPr/>
          <a:lstStyle/>
          <a:p>
            <a:endParaRPr lang="en-US"/>
          </a:p>
        </p:txBody>
      </p:sp>
      <p:sp>
        <p:nvSpPr>
          <p:cNvPr id="8" name="Text 6"/>
          <p:cNvSpPr/>
          <p:nvPr/>
        </p:nvSpPr>
        <p:spPr>
          <a:xfrm>
            <a:off x="4646067" y="2297361"/>
            <a:ext cx="2986862"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C8102E"/>
                </a:solidFill>
                <a:latin typeface="Oswald" pitchFamily="34" charset="0"/>
                <a:ea typeface="Oswald" pitchFamily="34" charset="-122"/>
                <a:cs typeface="Oswald" pitchFamily="34" charset="-120"/>
              </a:rPr>
              <a:t>Week 2</a:t>
            </a:r>
            <a:endParaRPr lang="en-US" sz="3600" dirty="0"/>
          </a:p>
        </p:txBody>
      </p:sp>
      <p:sp>
        <p:nvSpPr>
          <p:cNvPr id="9" name="Text 7"/>
          <p:cNvSpPr/>
          <p:nvPr/>
        </p:nvSpPr>
        <p:spPr>
          <a:xfrm>
            <a:off x="4646067" y="3039021"/>
            <a:ext cx="2986862"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5191F"/>
                </a:solidFill>
                <a:latin typeface="IBM Plex Sans" pitchFamily="34" charset="0"/>
                <a:ea typeface="IBM Plex Sans" pitchFamily="34" charset="-122"/>
                <a:cs typeface="IBM Plex Sans" pitchFamily="34" charset="-120"/>
              </a:rPr>
              <a:t>[3] use cases shortlisted with sponsors, scored on value and feasibility</a:t>
            </a:r>
            <a:endParaRPr lang="en-US" sz="1600" dirty="0"/>
          </a:p>
        </p:txBody>
      </p:sp>
      <p:sp>
        <p:nvSpPr>
          <p:cNvPr id="10" name="Shape 8"/>
          <p:cNvSpPr/>
          <p:nvPr/>
        </p:nvSpPr>
        <p:spPr>
          <a:xfrm>
            <a:off x="7961858" y="2040186"/>
            <a:ext cx="3414167" cy="3331319"/>
          </a:xfrm>
          <a:prstGeom prst="roundRect">
            <a:avLst>
              <a:gd name="adj" fmla="val 2192"/>
            </a:avLst>
          </a:prstGeom>
          <a:solidFill>
            <a:srgbClr val="FBFAF6"/>
          </a:solidFill>
          <a:ln w="6350">
            <a:solidFill>
              <a:srgbClr val="DDD8CC"/>
            </a:solidFill>
            <a:prstDash val="solid"/>
          </a:ln>
        </p:spPr>
        <p:txBody>
          <a:bodyPr/>
          <a:lstStyle/>
          <a:p>
            <a:endParaRPr lang="en-US"/>
          </a:p>
        </p:txBody>
      </p:sp>
      <p:sp>
        <p:nvSpPr>
          <p:cNvPr id="11" name="Text 9"/>
          <p:cNvSpPr/>
          <p:nvPr/>
        </p:nvSpPr>
        <p:spPr>
          <a:xfrm>
            <a:off x="8219033" y="2297361"/>
            <a:ext cx="2986811"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C8102E"/>
                </a:solidFill>
                <a:latin typeface="Oswald" pitchFamily="34" charset="0"/>
                <a:ea typeface="Oswald" pitchFamily="34" charset="-122"/>
                <a:cs typeface="Oswald" pitchFamily="34" charset="-120"/>
              </a:rPr>
              <a:t>Week 6</a:t>
            </a:r>
            <a:endParaRPr lang="en-US" sz="3600" dirty="0"/>
          </a:p>
        </p:txBody>
      </p:sp>
      <p:sp>
        <p:nvSpPr>
          <p:cNvPr id="12" name="Text 10"/>
          <p:cNvSpPr/>
          <p:nvPr/>
        </p:nvSpPr>
        <p:spPr>
          <a:xfrm>
            <a:off x="8219033" y="3039021"/>
            <a:ext cx="2986811"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5191F"/>
                </a:solidFill>
                <a:latin typeface="IBM Plex Sans" pitchFamily="34" charset="0"/>
                <a:ea typeface="IBM Plex Sans" pitchFamily="34" charset="-122"/>
                <a:cs typeface="IBM Plex Sans" pitchFamily="34" charset="-120"/>
              </a:rPr>
              <a:t>First pilot built from the starter kit on your own infrastructure, with an eval baseline</a:t>
            </a:r>
            <a:endParaRPr lang="en-US" sz="1600" dirty="0"/>
          </a:p>
        </p:txBody>
      </p:sp>
      <p:sp>
        <p:nvSpPr>
          <p:cNvPr id="13" name="Text 11"/>
          <p:cNvSpPr/>
          <p:nvPr/>
        </p:nvSpPr>
        <p:spPr>
          <a:xfrm>
            <a:off x="812800" y="56286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Participants keep the starter kit, sample data and lab guide. Timings in brackets are proposals to confirm.</a:t>
            </a:r>
            <a:endParaRPr lang="en-US" sz="1200" dirty="0"/>
          </a:p>
        </p:txBody>
      </p:sp>
      <p:sp>
        <p:nvSpPr>
          <p:cNvPr id="14" name="Text 12"/>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57"/>
                </a:solidFill>
                <a:latin typeface="IBM Plex Sans" pitchFamily="34" charset="0"/>
                <a:ea typeface="IBM Plex Sans" pitchFamily="34" charset="-122"/>
                <a:cs typeface="IBM Plex Sans" pitchFamily="34" charset="-120"/>
              </a:rPr>
              <a:t>AI Immersion Day · Automotive</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4F57"/>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19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6B"/>
                </a:solidFill>
                <a:latin typeface="IBM Plex Sans" pitchFamily="34" charset="0"/>
                <a:ea typeface="IBM Plex Sans" pitchFamily="34" charset="-122"/>
                <a:cs typeface="IBM Plex Sans" pitchFamily="34" charset="-120"/>
              </a:rPr>
              <a:t>THE DECISION</a:t>
            </a:r>
            <a:endParaRPr lang="en-US" sz="1200" dirty="0"/>
          </a:p>
        </p:txBody>
      </p:sp>
      <p:sp>
        <p:nvSpPr>
          <p:cNvPr id="3" name="Text 1"/>
          <p:cNvSpPr>
            <a:spLocks noGrp="1"/>
          </p:cNvSpPr>
          <p:nvPr>
            <p:ph type="title"/>
          </p:nvPr>
        </p:nvSpPr>
        <p:spPr>
          <a:xfrm>
            <a:off x="812800" y="133092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4F1EA"/>
                </a:solidFill>
                <a:latin typeface="Oswald" pitchFamily="34" charset="0"/>
                <a:ea typeface="Oswald" pitchFamily="34" charset="-122"/>
                <a:cs typeface="Oswald" pitchFamily="34" charset="-120"/>
              </a:rPr>
              <a:t>Four things to say yes to today</a:t>
            </a:r>
            <a:endParaRPr lang="en-US" sz="6000" dirty="0"/>
          </a:p>
        </p:txBody>
      </p:sp>
      <p:sp>
        <p:nvSpPr>
          <p:cNvPr id="4" name="Shape 2"/>
          <p:cNvSpPr/>
          <p:nvPr/>
        </p:nvSpPr>
        <p:spPr>
          <a:xfrm>
            <a:off x="838200" y="2435820"/>
            <a:ext cx="0" cy="960041"/>
          </a:xfrm>
          <a:prstGeom prst="line">
            <a:avLst/>
          </a:prstGeom>
          <a:noFill/>
          <a:ln w="50800">
            <a:solidFill>
              <a:srgbClr val="FF6B6B"/>
            </a:solidFill>
            <a:prstDash val="solid"/>
          </a:ln>
        </p:spPr>
        <p:txBody>
          <a:bodyPr/>
          <a:lstStyle/>
          <a:p>
            <a:endParaRPr lang="en-US"/>
          </a:p>
        </p:txBody>
      </p:sp>
      <p:sp>
        <p:nvSpPr>
          <p:cNvPr id="5" name="Text 3"/>
          <p:cNvSpPr/>
          <p:nvPr/>
        </p:nvSpPr>
        <p:spPr>
          <a:xfrm>
            <a:off x="1066800" y="2486620"/>
            <a:ext cx="518007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6B6B"/>
                </a:solidFill>
                <a:latin typeface="IBM Plex Sans" pitchFamily="34" charset="0"/>
                <a:ea typeface="IBM Plex Sans" pitchFamily="34" charset="-122"/>
                <a:cs typeface="IBM Plex Sans" pitchFamily="34" charset="-120"/>
              </a:rPr>
              <a:t>DATE AND ROOM</a:t>
            </a:r>
            <a:endParaRPr lang="en-US" sz="1200" dirty="0"/>
          </a:p>
        </p:txBody>
      </p:sp>
      <p:sp>
        <p:nvSpPr>
          <p:cNvPr id="6" name="Text 4"/>
          <p:cNvSpPr/>
          <p:nvPr/>
        </p:nvSpPr>
        <p:spPr>
          <a:xfrm>
            <a:off x="1066800" y="2776141"/>
            <a:ext cx="518007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1EA"/>
                </a:solidFill>
                <a:latin typeface="IBM Plex Sans" pitchFamily="34" charset="0"/>
                <a:ea typeface="IBM Plex Sans" pitchFamily="34" charset="-122"/>
                <a:cs typeface="IBM Plex Sans" pitchFamily="34" charset="-120"/>
              </a:rPr>
              <a:t>[Date], a room for [6] tables with power and a main screen</a:t>
            </a:r>
            <a:endParaRPr lang="en-US" sz="1600" dirty="0"/>
          </a:p>
        </p:txBody>
      </p:sp>
      <p:sp>
        <p:nvSpPr>
          <p:cNvPr id="7" name="Shape 5"/>
          <p:cNvSpPr/>
          <p:nvPr/>
        </p:nvSpPr>
        <p:spPr>
          <a:xfrm>
            <a:off x="6121400" y="2435820"/>
            <a:ext cx="0" cy="960041"/>
          </a:xfrm>
          <a:prstGeom prst="line">
            <a:avLst/>
          </a:prstGeom>
          <a:noFill/>
          <a:ln w="50800">
            <a:solidFill>
              <a:srgbClr val="FF6B6B"/>
            </a:solidFill>
            <a:prstDash val="solid"/>
          </a:ln>
        </p:spPr>
        <p:txBody>
          <a:bodyPr/>
          <a:lstStyle/>
          <a:p>
            <a:endParaRPr lang="en-US"/>
          </a:p>
        </p:txBody>
      </p:sp>
      <p:sp>
        <p:nvSpPr>
          <p:cNvPr id="8" name="Text 6"/>
          <p:cNvSpPr/>
          <p:nvPr/>
        </p:nvSpPr>
        <p:spPr>
          <a:xfrm>
            <a:off x="6350000" y="2486620"/>
            <a:ext cx="518007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6B6B"/>
                </a:solidFill>
                <a:latin typeface="IBM Plex Sans" pitchFamily="34" charset="0"/>
                <a:ea typeface="IBM Plex Sans" pitchFamily="34" charset="-122"/>
                <a:cs typeface="IBM Plex Sans" pitchFamily="34" charset="-120"/>
              </a:rPr>
              <a:t>PARTICIPANTS</a:t>
            </a:r>
            <a:endParaRPr lang="en-US" sz="1200" dirty="0"/>
          </a:p>
        </p:txBody>
      </p:sp>
      <p:sp>
        <p:nvSpPr>
          <p:cNvPr id="9" name="Text 7"/>
          <p:cNvSpPr/>
          <p:nvPr/>
        </p:nvSpPr>
        <p:spPr>
          <a:xfrm>
            <a:off x="6350000" y="2776141"/>
            <a:ext cx="518007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1EA"/>
                </a:solidFill>
                <a:latin typeface="IBM Plex Sans" pitchFamily="34" charset="0"/>
                <a:ea typeface="IBM Plex Sans" pitchFamily="34" charset="-122"/>
                <a:cs typeface="IBM Plex Sans" pitchFamily="34" charset="-120"/>
              </a:rPr>
              <a:t>[24 to 36] people, balanced across the four functions</a:t>
            </a:r>
            <a:endParaRPr lang="en-US" sz="1600" dirty="0"/>
          </a:p>
        </p:txBody>
      </p:sp>
      <p:sp>
        <p:nvSpPr>
          <p:cNvPr id="10" name="Shape 8"/>
          <p:cNvSpPr/>
          <p:nvPr/>
        </p:nvSpPr>
        <p:spPr>
          <a:xfrm>
            <a:off x="838200" y="3395861"/>
            <a:ext cx="0" cy="960041"/>
          </a:xfrm>
          <a:prstGeom prst="line">
            <a:avLst/>
          </a:prstGeom>
          <a:noFill/>
          <a:ln w="50800">
            <a:solidFill>
              <a:srgbClr val="FF6B6B"/>
            </a:solidFill>
            <a:prstDash val="solid"/>
          </a:ln>
        </p:spPr>
        <p:txBody>
          <a:bodyPr/>
          <a:lstStyle/>
          <a:p>
            <a:endParaRPr lang="en-US"/>
          </a:p>
        </p:txBody>
      </p:sp>
      <p:sp>
        <p:nvSpPr>
          <p:cNvPr id="11" name="Text 9"/>
          <p:cNvSpPr/>
          <p:nvPr/>
        </p:nvSpPr>
        <p:spPr>
          <a:xfrm>
            <a:off x="1066800" y="3446661"/>
            <a:ext cx="518007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6B6B"/>
                </a:solidFill>
                <a:latin typeface="IBM Plex Sans" pitchFamily="34" charset="0"/>
                <a:ea typeface="IBM Plex Sans" pitchFamily="34" charset="-122"/>
                <a:cs typeface="IBM Plex Sans" pitchFamily="34" charset="-120"/>
              </a:rPr>
              <a:t>MODEL SERVER</a:t>
            </a:r>
            <a:endParaRPr lang="en-US" sz="1200" dirty="0"/>
          </a:p>
        </p:txBody>
      </p:sp>
      <p:sp>
        <p:nvSpPr>
          <p:cNvPr id="12" name="Text 10"/>
          <p:cNvSpPr/>
          <p:nvPr/>
        </p:nvSpPr>
        <p:spPr>
          <a:xfrm>
            <a:off x="1066800" y="3736181"/>
            <a:ext cx="518007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1EA"/>
                </a:solidFill>
                <a:latin typeface="IBM Plex Sans" pitchFamily="34" charset="0"/>
                <a:ea typeface="IBM Plex Sans" pitchFamily="34" charset="-122"/>
                <a:cs typeface="IBM Plex Sans" pitchFamily="34" charset="-120"/>
              </a:rPr>
              <a:t>One GPU server on the room network, model licences cleared by [date]</a:t>
            </a:r>
            <a:endParaRPr lang="en-US" sz="1600" dirty="0"/>
          </a:p>
        </p:txBody>
      </p:sp>
      <p:sp>
        <p:nvSpPr>
          <p:cNvPr id="13" name="Shape 11"/>
          <p:cNvSpPr/>
          <p:nvPr/>
        </p:nvSpPr>
        <p:spPr>
          <a:xfrm>
            <a:off x="6121400" y="3395861"/>
            <a:ext cx="0" cy="960041"/>
          </a:xfrm>
          <a:prstGeom prst="line">
            <a:avLst/>
          </a:prstGeom>
          <a:noFill/>
          <a:ln w="50800">
            <a:solidFill>
              <a:srgbClr val="FF6B6B"/>
            </a:solidFill>
            <a:prstDash val="solid"/>
          </a:ln>
        </p:spPr>
        <p:txBody>
          <a:bodyPr/>
          <a:lstStyle/>
          <a:p>
            <a:endParaRPr lang="en-US"/>
          </a:p>
        </p:txBody>
      </p:sp>
      <p:sp>
        <p:nvSpPr>
          <p:cNvPr id="14" name="Text 12"/>
          <p:cNvSpPr/>
          <p:nvPr/>
        </p:nvSpPr>
        <p:spPr>
          <a:xfrm>
            <a:off x="6350000" y="3446661"/>
            <a:ext cx="518007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6B6B"/>
                </a:solidFill>
                <a:latin typeface="IBM Plex Sans" pitchFamily="34" charset="0"/>
                <a:ea typeface="IBM Plex Sans" pitchFamily="34" charset="-122"/>
                <a:cs typeface="IBM Plex Sans" pitchFamily="34" charset="-120"/>
              </a:rPr>
              <a:t>SPONSOR</a:t>
            </a:r>
            <a:endParaRPr lang="en-US" sz="1200" dirty="0"/>
          </a:p>
        </p:txBody>
      </p:sp>
      <p:sp>
        <p:nvSpPr>
          <p:cNvPr id="15" name="Text 13"/>
          <p:cNvSpPr/>
          <p:nvPr/>
        </p:nvSpPr>
        <p:spPr>
          <a:xfrm>
            <a:off x="6350000" y="3736181"/>
            <a:ext cx="518007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1EA"/>
                </a:solidFill>
                <a:latin typeface="IBM Plex Sans" pitchFamily="34" charset="0"/>
                <a:ea typeface="IBM Plex Sans" pitchFamily="34" charset="-122"/>
                <a:cs typeface="IBM Plex Sans" pitchFamily="34" charset="-120"/>
              </a:rPr>
              <a:t>[Executive name] opens the day and judges the Concours</a:t>
            </a:r>
            <a:endParaRPr lang="en-US" sz="1600" dirty="0"/>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9"/>
                </a:solidFill>
                <a:latin typeface="IBM Plex Sans" pitchFamily="34" charset="0"/>
                <a:ea typeface="IBM Plex Sans" pitchFamily="34" charset="-122"/>
                <a:cs typeface="IBM Plex Sans" pitchFamily="34" charset="-120"/>
              </a:rPr>
              <a:t>AI Immersion Day · Automotive</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C9"/>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theme/theme1.xml><?xml version="1.0" encoding="utf-8"?>
<a:theme xmlns:a="http://schemas.openxmlformats.org/drawingml/2006/main" name="AI Immersion Day — Automotive (Open Edition)">
  <a:themeElements>
    <a:clrScheme name="AI Immersion Day — Automotive (Open Edition)">
      <a:dk1>
        <a:srgbClr val="15191F"/>
      </a:dk1>
      <a:lt1>
        <a:srgbClr val="F4F1EA"/>
      </a:lt1>
      <a:dk2>
        <a:srgbClr val="4D4F52"/>
      </a:dk2>
      <a:lt2>
        <a:srgbClr val="DEDBD6"/>
      </a:lt2>
      <a:accent1>
        <a:srgbClr val="C8102E"/>
      </a:accent1>
      <a:accent2>
        <a:srgbClr val="FF6B6B"/>
      </a:accent2>
      <a:accent3>
        <a:srgbClr val="4A4F57"/>
      </a:accent3>
      <a:accent4>
        <a:srgbClr val="B9C0C9"/>
      </a:accent4>
      <a:accent5>
        <a:srgbClr val="8A8F98"/>
      </a:accent5>
      <a:accent6>
        <a:srgbClr val="9AA0A6"/>
      </a:accent6>
      <a:hlink>
        <a:srgbClr val="0563C1"/>
      </a:hlink>
      <a:folHlink>
        <a:srgbClr val="954F72"/>
      </a:folHlink>
    </a:clrScheme>
    <a:fontScheme name="AI Immersion Day — Automotive (Open Edition)">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2556</Words>
  <Application>Microsoft Macintosh PowerPoint</Application>
  <PresentationFormat>Widescreen</PresentationFormat>
  <Paragraphs>290</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IBM Plex Sans</vt:lpstr>
      <vt:lpstr>Oswald</vt:lpstr>
      <vt:lpstr>AI Immersion Day — Automotive (Open Edition)</vt:lpstr>
      <vt:lpstr>One car. Five desks. Ninety minutes.</vt:lpstr>
      <vt:lpstr>People learn AI fastest by building something they recognise</vt:lpstr>
      <vt:lpstr>Each desk hands its output to the next, like the real value chain</vt:lpstr>
      <vt:lpstr>Ninety minutes, and 83 of them hands-on</vt:lpstr>
      <vt:lpstr>Prompt + model + tool = an agent</vt:lpstr>
      <vt:lpstr>Paper sketches become a ranked, coded specification</vt:lpstr>
      <vt:lpstr>Many sketches, one dominant spec, checked against the rulebook</vt:lpstr>
      <vt:lpstr>Find the 120-day risk before it finds you</vt:lpstr>
      <vt:lpstr>Build it, inspect it, remember it</vt:lpstr>
      <vt:lpstr>Every lab concept has an open-source production home</vt:lpstr>
      <vt:lpstr>Three ways in, one open stack on one room server</vt:lpstr>
      <vt:lpstr>Built so nobody watches from the back</vt:lpstr>
      <vt:lpstr>The day ends with a pilot shortlist, not just a certificate</vt:lpstr>
      <vt:lpstr>Four things to say yes to today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Immersion Day — Automotive (Open Edition)</dc:title>
  <dc:subject/>
  <dc:creator/>
  <cp:lastModifiedBy>sourav mahapatra</cp:lastModifiedBy>
  <cp:revision>2</cp:revision>
  <dcterms:created xsi:type="dcterms:W3CDTF">2026-10-01T20:01:40Z</dcterms:created>
  <dcterms:modified xsi:type="dcterms:W3CDTF">2026-10-03T10:03:43Z</dcterms:modified>
</cp:coreProperties>
</file>