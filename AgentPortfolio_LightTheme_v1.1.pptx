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65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70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F0F5FF"/>
          </a:solidFill>
          <a:ln w="12700">
            <a:solidFill>
              <a:srgbClr val="F0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DBEAFE">
              <a:alpha val="70000"/>
            </a:srgb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0" y="1828800"/>
            <a:ext cx="2926080" cy="292608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C7D9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EXECUTIVE BRIEFING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011680" cy="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SDLC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Software Delivery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AI-Native Agent Workflows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4632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32A52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Enterprise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413248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32A52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54132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5980176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132A52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59801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Strategy Practice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2004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760720" y="39319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Assessed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32004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863840" y="39319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Phases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66960" y="32004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66960" y="32735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966960" y="39319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Transform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4846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 Portfolio Assessment &amp; Transformation Strategy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Narrative from Current Pain to Future Value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88136" y="1069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136" y="14538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agentic AI now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075688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075688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136" y="21854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8136" y="2569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SDLC breaks down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91256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191256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191256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8136" y="3300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 Propensity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88136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automation potential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306824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306824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306824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8136" y="4416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Future State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Agent workforce model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5422392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5422392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5422392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8136" y="5532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Landscape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8136" y="5916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Ops &amp; Horizontal agents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96012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9360" y="960120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960120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77456" y="1069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77456" y="14538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interaction model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2075688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09360" y="2075688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9360" y="2075688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456" y="21854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&amp; PoCs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77456" y="2569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vs Impact · Top 3 use cases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3191256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09360" y="3191256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09360" y="3191256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77456" y="3300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Roadmap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77456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· Investment · Timeline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4306824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09360" y="4306824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09360" y="4306824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77456" y="4416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Governance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77456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human oversight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5422392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09360" y="5422392"/>
            <a:ext cx="658368" cy="96012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09360" y="5422392"/>
            <a:ext cx="658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456" y="5532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Recommendations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077456" y="5916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Agentic AI. Why Now.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1430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Gap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494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sprint capacity lost to non-coding tasks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11430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3.2×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24612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Debt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2494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fix a defect in production vs. design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960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89320" y="9601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11430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8076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Pressure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22494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 leaders cite skills shortage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280160"/>
            <a:ext cx="0" cy="347472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1540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OUTCOMES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15400" y="135331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06840" y="137160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12680" y="1371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effort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15400" y="215798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006840" y="2176272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012680" y="21762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time-to-production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15400" y="296265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06840" y="2980944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012680" y="29809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escape rate reduction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15400" y="376732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06840" y="3785616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12680" y="378561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coverage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507492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5074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INSIGHT:  Only 22% of the SDLC cycle is value-adding development work. Agentic AI targets the remaining 78%.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576072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5 Agents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54680" y="576072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54680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8 Agents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89320" y="576072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89320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9 Agents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HdrBand"/>
          <p:cNvSpPr>
            <a:spLocks noGrp="1"/>
          </p:cNvSpPr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2" name="Eyebrow"/>
          <p:cNvSpPr txBox="1"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>
                <a:solidFill>
                  <a:srgbClr val="00B8A9"/>
                </a:solidFill>
                <a:latin typeface="Calibri"/>
              </a:rPr>
              <a:t>CURRENT-STATE ASSESSMENT</a:t>
            </a:r>
          </a:p>
        </p:txBody>
      </p:sp>
      <p:sp>
        <p:nvSpPr>
          <p:cNvPr id="1103" name="Title"/>
          <p:cNvSpPr txBox="1"/>
          <p:nvPr/>
        </p:nvSpPr>
        <p:spPr>
          <a:xfrm>
            <a:off x="365760" y="329184"/>
            <a:ext cx="10972800" cy="42062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Cambria"/>
              </a:rPr>
              <a:t>Enterprise SDLC Bottleneck Assessment</a:t>
            </a:r>
          </a:p>
        </p:txBody>
      </p:sp>
      <p:sp>
        <p:nvSpPr>
          <p:cNvPr id="1104" name="FtrBand"/>
          <p:cNvSpPr>
            <a:spLocks noGrp="1"/>
          </p:cNvSpPr>
          <p:nvPr/>
        </p:nvSpPr>
        <p:spPr>
          <a:xfrm>
            <a:off x="0" y="6656832"/>
            <a:ext cx="12191695" cy="182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5" name="FtrTxt"/>
          <p:cNvSpPr txBox="1"/>
          <p:nvPr/>
        </p:nvSpPr>
        <p:spPr>
          <a:xfrm>
            <a:off x="320040" y="6684264"/>
            <a:ext cx="82296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800">
                <a:solidFill>
                  <a:srgbClr val="9CA3AF"/>
                </a:solidFill>
                <a:latin typeface="Calibri"/>
              </a:rPr>
              <a:t>CONFIDENTIAL  |  Technology Strategy Practice  |  Not for Distribution</a:t>
            </a:r>
          </a:p>
        </p:txBody>
      </p:sp>
      <p:sp>
        <p:nvSpPr>
          <p:cNvPr id="1106" name="PageNum"/>
          <p:cNvSpPr txBox="1"/>
          <p:nvPr/>
        </p:nvSpPr>
        <p:spPr>
          <a:xfrm>
            <a:off x="11704320" y="6684264"/>
            <a:ext cx="36576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800">
                <a:solidFill>
                  <a:srgbClr val="9CA3AF"/>
                </a:solidFill>
                <a:latin typeface="Calibri"/>
              </a:rPr>
              <a:t>4</a:t>
            </a:r>
          </a:p>
        </p:txBody>
      </p:sp>
      <p:sp>
        <p:nvSpPr>
          <p:cNvPr id="1107" name="CardBody0"/>
          <p:cNvSpPr>
            <a:spLocks noGrp="1"/>
          </p:cNvSpPr>
          <p:nvPr/>
        </p:nvSpPr>
        <p:spPr>
          <a:xfrm>
            <a:off x="201168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8" name="PastelHdr0"/>
          <p:cNvSpPr>
            <a:spLocks noGrp="1"/>
          </p:cNvSpPr>
          <p:nvPr/>
        </p:nvSpPr>
        <p:spPr>
          <a:xfrm>
            <a:off x="201168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DCEE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9" name="Stage0"/>
          <p:cNvSpPr txBox="1"/>
          <p:nvPr/>
        </p:nvSpPr>
        <p:spPr>
          <a:xfrm>
            <a:off x="201168" y="987552"/>
            <a:ext cx="1888693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Requirements</a:t>
            </a:r>
          </a:p>
        </p:txBody>
      </p:sp>
      <p:sp>
        <p:nvSpPr>
          <p:cNvPr id="1111" name="DurLbl0"/>
          <p:cNvSpPr txBox="1"/>
          <p:nvPr/>
        </p:nvSpPr>
        <p:spPr>
          <a:xfrm>
            <a:off x="301752" y="1545336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1112" name="DurUL0"/>
          <p:cNvSpPr>
            <a:spLocks noGrp="1"/>
          </p:cNvSpPr>
          <p:nvPr/>
        </p:nvSpPr>
        <p:spPr>
          <a:xfrm>
            <a:off x="487379" y="1764792"/>
            <a:ext cx="1316269" cy="1463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3" name="DurVal0"/>
          <p:cNvSpPr txBox="1"/>
          <p:nvPr/>
        </p:nvSpPr>
        <p:spPr>
          <a:xfrm>
            <a:off x="301752" y="1792224"/>
            <a:ext cx="1687525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mbria"/>
              </a:rPr>
              <a:t>5 – 8 Days</a:t>
            </a:r>
          </a:p>
        </p:txBody>
      </p:sp>
      <p:sp>
        <p:nvSpPr>
          <p:cNvPr id="1114" name="Div1_0"/>
          <p:cNvSpPr>
            <a:spLocks noGrp="1"/>
          </p:cNvSpPr>
          <p:nvPr/>
        </p:nvSpPr>
        <p:spPr>
          <a:xfrm>
            <a:off x="329184" y="2368296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5" name="PainLbl0"/>
          <p:cNvSpPr txBox="1"/>
          <p:nvPr/>
        </p:nvSpPr>
        <p:spPr>
          <a:xfrm>
            <a:off x="301752" y="2432304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1116" name="PainUL0"/>
          <p:cNvSpPr>
            <a:spLocks noGrp="1"/>
          </p:cNvSpPr>
          <p:nvPr/>
        </p:nvSpPr>
        <p:spPr>
          <a:xfrm>
            <a:off x="487379" y="2651760"/>
            <a:ext cx="1316269" cy="1463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7" name="PainTxt0"/>
          <p:cNvSpPr txBox="1"/>
          <p:nvPr/>
        </p:nvSpPr>
        <p:spPr>
          <a:xfrm>
            <a:off x="301752" y="2697480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Ambiguous requirements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Missing acceptance criteria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Frequent mid-sprint rework</a:t>
            </a:r>
          </a:p>
        </p:txBody>
      </p:sp>
      <p:sp>
        <p:nvSpPr>
          <p:cNvPr id="1118" name="Div2_0"/>
          <p:cNvSpPr>
            <a:spLocks noGrp="1"/>
          </p:cNvSpPr>
          <p:nvPr/>
        </p:nvSpPr>
        <p:spPr>
          <a:xfrm>
            <a:off x="329184" y="3859312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9" name="ImpLbl0"/>
          <p:cNvSpPr txBox="1"/>
          <p:nvPr/>
        </p:nvSpPr>
        <p:spPr>
          <a:xfrm>
            <a:off x="301752" y="3923320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1120" name="ImpUL0"/>
          <p:cNvSpPr>
            <a:spLocks noGrp="1"/>
          </p:cNvSpPr>
          <p:nvPr/>
        </p:nvSpPr>
        <p:spPr>
          <a:xfrm>
            <a:off x="487379" y="4142776"/>
            <a:ext cx="1316269" cy="1463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1" name="ImpTxt0"/>
          <p:cNvSpPr txBox="1"/>
          <p:nvPr/>
        </p:nvSpPr>
        <p:spPr>
          <a:xfrm>
            <a:off x="301752" y="4188496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Delayed sprint planning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Scope creep &amp; delivery risk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Wasted engineering effort</a:t>
            </a:r>
          </a:p>
        </p:txBody>
      </p:sp>
      <p:sp>
        <p:nvSpPr>
          <p:cNvPr id="1125" name="CardBody1"/>
          <p:cNvSpPr>
            <a:spLocks noGrp="1"/>
          </p:cNvSpPr>
          <p:nvPr/>
        </p:nvSpPr>
        <p:spPr>
          <a:xfrm>
            <a:off x="2181301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6" name="PastelHdr1"/>
          <p:cNvSpPr>
            <a:spLocks noGrp="1"/>
          </p:cNvSpPr>
          <p:nvPr/>
        </p:nvSpPr>
        <p:spPr>
          <a:xfrm>
            <a:off x="2181301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EE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7" name="Stage1"/>
          <p:cNvSpPr txBox="1"/>
          <p:nvPr/>
        </p:nvSpPr>
        <p:spPr>
          <a:xfrm>
            <a:off x="2181301" y="987552"/>
            <a:ext cx="1888693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Design</a:t>
            </a:r>
          </a:p>
        </p:txBody>
      </p:sp>
      <p:sp>
        <p:nvSpPr>
          <p:cNvPr id="1129" name="DurLbl1"/>
          <p:cNvSpPr txBox="1"/>
          <p:nvPr/>
        </p:nvSpPr>
        <p:spPr>
          <a:xfrm>
            <a:off x="2281885" y="1545336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1130" name="DurUL1"/>
          <p:cNvSpPr>
            <a:spLocks noGrp="1"/>
          </p:cNvSpPr>
          <p:nvPr/>
        </p:nvSpPr>
        <p:spPr>
          <a:xfrm>
            <a:off x="2467512" y="1764792"/>
            <a:ext cx="1316269" cy="1463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1" name="DurVal1"/>
          <p:cNvSpPr txBox="1"/>
          <p:nvPr/>
        </p:nvSpPr>
        <p:spPr>
          <a:xfrm>
            <a:off x="2281885" y="1792224"/>
            <a:ext cx="1687525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mbria"/>
              </a:rPr>
              <a:t>3 – 6 Days</a:t>
            </a:r>
          </a:p>
        </p:txBody>
      </p:sp>
      <p:sp>
        <p:nvSpPr>
          <p:cNvPr id="1132" name="Div1_1"/>
          <p:cNvSpPr>
            <a:spLocks noGrp="1"/>
          </p:cNvSpPr>
          <p:nvPr/>
        </p:nvSpPr>
        <p:spPr>
          <a:xfrm>
            <a:off x="2309317" y="2368296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3" name="PainLbl1"/>
          <p:cNvSpPr txBox="1"/>
          <p:nvPr/>
        </p:nvSpPr>
        <p:spPr>
          <a:xfrm>
            <a:off x="2281885" y="2432304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1134" name="PainUL1"/>
          <p:cNvSpPr>
            <a:spLocks noGrp="1"/>
          </p:cNvSpPr>
          <p:nvPr/>
        </p:nvSpPr>
        <p:spPr>
          <a:xfrm>
            <a:off x="2467512" y="2651760"/>
            <a:ext cx="1316269" cy="1463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5" name="PainTxt1"/>
          <p:cNvSpPr txBox="1"/>
          <p:nvPr/>
        </p:nvSpPr>
        <p:spPr>
          <a:xfrm>
            <a:off x="2281885" y="2697480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Undocumented architecture decisions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Inconsistent API &amp; data contracts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Repeated design rework</a:t>
            </a:r>
          </a:p>
        </p:txBody>
      </p:sp>
      <p:sp>
        <p:nvSpPr>
          <p:cNvPr id="1136" name="Div2_1"/>
          <p:cNvSpPr>
            <a:spLocks noGrp="1"/>
          </p:cNvSpPr>
          <p:nvPr/>
        </p:nvSpPr>
        <p:spPr>
          <a:xfrm>
            <a:off x="2309317" y="3859312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7" name="ImpLbl1"/>
          <p:cNvSpPr txBox="1"/>
          <p:nvPr/>
        </p:nvSpPr>
        <p:spPr>
          <a:xfrm>
            <a:off x="2281885" y="3923320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1138" name="ImpUL1"/>
          <p:cNvSpPr>
            <a:spLocks noGrp="1"/>
          </p:cNvSpPr>
          <p:nvPr/>
        </p:nvSpPr>
        <p:spPr>
          <a:xfrm>
            <a:off x="2467512" y="4142776"/>
            <a:ext cx="1316269" cy="1463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9" name="ImpTxt1"/>
          <p:cNvSpPr txBox="1"/>
          <p:nvPr/>
        </p:nvSpPr>
        <p:spPr>
          <a:xfrm>
            <a:off x="2281885" y="4188496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Integration failures downstream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Increased technical debt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Delayed development start</a:t>
            </a:r>
          </a:p>
        </p:txBody>
      </p:sp>
      <p:sp>
        <p:nvSpPr>
          <p:cNvPr id="1143" name="CardBody2"/>
          <p:cNvSpPr>
            <a:spLocks noGrp="1"/>
          </p:cNvSpPr>
          <p:nvPr/>
        </p:nvSpPr>
        <p:spPr>
          <a:xfrm>
            <a:off x="4161434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4" name="PastelHdr2"/>
          <p:cNvSpPr>
            <a:spLocks noGrp="1"/>
          </p:cNvSpPr>
          <p:nvPr/>
        </p:nvSpPr>
        <p:spPr>
          <a:xfrm>
            <a:off x="4161434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E8F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5" name="Stage2"/>
          <p:cNvSpPr txBox="1"/>
          <p:nvPr/>
        </p:nvSpPr>
        <p:spPr>
          <a:xfrm>
            <a:off x="4161434" y="987552"/>
            <a:ext cx="1888693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Development</a:t>
            </a:r>
          </a:p>
        </p:txBody>
      </p:sp>
      <p:sp>
        <p:nvSpPr>
          <p:cNvPr id="1147" name="DurLbl2"/>
          <p:cNvSpPr txBox="1"/>
          <p:nvPr/>
        </p:nvSpPr>
        <p:spPr>
          <a:xfrm>
            <a:off x="4262018" y="1545336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1148" name="DurUL2"/>
          <p:cNvSpPr>
            <a:spLocks noGrp="1"/>
          </p:cNvSpPr>
          <p:nvPr/>
        </p:nvSpPr>
        <p:spPr>
          <a:xfrm>
            <a:off x="4447646" y="1764792"/>
            <a:ext cx="1316269" cy="1463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9" name="DurVal2"/>
          <p:cNvSpPr txBox="1"/>
          <p:nvPr/>
        </p:nvSpPr>
        <p:spPr>
          <a:xfrm>
            <a:off x="4262018" y="1792224"/>
            <a:ext cx="1687525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mbria"/>
              </a:rPr>
              <a:t>8 – 14 Days</a:t>
            </a:r>
          </a:p>
        </p:txBody>
      </p:sp>
      <p:sp>
        <p:nvSpPr>
          <p:cNvPr id="1150" name="Div1_2"/>
          <p:cNvSpPr>
            <a:spLocks noGrp="1"/>
          </p:cNvSpPr>
          <p:nvPr/>
        </p:nvSpPr>
        <p:spPr>
          <a:xfrm>
            <a:off x="4289450" y="2368296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1" name="PainLbl2"/>
          <p:cNvSpPr txBox="1"/>
          <p:nvPr/>
        </p:nvSpPr>
        <p:spPr>
          <a:xfrm>
            <a:off x="4262018" y="2432304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1152" name="PainUL2"/>
          <p:cNvSpPr>
            <a:spLocks noGrp="1"/>
          </p:cNvSpPr>
          <p:nvPr/>
        </p:nvSpPr>
        <p:spPr>
          <a:xfrm>
            <a:off x="4447646" y="2651760"/>
            <a:ext cx="1316269" cy="1463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3" name="PainTxt2"/>
          <p:cNvSpPr txBox="1"/>
          <p:nvPr/>
        </p:nvSpPr>
        <p:spPr>
          <a:xfrm>
            <a:off x="4262018" y="2697480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Context switching across issues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Inadequate code documentation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Inconsistent coding standards</a:t>
            </a:r>
          </a:p>
        </p:txBody>
      </p:sp>
      <p:sp>
        <p:nvSpPr>
          <p:cNvPr id="1154" name="Div2_2"/>
          <p:cNvSpPr>
            <a:spLocks noGrp="1"/>
          </p:cNvSpPr>
          <p:nvPr/>
        </p:nvSpPr>
        <p:spPr>
          <a:xfrm>
            <a:off x="4289450" y="3859312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5" name="ImpLbl2"/>
          <p:cNvSpPr txBox="1"/>
          <p:nvPr/>
        </p:nvSpPr>
        <p:spPr>
          <a:xfrm>
            <a:off x="4262018" y="3923320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1156" name="ImpUL2"/>
          <p:cNvSpPr>
            <a:spLocks noGrp="1"/>
          </p:cNvSpPr>
          <p:nvPr/>
        </p:nvSpPr>
        <p:spPr>
          <a:xfrm>
            <a:off x="4447646" y="4142776"/>
            <a:ext cx="1316269" cy="1463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7" name="ImpTxt2"/>
          <p:cNvSpPr txBox="1"/>
          <p:nvPr/>
        </p:nvSpPr>
        <p:spPr>
          <a:xfrm>
            <a:off x="4262018" y="4188496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Extended review cycles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Higher defect injection rate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Knowledge silos across teams</a:t>
            </a:r>
          </a:p>
        </p:txBody>
      </p:sp>
      <p:sp>
        <p:nvSpPr>
          <p:cNvPr id="1161" name="CardBody3"/>
          <p:cNvSpPr>
            <a:spLocks noGrp="1"/>
          </p:cNvSpPr>
          <p:nvPr/>
        </p:nvSpPr>
        <p:spPr>
          <a:xfrm>
            <a:off x="6141567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2" name="PastelHdr3"/>
          <p:cNvSpPr>
            <a:spLocks noGrp="1"/>
          </p:cNvSpPr>
          <p:nvPr/>
        </p:nvSpPr>
        <p:spPr>
          <a:xfrm>
            <a:off x="6141567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FFF1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3" name="Stage3"/>
          <p:cNvSpPr txBox="1"/>
          <p:nvPr/>
        </p:nvSpPr>
        <p:spPr>
          <a:xfrm>
            <a:off x="6141567" y="987552"/>
            <a:ext cx="1888693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Testing</a:t>
            </a:r>
          </a:p>
        </p:txBody>
      </p:sp>
      <p:sp>
        <p:nvSpPr>
          <p:cNvPr id="1165" name="DurLbl3"/>
          <p:cNvSpPr txBox="1"/>
          <p:nvPr/>
        </p:nvSpPr>
        <p:spPr>
          <a:xfrm>
            <a:off x="6242151" y="1545336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1166" name="DurUL3"/>
          <p:cNvSpPr>
            <a:spLocks noGrp="1"/>
          </p:cNvSpPr>
          <p:nvPr/>
        </p:nvSpPr>
        <p:spPr>
          <a:xfrm>
            <a:off x="6427779" y="1764792"/>
            <a:ext cx="1316269" cy="1463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7" name="DurVal3"/>
          <p:cNvSpPr txBox="1"/>
          <p:nvPr/>
        </p:nvSpPr>
        <p:spPr>
          <a:xfrm>
            <a:off x="6242151" y="1792224"/>
            <a:ext cx="1687525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mbria"/>
              </a:rPr>
              <a:t>5 – 10 Days</a:t>
            </a:r>
          </a:p>
        </p:txBody>
      </p:sp>
      <p:sp>
        <p:nvSpPr>
          <p:cNvPr id="1168" name="Div1_3"/>
          <p:cNvSpPr>
            <a:spLocks noGrp="1"/>
          </p:cNvSpPr>
          <p:nvPr/>
        </p:nvSpPr>
        <p:spPr>
          <a:xfrm>
            <a:off x="6269583" y="2368296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9" name="PainLbl3"/>
          <p:cNvSpPr txBox="1"/>
          <p:nvPr/>
        </p:nvSpPr>
        <p:spPr>
          <a:xfrm>
            <a:off x="6242151" y="2432304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1170" name="PainUL3"/>
          <p:cNvSpPr>
            <a:spLocks noGrp="1"/>
          </p:cNvSpPr>
          <p:nvPr/>
        </p:nvSpPr>
        <p:spPr>
          <a:xfrm>
            <a:off x="6427779" y="2651760"/>
            <a:ext cx="1316269" cy="1463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1" name="PainTxt3"/>
          <p:cNvSpPr txBox="1"/>
          <p:nvPr/>
        </p:nvSpPr>
        <p:spPr>
          <a:xfrm>
            <a:off x="6242151" y="2697480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Manual test case authoring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Low automation coverage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Late defect discovery</a:t>
            </a:r>
          </a:p>
        </p:txBody>
      </p:sp>
      <p:sp>
        <p:nvSpPr>
          <p:cNvPr id="1172" name="Div2_3"/>
          <p:cNvSpPr>
            <a:spLocks noGrp="1"/>
          </p:cNvSpPr>
          <p:nvPr/>
        </p:nvSpPr>
        <p:spPr>
          <a:xfrm>
            <a:off x="6269583" y="3859312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3" name="ImpLbl3"/>
          <p:cNvSpPr txBox="1"/>
          <p:nvPr/>
        </p:nvSpPr>
        <p:spPr>
          <a:xfrm>
            <a:off x="6242151" y="3923320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1174" name="ImpUL3"/>
          <p:cNvSpPr>
            <a:spLocks noGrp="1"/>
          </p:cNvSpPr>
          <p:nvPr/>
        </p:nvSpPr>
        <p:spPr>
          <a:xfrm>
            <a:off x="6427779" y="4142776"/>
            <a:ext cx="1316269" cy="1463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5" name="ImpTxt3"/>
          <p:cNvSpPr txBox="1"/>
          <p:nvPr/>
        </p:nvSpPr>
        <p:spPr>
          <a:xfrm>
            <a:off x="6242151" y="4188496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Defects escape to production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Last-minute release delays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Increased regression risk</a:t>
            </a:r>
          </a:p>
        </p:txBody>
      </p:sp>
      <p:sp>
        <p:nvSpPr>
          <p:cNvPr id="1179" name="CardBody4"/>
          <p:cNvSpPr>
            <a:spLocks noGrp="1"/>
          </p:cNvSpPr>
          <p:nvPr/>
        </p:nvSpPr>
        <p:spPr>
          <a:xfrm>
            <a:off x="8121700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80" name="PastelHdr4"/>
          <p:cNvSpPr>
            <a:spLocks noGrp="1"/>
          </p:cNvSpPr>
          <p:nvPr/>
        </p:nvSpPr>
        <p:spPr>
          <a:xfrm>
            <a:off x="8121700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DD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1" name="Stage4"/>
          <p:cNvSpPr txBox="1"/>
          <p:nvPr/>
        </p:nvSpPr>
        <p:spPr>
          <a:xfrm>
            <a:off x="8121700" y="987552"/>
            <a:ext cx="1888693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Deployment</a:t>
            </a:r>
          </a:p>
        </p:txBody>
      </p:sp>
      <p:sp>
        <p:nvSpPr>
          <p:cNvPr id="1183" name="DurLbl4"/>
          <p:cNvSpPr txBox="1"/>
          <p:nvPr/>
        </p:nvSpPr>
        <p:spPr>
          <a:xfrm>
            <a:off x="8222284" y="1545336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1184" name="DurUL4"/>
          <p:cNvSpPr>
            <a:spLocks noGrp="1"/>
          </p:cNvSpPr>
          <p:nvPr/>
        </p:nvSpPr>
        <p:spPr>
          <a:xfrm>
            <a:off x="8407912" y="1764792"/>
            <a:ext cx="1316269" cy="1463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5" name="DurVal4"/>
          <p:cNvSpPr txBox="1"/>
          <p:nvPr/>
        </p:nvSpPr>
        <p:spPr>
          <a:xfrm>
            <a:off x="8222284" y="1792224"/>
            <a:ext cx="1687525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mbria"/>
              </a:rPr>
              <a:t>1 – 4 Days</a:t>
            </a:r>
          </a:p>
        </p:txBody>
      </p:sp>
      <p:sp>
        <p:nvSpPr>
          <p:cNvPr id="1186" name="Div1_4"/>
          <p:cNvSpPr>
            <a:spLocks noGrp="1"/>
          </p:cNvSpPr>
          <p:nvPr/>
        </p:nvSpPr>
        <p:spPr>
          <a:xfrm>
            <a:off x="8249716" y="2368296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7" name="PainLbl4"/>
          <p:cNvSpPr txBox="1"/>
          <p:nvPr/>
        </p:nvSpPr>
        <p:spPr>
          <a:xfrm>
            <a:off x="8222284" y="2432304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1188" name="PainUL4"/>
          <p:cNvSpPr>
            <a:spLocks noGrp="1"/>
          </p:cNvSpPr>
          <p:nvPr/>
        </p:nvSpPr>
        <p:spPr>
          <a:xfrm>
            <a:off x="8407912" y="2651760"/>
            <a:ext cx="1316269" cy="1463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9" name="PainTxt4"/>
          <p:cNvSpPr txBox="1"/>
          <p:nvPr/>
        </p:nvSpPr>
        <p:spPr>
          <a:xfrm>
            <a:off x="8222284" y="2697480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Manual release preparation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Environment inconsistency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Incomplete change documentation</a:t>
            </a:r>
          </a:p>
        </p:txBody>
      </p:sp>
      <p:sp>
        <p:nvSpPr>
          <p:cNvPr id="1190" name="Div2_4"/>
          <p:cNvSpPr>
            <a:spLocks noGrp="1"/>
          </p:cNvSpPr>
          <p:nvPr/>
        </p:nvSpPr>
        <p:spPr>
          <a:xfrm>
            <a:off x="8249716" y="3859312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1" name="ImpLbl4"/>
          <p:cNvSpPr txBox="1"/>
          <p:nvPr/>
        </p:nvSpPr>
        <p:spPr>
          <a:xfrm>
            <a:off x="8222284" y="3923320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1192" name="ImpUL4"/>
          <p:cNvSpPr>
            <a:spLocks noGrp="1"/>
          </p:cNvSpPr>
          <p:nvPr/>
        </p:nvSpPr>
        <p:spPr>
          <a:xfrm>
            <a:off x="8407912" y="4142776"/>
            <a:ext cx="1316269" cy="1463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3" name="ImpTxt4"/>
          <p:cNvSpPr txBox="1"/>
          <p:nvPr/>
        </p:nvSpPr>
        <p:spPr>
          <a:xfrm>
            <a:off x="8222284" y="4188496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Deployment failures &amp; rollbacks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Compliance exposure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Unplanned production downtime</a:t>
            </a:r>
          </a:p>
        </p:txBody>
      </p:sp>
      <p:sp>
        <p:nvSpPr>
          <p:cNvPr id="1197" name="CardBody5"/>
          <p:cNvSpPr>
            <a:spLocks noGrp="1"/>
          </p:cNvSpPr>
          <p:nvPr/>
        </p:nvSpPr>
        <p:spPr>
          <a:xfrm>
            <a:off x="10101834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8" name="PastelHdr5"/>
          <p:cNvSpPr>
            <a:spLocks noGrp="1"/>
          </p:cNvSpPr>
          <p:nvPr/>
        </p:nvSpPr>
        <p:spPr>
          <a:xfrm>
            <a:off x="10101834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9" name="Stage5"/>
          <p:cNvSpPr txBox="1"/>
          <p:nvPr/>
        </p:nvSpPr>
        <p:spPr>
          <a:xfrm>
            <a:off x="10101834" y="987552"/>
            <a:ext cx="1888693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Operations</a:t>
            </a:r>
          </a:p>
        </p:txBody>
      </p:sp>
      <p:sp>
        <p:nvSpPr>
          <p:cNvPr id="1201" name="DurLbl5"/>
          <p:cNvSpPr txBox="1"/>
          <p:nvPr/>
        </p:nvSpPr>
        <p:spPr>
          <a:xfrm>
            <a:off x="10202418" y="1545336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1202" name="DurUL5"/>
          <p:cNvSpPr>
            <a:spLocks noGrp="1"/>
          </p:cNvSpPr>
          <p:nvPr/>
        </p:nvSpPr>
        <p:spPr>
          <a:xfrm>
            <a:off x="10388045" y="1764792"/>
            <a:ext cx="1316269" cy="1463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3" name="DurVal5"/>
          <p:cNvSpPr txBox="1"/>
          <p:nvPr/>
        </p:nvSpPr>
        <p:spPr>
          <a:xfrm>
            <a:off x="10202418" y="1792224"/>
            <a:ext cx="1687525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mbria"/>
              </a:rPr>
              <a:t>Ongoing</a:t>
            </a:r>
          </a:p>
        </p:txBody>
      </p:sp>
      <p:sp>
        <p:nvSpPr>
          <p:cNvPr id="1204" name="Div1_5"/>
          <p:cNvSpPr>
            <a:spLocks noGrp="1"/>
          </p:cNvSpPr>
          <p:nvPr/>
        </p:nvSpPr>
        <p:spPr>
          <a:xfrm>
            <a:off x="10229850" y="2368296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5" name="PainLbl5"/>
          <p:cNvSpPr txBox="1"/>
          <p:nvPr/>
        </p:nvSpPr>
        <p:spPr>
          <a:xfrm>
            <a:off x="10202418" y="2432304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1206" name="PainUL5"/>
          <p:cNvSpPr>
            <a:spLocks noGrp="1"/>
          </p:cNvSpPr>
          <p:nvPr/>
        </p:nvSpPr>
        <p:spPr>
          <a:xfrm>
            <a:off x="10388045" y="2651760"/>
            <a:ext cx="1316269" cy="1463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7" name="PainTxt5"/>
          <p:cNvSpPr txBox="1"/>
          <p:nvPr/>
        </p:nvSpPr>
        <p:spPr>
          <a:xfrm>
            <a:off x="10202418" y="2697480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Alert fatigue &amp; slow triage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Manual runbook execution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Recurring unresolved incidents</a:t>
            </a:r>
          </a:p>
        </p:txBody>
      </p:sp>
      <p:sp>
        <p:nvSpPr>
          <p:cNvPr id="1208" name="Div2_5"/>
          <p:cNvSpPr>
            <a:spLocks noGrp="1"/>
          </p:cNvSpPr>
          <p:nvPr/>
        </p:nvSpPr>
        <p:spPr>
          <a:xfrm>
            <a:off x="10229850" y="3859312"/>
            <a:ext cx="1632661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9" name="ImpLbl5"/>
          <p:cNvSpPr txBox="1"/>
          <p:nvPr/>
        </p:nvSpPr>
        <p:spPr>
          <a:xfrm>
            <a:off x="10202418" y="3923320"/>
            <a:ext cx="1687525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1210" name="ImpUL5"/>
          <p:cNvSpPr>
            <a:spLocks noGrp="1"/>
          </p:cNvSpPr>
          <p:nvPr/>
        </p:nvSpPr>
        <p:spPr>
          <a:xfrm>
            <a:off x="10388045" y="4142776"/>
            <a:ext cx="1316269" cy="1463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1" name="ImpTxt5"/>
          <p:cNvSpPr txBox="1"/>
          <p:nvPr/>
        </p:nvSpPr>
        <p:spPr>
          <a:xfrm>
            <a:off x="10202418" y="4188496"/>
            <a:ext cx="1687525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Extended incident resolution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High operational toil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Eroding service reliability</a:t>
            </a:r>
          </a:p>
        </p:txBody>
      </p:sp>
      <p:sp>
        <p:nvSpPr>
          <p:cNvPr id="1215" name="Banner"/>
          <p:cNvSpPr>
            <a:spLocks noGrp="1"/>
          </p:cNvSpPr>
          <p:nvPr/>
        </p:nvSpPr>
        <p:spPr>
          <a:xfrm>
            <a:off x="201168" y="5815583"/>
            <a:ext cx="11789359" cy="47548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6" name="BannerAccent"/>
          <p:cNvSpPr>
            <a:spLocks noGrp="1"/>
          </p:cNvSpPr>
          <p:nvPr/>
        </p:nvSpPr>
        <p:spPr>
          <a:xfrm>
            <a:off x="219456" y="5879592"/>
            <a:ext cx="45720" cy="34747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7" name="BannerTxt"/>
          <p:cNvSpPr txBox="1"/>
          <p:nvPr/>
        </p:nvSpPr>
        <p:spPr>
          <a:xfrm>
            <a:off x="384048" y="5861303"/>
            <a:ext cx="11533327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l"/>
            <a:r>
              <a:rPr lang="en-US" sz="1200" i="1">
                <a:solidFill>
                  <a:srgbClr val="FFFFFF"/>
                </a:solidFill>
                <a:latin typeface="Calibri"/>
              </a:rPr>
              <a:t>Understanding where value is lost across the SDLC is the first step.  The next section explores how an enterprise AI agent portfolio can systematically address these bottlenecks.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640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A9"/>
                </a:solidFill>
                <a:latin typeface="Calibri"/>
              </a:rPr>
              <a:t>AI &amp; AUTOMATION PROPENSITY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29184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>
                <a:solidFill>
                  <a:srgbClr val="FFFFFF"/>
                </a:solidFill>
                <a:latin typeface="Cambria"/>
              </a:rPr>
              <a:t>Enterprise Agent Coverage Across the Software Development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" y="6684264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CONFIDENTIAL  |  Technology Strategy Practice  | 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84264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932688"/>
            <a:ext cx="1918715" cy="475488"/>
          </a:xfrm>
          <a:prstGeom prst="roundRect">
            <a:avLst>
              <a:gd name="adj" fmla="val 8000"/>
            </a:avLst>
          </a:prstGeom>
          <a:solidFill>
            <a:srgbClr val="DCEE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" y="987552"/>
            <a:ext cx="18089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4748" y="932688"/>
            <a:ext cx="1918715" cy="475488"/>
          </a:xfrm>
          <a:prstGeom prst="roundRect">
            <a:avLst>
              <a:gd name="adj" fmla="val 8000"/>
            </a:avLst>
          </a:prstGeom>
          <a:solidFill>
            <a:srgbClr val="EEE5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29612" y="987552"/>
            <a:ext cx="18089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8327" y="932688"/>
            <a:ext cx="1918715" cy="475488"/>
          </a:xfrm>
          <a:prstGeom prst="roundRect">
            <a:avLst>
              <a:gd name="adj" fmla="val 8000"/>
            </a:avLst>
          </a:prstGeom>
          <a:solidFill>
            <a:srgbClr val="E8F7E8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3191" y="987552"/>
            <a:ext cx="18089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1907" y="932688"/>
            <a:ext cx="1918715" cy="475488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6771" y="987552"/>
            <a:ext cx="18089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5488" y="932688"/>
            <a:ext cx="1918715" cy="475488"/>
          </a:xfrm>
          <a:prstGeom prst="roundRect">
            <a:avLst>
              <a:gd name="adj" fmla="val 8000"/>
            </a:avLst>
          </a:prstGeom>
          <a:solidFill>
            <a:srgbClr val="DDF8F8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0352" y="987552"/>
            <a:ext cx="18089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69068" y="932688"/>
            <a:ext cx="1918715" cy="4754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23932" y="987552"/>
            <a:ext cx="18089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1481328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1536192"/>
            <a:ext cx="91440" cy="9144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1499616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1E40AF"/>
                </a:solidFill>
                <a:latin typeface="Calibri"/>
              </a:rPr>
              <a:t>Dev &amp;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1719072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1168" y="1719072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" y="1764792"/>
            <a:ext cx="139750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Requirements Elicitation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7548" y="1801368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76195" y="1810512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2135124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01168" y="2135124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752" y="2180844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User Story Generator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7548" y="2217420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785813" y="2226563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2551176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01168" y="2551176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1752" y="2596896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Story Sizing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7548" y="2633472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85012" y="2642615"/>
            <a:ext cx="230832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2967228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01168" y="2967228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1752" y="3012948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Dependency Mapper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17548" y="3049524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85813" y="3058668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3419856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74320" y="3474720"/>
            <a:ext cx="91440" cy="91440"/>
          </a:xfrm>
          <a:prstGeom prst="roundRect">
            <a:avLst>
              <a:gd name="adj" fmla="val 5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02336" y="3438144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5B21B6"/>
                </a:solidFill>
                <a:latin typeface="Calibri"/>
              </a:rPr>
              <a:t>Horizontal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3657600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01168" y="3657600"/>
            <a:ext cx="36576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1752" y="3703320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Meeting Intelligence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17548" y="3739896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76195" y="3749039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74748" y="1481328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247900" y="1536192"/>
            <a:ext cx="91440" cy="9144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75916" y="1499616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1E40AF"/>
                </a:solidFill>
                <a:latin typeface="Calibri"/>
              </a:rPr>
              <a:t>Dev &amp; Architecture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74748" y="1719072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174748" y="1719072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275332" y="1764792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Architecture Advisor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91127" y="1801368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49774" y="1810512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74748" y="2135124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174748" y="2135124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275332" y="2180844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API Design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1127" y="2217420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759392" y="2226563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74748" y="2551176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174748" y="2551176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275332" y="2596896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Data Modelling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91127" y="2633472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59392" y="2642615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74748" y="3003804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247900" y="3058668"/>
            <a:ext cx="91440" cy="91440"/>
          </a:xfrm>
          <a:prstGeom prst="roundRect">
            <a:avLst>
              <a:gd name="adj" fmla="val 5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375916" y="3022092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5B21B6"/>
                </a:solidFill>
                <a:latin typeface="Calibri"/>
              </a:rPr>
              <a:t>Horizontal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74748" y="3241548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174748" y="3241548"/>
            <a:ext cx="36576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275332" y="3287268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Legacy Migration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91127" y="3323844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49774" y="3332987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48327" y="1481328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221480" y="1536192"/>
            <a:ext cx="91440" cy="9144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349495" y="1499616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1E40AF"/>
                </a:solidFill>
                <a:latin typeface="Calibri"/>
              </a:rPr>
              <a:t>Dev &amp; Architecture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48327" y="1719072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148327" y="1719072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48912" y="1764792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Code Generation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4707" y="1801368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723354" y="1810512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48327" y="2135124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4148327" y="2135124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48912" y="2180844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Pair Programming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4707" y="2217420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732972" y="2226563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48327" y="2551176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148327" y="2551176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248912" y="2596896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Documentation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4707" y="2633472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32171" y="2642615"/>
            <a:ext cx="230832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48327" y="2967228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148327" y="2967228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248912" y="3012948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Sprint Planner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4707" y="3049524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732972" y="3058668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48327" y="3419856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221480" y="3474720"/>
            <a:ext cx="91440" cy="91440"/>
          </a:xfrm>
          <a:prstGeom prst="roundRect">
            <a:avLst>
              <a:gd name="adj" fmla="val 5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349495" y="3438144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5B21B6"/>
                </a:solidFill>
                <a:latin typeface="Calibri"/>
              </a:rPr>
              <a:t>Horizontal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48327" y="3657600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148327" y="3657600"/>
            <a:ext cx="36576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248912" y="3703320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PII Leak Detection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4707" y="3739896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723354" y="3749039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21907" y="1481328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195059" y="1536192"/>
            <a:ext cx="91440" cy="9144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3075" y="1499616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1E40AF"/>
                </a:solidFill>
                <a:latin typeface="Calibri"/>
              </a:rPr>
              <a:t>Dev &amp; Architecture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1907" y="1719072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6121907" y="1719072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22492" y="1764792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Test Generation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638288" y="1801368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706553" y="1810512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21907" y="2135124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121907" y="2135124"/>
            <a:ext cx="36576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22492" y="2180844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Peer Review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38288" y="2217420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06553" y="2226563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95488" y="1481328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8168640" y="1536192"/>
            <a:ext cx="91440" cy="91440"/>
          </a:xfrm>
          <a:prstGeom prst="roundRect">
            <a:avLst>
              <a:gd name="adj" fmla="val 5000"/>
            </a:avLst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296656" y="1499616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065F46"/>
                </a:solidFill>
                <a:latin typeface="Calibri"/>
              </a:rPr>
              <a:t>Operations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95488" y="1719072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8095488" y="1719072"/>
            <a:ext cx="36576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196072" y="1764792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Release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611868" y="1801368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680133" y="1810512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95488" y="2171700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8168640" y="2226564"/>
            <a:ext cx="91440" cy="91440"/>
          </a:xfrm>
          <a:prstGeom prst="roundRect">
            <a:avLst>
              <a:gd name="adj" fmla="val 5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296656" y="2189988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5B21B6"/>
                </a:solidFill>
                <a:latin typeface="Calibri"/>
              </a:rPr>
              <a:t>Horizontal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95488" y="2409444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8095488" y="2409444"/>
            <a:ext cx="36576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196072" y="2455163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Codebase Navigator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11868" y="2491739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670515" y="2500883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69068" y="1481328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142220" y="1536192"/>
            <a:ext cx="91440" cy="91440"/>
          </a:xfrm>
          <a:prstGeom prst="roundRect">
            <a:avLst>
              <a:gd name="adj" fmla="val 5000"/>
            </a:avLst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0270236" y="1499616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065F46"/>
                </a:solidFill>
                <a:latin typeface="Calibri"/>
              </a:rPr>
              <a:t>Operations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069068" y="1719072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0069068" y="1719072"/>
            <a:ext cx="36576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169652" y="1764792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Triaging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585448" y="1801368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1653713" y="1810512"/>
            <a:ext cx="229229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069068" y="2135124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0069068" y="2135124"/>
            <a:ext cx="36576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0169652" y="2180844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Root Cause Analysis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585448" y="2217420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1644095" y="2226563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069068" y="2551176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0069068" y="2551176"/>
            <a:ext cx="36576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169652" y="2596896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Auto-Remediation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585448" y="2633472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1644095" y="2642615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069068" y="2967228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0069068" y="2967228"/>
            <a:ext cx="36576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0169652" y="3012948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Access Provisioner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585448" y="3049524"/>
            <a:ext cx="365760" cy="201168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1644095" y="3058668"/>
            <a:ext cx="248465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069068" y="3383280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0069068" y="3383280"/>
            <a:ext cx="36576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169652" y="3429000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Runbook Tutor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585448" y="3465576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1652912" y="3474720"/>
            <a:ext cx="230832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069068" y="3835908"/>
            <a:ext cx="1918715" cy="201168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0142220" y="3890772"/>
            <a:ext cx="91440" cy="91440"/>
          </a:xfrm>
          <a:prstGeom prst="roundRect">
            <a:avLst>
              <a:gd name="adj" fmla="val 5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270236" y="3854196"/>
            <a:ext cx="168097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1" i="0">
                <a:solidFill>
                  <a:srgbClr val="5B21B6"/>
                </a:solidFill>
                <a:latin typeface="Calibri"/>
              </a:rPr>
              <a:t>Horizontal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069068" y="4073652"/>
            <a:ext cx="1918715" cy="365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10069068" y="4073652"/>
            <a:ext cx="36576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169652" y="4119372"/>
            <a:ext cx="13975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>
                <a:solidFill>
                  <a:srgbClr val="0B1F3A"/>
                </a:solidFill>
                <a:latin typeface="Calibri"/>
              </a:rPr>
              <a:t>Learning Path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585448" y="4155948"/>
            <a:ext cx="365760" cy="20116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11652912" y="4165091"/>
            <a:ext cx="230832" cy="230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n-US" sz="900" b="1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01168" y="63367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PORTFOLIO: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96112" y="6336792"/>
            <a:ext cx="1280160" cy="256032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60120" y="6419088"/>
            <a:ext cx="91440" cy="9144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1078992" y="636422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40AF"/>
                </a:solidFill>
                <a:latin typeface="Calibri"/>
              </a:rPr>
              <a:t>Dev &amp; Architecture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249424" y="6336792"/>
            <a:ext cx="1280160" cy="256032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2313432" y="6419088"/>
            <a:ext cx="91440" cy="91440"/>
          </a:xfrm>
          <a:prstGeom prst="roundRect">
            <a:avLst>
              <a:gd name="adj" fmla="val 5000"/>
            </a:avLst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432304" y="636422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5F46"/>
                </a:solidFill>
                <a:latin typeface="Calibri"/>
              </a:rPr>
              <a:t>Operations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602736" y="6336792"/>
            <a:ext cx="1280160" cy="256032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3666744" y="6419088"/>
            <a:ext cx="91440" cy="91440"/>
          </a:xfrm>
          <a:prstGeom prst="roundRect">
            <a:avLst>
              <a:gd name="adj" fmla="val 5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3785615" y="636422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21B6"/>
                </a:solidFill>
                <a:latin typeface="Calibri"/>
              </a:rPr>
              <a:t>Horizontal Enterprise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065776" y="63367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IMPACT: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669280" y="6336792"/>
            <a:ext cx="640080" cy="256032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5669280" y="63642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5F46"/>
                </a:solidFill>
                <a:latin typeface="Calibri"/>
              </a:rPr>
              <a:t>High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373368" y="6336792"/>
            <a:ext cx="640080" cy="25603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6373368" y="63642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2400E"/>
                </a:solidFill>
                <a:latin typeface="Calibri"/>
              </a:rPr>
              <a:t>Med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077456" y="6336792"/>
            <a:ext cx="640080" cy="256032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7077456" y="63642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789920" y="63367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B1F3A"/>
                </a:solidFill>
                <a:latin typeface="Calibri"/>
              </a:rPr>
              <a:t>24 Agents Mapped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AGENT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Portfolio View — 12 Assessed Agents  |  Effort · Impact · HITL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116586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9326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0" y="9326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0" y="932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298448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33502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3167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 Agent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15544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0" y="12984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8408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8408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1741932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177850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17602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Generator Agent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19979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23360" y="17419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8408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8408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2185416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56032" y="2221992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203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Advisor Agent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24414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0" y="21854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7512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512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2960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78408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8408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2628900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56032" y="2665476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26471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Agent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65760" y="28849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023360" y="26289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7512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7512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2960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22960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78408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78408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6032" y="3072384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56032" y="3108960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Agent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65760" y="33284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023360" y="307238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7512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67512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22960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2960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78408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78408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56032" y="3515868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56032" y="355244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65760" y="35341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Planner Agent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365760" y="37719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Planning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023360" y="35158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Planning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67512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67512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22960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22960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78408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78408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6032" y="3959352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56032" y="399592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65760" y="3977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Sizing Agent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365760" y="421538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Planning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02336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Planning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67512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7512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2960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22960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78408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78408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56032" y="4402836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56032" y="4439412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65760" y="44211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Agent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365760" y="46588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4023360" y="44028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675120" y="449427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675120" y="44942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8229600" y="449427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8229600" y="44942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784080" y="449427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784080" y="44942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56032" y="4846320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56032" y="4882896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65760" y="4864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Agent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365760" y="51023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023360" y="48463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6675120" y="49377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667512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8229600" y="49377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822960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9784080" y="49377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978408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56032" y="5289804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256032" y="5326380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65760" y="53080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Agent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365760" y="55458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4023360" y="52898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6675120" y="538124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675120" y="53812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229600" y="538124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8229600" y="53812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9784080" y="538124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9784080" y="53812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56032" y="5733288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256032" y="576986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365760" y="57515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>
            <a:off x="365760" y="59893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4023360" y="5733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Coding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6675120" y="582472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6675120" y="5824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8229600" y="582472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8229600" y="5824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9784080" y="582472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9784080" y="5824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256032" y="6176772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256032" y="621334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65760" y="61950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 Agent</a:t>
            </a:r>
            <a:endParaRPr lang="en-US" sz="1050" dirty="0"/>
          </a:p>
        </p:txBody>
      </p:sp>
      <p:sp>
        <p:nvSpPr>
          <p:cNvPr id="138" name="Text 136"/>
          <p:cNvSpPr/>
          <p:nvPr/>
        </p:nvSpPr>
        <p:spPr>
          <a:xfrm>
            <a:off x="365760" y="643280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4023360" y="61767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6675120" y="62682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675120" y="62682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8229600" y="62682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8229600" y="62682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9784080" y="62682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9784080" y="62682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AGENT LANDSCAPE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Ops Portfolio  —  7 Assessed Agents  |  Effort · Impact · HITL · Deployment Phase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116586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023360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6583680" y="9326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8138160" y="9326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692640" y="932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256032" y="1298448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33502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3167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Agent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65760" y="15544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Transition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4023360" y="12984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Transition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667512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822960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978408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8408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256032" y="1741932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177850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17602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 Agent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65760" y="19979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4023360" y="17419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667512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822960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978408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8408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256032" y="2185416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56032" y="2221992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203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Agent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65760" y="24414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Diagnosis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4023360" y="21854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Diagnosis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67512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512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822960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978408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8408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256032" y="2628900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56032" y="2665476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26471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Agent</a:t>
            </a:r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365760" y="28849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&amp; Recovery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4023360" y="26289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&amp; Recovery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667512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7512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822960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22960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978408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78408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58" name="Shape 56"/>
          <p:cNvSpPr/>
          <p:nvPr/>
        </p:nvSpPr>
        <p:spPr>
          <a:xfrm>
            <a:off x="256032" y="3072384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56032" y="3108960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Provisioner Agent</a:t>
            </a:r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365760" y="33284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850"/>
          </a:p>
        </p:txBody>
      </p:sp>
      <p:sp>
        <p:nvSpPr>
          <p:cNvPr id="62" name="Text 60"/>
          <p:cNvSpPr/>
          <p:nvPr/>
        </p:nvSpPr>
        <p:spPr>
          <a:xfrm>
            <a:off x="4023360" y="307238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50"/>
          </a:p>
        </p:txBody>
      </p:sp>
      <p:sp>
        <p:nvSpPr>
          <p:cNvPr id="63" name="Shape 61"/>
          <p:cNvSpPr/>
          <p:nvPr/>
        </p:nvSpPr>
        <p:spPr>
          <a:xfrm>
            <a:off x="667512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67512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65" name="Shape 63"/>
          <p:cNvSpPr/>
          <p:nvPr/>
        </p:nvSpPr>
        <p:spPr>
          <a:xfrm>
            <a:off x="822960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2960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9784080" y="316382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78408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69" name="Shape 67"/>
          <p:cNvSpPr/>
          <p:nvPr/>
        </p:nvSpPr>
        <p:spPr>
          <a:xfrm>
            <a:off x="256032" y="3515868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56032" y="355244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65760" y="35341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Tutor Agent</a:t>
            </a:r>
            <a:endParaRPr lang="en-US" sz="1050"/>
          </a:p>
        </p:txBody>
      </p:sp>
      <p:sp>
        <p:nvSpPr>
          <p:cNvPr id="72" name="Text 70"/>
          <p:cNvSpPr/>
          <p:nvPr/>
        </p:nvSpPr>
        <p:spPr>
          <a:xfrm>
            <a:off x="365760" y="37719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On-boarding</a:t>
            </a:r>
            <a:endParaRPr lang="en-US" sz="850"/>
          </a:p>
        </p:txBody>
      </p:sp>
      <p:sp>
        <p:nvSpPr>
          <p:cNvPr id="73" name="Text 71"/>
          <p:cNvSpPr/>
          <p:nvPr/>
        </p:nvSpPr>
        <p:spPr>
          <a:xfrm>
            <a:off x="4023360" y="35158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On-boarding</a:t>
            </a:r>
            <a:endParaRPr lang="en-US" sz="950"/>
          </a:p>
        </p:txBody>
      </p:sp>
      <p:sp>
        <p:nvSpPr>
          <p:cNvPr id="74" name="Shape 72"/>
          <p:cNvSpPr/>
          <p:nvPr/>
        </p:nvSpPr>
        <p:spPr>
          <a:xfrm>
            <a:off x="667512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67512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76" name="Shape 74"/>
          <p:cNvSpPr/>
          <p:nvPr/>
        </p:nvSpPr>
        <p:spPr>
          <a:xfrm>
            <a:off x="822960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22960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/>
          </a:p>
        </p:txBody>
      </p:sp>
      <p:sp>
        <p:nvSpPr>
          <p:cNvPr id="78" name="Shape 76"/>
          <p:cNvSpPr/>
          <p:nvPr/>
        </p:nvSpPr>
        <p:spPr>
          <a:xfrm>
            <a:off x="9784080" y="36073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784080" y="36073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80" name="Shape 78"/>
          <p:cNvSpPr/>
          <p:nvPr/>
        </p:nvSpPr>
        <p:spPr>
          <a:xfrm>
            <a:off x="256032" y="3959352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56032" y="399592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65760" y="3977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Navigator Agent</a:t>
            </a:r>
            <a:endParaRPr lang="en-US" sz="1050"/>
          </a:p>
        </p:txBody>
      </p:sp>
      <p:sp>
        <p:nvSpPr>
          <p:cNvPr id="83" name="Text 81"/>
          <p:cNvSpPr/>
          <p:nvPr/>
        </p:nvSpPr>
        <p:spPr>
          <a:xfrm>
            <a:off x="365760" y="421538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On-boarding</a:t>
            </a:r>
            <a:endParaRPr lang="en-US" sz="850"/>
          </a:p>
        </p:txBody>
      </p:sp>
      <p:sp>
        <p:nvSpPr>
          <p:cNvPr id="84" name="Text 82"/>
          <p:cNvSpPr/>
          <p:nvPr/>
        </p:nvSpPr>
        <p:spPr>
          <a:xfrm>
            <a:off x="402336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On-boarding</a:t>
            </a:r>
            <a:endParaRPr lang="en-US" sz="950"/>
          </a:p>
        </p:txBody>
      </p:sp>
      <p:sp>
        <p:nvSpPr>
          <p:cNvPr id="85" name="Shape 83"/>
          <p:cNvSpPr/>
          <p:nvPr/>
        </p:nvSpPr>
        <p:spPr>
          <a:xfrm>
            <a:off x="667512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7512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87" name="Shape 85"/>
          <p:cNvSpPr/>
          <p:nvPr/>
        </p:nvSpPr>
        <p:spPr>
          <a:xfrm>
            <a:off x="822960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22960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89" name="Shape 87"/>
          <p:cNvSpPr/>
          <p:nvPr/>
        </p:nvSpPr>
        <p:spPr>
          <a:xfrm>
            <a:off x="9784080" y="40507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784080" y="4050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AGENT LANDSCAPE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Enterprise Capabilities  —  4 Assessed Agents  |  Effort · Impact · HITL · Deployment Phase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116586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023360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6583680" y="9326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8138160" y="9326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692640" y="932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256032" y="1298448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335024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3167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Agent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65760" y="15544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Collaboration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4023360" y="12984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Collaboration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667512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822960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9784080" y="1389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8408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256032" y="1741932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1778508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17602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Agent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65760" y="19979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4023360" y="17419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667512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822960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9784080" y="183337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84080" y="18333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256032" y="2185416"/>
            <a:ext cx="11658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56032" y="2221992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203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 Detection Agent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65760" y="24414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4023360" y="21854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67512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512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822960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9784080" y="227685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8408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256032" y="2628900"/>
            <a:ext cx="1165860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56032" y="2665476"/>
            <a:ext cx="36576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26471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Migration Agent</a:t>
            </a:r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365760" y="28849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&amp; Modernisation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4023360" y="26289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&amp; Modernisation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667512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7512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822960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22960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9784080" y="272034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784080" y="27203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VS IMPACT PRIORITIZATION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Prioritization Matrix — 23 Assessed Agents  |  X-axis: Impact  |  Y-axis: Effort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5824728" cy="278892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069848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6245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· Low Effort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5824728" cy="278892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069848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36245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· Low Effort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3749040"/>
            <a:ext cx="5824728" cy="27889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3858768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415137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· High Effort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749040"/>
            <a:ext cx="5824728" cy="27889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3858768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INVESTMENTS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415137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· High Effort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0" cy="5577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749040"/>
            <a:ext cx="1164945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612648"/>
            <a:ext cx="1164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EFFORT     HIGH EFFORT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16200000">
            <a:off x="-219456" y="2354580"/>
            <a:ext cx="457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168249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Sizing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87168" y="168249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33472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Tutor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572768" y="223113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19072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00216" y="168249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37576" y="168249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8388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0216" y="223113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37576" y="223113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8388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Generator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00216" y="273405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4652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37576" y="273405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18388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68896" y="323697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" y="447141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304288" y="447141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450592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6928" y="511149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3232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304288" y="511149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450592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0216" y="437997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4652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Elicitation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854696" y="437997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00100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00216" y="497433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46520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854696" y="497433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001000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Advisor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300216" y="5568696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46520" y="5532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854696" y="556869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001000" y="5532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Navigator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300216" y="616305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46520" y="6126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854696" y="616305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001000" y="6126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077456" y="67116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223760" y="6675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Migration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951976" y="616305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098280" y="6126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Provisioner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828800" y="6492240"/>
            <a:ext cx="128016" cy="128016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029968" y="6464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029200" y="6492240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230368" y="6464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229600" y="649224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430768" y="6464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C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drBand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/>
          </a:p>
        </p:txBody>
      </p:sp>
      <p:sp>
        <p:nvSpPr>
          <p:cNvPr id="12" name="Eyebrow"/>
          <p:cNvSpPr txBox="1"/>
          <p:nvPr/>
        </p:nvSpPr>
        <p:spPr>
          <a:xfrm>
            <a:off x="365760" y="91440"/>
            <a:ext cx="9000000" cy="25603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>
                <a:solidFill>
                  <a:srgbClr val="00B8A9"/>
                </a:solidFill>
                <a:latin typeface="Calibri"/>
              </a:rPr>
              <a:t>PROOF-OF-CONCEPT SHOWCASE  ·  AGENT DEMONSTRATIONS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365760" y="329184"/>
            <a:ext cx="11460000" cy="42062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Calibri"/>
              </a:rPr>
              <a:t>Three Agent POCs — What You'll See Next</a:t>
            </a:r>
          </a:p>
        </p:txBody>
      </p:sp>
      <p:sp>
        <p:nvSpPr>
          <p:cNvPr id="14" name="FtrBand"/>
          <p:cNvSpPr/>
          <p:nvPr/>
        </p:nvSpPr>
        <p:spPr>
          <a:xfrm>
            <a:off x="0" y="6656832"/>
            <a:ext cx="12192000" cy="182880"/>
          </a:xfrm>
          <a:prstGeom prst="rect">
            <a:avLst/>
          </a:prstGeom>
          <a:solidFill>
            <a:srgbClr val="F3F4F6"/>
          </a:solidFill>
        </p:spPr>
        <p:txBody>
          <a:bodyPr/>
          <a:lstStyle/>
          <a:p>
            <a:endParaRPr/>
          </a:p>
        </p:txBody>
      </p:sp>
      <p:sp>
        <p:nvSpPr>
          <p:cNvPr id="15" name="FtrTxt"/>
          <p:cNvSpPr txBox="1"/>
          <p:nvPr/>
        </p:nvSpPr>
        <p:spPr>
          <a:xfrm>
            <a:off x="320040" y="6684264"/>
            <a:ext cx="8229600" cy="146304"/>
          </a:xfrm>
          <a:prstGeom prst="rect">
            <a:avLst/>
          </a:prstGeom>
          <a:noFill/>
        </p:spPr>
        <p:txBody>
          <a:bodyPr wrap="square" rtlCol="0" anchor="ctr">
            <a:normAutofit fontScale="55000" lnSpcReduction="20000"/>
          </a:bodyPr>
          <a:lstStyle/>
          <a:p>
            <a:pPr algn="l"/>
            <a:r>
              <a:rPr lang="en-US" sz="800">
                <a:solidFill>
                  <a:srgbClr val="9CA3AF"/>
                </a:solidFill>
                <a:latin typeface="Calibri"/>
              </a:rPr>
              <a:t>CONFIDENTIAL  |  Technology Strategy Practice  |  Not for Distribution</a:t>
            </a:r>
          </a:p>
        </p:txBody>
      </p:sp>
      <p:sp>
        <p:nvSpPr>
          <p:cNvPr id="16" name="PageNum"/>
          <p:cNvSpPr txBox="1"/>
          <p:nvPr/>
        </p:nvSpPr>
        <p:spPr>
          <a:xfrm>
            <a:off x="11526240" y="6684264"/>
            <a:ext cx="365760" cy="146304"/>
          </a:xfrm>
          <a:prstGeom prst="rect">
            <a:avLst/>
          </a:prstGeom>
          <a:noFill/>
        </p:spPr>
        <p:txBody>
          <a:bodyPr wrap="square" rtlCol="0" anchor="ctr">
            <a:normAutofit fontScale="55000" lnSpcReduction="20000"/>
          </a:bodyPr>
          <a:lstStyle/>
          <a:p>
            <a:pPr algn="r"/>
            <a:r>
              <a:rPr lang="en-US" sz="80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  <p:sp>
        <p:nvSpPr>
          <p:cNvPr id="17" name="Card0"/>
          <p:cNvSpPr/>
          <p:nvPr/>
        </p:nvSpPr>
        <p:spPr>
          <a:xfrm>
            <a:off x="365760" y="966000"/>
            <a:ext cx="3620160" cy="5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CardHdr0"/>
          <p:cNvSpPr/>
          <p:nvPr/>
        </p:nvSpPr>
        <p:spPr>
          <a:xfrm>
            <a:off x="365760" y="966000"/>
            <a:ext cx="3620160" cy="470000"/>
          </a:xfrm>
          <a:prstGeom prst="round2SameRect">
            <a:avLst>
              <a:gd name="adj1" fmla="val 23107"/>
              <a:gd name="adj2" fmla="val 0"/>
            </a:avLst>
          </a:prstGeom>
          <a:solidFill>
            <a:srgbClr val="EDE9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CardTitle0"/>
          <p:cNvSpPr txBox="1"/>
          <p:nvPr/>
        </p:nvSpPr>
        <p:spPr>
          <a:xfrm>
            <a:off x="365760" y="966000"/>
            <a:ext cx="3620160" cy="47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PII Guardrail Agent</a:t>
            </a:r>
          </a:p>
        </p:txBody>
      </p:sp>
      <p:sp>
        <p:nvSpPr>
          <p:cNvPr id="20" name="Shot0"/>
          <p:cNvSpPr/>
          <p:nvPr/>
        </p:nvSpPr>
        <p:spPr>
          <a:xfrm>
            <a:off x="565760" y="1506000"/>
            <a:ext cx="3220160" cy="1420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5E7E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Shot0Badge"/>
          <p:cNvSpPr/>
          <p:nvPr/>
        </p:nvSpPr>
        <p:spPr>
          <a:xfrm>
            <a:off x="1895840" y="1846000"/>
            <a:ext cx="560000" cy="56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Shot0Play"/>
          <p:cNvSpPr/>
          <p:nvPr/>
        </p:nvSpPr>
        <p:spPr>
          <a:xfrm rot="5400000">
            <a:off x="2102840" y="2021000"/>
            <a:ext cx="190000" cy="21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ShotCap0"/>
          <p:cNvSpPr txBox="1"/>
          <p:nvPr/>
        </p:nvSpPr>
        <p:spPr>
          <a:xfrm>
            <a:off x="565760" y="2566000"/>
            <a:ext cx="3220160" cy="3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50">
                <a:solidFill>
                  <a:srgbClr val="94A3B8"/>
                </a:solidFill>
                <a:latin typeface="Calibri"/>
              </a:rPr>
              <a:t>Screenshot — shown on the following slide</a:t>
            </a:r>
          </a:p>
        </p:txBody>
      </p:sp>
      <p:sp>
        <p:nvSpPr>
          <p:cNvPr id="24" name="DES0"/>
          <p:cNvSpPr txBox="1"/>
          <p:nvPr/>
        </p:nvSpPr>
        <p:spPr>
          <a:xfrm>
            <a:off x="565760" y="302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7C3AED"/>
                </a:solidFill>
                <a:latin typeface="Calibri"/>
              </a:rPr>
              <a:t>DESCRIPTION</a:t>
            </a:r>
          </a:p>
        </p:txBody>
      </p:sp>
      <p:sp>
        <p:nvSpPr>
          <p:cNvPr id="25" name="DESUL0"/>
          <p:cNvSpPr/>
          <p:nvPr/>
        </p:nvSpPr>
        <p:spPr>
          <a:xfrm>
            <a:off x="565760" y="3226000"/>
            <a:ext cx="900000" cy="1463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26" name="DESTxt0"/>
          <p:cNvSpPr txBox="1"/>
          <p:nvPr/>
        </p:nvSpPr>
        <p:spPr>
          <a:xfrm>
            <a:off x="565760" y="327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950">
                <a:solidFill>
                  <a:srgbClr val="374151"/>
                </a:solidFill>
                <a:latin typeface="Calibri"/>
              </a:rPr>
              <a:t>Detects and redacts sensitive personal data across prompts, code, logs, and data flows before it leaves trusted boundaries.</a:t>
            </a:r>
          </a:p>
        </p:txBody>
      </p:sp>
      <p:sp>
        <p:nvSpPr>
          <p:cNvPr id="27" name="Div1_0"/>
          <p:cNvSpPr/>
          <p:nvPr/>
        </p:nvSpPr>
        <p:spPr>
          <a:xfrm>
            <a:off x="485760" y="4031000"/>
            <a:ext cx="338016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8" name="BEN0"/>
          <p:cNvSpPr txBox="1"/>
          <p:nvPr/>
        </p:nvSpPr>
        <p:spPr>
          <a:xfrm>
            <a:off x="565760" y="410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7C3AED"/>
                </a:solidFill>
                <a:latin typeface="Calibri"/>
              </a:rPr>
              <a:t>BENEFIT</a:t>
            </a:r>
          </a:p>
        </p:txBody>
      </p:sp>
      <p:sp>
        <p:nvSpPr>
          <p:cNvPr id="29" name="BENUL0"/>
          <p:cNvSpPr/>
          <p:nvPr/>
        </p:nvSpPr>
        <p:spPr>
          <a:xfrm>
            <a:off x="565760" y="4306000"/>
            <a:ext cx="900000" cy="1463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30" name="BENTxt0"/>
          <p:cNvSpPr txBox="1"/>
          <p:nvPr/>
        </p:nvSpPr>
        <p:spPr>
          <a:xfrm>
            <a:off x="565760" y="435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950">
                <a:solidFill>
                  <a:srgbClr val="374151"/>
                </a:solidFill>
                <a:latin typeface="Calibri"/>
              </a:rPr>
              <a:t>Lowers data-leak and compliance risk while keeping developers fast — privacy controls are applied automatically.</a:t>
            </a:r>
          </a:p>
        </p:txBody>
      </p:sp>
      <p:sp>
        <p:nvSpPr>
          <p:cNvPr id="31" name="Div2_0"/>
          <p:cNvSpPr/>
          <p:nvPr/>
        </p:nvSpPr>
        <p:spPr>
          <a:xfrm>
            <a:off x="485760" y="5111000"/>
            <a:ext cx="338016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32" name="POI0"/>
          <p:cNvSpPr txBox="1"/>
          <p:nvPr/>
        </p:nvSpPr>
        <p:spPr>
          <a:xfrm>
            <a:off x="565760" y="518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7C3AED"/>
                </a:solidFill>
                <a:latin typeface="Calibri"/>
              </a:rPr>
              <a:t>POINT OF VIEW</a:t>
            </a:r>
          </a:p>
        </p:txBody>
      </p:sp>
      <p:sp>
        <p:nvSpPr>
          <p:cNvPr id="33" name="POIUL0"/>
          <p:cNvSpPr/>
          <p:nvPr/>
        </p:nvSpPr>
        <p:spPr>
          <a:xfrm>
            <a:off x="565760" y="5386000"/>
            <a:ext cx="900000" cy="1463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34" name="POITxt0"/>
          <p:cNvSpPr txBox="1"/>
          <p:nvPr/>
        </p:nvSpPr>
        <p:spPr>
          <a:xfrm>
            <a:off x="565760" y="543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lang="en-US" sz="950" i="1">
                <a:solidFill>
                  <a:srgbClr val="6B7280"/>
                </a:solidFill>
                <a:latin typeface="Calibri"/>
              </a:rPr>
              <a:t>Privacy by design, enforced in real time — protection shifts left instead of being bolted on.</a:t>
            </a:r>
          </a:p>
        </p:txBody>
      </p:sp>
      <p:sp>
        <p:nvSpPr>
          <p:cNvPr id="35" name="Card1"/>
          <p:cNvSpPr/>
          <p:nvPr/>
        </p:nvSpPr>
        <p:spPr>
          <a:xfrm>
            <a:off x="4285920" y="966000"/>
            <a:ext cx="3620160" cy="5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CardHdr1"/>
          <p:cNvSpPr/>
          <p:nvPr/>
        </p:nvSpPr>
        <p:spPr>
          <a:xfrm>
            <a:off x="4285920" y="966000"/>
            <a:ext cx="3620160" cy="470000"/>
          </a:xfrm>
          <a:prstGeom prst="round2SameRect">
            <a:avLst>
              <a:gd name="adj1" fmla="val 23107"/>
              <a:gd name="adj2" fmla="val 0"/>
            </a:avLst>
          </a:prstGeom>
          <a:solidFill>
            <a:srgbClr val="FFED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CardTitle1"/>
          <p:cNvSpPr txBox="1"/>
          <p:nvPr/>
        </p:nvSpPr>
        <p:spPr>
          <a:xfrm>
            <a:off x="4285920" y="966000"/>
            <a:ext cx="3620160" cy="47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Triaging Agent</a:t>
            </a:r>
          </a:p>
        </p:txBody>
      </p:sp>
      <p:sp>
        <p:nvSpPr>
          <p:cNvPr id="38" name="Shot1"/>
          <p:cNvSpPr/>
          <p:nvPr/>
        </p:nvSpPr>
        <p:spPr>
          <a:xfrm>
            <a:off x="4485920" y="1506000"/>
            <a:ext cx="3220160" cy="1420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5E7E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Shot1Badge"/>
          <p:cNvSpPr/>
          <p:nvPr/>
        </p:nvSpPr>
        <p:spPr>
          <a:xfrm>
            <a:off x="5816000" y="1846000"/>
            <a:ext cx="560000" cy="560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Shot1Play"/>
          <p:cNvSpPr/>
          <p:nvPr/>
        </p:nvSpPr>
        <p:spPr>
          <a:xfrm rot="5400000">
            <a:off x="6023000" y="2021000"/>
            <a:ext cx="190000" cy="21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ShotCap1"/>
          <p:cNvSpPr txBox="1"/>
          <p:nvPr/>
        </p:nvSpPr>
        <p:spPr>
          <a:xfrm>
            <a:off x="4485920" y="2566000"/>
            <a:ext cx="3220160" cy="3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50">
                <a:solidFill>
                  <a:srgbClr val="94A3B8"/>
                </a:solidFill>
                <a:latin typeface="Calibri"/>
              </a:rPr>
              <a:t>Screenshot — shown on the following slide</a:t>
            </a:r>
          </a:p>
        </p:txBody>
      </p:sp>
      <p:sp>
        <p:nvSpPr>
          <p:cNvPr id="42" name="DES1"/>
          <p:cNvSpPr txBox="1"/>
          <p:nvPr/>
        </p:nvSpPr>
        <p:spPr>
          <a:xfrm>
            <a:off x="4485920" y="302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EA580C"/>
                </a:solidFill>
                <a:latin typeface="Calibri"/>
              </a:rPr>
              <a:t>DESCRIPTION</a:t>
            </a:r>
          </a:p>
        </p:txBody>
      </p:sp>
      <p:sp>
        <p:nvSpPr>
          <p:cNvPr id="43" name="DESUL1"/>
          <p:cNvSpPr/>
          <p:nvPr/>
        </p:nvSpPr>
        <p:spPr>
          <a:xfrm>
            <a:off x="4485920" y="3226000"/>
            <a:ext cx="900000" cy="1463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44" name="DESTxt1"/>
          <p:cNvSpPr txBox="1"/>
          <p:nvPr/>
        </p:nvSpPr>
        <p:spPr>
          <a:xfrm>
            <a:off x="4485920" y="327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950">
                <a:solidFill>
                  <a:srgbClr val="374151"/>
                </a:solidFill>
                <a:latin typeface="Calibri"/>
              </a:rPr>
              <a:t>Classifies incoming incidents and alerts, correlates related signals, and routes each to the right owner with suggested next steps.</a:t>
            </a:r>
          </a:p>
        </p:txBody>
      </p:sp>
      <p:sp>
        <p:nvSpPr>
          <p:cNvPr id="45" name="Div1_1"/>
          <p:cNvSpPr/>
          <p:nvPr/>
        </p:nvSpPr>
        <p:spPr>
          <a:xfrm>
            <a:off x="4405920" y="4031000"/>
            <a:ext cx="338016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46" name="BEN1"/>
          <p:cNvSpPr txBox="1"/>
          <p:nvPr/>
        </p:nvSpPr>
        <p:spPr>
          <a:xfrm>
            <a:off x="4485920" y="410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EA580C"/>
                </a:solidFill>
                <a:latin typeface="Calibri"/>
              </a:rPr>
              <a:t>BENEFIT</a:t>
            </a:r>
          </a:p>
        </p:txBody>
      </p:sp>
      <p:sp>
        <p:nvSpPr>
          <p:cNvPr id="47" name="BENUL1"/>
          <p:cNvSpPr/>
          <p:nvPr/>
        </p:nvSpPr>
        <p:spPr>
          <a:xfrm>
            <a:off x="4485920" y="4306000"/>
            <a:ext cx="900000" cy="1463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48" name="BENTxt1"/>
          <p:cNvSpPr txBox="1"/>
          <p:nvPr/>
        </p:nvSpPr>
        <p:spPr>
          <a:xfrm>
            <a:off x="4485920" y="435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950">
                <a:solidFill>
                  <a:srgbClr val="374151"/>
                </a:solidFill>
                <a:latin typeface="Calibri"/>
              </a:rPr>
              <a:t>Cuts mean-time-to-triage and alert fatigue, accelerating resolution and improving service reliability.</a:t>
            </a:r>
          </a:p>
        </p:txBody>
      </p:sp>
      <p:sp>
        <p:nvSpPr>
          <p:cNvPr id="49" name="Div2_1"/>
          <p:cNvSpPr/>
          <p:nvPr/>
        </p:nvSpPr>
        <p:spPr>
          <a:xfrm>
            <a:off x="4405920" y="5111000"/>
            <a:ext cx="338016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50" name="POI1"/>
          <p:cNvSpPr txBox="1"/>
          <p:nvPr/>
        </p:nvSpPr>
        <p:spPr>
          <a:xfrm>
            <a:off x="4485920" y="518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EA580C"/>
                </a:solidFill>
                <a:latin typeface="Calibri"/>
              </a:rPr>
              <a:t>POINT OF VIEW</a:t>
            </a:r>
          </a:p>
        </p:txBody>
      </p:sp>
      <p:sp>
        <p:nvSpPr>
          <p:cNvPr id="51" name="POIUL1"/>
          <p:cNvSpPr/>
          <p:nvPr/>
        </p:nvSpPr>
        <p:spPr>
          <a:xfrm>
            <a:off x="4485920" y="5386000"/>
            <a:ext cx="900000" cy="1463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52" name="POITxt1"/>
          <p:cNvSpPr txBox="1"/>
          <p:nvPr/>
        </p:nvSpPr>
        <p:spPr>
          <a:xfrm>
            <a:off x="4485920" y="543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lang="en-US" sz="950" i="1">
                <a:solidFill>
                  <a:srgbClr val="6B7280"/>
                </a:solidFill>
                <a:latin typeface="Calibri"/>
              </a:rPr>
              <a:t>Autonomous first response frees engineers to fix problems, not sort through noise.</a:t>
            </a:r>
          </a:p>
        </p:txBody>
      </p:sp>
      <p:sp>
        <p:nvSpPr>
          <p:cNvPr id="53" name="Card2"/>
          <p:cNvSpPr/>
          <p:nvPr/>
        </p:nvSpPr>
        <p:spPr>
          <a:xfrm>
            <a:off x="8206080" y="966000"/>
            <a:ext cx="3620160" cy="5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CardHdr2"/>
          <p:cNvSpPr/>
          <p:nvPr/>
        </p:nvSpPr>
        <p:spPr>
          <a:xfrm>
            <a:off x="8206080" y="966000"/>
            <a:ext cx="3620160" cy="470000"/>
          </a:xfrm>
          <a:prstGeom prst="round2SameRect">
            <a:avLst>
              <a:gd name="adj1" fmla="val 23107"/>
              <a:gd name="adj2" fmla="val 0"/>
            </a:avLst>
          </a:prstGeom>
          <a:solidFill>
            <a:srgbClr val="FCE7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CardTitle2"/>
          <p:cNvSpPr txBox="1"/>
          <p:nvPr/>
        </p:nvSpPr>
        <p:spPr>
          <a:xfrm>
            <a:off x="8206080" y="966000"/>
            <a:ext cx="3620160" cy="47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Story Generation Agent</a:t>
            </a:r>
          </a:p>
        </p:txBody>
      </p:sp>
      <p:sp>
        <p:nvSpPr>
          <p:cNvPr id="56" name="Shot2"/>
          <p:cNvSpPr/>
          <p:nvPr/>
        </p:nvSpPr>
        <p:spPr>
          <a:xfrm>
            <a:off x="8406080" y="1506000"/>
            <a:ext cx="3220160" cy="1420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5E7E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7" name="Shot2Badge"/>
          <p:cNvSpPr/>
          <p:nvPr/>
        </p:nvSpPr>
        <p:spPr>
          <a:xfrm>
            <a:off x="9736160" y="1846000"/>
            <a:ext cx="560000" cy="5600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Shot2Play"/>
          <p:cNvSpPr/>
          <p:nvPr/>
        </p:nvSpPr>
        <p:spPr>
          <a:xfrm rot="5400000">
            <a:off x="9943160" y="2021000"/>
            <a:ext cx="190000" cy="21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ShotCap2"/>
          <p:cNvSpPr txBox="1"/>
          <p:nvPr/>
        </p:nvSpPr>
        <p:spPr>
          <a:xfrm>
            <a:off x="8406080" y="2566000"/>
            <a:ext cx="3220160" cy="3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50">
                <a:solidFill>
                  <a:srgbClr val="94A3B8"/>
                </a:solidFill>
                <a:latin typeface="Calibri"/>
              </a:rPr>
              <a:t>Screenshot — shown on the following slide</a:t>
            </a:r>
          </a:p>
        </p:txBody>
      </p:sp>
      <p:sp>
        <p:nvSpPr>
          <p:cNvPr id="60" name="DES2"/>
          <p:cNvSpPr txBox="1"/>
          <p:nvPr/>
        </p:nvSpPr>
        <p:spPr>
          <a:xfrm>
            <a:off x="8406080" y="302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DB2777"/>
                </a:solidFill>
                <a:latin typeface="Calibri"/>
              </a:rPr>
              <a:t>DESCRIPTION</a:t>
            </a:r>
          </a:p>
        </p:txBody>
      </p:sp>
      <p:sp>
        <p:nvSpPr>
          <p:cNvPr id="61" name="DESUL2"/>
          <p:cNvSpPr/>
          <p:nvPr/>
        </p:nvSpPr>
        <p:spPr>
          <a:xfrm>
            <a:off x="8406080" y="3226000"/>
            <a:ext cx="900000" cy="1463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62" name="DESTxt2"/>
          <p:cNvSpPr txBox="1"/>
          <p:nvPr/>
        </p:nvSpPr>
        <p:spPr>
          <a:xfrm>
            <a:off x="8406080" y="327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950">
                <a:solidFill>
                  <a:srgbClr val="374151"/>
                </a:solidFill>
                <a:latin typeface="Calibri"/>
              </a:rPr>
              <a:t>Turns product intent and requirements into well-formed user stories with acceptance criteria, estimates, and dependencies.</a:t>
            </a:r>
          </a:p>
        </p:txBody>
      </p:sp>
      <p:sp>
        <p:nvSpPr>
          <p:cNvPr id="63" name="Div1_2"/>
          <p:cNvSpPr/>
          <p:nvPr/>
        </p:nvSpPr>
        <p:spPr>
          <a:xfrm>
            <a:off x="8326080" y="4031000"/>
            <a:ext cx="338016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64" name="BEN2"/>
          <p:cNvSpPr txBox="1"/>
          <p:nvPr/>
        </p:nvSpPr>
        <p:spPr>
          <a:xfrm>
            <a:off x="8406080" y="410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DB2777"/>
                </a:solidFill>
                <a:latin typeface="Calibri"/>
              </a:rPr>
              <a:t>BENEFIT</a:t>
            </a:r>
          </a:p>
        </p:txBody>
      </p:sp>
      <p:sp>
        <p:nvSpPr>
          <p:cNvPr id="65" name="BENUL2"/>
          <p:cNvSpPr/>
          <p:nvPr/>
        </p:nvSpPr>
        <p:spPr>
          <a:xfrm>
            <a:off x="8406080" y="4306000"/>
            <a:ext cx="900000" cy="1463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66" name="BENTxt2"/>
          <p:cNvSpPr txBox="1"/>
          <p:nvPr/>
        </p:nvSpPr>
        <p:spPr>
          <a:xfrm>
            <a:off x="8406080" y="435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950">
                <a:solidFill>
                  <a:srgbClr val="374151"/>
                </a:solidFill>
                <a:latin typeface="Calibri"/>
              </a:rPr>
              <a:t>Improves backlog quality and sprint readiness, reducing ambiguity and mid-sprint rework.</a:t>
            </a:r>
          </a:p>
        </p:txBody>
      </p:sp>
      <p:sp>
        <p:nvSpPr>
          <p:cNvPr id="67" name="Div2_2"/>
          <p:cNvSpPr/>
          <p:nvPr/>
        </p:nvSpPr>
        <p:spPr>
          <a:xfrm>
            <a:off x="8326080" y="5111000"/>
            <a:ext cx="338016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68" name="POI2"/>
          <p:cNvSpPr txBox="1"/>
          <p:nvPr/>
        </p:nvSpPr>
        <p:spPr>
          <a:xfrm>
            <a:off x="8406080" y="5181000"/>
            <a:ext cx="322016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DB2777"/>
                </a:solidFill>
                <a:latin typeface="Calibri"/>
              </a:rPr>
              <a:t>POINT OF VIEW</a:t>
            </a:r>
          </a:p>
        </p:txBody>
      </p:sp>
      <p:sp>
        <p:nvSpPr>
          <p:cNvPr id="69" name="POIUL2"/>
          <p:cNvSpPr/>
          <p:nvPr/>
        </p:nvSpPr>
        <p:spPr>
          <a:xfrm>
            <a:off x="8406080" y="5386000"/>
            <a:ext cx="900000" cy="1463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70" name="POITxt2"/>
          <p:cNvSpPr txBox="1"/>
          <p:nvPr/>
        </p:nvSpPr>
        <p:spPr>
          <a:xfrm>
            <a:off x="8406080" y="5431000"/>
            <a:ext cx="322016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lang="en-US" sz="950" i="1">
                <a:solidFill>
                  <a:srgbClr val="6B7280"/>
                </a:solidFill>
                <a:latin typeface="Calibri"/>
              </a:rPr>
              <a:t>Requirements become executable specs — clarity from day one of the sprint.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C Demo — PII Guardrail Ag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drBand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/>
          </a:p>
        </p:txBody>
      </p:sp>
      <p:sp>
        <p:nvSpPr>
          <p:cNvPr id="12" name="Eyebrow"/>
          <p:cNvSpPr txBox="1"/>
          <p:nvPr/>
        </p:nvSpPr>
        <p:spPr>
          <a:xfrm>
            <a:off x="365760" y="91440"/>
            <a:ext cx="9200000" cy="25603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>
                <a:solidFill>
                  <a:srgbClr val="00B8A9"/>
                </a:solidFill>
                <a:latin typeface="Calibri"/>
              </a:rPr>
              <a:t>PROOF-OF-CONCEPT DEMONSTRATION  ·  HORIZONTAL · PRIVACY &amp; GUARDRAILS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365760" y="329184"/>
            <a:ext cx="9600000" cy="42062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Calibri"/>
              </a:rPr>
              <a:t>PII Guardrail Agent</a:t>
            </a:r>
          </a:p>
        </p:txBody>
      </p:sp>
      <p:sp>
        <p:nvSpPr>
          <p:cNvPr id="14" name="TitleAccent"/>
          <p:cNvSpPr/>
          <p:nvPr/>
        </p:nvSpPr>
        <p:spPr>
          <a:xfrm>
            <a:off x="369760" y="742000"/>
            <a:ext cx="700000" cy="2200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15" name="FtrBand"/>
          <p:cNvSpPr/>
          <p:nvPr/>
        </p:nvSpPr>
        <p:spPr>
          <a:xfrm>
            <a:off x="0" y="6656832"/>
            <a:ext cx="12192000" cy="182880"/>
          </a:xfrm>
          <a:prstGeom prst="rect">
            <a:avLst/>
          </a:prstGeom>
          <a:solidFill>
            <a:srgbClr val="F3F4F6"/>
          </a:solidFill>
        </p:spPr>
        <p:txBody>
          <a:bodyPr/>
          <a:lstStyle/>
          <a:p>
            <a:endParaRPr/>
          </a:p>
        </p:txBody>
      </p:sp>
      <p:sp>
        <p:nvSpPr>
          <p:cNvPr id="16" name="FtrTxt"/>
          <p:cNvSpPr txBox="1"/>
          <p:nvPr/>
        </p:nvSpPr>
        <p:spPr>
          <a:xfrm>
            <a:off x="320040" y="6684264"/>
            <a:ext cx="8229600" cy="146304"/>
          </a:xfrm>
          <a:prstGeom prst="rect">
            <a:avLst/>
          </a:prstGeom>
          <a:noFill/>
        </p:spPr>
        <p:txBody>
          <a:bodyPr wrap="square" rtlCol="0" anchor="ctr">
            <a:normAutofit fontScale="55000" lnSpcReduction="20000"/>
          </a:bodyPr>
          <a:lstStyle/>
          <a:p>
            <a:pPr algn="l"/>
            <a:r>
              <a:rPr lang="en-US" sz="800">
                <a:solidFill>
                  <a:srgbClr val="9CA3AF"/>
                </a:solidFill>
                <a:latin typeface="Calibri"/>
              </a:rPr>
              <a:t>CONFIDENTIAL  |  Technology Strategy Practice  |  Not for Distribution</a:t>
            </a:r>
          </a:p>
        </p:txBody>
      </p:sp>
      <p:sp>
        <p:nvSpPr>
          <p:cNvPr id="17" name="PageNum"/>
          <p:cNvSpPr txBox="1"/>
          <p:nvPr/>
        </p:nvSpPr>
        <p:spPr>
          <a:xfrm>
            <a:off x="11526240" y="6684264"/>
            <a:ext cx="365760" cy="146304"/>
          </a:xfrm>
          <a:prstGeom prst="rect">
            <a:avLst/>
          </a:prstGeom>
          <a:noFill/>
        </p:spPr>
        <p:txBody>
          <a:bodyPr wrap="square" rtlCol="0" anchor="ctr">
            <a:normAutofit fontScale="55000" lnSpcReduction="20000"/>
          </a:bodyPr>
          <a:lstStyle/>
          <a:p>
            <a:pPr algn="r"/>
            <a:r>
              <a:rPr lang="en-US" sz="80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  <p:sp>
        <p:nvSpPr>
          <p:cNvPr id="18" name="VideoFrame"/>
          <p:cNvSpPr/>
          <p:nvPr/>
        </p:nvSpPr>
        <p:spPr>
          <a:xfrm>
            <a:off x="365760" y="1010000"/>
            <a:ext cx="7620000" cy="4980000"/>
          </a:xfrm>
          <a:prstGeom prst="roundRect">
            <a:avLst>
              <a:gd name="adj" fmla="val 1800"/>
            </a:avLst>
          </a:prstGeom>
          <a:solidFill>
            <a:srgbClr val="F1F5F9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layBadge"/>
          <p:cNvSpPr/>
          <p:nvPr/>
        </p:nvSpPr>
        <p:spPr>
          <a:xfrm>
            <a:off x="3675760" y="2860000"/>
            <a:ext cx="1000000" cy="100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Play"/>
          <p:cNvSpPr/>
          <p:nvPr/>
        </p:nvSpPr>
        <p:spPr>
          <a:xfrm rot="5400000">
            <a:off x="4045760" y="3170000"/>
            <a:ext cx="340000" cy="38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VideoCap"/>
          <p:cNvSpPr txBox="1"/>
          <p:nvPr/>
        </p:nvSpPr>
        <p:spPr>
          <a:xfrm>
            <a:off x="365760" y="4000000"/>
            <a:ext cx="762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374151"/>
                </a:solidFill>
                <a:latin typeface="Calibri"/>
              </a:rPr>
              <a:t>Demo video — PII Guardrail Agent</a:t>
            </a:r>
          </a:p>
        </p:txBody>
      </p:sp>
      <p:sp>
        <p:nvSpPr>
          <p:cNvPr id="22" name="VideoSub"/>
          <p:cNvSpPr txBox="1"/>
          <p:nvPr/>
        </p:nvSpPr>
        <p:spPr>
          <a:xfrm>
            <a:off x="365760" y="4340000"/>
            <a:ext cx="7620000" cy="28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950">
                <a:solidFill>
                  <a:srgbClr val="94A3B8"/>
                </a:solidFill>
                <a:latin typeface="Calibri"/>
              </a:rPr>
              <a:t>Embed or link the recorded walkthrough here.</a:t>
            </a:r>
          </a:p>
        </p:txBody>
      </p:sp>
      <p:sp>
        <p:nvSpPr>
          <p:cNvPr id="23" name="SideTitle"/>
          <p:cNvSpPr txBox="1"/>
          <p:nvPr/>
        </p:nvSpPr>
        <p:spPr>
          <a:xfrm>
            <a:off x="8250000" y="1010000"/>
            <a:ext cx="357624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400" b="1">
                <a:solidFill>
                  <a:srgbClr val="0B1F3A"/>
                </a:solidFill>
                <a:latin typeface="Calibri"/>
              </a:rPr>
              <a:t>What to watch for</a:t>
            </a:r>
          </a:p>
        </p:txBody>
      </p:sp>
      <p:sp>
        <p:nvSpPr>
          <p:cNvPr id="24" name="SideAccent"/>
          <p:cNvSpPr/>
          <p:nvPr/>
        </p:nvSpPr>
        <p:spPr>
          <a:xfrm>
            <a:off x="8253000" y="1345000"/>
            <a:ext cx="1000000" cy="2200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25" name="DESL"/>
          <p:cNvSpPr txBox="1"/>
          <p:nvPr/>
        </p:nvSpPr>
        <p:spPr>
          <a:xfrm>
            <a:off x="8250000" y="156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7C3AED"/>
                </a:solidFill>
                <a:latin typeface="Calibri"/>
              </a:rPr>
              <a:t>DESCRIPTION</a:t>
            </a:r>
          </a:p>
        </p:txBody>
      </p:sp>
      <p:sp>
        <p:nvSpPr>
          <p:cNvPr id="26" name="DESUL"/>
          <p:cNvSpPr/>
          <p:nvPr/>
        </p:nvSpPr>
        <p:spPr>
          <a:xfrm>
            <a:off x="8253000" y="1765000"/>
            <a:ext cx="820000" cy="1463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27" name="DEST"/>
          <p:cNvSpPr txBox="1"/>
          <p:nvPr/>
        </p:nvSpPr>
        <p:spPr>
          <a:xfrm>
            <a:off x="8250000" y="181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1000">
                <a:solidFill>
                  <a:srgbClr val="374151"/>
                </a:solidFill>
                <a:latin typeface="Calibri"/>
              </a:rPr>
              <a:t>Detects and redacts sensitive personal data across prompts, code, logs, and data flows before it leaves trusted boundaries.</a:t>
            </a:r>
          </a:p>
        </p:txBody>
      </p:sp>
      <p:sp>
        <p:nvSpPr>
          <p:cNvPr id="28" name="D1"/>
          <p:cNvSpPr/>
          <p:nvPr/>
        </p:nvSpPr>
        <p:spPr>
          <a:xfrm>
            <a:off x="8250000" y="2740000"/>
            <a:ext cx="357624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9" name="BENL"/>
          <p:cNvSpPr txBox="1"/>
          <p:nvPr/>
        </p:nvSpPr>
        <p:spPr>
          <a:xfrm>
            <a:off x="8250000" y="282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7C3AED"/>
                </a:solidFill>
                <a:latin typeface="Calibri"/>
              </a:rPr>
              <a:t>BENEFIT</a:t>
            </a:r>
          </a:p>
        </p:txBody>
      </p:sp>
      <p:sp>
        <p:nvSpPr>
          <p:cNvPr id="30" name="BENUL"/>
          <p:cNvSpPr/>
          <p:nvPr/>
        </p:nvSpPr>
        <p:spPr>
          <a:xfrm>
            <a:off x="8253000" y="3025000"/>
            <a:ext cx="820000" cy="1463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31" name="BENT"/>
          <p:cNvSpPr txBox="1"/>
          <p:nvPr/>
        </p:nvSpPr>
        <p:spPr>
          <a:xfrm>
            <a:off x="8250000" y="307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1000">
                <a:solidFill>
                  <a:srgbClr val="374151"/>
                </a:solidFill>
                <a:latin typeface="Calibri"/>
              </a:rPr>
              <a:t>Lowers data-leak and compliance risk while keeping developers fast — privacy controls are applied automatically.</a:t>
            </a:r>
          </a:p>
        </p:txBody>
      </p:sp>
      <p:sp>
        <p:nvSpPr>
          <p:cNvPr id="32" name="D2"/>
          <p:cNvSpPr/>
          <p:nvPr/>
        </p:nvSpPr>
        <p:spPr>
          <a:xfrm>
            <a:off x="8250000" y="3940000"/>
            <a:ext cx="357624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33" name="POIL"/>
          <p:cNvSpPr txBox="1"/>
          <p:nvPr/>
        </p:nvSpPr>
        <p:spPr>
          <a:xfrm>
            <a:off x="8250000" y="402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7C3AED"/>
                </a:solidFill>
                <a:latin typeface="Calibri"/>
              </a:rPr>
              <a:t>POINT OF VIEW</a:t>
            </a:r>
          </a:p>
        </p:txBody>
      </p:sp>
      <p:sp>
        <p:nvSpPr>
          <p:cNvPr id="34" name="POIUL"/>
          <p:cNvSpPr/>
          <p:nvPr/>
        </p:nvSpPr>
        <p:spPr>
          <a:xfrm>
            <a:off x="8253000" y="4225000"/>
            <a:ext cx="820000" cy="1463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35" name="POIT"/>
          <p:cNvSpPr txBox="1"/>
          <p:nvPr/>
        </p:nvSpPr>
        <p:spPr>
          <a:xfrm>
            <a:off x="8250000" y="427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i="1">
                <a:solidFill>
                  <a:srgbClr val="6B7280"/>
                </a:solidFill>
                <a:latin typeface="Calibri"/>
              </a:rPr>
              <a:t>Privacy by design, enforced in real time — protection shifts left instead of being bolted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C Demo — Triaging Ag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drBand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/>
          </a:p>
        </p:txBody>
      </p:sp>
      <p:sp>
        <p:nvSpPr>
          <p:cNvPr id="12" name="Eyebrow"/>
          <p:cNvSpPr txBox="1"/>
          <p:nvPr/>
        </p:nvSpPr>
        <p:spPr>
          <a:xfrm>
            <a:off x="365760" y="91440"/>
            <a:ext cx="9200000" cy="25603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>
                <a:solidFill>
                  <a:srgbClr val="00B8A9"/>
                </a:solidFill>
                <a:latin typeface="Calibri"/>
              </a:rPr>
              <a:t>PROOF-OF-CONCEPT DEMONSTRATION  ·  OPERATIONS · AUTONOMOUS RESPONSE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365760" y="329184"/>
            <a:ext cx="9600000" cy="42062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Calibri"/>
              </a:rPr>
              <a:t>Triaging Agent</a:t>
            </a:r>
          </a:p>
        </p:txBody>
      </p:sp>
      <p:sp>
        <p:nvSpPr>
          <p:cNvPr id="14" name="TitleAccent"/>
          <p:cNvSpPr/>
          <p:nvPr/>
        </p:nvSpPr>
        <p:spPr>
          <a:xfrm>
            <a:off x="369760" y="742000"/>
            <a:ext cx="700000" cy="2200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15" name="FtrBand"/>
          <p:cNvSpPr/>
          <p:nvPr/>
        </p:nvSpPr>
        <p:spPr>
          <a:xfrm>
            <a:off x="0" y="6656832"/>
            <a:ext cx="12192000" cy="182880"/>
          </a:xfrm>
          <a:prstGeom prst="rect">
            <a:avLst/>
          </a:prstGeom>
          <a:solidFill>
            <a:srgbClr val="F3F4F6"/>
          </a:solidFill>
        </p:spPr>
        <p:txBody>
          <a:bodyPr/>
          <a:lstStyle/>
          <a:p>
            <a:endParaRPr/>
          </a:p>
        </p:txBody>
      </p:sp>
      <p:sp>
        <p:nvSpPr>
          <p:cNvPr id="16" name="FtrTxt"/>
          <p:cNvSpPr txBox="1"/>
          <p:nvPr/>
        </p:nvSpPr>
        <p:spPr>
          <a:xfrm>
            <a:off x="320040" y="6684264"/>
            <a:ext cx="8229600" cy="146304"/>
          </a:xfrm>
          <a:prstGeom prst="rect">
            <a:avLst/>
          </a:prstGeom>
          <a:noFill/>
        </p:spPr>
        <p:txBody>
          <a:bodyPr wrap="square" rtlCol="0" anchor="ctr">
            <a:normAutofit fontScale="55000" lnSpcReduction="20000"/>
          </a:bodyPr>
          <a:lstStyle/>
          <a:p>
            <a:pPr algn="l"/>
            <a:r>
              <a:rPr lang="en-US" sz="800">
                <a:solidFill>
                  <a:srgbClr val="9CA3AF"/>
                </a:solidFill>
                <a:latin typeface="Calibri"/>
              </a:rPr>
              <a:t>CONFIDENTIAL  |  Technology Strategy Practice  |  Not for Distribution</a:t>
            </a:r>
          </a:p>
        </p:txBody>
      </p:sp>
      <p:sp>
        <p:nvSpPr>
          <p:cNvPr id="17" name="PageNum"/>
          <p:cNvSpPr txBox="1"/>
          <p:nvPr/>
        </p:nvSpPr>
        <p:spPr>
          <a:xfrm>
            <a:off x="11526240" y="6684264"/>
            <a:ext cx="365760" cy="146304"/>
          </a:xfrm>
          <a:prstGeom prst="rect">
            <a:avLst/>
          </a:prstGeom>
          <a:noFill/>
        </p:spPr>
        <p:txBody>
          <a:bodyPr wrap="square" rtlCol="0" anchor="ctr">
            <a:normAutofit fontScale="55000" lnSpcReduction="20000"/>
          </a:bodyPr>
          <a:lstStyle/>
          <a:p>
            <a:pPr algn="r"/>
            <a:r>
              <a:rPr lang="en-US" sz="80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  <p:sp>
        <p:nvSpPr>
          <p:cNvPr id="18" name="VideoFrame"/>
          <p:cNvSpPr/>
          <p:nvPr/>
        </p:nvSpPr>
        <p:spPr>
          <a:xfrm>
            <a:off x="365760" y="1010000"/>
            <a:ext cx="7620000" cy="4980000"/>
          </a:xfrm>
          <a:prstGeom prst="roundRect">
            <a:avLst>
              <a:gd name="adj" fmla="val 1800"/>
            </a:avLst>
          </a:prstGeom>
          <a:solidFill>
            <a:srgbClr val="F1F5F9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layBadge"/>
          <p:cNvSpPr/>
          <p:nvPr/>
        </p:nvSpPr>
        <p:spPr>
          <a:xfrm>
            <a:off x="3675760" y="2860000"/>
            <a:ext cx="1000000" cy="1000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Play"/>
          <p:cNvSpPr/>
          <p:nvPr/>
        </p:nvSpPr>
        <p:spPr>
          <a:xfrm rot="5400000">
            <a:off x="4045760" y="3170000"/>
            <a:ext cx="340000" cy="38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VideoCap"/>
          <p:cNvSpPr txBox="1"/>
          <p:nvPr/>
        </p:nvSpPr>
        <p:spPr>
          <a:xfrm>
            <a:off x="365760" y="4000000"/>
            <a:ext cx="762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374151"/>
                </a:solidFill>
                <a:latin typeface="Calibri"/>
              </a:rPr>
              <a:t>Demo video — Triaging Agent</a:t>
            </a:r>
          </a:p>
        </p:txBody>
      </p:sp>
      <p:sp>
        <p:nvSpPr>
          <p:cNvPr id="22" name="VideoSub"/>
          <p:cNvSpPr txBox="1"/>
          <p:nvPr/>
        </p:nvSpPr>
        <p:spPr>
          <a:xfrm>
            <a:off x="365760" y="4340000"/>
            <a:ext cx="7620000" cy="28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950">
                <a:solidFill>
                  <a:srgbClr val="94A3B8"/>
                </a:solidFill>
                <a:latin typeface="Calibri"/>
              </a:rPr>
              <a:t>Embed or link the recorded walkthrough here.</a:t>
            </a:r>
          </a:p>
        </p:txBody>
      </p:sp>
      <p:sp>
        <p:nvSpPr>
          <p:cNvPr id="23" name="SideTitle"/>
          <p:cNvSpPr txBox="1"/>
          <p:nvPr/>
        </p:nvSpPr>
        <p:spPr>
          <a:xfrm>
            <a:off x="8250000" y="1010000"/>
            <a:ext cx="357624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400" b="1">
                <a:solidFill>
                  <a:srgbClr val="0B1F3A"/>
                </a:solidFill>
                <a:latin typeface="Calibri"/>
              </a:rPr>
              <a:t>What to watch for</a:t>
            </a:r>
          </a:p>
        </p:txBody>
      </p:sp>
      <p:sp>
        <p:nvSpPr>
          <p:cNvPr id="24" name="SideAccent"/>
          <p:cNvSpPr/>
          <p:nvPr/>
        </p:nvSpPr>
        <p:spPr>
          <a:xfrm>
            <a:off x="8253000" y="1345000"/>
            <a:ext cx="1000000" cy="2200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25" name="DESL"/>
          <p:cNvSpPr txBox="1"/>
          <p:nvPr/>
        </p:nvSpPr>
        <p:spPr>
          <a:xfrm>
            <a:off x="8250000" y="156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EA580C"/>
                </a:solidFill>
                <a:latin typeface="Calibri"/>
              </a:rPr>
              <a:t>DESCRIPTION</a:t>
            </a:r>
          </a:p>
        </p:txBody>
      </p:sp>
      <p:sp>
        <p:nvSpPr>
          <p:cNvPr id="26" name="DESUL"/>
          <p:cNvSpPr/>
          <p:nvPr/>
        </p:nvSpPr>
        <p:spPr>
          <a:xfrm>
            <a:off x="8253000" y="1765000"/>
            <a:ext cx="820000" cy="1463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27" name="DEST"/>
          <p:cNvSpPr txBox="1"/>
          <p:nvPr/>
        </p:nvSpPr>
        <p:spPr>
          <a:xfrm>
            <a:off x="8250000" y="181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1000">
                <a:solidFill>
                  <a:srgbClr val="374151"/>
                </a:solidFill>
                <a:latin typeface="Calibri"/>
              </a:rPr>
              <a:t>Classifies incoming incidents and alerts, correlates related signals, and routes each to the right owner with suggested next steps.</a:t>
            </a:r>
          </a:p>
        </p:txBody>
      </p:sp>
      <p:sp>
        <p:nvSpPr>
          <p:cNvPr id="28" name="D1"/>
          <p:cNvSpPr/>
          <p:nvPr/>
        </p:nvSpPr>
        <p:spPr>
          <a:xfrm>
            <a:off x="8250000" y="2740000"/>
            <a:ext cx="357624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9" name="BENL"/>
          <p:cNvSpPr txBox="1"/>
          <p:nvPr/>
        </p:nvSpPr>
        <p:spPr>
          <a:xfrm>
            <a:off x="8250000" y="282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EA580C"/>
                </a:solidFill>
                <a:latin typeface="Calibri"/>
              </a:rPr>
              <a:t>BENEFIT</a:t>
            </a:r>
          </a:p>
        </p:txBody>
      </p:sp>
      <p:sp>
        <p:nvSpPr>
          <p:cNvPr id="30" name="BENUL"/>
          <p:cNvSpPr/>
          <p:nvPr/>
        </p:nvSpPr>
        <p:spPr>
          <a:xfrm>
            <a:off x="8253000" y="3025000"/>
            <a:ext cx="820000" cy="1463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31" name="BENT"/>
          <p:cNvSpPr txBox="1"/>
          <p:nvPr/>
        </p:nvSpPr>
        <p:spPr>
          <a:xfrm>
            <a:off x="8250000" y="307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1000">
                <a:solidFill>
                  <a:srgbClr val="374151"/>
                </a:solidFill>
                <a:latin typeface="Calibri"/>
              </a:rPr>
              <a:t>Cuts mean-time-to-triage and alert fatigue, accelerating resolution and improving service reliability.</a:t>
            </a:r>
          </a:p>
        </p:txBody>
      </p:sp>
      <p:sp>
        <p:nvSpPr>
          <p:cNvPr id="32" name="D2"/>
          <p:cNvSpPr/>
          <p:nvPr/>
        </p:nvSpPr>
        <p:spPr>
          <a:xfrm>
            <a:off x="8250000" y="3940000"/>
            <a:ext cx="357624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33" name="POIL"/>
          <p:cNvSpPr txBox="1"/>
          <p:nvPr/>
        </p:nvSpPr>
        <p:spPr>
          <a:xfrm>
            <a:off x="8250000" y="402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EA580C"/>
                </a:solidFill>
                <a:latin typeface="Calibri"/>
              </a:rPr>
              <a:t>POINT OF VIEW</a:t>
            </a:r>
          </a:p>
        </p:txBody>
      </p:sp>
      <p:sp>
        <p:nvSpPr>
          <p:cNvPr id="34" name="POIUL"/>
          <p:cNvSpPr/>
          <p:nvPr/>
        </p:nvSpPr>
        <p:spPr>
          <a:xfrm>
            <a:off x="8253000" y="4225000"/>
            <a:ext cx="820000" cy="1463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35" name="POIT"/>
          <p:cNvSpPr txBox="1"/>
          <p:nvPr/>
        </p:nvSpPr>
        <p:spPr>
          <a:xfrm>
            <a:off x="8250000" y="427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i="1">
                <a:solidFill>
                  <a:srgbClr val="6B7280"/>
                </a:solidFill>
                <a:latin typeface="Calibri"/>
              </a:rPr>
              <a:t>Autonomous first response frees engineers to fix problems, not sort through noise.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C Demo — Story Generation Ag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drBand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/>
          </a:p>
        </p:txBody>
      </p:sp>
      <p:sp>
        <p:nvSpPr>
          <p:cNvPr id="12" name="Eyebrow"/>
          <p:cNvSpPr txBox="1"/>
          <p:nvPr/>
        </p:nvSpPr>
        <p:spPr>
          <a:xfrm>
            <a:off x="365760" y="91440"/>
            <a:ext cx="9200000" cy="25603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>
                <a:solidFill>
                  <a:srgbClr val="00B8A9"/>
                </a:solidFill>
                <a:latin typeface="Calibri"/>
              </a:rPr>
              <a:t>PROOF-OF-CONCEPT DEMONSTRATION  ·  DEVELOPMENT · REQUIREMENTS TO STORIES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365760" y="329184"/>
            <a:ext cx="9600000" cy="42062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Calibri"/>
              </a:rPr>
              <a:t>Story Generation Agent</a:t>
            </a:r>
          </a:p>
        </p:txBody>
      </p:sp>
      <p:sp>
        <p:nvSpPr>
          <p:cNvPr id="14" name="TitleAccent"/>
          <p:cNvSpPr/>
          <p:nvPr/>
        </p:nvSpPr>
        <p:spPr>
          <a:xfrm>
            <a:off x="369760" y="742000"/>
            <a:ext cx="700000" cy="2200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15" name="FtrBand"/>
          <p:cNvSpPr/>
          <p:nvPr/>
        </p:nvSpPr>
        <p:spPr>
          <a:xfrm>
            <a:off x="0" y="6656832"/>
            <a:ext cx="12192000" cy="182880"/>
          </a:xfrm>
          <a:prstGeom prst="rect">
            <a:avLst/>
          </a:prstGeom>
          <a:solidFill>
            <a:srgbClr val="F3F4F6"/>
          </a:solidFill>
        </p:spPr>
        <p:txBody>
          <a:bodyPr/>
          <a:lstStyle/>
          <a:p>
            <a:endParaRPr/>
          </a:p>
        </p:txBody>
      </p:sp>
      <p:sp>
        <p:nvSpPr>
          <p:cNvPr id="16" name="FtrTxt"/>
          <p:cNvSpPr txBox="1"/>
          <p:nvPr/>
        </p:nvSpPr>
        <p:spPr>
          <a:xfrm>
            <a:off x="320040" y="6684264"/>
            <a:ext cx="8229600" cy="146304"/>
          </a:xfrm>
          <a:prstGeom prst="rect">
            <a:avLst/>
          </a:prstGeom>
          <a:noFill/>
        </p:spPr>
        <p:txBody>
          <a:bodyPr wrap="square" rtlCol="0" anchor="ctr">
            <a:normAutofit fontScale="55000" lnSpcReduction="20000"/>
          </a:bodyPr>
          <a:lstStyle/>
          <a:p>
            <a:pPr algn="l"/>
            <a:r>
              <a:rPr lang="en-US" sz="800">
                <a:solidFill>
                  <a:srgbClr val="9CA3AF"/>
                </a:solidFill>
                <a:latin typeface="Calibri"/>
              </a:rPr>
              <a:t>CONFIDENTIAL  |  Technology Strategy Practice  |  Not for Distribution</a:t>
            </a:r>
          </a:p>
        </p:txBody>
      </p:sp>
      <p:sp>
        <p:nvSpPr>
          <p:cNvPr id="17" name="PageNum"/>
          <p:cNvSpPr txBox="1"/>
          <p:nvPr/>
        </p:nvSpPr>
        <p:spPr>
          <a:xfrm>
            <a:off x="11526240" y="6684264"/>
            <a:ext cx="365760" cy="146304"/>
          </a:xfrm>
          <a:prstGeom prst="rect">
            <a:avLst/>
          </a:prstGeom>
          <a:noFill/>
        </p:spPr>
        <p:txBody>
          <a:bodyPr wrap="square" rtlCol="0" anchor="ctr">
            <a:normAutofit fontScale="55000" lnSpcReduction="20000"/>
          </a:bodyPr>
          <a:lstStyle/>
          <a:p>
            <a:pPr algn="r"/>
            <a:r>
              <a:rPr lang="en-US" sz="80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  <p:sp>
        <p:nvSpPr>
          <p:cNvPr id="18" name="VideoFrame"/>
          <p:cNvSpPr/>
          <p:nvPr/>
        </p:nvSpPr>
        <p:spPr>
          <a:xfrm>
            <a:off x="365760" y="1010000"/>
            <a:ext cx="7620000" cy="4980000"/>
          </a:xfrm>
          <a:prstGeom prst="roundRect">
            <a:avLst>
              <a:gd name="adj" fmla="val 1800"/>
            </a:avLst>
          </a:prstGeom>
          <a:solidFill>
            <a:srgbClr val="F1F5F9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layBadge"/>
          <p:cNvSpPr/>
          <p:nvPr/>
        </p:nvSpPr>
        <p:spPr>
          <a:xfrm>
            <a:off x="3675760" y="2860000"/>
            <a:ext cx="1000000" cy="10000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Play"/>
          <p:cNvSpPr/>
          <p:nvPr/>
        </p:nvSpPr>
        <p:spPr>
          <a:xfrm rot="5400000">
            <a:off x="4045760" y="3170000"/>
            <a:ext cx="340000" cy="38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VideoCap"/>
          <p:cNvSpPr txBox="1"/>
          <p:nvPr/>
        </p:nvSpPr>
        <p:spPr>
          <a:xfrm>
            <a:off x="365760" y="4000000"/>
            <a:ext cx="762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374151"/>
                </a:solidFill>
                <a:latin typeface="Calibri"/>
              </a:rPr>
              <a:t>Demo video — Story Generation Agent</a:t>
            </a:r>
          </a:p>
        </p:txBody>
      </p:sp>
      <p:sp>
        <p:nvSpPr>
          <p:cNvPr id="22" name="VideoSub"/>
          <p:cNvSpPr txBox="1"/>
          <p:nvPr/>
        </p:nvSpPr>
        <p:spPr>
          <a:xfrm>
            <a:off x="365760" y="4340000"/>
            <a:ext cx="7620000" cy="28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950">
                <a:solidFill>
                  <a:srgbClr val="94A3B8"/>
                </a:solidFill>
                <a:latin typeface="Calibri"/>
              </a:rPr>
              <a:t>Embed or link the recorded walkthrough here.</a:t>
            </a:r>
          </a:p>
        </p:txBody>
      </p:sp>
      <p:sp>
        <p:nvSpPr>
          <p:cNvPr id="23" name="SideTitle"/>
          <p:cNvSpPr txBox="1"/>
          <p:nvPr/>
        </p:nvSpPr>
        <p:spPr>
          <a:xfrm>
            <a:off x="8250000" y="1010000"/>
            <a:ext cx="357624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400" b="1">
                <a:solidFill>
                  <a:srgbClr val="0B1F3A"/>
                </a:solidFill>
                <a:latin typeface="Calibri"/>
              </a:rPr>
              <a:t>What to watch for</a:t>
            </a:r>
          </a:p>
        </p:txBody>
      </p:sp>
      <p:sp>
        <p:nvSpPr>
          <p:cNvPr id="24" name="SideAccent"/>
          <p:cNvSpPr/>
          <p:nvPr/>
        </p:nvSpPr>
        <p:spPr>
          <a:xfrm>
            <a:off x="8253000" y="1345000"/>
            <a:ext cx="1000000" cy="2200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25" name="DESL"/>
          <p:cNvSpPr txBox="1"/>
          <p:nvPr/>
        </p:nvSpPr>
        <p:spPr>
          <a:xfrm>
            <a:off x="8250000" y="156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DB2777"/>
                </a:solidFill>
                <a:latin typeface="Calibri"/>
              </a:rPr>
              <a:t>DESCRIPTION</a:t>
            </a:r>
          </a:p>
        </p:txBody>
      </p:sp>
      <p:sp>
        <p:nvSpPr>
          <p:cNvPr id="26" name="DESUL"/>
          <p:cNvSpPr/>
          <p:nvPr/>
        </p:nvSpPr>
        <p:spPr>
          <a:xfrm>
            <a:off x="8253000" y="1765000"/>
            <a:ext cx="820000" cy="1463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27" name="DEST"/>
          <p:cNvSpPr txBox="1"/>
          <p:nvPr/>
        </p:nvSpPr>
        <p:spPr>
          <a:xfrm>
            <a:off x="8250000" y="181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1000">
                <a:solidFill>
                  <a:srgbClr val="374151"/>
                </a:solidFill>
                <a:latin typeface="Calibri"/>
              </a:rPr>
              <a:t>Turns product intent and requirements into well-formed user stories with acceptance criteria, estimates, and dependencies.</a:t>
            </a:r>
          </a:p>
        </p:txBody>
      </p:sp>
      <p:sp>
        <p:nvSpPr>
          <p:cNvPr id="28" name="D1"/>
          <p:cNvSpPr/>
          <p:nvPr/>
        </p:nvSpPr>
        <p:spPr>
          <a:xfrm>
            <a:off x="8250000" y="2740000"/>
            <a:ext cx="357624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9" name="BENL"/>
          <p:cNvSpPr txBox="1"/>
          <p:nvPr/>
        </p:nvSpPr>
        <p:spPr>
          <a:xfrm>
            <a:off x="8250000" y="282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DB2777"/>
                </a:solidFill>
                <a:latin typeface="Calibri"/>
              </a:rPr>
              <a:t>BENEFIT</a:t>
            </a:r>
          </a:p>
        </p:txBody>
      </p:sp>
      <p:sp>
        <p:nvSpPr>
          <p:cNvPr id="30" name="BENUL"/>
          <p:cNvSpPr/>
          <p:nvPr/>
        </p:nvSpPr>
        <p:spPr>
          <a:xfrm>
            <a:off x="8253000" y="3025000"/>
            <a:ext cx="820000" cy="1463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31" name="BENT"/>
          <p:cNvSpPr txBox="1"/>
          <p:nvPr/>
        </p:nvSpPr>
        <p:spPr>
          <a:xfrm>
            <a:off x="8250000" y="307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1000">
                <a:solidFill>
                  <a:srgbClr val="374151"/>
                </a:solidFill>
                <a:latin typeface="Calibri"/>
              </a:rPr>
              <a:t>Improves backlog quality and sprint readiness, reducing ambiguity and mid-sprint rework.</a:t>
            </a:r>
          </a:p>
        </p:txBody>
      </p:sp>
      <p:sp>
        <p:nvSpPr>
          <p:cNvPr id="32" name="D2"/>
          <p:cNvSpPr/>
          <p:nvPr/>
        </p:nvSpPr>
        <p:spPr>
          <a:xfrm>
            <a:off x="8250000" y="3940000"/>
            <a:ext cx="3576240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33" name="POIL"/>
          <p:cNvSpPr txBox="1"/>
          <p:nvPr/>
        </p:nvSpPr>
        <p:spPr>
          <a:xfrm>
            <a:off x="8250000" y="4020000"/>
            <a:ext cx="3576240" cy="180000"/>
          </a:xfrm>
          <a:prstGeom prst="rect">
            <a:avLst/>
          </a:prstGeom>
          <a:noFill/>
        </p:spPr>
        <p:txBody>
          <a:bodyPr wrap="square" rtlCol="0" anchor="t">
            <a:normAutofit fontScale="85000" lnSpcReduction="20000"/>
          </a:bodyPr>
          <a:lstStyle/>
          <a:p>
            <a:pPr algn="l"/>
            <a:r>
              <a:rPr lang="en-US" sz="850" b="1">
                <a:solidFill>
                  <a:srgbClr val="DB2777"/>
                </a:solidFill>
                <a:latin typeface="Calibri"/>
              </a:rPr>
              <a:t>POINT OF VIEW</a:t>
            </a:r>
          </a:p>
        </p:txBody>
      </p:sp>
      <p:sp>
        <p:nvSpPr>
          <p:cNvPr id="34" name="POIUL"/>
          <p:cNvSpPr/>
          <p:nvPr/>
        </p:nvSpPr>
        <p:spPr>
          <a:xfrm>
            <a:off x="8253000" y="4225000"/>
            <a:ext cx="820000" cy="1463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35" name="POIT"/>
          <p:cNvSpPr txBox="1"/>
          <p:nvPr/>
        </p:nvSpPr>
        <p:spPr>
          <a:xfrm>
            <a:off x="8250000" y="4270000"/>
            <a:ext cx="3576240" cy="10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i="1">
                <a:solidFill>
                  <a:srgbClr val="6B7280"/>
                </a:solidFill>
                <a:latin typeface="Calibri"/>
              </a:rPr>
              <a:t>Requirements become executable specs — clarity from day one of the sprint.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AGENTIC AI — TECHNICAL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Solution 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0" y="66934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9601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CHANNELS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316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· Slack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IVR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2940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80960" y="1033272"/>
            <a:ext cx="960120" cy="493776"/>
          </a:xfrm>
          <a:prstGeom prst="roundRect">
            <a:avLst>
              <a:gd name="adj" fmla="val 9259"/>
            </a:avLst>
          </a:prstGeom>
          <a:solidFill>
            <a:srgbClr val="1A356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10332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1618488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18288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905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18288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38528"/>
            <a:ext cx="384048" cy="3840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86384" y="1874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212848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212848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Planning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Reasoning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300984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300984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389120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89120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477256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77256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Gates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565392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565392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Routing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653528" y="1920240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653528" y="1920240"/>
            <a:ext cx="987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Access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256032" y="2816352"/>
            <a:ext cx="8503920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47472" y="28163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 ·  Agent Collaboration &amp; Handoffs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56032" y="3063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2004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20040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 · Review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 · Docs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386584" y="3063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450592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2450592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· Triage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· Remediation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17136" y="3063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581144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4581144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· Routing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647688" y="3063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711696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6711696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Audit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480560" y="4069080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256032" y="4279392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3E8FF"/>
          </a:solidFill>
          <a:ln w="1905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56032" y="4279392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01752" y="42793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MEMORY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194560" y="43708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2194560" y="4370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Documents &amp; Wikis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813048" y="43708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813048" y="4370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Knowledge Store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431536" y="43708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431536" y="4370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Short &amp; Long-term Memory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050024" y="43708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050024" y="4370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&amp; APIs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4480560" y="4919472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256032" y="5138928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256032" y="5138928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301752" y="51389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94560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2194560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/ ServiceNow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273552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3273552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/ Jira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4352544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4352544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SAP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5431536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5431536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6510528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6510528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7589520" y="5230368"/>
            <a:ext cx="987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7589520" y="52303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8915400" y="960120"/>
            <a:ext cx="2999232" cy="4818888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915400" y="960120"/>
            <a:ext cx="2999232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8979408" y="96012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GOVERNANCE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OBSERVABILITY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9034272" y="1572768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9098280" y="16093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9098280" y="188366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MFA / RBAC  ·  Secrets Management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9034272" y="2377440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9098280" y="241401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9098280" y="268833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(TLS/KMS)  ·  Network Isolation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9034272" y="3182112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9098280" y="321868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</a:t>
            </a:r>
            <a:endParaRPr lang="en-US" sz="1000" dirty="0"/>
          </a:p>
        </p:txBody>
      </p:sp>
      <p:sp>
        <p:nvSpPr>
          <p:cNvPr id="92" name="Text 89"/>
          <p:cNvSpPr/>
          <p:nvPr/>
        </p:nvSpPr>
        <p:spPr>
          <a:xfrm>
            <a:off x="9098280" y="34930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 ·  Hallucination Controls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9034272" y="3986784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9098280" y="40233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95" name="Text 92"/>
          <p:cNvSpPr/>
          <p:nvPr/>
        </p:nvSpPr>
        <p:spPr>
          <a:xfrm>
            <a:off x="9098280" y="42976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 ·  Metrics &amp; Alerts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9034272" y="4791456"/>
            <a:ext cx="2761488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9098280" y="4828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98" name="Text 95"/>
          <p:cNvSpPr/>
          <p:nvPr/>
        </p:nvSpPr>
        <p:spPr>
          <a:xfrm>
            <a:off x="9098280" y="51023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 ·  SOC 2  ·  GDPR  ·  HIPAA  ·  PCI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drBand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/>
          </a:p>
        </p:txBody>
      </p:sp>
      <p:sp>
        <p:nvSpPr>
          <p:cNvPr id="12" name="Eyebrow"/>
          <p:cNvSpPr txBox="1"/>
          <p:nvPr/>
        </p:nvSpPr>
        <p:spPr>
          <a:xfrm>
            <a:off x="365760" y="91440"/>
            <a:ext cx="82296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00" b="1">
                <a:solidFill>
                  <a:srgbClr val="00B8A9"/>
                </a:solidFill>
                <a:latin typeface="Calibri"/>
              </a:rPr>
              <a:t>AGENTIC SDLC TRANSFORMATION  ·  ENTERPRISE VALUE REALIZATION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365760" y="329184"/>
            <a:ext cx="1146000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Calibri"/>
              </a:rPr>
              <a:t>Measurable Business Value Across the SDLC</a:t>
            </a:r>
          </a:p>
        </p:txBody>
      </p:sp>
      <p:sp>
        <p:nvSpPr>
          <p:cNvPr id="14" name="FtrBand"/>
          <p:cNvSpPr/>
          <p:nvPr/>
        </p:nvSpPr>
        <p:spPr>
          <a:xfrm>
            <a:off x="0" y="6656832"/>
            <a:ext cx="12191695" cy="182880"/>
          </a:xfrm>
          <a:prstGeom prst="rect">
            <a:avLst/>
          </a:prstGeom>
          <a:solidFill>
            <a:srgbClr val="F3F4F6"/>
          </a:solidFill>
        </p:spPr>
        <p:txBody>
          <a:bodyPr/>
          <a:lstStyle/>
          <a:p>
            <a:endParaRPr/>
          </a:p>
        </p:txBody>
      </p:sp>
      <p:sp>
        <p:nvSpPr>
          <p:cNvPr id="15" name="FtrTxt"/>
          <p:cNvSpPr txBox="1"/>
          <p:nvPr/>
        </p:nvSpPr>
        <p:spPr>
          <a:xfrm>
            <a:off x="320040" y="6684264"/>
            <a:ext cx="8229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800">
                <a:solidFill>
                  <a:srgbClr val="9CA3AF"/>
                </a:solidFill>
                <a:latin typeface="Calibri"/>
              </a:rPr>
              <a:t>CONFIDENTIAL  |  Technology Strategy Practice  |  Not for Distribution</a:t>
            </a:r>
          </a:p>
        </p:txBody>
      </p:sp>
      <p:sp>
        <p:nvSpPr>
          <p:cNvPr id="16" name="PageNum"/>
          <p:cNvSpPr txBox="1"/>
          <p:nvPr/>
        </p:nvSpPr>
        <p:spPr>
          <a:xfrm>
            <a:off x="11704320" y="6684264"/>
            <a:ext cx="3657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r>
              <a:rPr lang="en-US" sz="800">
                <a:solidFill>
                  <a:srgbClr val="9CA3AF"/>
                </a:solidFill>
                <a:latin typeface="Calibri"/>
              </a:rPr>
              <a:t>15</a:t>
            </a:r>
          </a:p>
        </p:txBody>
      </p:sp>
      <p:sp>
        <p:nvSpPr>
          <p:cNvPr id="17" name="CardBody0"/>
          <p:cNvSpPr/>
          <p:nvPr/>
        </p:nvSpPr>
        <p:spPr>
          <a:xfrm>
            <a:off x="201168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PastelHdr0"/>
          <p:cNvSpPr/>
          <p:nvPr/>
        </p:nvSpPr>
        <p:spPr>
          <a:xfrm>
            <a:off x="201168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DCEE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Stage0"/>
          <p:cNvSpPr txBox="1"/>
          <p:nvPr/>
        </p:nvSpPr>
        <p:spPr>
          <a:xfrm>
            <a:off x="201168" y="987552"/>
            <a:ext cx="1888693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Requirements</a:t>
            </a:r>
          </a:p>
        </p:txBody>
      </p:sp>
      <p:sp>
        <p:nvSpPr>
          <p:cNvPr id="20" name="DurLbl0"/>
          <p:cNvSpPr txBox="1"/>
          <p:nvPr/>
        </p:nvSpPr>
        <p:spPr>
          <a:xfrm>
            <a:off x="301752" y="1545336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21" name="DurUL0"/>
          <p:cNvSpPr/>
          <p:nvPr/>
        </p:nvSpPr>
        <p:spPr>
          <a:xfrm>
            <a:off x="487379" y="1764792"/>
            <a:ext cx="1316269" cy="1463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/>
          </a:p>
        </p:txBody>
      </p:sp>
      <p:sp>
        <p:nvSpPr>
          <p:cNvPr id="22" name="DurVal0"/>
          <p:cNvSpPr txBox="1"/>
          <p:nvPr/>
        </p:nvSpPr>
        <p:spPr>
          <a:xfrm>
            <a:off x="301752" y="1792224"/>
            <a:ext cx="168752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libri"/>
              </a:rPr>
              <a:t>5 – 8 Days</a:t>
            </a:r>
          </a:p>
        </p:txBody>
      </p:sp>
      <p:sp>
        <p:nvSpPr>
          <p:cNvPr id="23" name="Div1_0"/>
          <p:cNvSpPr/>
          <p:nvPr/>
        </p:nvSpPr>
        <p:spPr>
          <a:xfrm>
            <a:off x="329184" y="2368296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4" name="PainLbl0"/>
          <p:cNvSpPr txBox="1"/>
          <p:nvPr/>
        </p:nvSpPr>
        <p:spPr>
          <a:xfrm>
            <a:off x="301752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25" name="PainUL0"/>
          <p:cNvSpPr/>
          <p:nvPr/>
        </p:nvSpPr>
        <p:spPr>
          <a:xfrm>
            <a:off x="487379" y="2651760"/>
            <a:ext cx="1316269" cy="14630"/>
          </a:xfrm>
          <a:prstGeom prst="rect">
            <a:avLst/>
          </a:prstGeom>
          <a:solidFill>
            <a:srgbClr val="FECACA"/>
          </a:solidFill>
        </p:spPr>
        <p:txBody>
          <a:bodyPr/>
          <a:lstStyle/>
          <a:p>
            <a:endParaRPr/>
          </a:p>
        </p:txBody>
      </p:sp>
      <p:sp>
        <p:nvSpPr>
          <p:cNvPr id="26" name="PainTxt0"/>
          <p:cNvSpPr txBox="1"/>
          <p:nvPr/>
        </p:nvSpPr>
        <p:spPr>
          <a:xfrm>
            <a:off x="301752" y="2697480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Ambiguous requirements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Missing acceptance criteria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Frequent mid-sprint rework</a:t>
            </a:r>
          </a:p>
        </p:txBody>
      </p:sp>
      <p:sp>
        <p:nvSpPr>
          <p:cNvPr id="27" name="Div2_0"/>
          <p:cNvSpPr/>
          <p:nvPr/>
        </p:nvSpPr>
        <p:spPr>
          <a:xfrm>
            <a:off x="329184" y="3859312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8" name="ImpLbl0"/>
          <p:cNvSpPr txBox="1"/>
          <p:nvPr/>
        </p:nvSpPr>
        <p:spPr>
          <a:xfrm>
            <a:off x="301752" y="3923320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29" name="ImpUL0"/>
          <p:cNvSpPr/>
          <p:nvPr/>
        </p:nvSpPr>
        <p:spPr>
          <a:xfrm>
            <a:off x="487379" y="4142776"/>
            <a:ext cx="1316269" cy="14630"/>
          </a:xfrm>
          <a:prstGeom prst="rect">
            <a:avLst/>
          </a:prstGeom>
          <a:solidFill>
            <a:srgbClr val="FDE68A"/>
          </a:solidFill>
        </p:spPr>
        <p:txBody>
          <a:bodyPr/>
          <a:lstStyle/>
          <a:p>
            <a:endParaRPr/>
          </a:p>
        </p:txBody>
      </p:sp>
      <p:sp>
        <p:nvSpPr>
          <p:cNvPr id="30" name="ImpTxt0"/>
          <p:cNvSpPr txBox="1"/>
          <p:nvPr/>
        </p:nvSpPr>
        <p:spPr>
          <a:xfrm>
            <a:off x="301752" y="4188496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Delayed sprint planning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Scope creep &amp; delivery risk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Wasted engineering effort</a:t>
            </a:r>
          </a:p>
        </p:txBody>
      </p:sp>
      <p:sp>
        <p:nvSpPr>
          <p:cNvPr id="31" name="AgLbl0"/>
          <p:cNvSpPr txBox="1"/>
          <p:nvPr/>
        </p:nvSpPr>
        <p:spPr>
          <a:xfrm>
            <a:off x="301752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4338CA"/>
                </a:solidFill>
                <a:latin typeface="Calibri"/>
              </a:rPr>
              <a:t>RECOMMENDED AGENTS</a:t>
            </a:r>
          </a:p>
        </p:txBody>
      </p:sp>
      <p:sp>
        <p:nvSpPr>
          <p:cNvPr id="32" name="AgUL0"/>
          <p:cNvSpPr/>
          <p:nvPr/>
        </p:nvSpPr>
        <p:spPr>
          <a:xfrm>
            <a:off x="487379" y="2651760"/>
            <a:ext cx="1316269" cy="14630"/>
          </a:xfrm>
          <a:prstGeom prst="rect">
            <a:avLst/>
          </a:prstGeom>
          <a:solidFill>
            <a:srgbClr val="C7D2FE"/>
          </a:solidFill>
        </p:spPr>
        <p:txBody>
          <a:bodyPr/>
          <a:lstStyle/>
          <a:p>
            <a:endParaRPr/>
          </a:p>
        </p:txBody>
      </p:sp>
      <p:sp>
        <p:nvSpPr>
          <p:cNvPr id="33" name="AgTxt0"/>
          <p:cNvSpPr txBox="1"/>
          <p:nvPr/>
        </p:nvSpPr>
        <p:spPr>
          <a:xfrm>
            <a:off x="301752" y="2697480"/>
            <a:ext cx="1687525" cy="93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Requirements Elicitation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User Story Generator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Story Sizing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Dependency Mapper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Meeting Intelligence</a:t>
            </a:r>
          </a:p>
        </p:txBody>
      </p:sp>
      <p:sp>
        <p:nvSpPr>
          <p:cNvPr id="34" name="BizValue0"/>
          <p:cNvSpPr txBox="1"/>
          <p:nvPr/>
        </p:nvSpPr>
        <p:spPr>
          <a:xfrm>
            <a:off x="321168" y="3900000"/>
            <a:ext cx="1648693" cy="1700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5803D"/>
                </a:solidFill>
                <a:latin typeface="Calibri"/>
              </a:rPr>
              <a:t>BUSINESS VALUE</a:t>
            </a:r>
          </a:p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16A34A"/>
                </a:solidFill>
                <a:latin typeface="Calibri"/>
              </a:rPr>
              <a:t>30 – 50%</a:t>
            </a:r>
          </a:p>
          <a:p>
            <a:pPr algn="ctr">
              <a:lnSpc>
                <a:spcPct val="100000"/>
              </a:lnSpc>
            </a:pPr>
            <a:r>
              <a:rPr lang="en-US" sz="1000">
                <a:solidFill>
                  <a:srgbClr val="0B1F3A"/>
                </a:solidFill>
                <a:latin typeface="Calibri"/>
              </a:rPr>
              <a:t>Faster Requirements Analysis</a:t>
            </a:r>
          </a:p>
        </p:txBody>
      </p:sp>
      <p:sp>
        <p:nvSpPr>
          <p:cNvPr id="35" name="CardBody1"/>
          <p:cNvSpPr/>
          <p:nvPr/>
        </p:nvSpPr>
        <p:spPr>
          <a:xfrm>
            <a:off x="2181301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PastelHdr1"/>
          <p:cNvSpPr/>
          <p:nvPr/>
        </p:nvSpPr>
        <p:spPr>
          <a:xfrm>
            <a:off x="2181301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EE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Stage1"/>
          <p:cNvSpPr txBox="1"/>
          <p:nvPr/>
        </p:nvSpPr>
        <p:spPr>
          <a:xfrm>
            <a:off x="2181301" y="987552"/>
            <a:ext cx="1888693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Design</a:t>
            </a:r>
          </a:p>
        </p:txBody>
      </p:sp>
      <p:sp>
        <p:nvSpPr>
          <p:cNvPr id="38" name="DurLbl1"/>
          <p:cNvSpPr txBox="1"/>
          <p:nvPr/>
        </p:nvSpPr>
        <p:spPr>
          <a:xfrm>
            <a:off x="2281885" y="1545336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39" name="DurUL1"/>
          <p:cNvSpPr/>
          <p:nvPr/>
        </p:nvSpPr>
        <p:spPr>
          <a:xfrm>
            <a:off x="2467512" y="1764792"/>
            <a:ext cx="1316269" cy="1463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/>
          </a:p>
        </p:txBody>
      </p:sp>
      <p:sp>
        <p:nvSpPr>
          <p:cNvPr id="40" name="DurVal1"/>
          <p:cNvSpPr txBox="1"/>
          <p:nvPr/>
        </p:nvSpPr>
        <p:spPr>
          <a:xfrm>
            <a:off x="2281885" y="1792224"/>
            <a:ext cx="168752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libri"/>
              </a:rPr>
              <a:t>3 – 6 Days</a:t>
            </a:r>
          </a:p>
        </p:txBody>
      </p:sp>
      <p:sp>
        <p:nvSpPr>
          <p:cNvPr id="41" name="Div1_1"/>
          <p:cNvSpPr/>
          <p:nvPr/>
        </p:nvSpPr>
        <p:spPr>
          <a:xfrm>
            <a:off x="2309317" y="2368296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42" name="PainLbl1"/>
          <p:cNvSpPr txBox="1"/>
          <p:nvPr/>
        </p:nvSpPr>
        <p:spPr>
          <a:xfrm>
            <a:off x="2281885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43" name="PainUL1"/>
          <p:cNvSpPr/>
          <p:nvPr/>
        </p:nvSpPr>
        <p:spPr>
          <a:xfrm>
            <a:off x="2467512" y="2651760"/>
            <a:ext cx="1316269" cy="14630"/>
          </a:xfrm>
          <a:prstGeom prst="rect">
            <a:avLst/>
          </a:prstGeom>
          <a:solidFill>
            <a:srgbClr val="FECACA"/>
          </a:solidFill>
        </p:spPr>
        <p:txBody>
          <a:bodyPr/>
          <a:lstStyle/>
          <a:p>
            <a:endParaRPr/>
          </a:p>
        </p:txBody>
      </p:sp>
      <p:sp>
        <p:nvSpPr>
          <p:cNvPr id="44" name="PainTxt1"/>
          <p:cNvSpPr txBox="1"/>
          <p:nvPr/>
        </p:nvSpPr>
        <p:spPr>
          <a:xfrm>
            <a:off x="2281885" y="2697480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Undocumented architecture decisions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Inconsistent API &amp; data contracts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Repeated design rework</a:t>
            </a:r>
          </a:p>
        </p:txBody>
      </p:sp>
      <p:sp>
        <p:nvSpPr>
          <p:cNvPr id="45" name="Div2_1"/>
          <p:cNvSpPr/>
          <p:nvPr/>
        </p:nvSpPr>
        <p:spPr>
          <a:xfrm>
            <a:off x="2309317" y="3859312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46" name="ImpLbl1"/>
          <p:cNvSpPr txBox="1"/>
          <p:nvPr/>
        </p:nvSpPr>
        <p:spPr>
          <a:xfrm>
            <a:off x="2281885" y="3923320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47" name="ImpUL1"/>
          <p:cNvSpPr/>
          <p:nvPr/>
        </p:nvSpPr>
        <p:spPr>
          <a:xfrm>
            <a:off x="2467512" y="4142776"/>
            <a:ext cx="1316269" cy="14630"/>
          </a:xfrm>
          <a:prstGeom prst="rect">
            <a:avLst/>
          </a:prstGeom>
          <a:solidFill>
            <a:srgbClr val="FDE68A"/>
          </a:solidFill>
        </p:spPr>
        <p:txBody>
          <a:bodyPr/>
          <a:lstStyle/>
          <a:p>
            <a:endParaRPr/>
          </a:p>
        </p:txBody>
      </p:sp>
      <p:sp>
        <p:nvSpPr>
          <p:cNvPr id="48" name="ImpTxt1"/>
          <p:cNvSpPr txBox="1"/>
          <p:nvPr/>
        </p:nvSpPr>
        <p:spPr>
          <a:xfrm>
            <a:off x="2281885" y="4188496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Integration failures downstream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Increased technical debt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Delayed development start</a:t>
            </a:r>
          </a:p>
        </p:txBody>
      </p:sp>
      <p:sp>
        <p:nvSpPr>
          <p:cNvPr id="49" name="AgLbl1"/>
          <p:cNvSpPr txBox="1"/>
          <p:nvPr/>
        </p:nvSpPr>
        <p:spPr>
          <a:xfrm>
            <a:off x="2281885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4338CA"/>
                </a:solidFill>
                <a:latin typeface="Calibri"/>
              </a:rPr>
              <a:t>RECOMMENDED AGENTS</a:t>
            </a:r>
          </a:p>
        </p:txBody>
      </p:sp>
      <p:sp>
        <p:nvSpPr>
          <p:cNvPr id="50" name="AgUL1"/>
          <p:cNvSpPr/>
          <p:nvPr/>
        </p:nvSpPr>
        <p:spPr>
          <a:xfrm>
            <a:off x="2467512" y="2651760"/>
            <a:ext cx="1316269" cy="14630"/>
          </a:xfrm>
          <a:prstGeom prst="rect">
            <a:avLst/>
          </a:prstGeom>
          <a:solidFill>
            <a:srgbClr val="C7D2FE"/>
          </a:solidFill>
        </p:spPr>
        <p:txBody>
          <a:bodyPr/>
          <a:lstStyle/>
          <a:p>
            <a:endParaRPr/>
          </a:p>
        </p:txBody>
      </p:sp>
      <p:sp>
        <p:nvSpPr>
          <p:cNvPr id="51" name="AgTxt1"/>
          <p:cNvSpPr txBox="1"/>
          <p:nvPr/>
        </p:nvSpPr>
        <p:spPr>
          <a:xfrm>
            <a:off x="2281885" y="2697480"/>
            <a:ext cx="1687525" cy="93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Architecture Advisor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API Design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Data Modelling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Legacy Migration</a:t>
            </a:r>
          </a:p>
        </p:txBody>
      </p:sp>
      <p:sp>
        <p:nvSpPr>
          <p:cNvPr id="52" name="BizValue1"/>
          <p:cNvSpPr txBox="1"/>
          <p:nvPr/>
        </p:nvSpPr>
        <p:spPr>
          <a:xfrm>
            <a:off x="2301301" y="3900000"/>
            <a:ext cx="1648693" cy="1700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5803D"/>
                </a:solidFill>
                <a:latin typeface="Calibri"/>
              </a:rPr>
              <a:t>BUSINESS VALUE</a:t>
            </a:r>
          </a:p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16A34A"/>
                </a:solidFill>
                <a:latin typeface="Calibri"/>
              </a:rPr>
              <a:t>25 – 40%</a:t>
            </a:r>
          </a:p>
          <a:p>
            <a:pPr algn="ctr">
              <a:lnSpc>
                <a:spcPct val="100000"/>
              </a:lnSpc>
            </a:pPr>
            <a:r>
              <a:rPr lang="en-US" sz="1000">
                <a:solidFill>
                  <a:srgbClr val="0B1F3A"/>
                </a:solidFill>
                <a:latin typeface="Calibri"/>
              </a:rPr>
              <a:t>Higher Design Quality</a:t>
            </a:r>
          </a:p>
        </p:txBody>
      </p:sp>
      <p:sp>
        <p:nvSpPr>
          <p:cNvPr id="53" name="CardBody2"/>
          <p:cNvSpPr/>
          <p:nvPr/>
        </p:nvSpPr>
        <p:spPr>
          <a:xfrm>
            <a:off x="4161434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PastelHdr2"/>
          <p:cNvSpPr/>
          <p:nvPr/>
        </p:nvSpPr>
        <p:spPr>
          <a:xfrm>
            <a:off x="4161434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E8F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tage2"/>
          <p:cNvSpPr txBox="1"/>
          <p:nvPr/>
        </p:nvSpPr>
        <p:spPr>
          <a:xfrm>
            <a:off x="4161434" y="987552"/>
            <a:ext cx="1888693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Development</a:t>
            </a:r>
          </a:p>
        </p:txBody>
      </p:sp>
      <p:sp>
        <p:nvSpPr>
          <p:cNvPr id="56" name="DurLbl2"/>
          <p:cNvSpPr txBox="1"/>
          <p:nvPr/>
        </p:nvSpPr>
        <p:spPr>
          <a:xfrm>
            <a:off x="4262018" y="1545336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57" name="DurUL2"/>
          <p:cNvSpPr/>
          <p:nvPr/>
        </p:nvSpPr>
        <p:spPr>
          <a:xfrm>
            <a:off x="4447645" y="1764792"/>
            <a:ext cx="1316269" cy="1463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/>
          </a:p>
        </p:txBody>
      </p:sp>
      <p:sp>
        <p:nvSpPr>
          <p:cNvPr id="58" name="DurVal2"/>
          <p:cNvSpPr txBox="1"/>
          <p:nvPr/>
        </p:nvSpPr>
        <p:spPr>
          <a:xfrm>
            <a:off x="4262018" y="1792224"/>
            <a:ext cx="168752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libri"/>
              </a:rPr>
              <a:t>8 – 14 Days</a:t>
            </a:r>
          </a:p>
        </p:txBody>
      </p:sp>
      <p:sp>
        <p:nvSpPr>
          <p:cNvPr id="59" name="Div1_2"/>
          <p:cNvSpPr/>
          <p:nvPr/>
        </p:nvSpPr>
        <p:spPr>
          <a:xfrm>
            <a:off x="4289450" y="2368296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60" name="PainLbl2"/>
          <p:cNvSpPr txBox="1"/>
          <p:nvPr/>
        </p:nvSpPr>
        <p:spPr>
          <a:xfrm>
            <a:off x="4262018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61" name="PainUL2"/>
          <p:cNvSpPr/>
          <p:nvPr/>
        </p:nvSpPr>
        <p:spPr>
          <a:xfrm>
            <a:off x="4447645" y="2651760"/>
            <a:ext cx="1316269" cy="14630"/>
          </a:xfrm>
          <a:prstGeom prst="rect">
            <a:avLst/>
          </a:prstGeom>
          <a:solidFill>
            <a:srgbClr val="FECACA"/>
          </a:solidFill>
        </p:spPr>
        <p:txBody>
          <a:bodyPr/>
          <a:lstStyle/>
          <a:p>
            <a:endParaRPr/>
          </a:p>
        </p:txBody>
      </p:sp>
      <p:sp>
        <p:nvSpPr>
          <p:cNvPr id="62" name="PainTxt2"/>
          <p:cNvSpPr txBox="1"/>
          <p:nvPr/>
        </p:nvSpPr>
        <p:spPr>
          <a:xfrm>
            <a:off x="4262018" y="2697480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Context switching across issues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Inadequate code documentation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Inconsistent coding standards</a:t>
            </a:r>
          </a:p>
        </p:txBody>
      </p:sp>
      <p:sp>
        <p:nvSpPr>
          <p:cNvPr id="63" name="Div2_2"/>
          <p:cNvSpPr/>
          <p:nvPr/>
        </p:nvSpPr>
        <p:spPr>
          <a:xfrm>
            <a:off x="4289450" y="3859312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64" name="ImpLbl2"/>
          <p:cNvSpPr txBox="1"/>
          <p:nvPr/>
        </p:nvSpPr>
        <p:spPr>
          <a:xfrm>
            <a:off x="4262018" y="3923320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65" name="ImpUL2"/>
          <p:cNvSpPr/>
          <p:nvPr/>
        </p:nvSpPr>
        <p:spPr>
          <a:xfrm>
            <a:off x="4447645" y="4142776"/>
            <a:ext cx="1316269" cy="14630"/>
          </a:xfrm>
          <a:prstGeom prst="rect">
            <a:avLst/>
          </a:prstGeom>
          <a:solidFill>
            <a:srgbClr val="FDE68A"/>
          </a:solidFill>
        </p:spPr>
        <p:txBody>
          <a:bodyPr/>
          <a:lstStyle/>
          <a:p>
            <a:endParaRPr/>
          </a:p>
        </p:txBody>
      </p:sp>
      <p:sp>
        <p:nvSpPr>
          <p:cNvPr id="66" name="ImpTxt2"/>
          <p:cNvSpPr txBox="1"/>
          <p:nvPr/>
        </p:nvSpPr>
        <p:spPr>
          <a:xfrm>
            <a:off x="4262018" y="4188496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Extended review cycles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Higher defect injection rate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Knowledge silos across teams</a:t>
            </a:r>
          </a:p>
        </p:txBody>
      </p:sp>
      <p:sp>
        <p:nvSpPr>
          <p:cNvPr id="67" name="AgLbl2"/>
          <p:cNvSpPr txBox="1"/>
          <p:nvPr/>
        </p:nvSpPr>
        <p:spPr>
          <a:xfrm>
            <a:off x="4262018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4338CA"/>
                </a:solidFill>
                <a:latin typeface="Calibri"/>
              </a:rPr>
              <a:t>RECOMMENDED AGENTS</a:t>
            </a:r>
          </a:p>
        </p:txBody>
      </p:sp>
      <p:sp>
        <p:nvSpPr>
          <p:cNvPr id="68" name="AgUL2"/>
          <p:cNvSpPr/>
          <p:nvPr/>
        </p:nvSpPr>
        <p:spPr>
          <a:xfrm>
            <a:off x="4447645" y="2651760"/>
            <a:ext cx="1316269" cy="14630"/>
          </a:xfrm>
          <a:prstGeom prst="rect">
            <a:avLst/>
          </a:prstGeom>
          <a:solidFill>
            <a:srgbClr val="C7D2FE"/>
          </a:solidFill>
        </p:spPr>
        <p:txBody>
          <a:bodyPr/>
          <a:lstStyle/>
          <a:p>
            <a:endParaRPr/>
          </a:p>
        </p:txBody>
      </p:sp>
      <p:sp>
        <p:nvSpPr>
          <p:cNvPr id="69" name="AgTxt2"/>
          <p:cNvSpPr txBox="1"/>
          <p:nvPr/>
        </p:nvSpPr>
        <p:spPr>
          <a:xfrm>
            <a:off x="4262018" y="2697480"/>
            <a:ext cx="1687525" cy="93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Code Generation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Pair Programming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Documentation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Sprint Planner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PII Leak Detection</a:t>
            </a:r>
          </a:p>
        </p:txBody>
      </p:sp>
      <p:sp>
        <p:nvSpPr>
          <p:cNvPr id="70" name="BizValue2"/>
          <p:cNvSpPr txBox="1"/>
          <p:nvPr/>
        </p:nvSpPr>
        <p:spPr>
          <a:xfrm>
            <a:off x="4281434" y="3900000"/>
            <a:ext cx="1648693" cy="1700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5803D"/>
                </a:solidFill>
                <a:latin typeface="Calibri"/>
              </a:rPr>
              <a:t>BUSINESS VALUE</a:t>
            </a:r>
          </a:p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16A34A"/>
                </a:solidFill>
                <a:latin typeface="Calibri"/>
              </a:rPr>
              <a:t>40 – 60%</a:t>
            </a:r>
          </a:p>
          <a:p>
            <a:pPr algn="ctr">
              <a:lnSpc>
                <a:spcPct val="100000"/>
              </a:lnSpc>
            </a:pPr>
            <a:r>
              <a:rPr lang="en-US" sz="1000">
                <a:solidFill>
                  <a:srgbClr val="0B1F3A"/>
                </a:solidFill>
                <a:latin typeface="Calibri"/>
              </a:rPr>
              <a:t>Faster Story-to-Code Cycle</a:t>
            </a:r>
          </a:p>
        </p:txBody>
      </p:sp>
      <p:sp>
        <p:nvSpPr>
          <p:cNvPr id="71" name="CardBody3"/>
          <p:cNvSpPr/>
          <p:nvPr/>
        </p:nvSpPr>
        <p:spPr>
          <a:xfrm>
            <a:off x="6141567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PastelHdr3"/>
          <p:cNvSpPr/>
          <p:nvPr/>
        </p:nvSpPr>
        <p:spPr>
          <a:xfrm>
            <a:off x="6141567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FFF1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Stage3"/>
          <p:cNvSpPr txBox="1"/>
          <p:nvPr/>
        </p:nvSpPr>
        <p:spPr>
          <a:xfrm>
            <a:off x="6141567" y="987552"/>
            <a:ext cx="1888693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Testing</a:t>
            </a:r>
          </a:p>
        </p:txBody>
      </p:sp>
      <p:sp>
        <p:nvSpPr>
          <p:cNvPr id="74" name="DurLbl3"/>
          <p:cNvSpPr txBox="1"/>
          <p:nvPr/>
        </p:nvSpPr>
        <p:spPr>
          <a:xfrm>
            <a:off x="6242151" y="1545336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75" name="DurUL3"/>
          <p:cNvSpPr/>
          <p:nvPr/>
        </p:nvSpPr>
        <p:spPr>
          <a:xfrm>
            <a:off x="6427778" y="1764792"/>
            <a:ext cx="1316269" cy="1463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/>
          </a:p>
        </p:txBody>
      </p:sp>
      <p:sp>
        <p:nvSpPr>
          <p:cNvPr id="76" name="DurVal3"/>
          <p:cNvSpPr txBox="1"/>
          <p:nvPr/>
        </p:nvSpPr>
        <p:spPr>
          <a:xfrm>
            <a:off x="6242151" y="1792224"/>
            <a:ext cx="168752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libri"/>
              </a:rPr>
              <a:t>5 – 10 Days</a:t>
            </a:r>
          </a:p>
        </p:txBody>
      </p:sp>
      <p:sp>
        <p:nvSpPr>
          <p:cNvPr id="77" name="Div1_3"/>
          <p:cNvSpPr/>
          <p:nvPr/>
        </p:nvSpPr>
        <p:spPr>
          <a:xfrm>
            <a:off x="6269583" y="2368296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78" name="PainLbl3"/>
          <p:cNvSpPr txBox="1"/>
          <p:nvPr/>
        </p:nvSpPr>
        <p:spPr>
          <a:xfrm>
            <a:off x="6242151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79" name="PainUL3"/>
          <p:cNvSpPr/>
          <p:nvPr/>
        </p:nvSpPr>
        <p:spPr>
          <a:xfrm>
            <a:off x="6427778" y="2651760"/>
            <a:ext cx="1316269" cy="14630"/>
          </a:xfrm>
          <a:prstGeom prst="rect">
            <a:avLst/>
          </a:prstGeom>
          <a:solidFill>
            <a:srgbClr val="FECACA"/>
          </a:solidFill>
        </p:spPr>
        <p:txBody>
          <a:bodyPr/>
          <a:lstStyle/>
          <a:p>
            <a:endParaRPr/>
          </a:p>
        </p:txBody>
      </p:sp>
      <p:sp>
        <p:nvSpPr>
          <p:cNvPr id="80" name="PainTxt3"/>
          <p:cNvSpPr txBox="1"/>
          <p:nvPr/>
        </p:nvSpPr>
        <p:spPr>
          <a:xfrm>
            <a:off x="6242151" y="2697480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Manual test case authoring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Low automation coverage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Late defect discovery</a:t>
            </a:r>
          </a:p>
        </p:txBody>
      </p:sp>
      <p:sp>
        <p:nvSpPr>
          <p:cNvPr id="81" name="Div2_3"/>
          <p:cNvSpPr/>
          <p:nvPr/>
        </p:nvSpPr>
        <p:spPr>
          <a:xfrm>
            <a:off x="6269583" y="3859312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82" name="ImpLbl3"/>
          <p:cNvSpPr txBox="1"/>
          <p:nvPr/>
        </p:nvSpPr>
        <p:spPr>
          <a:xfrm>
            <a:off x="6242151" y="3923320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83" name="ImpUL3"/>
          <p:cNvSpPr/>
          <p:nvPr/>
        </p:nvSpPr>
        <p:spPr>
          <a:xfrm>
            <a:off x="6427778" y="4142776"/>
            <a:ext cx="1316269" cy="14630"/>
          </a:xfrm>
          <a:prstGeom prst="rect">
            <a:avLst/>
          </a:prstGeom>
          <a:solidFill>
            <a:srgbClr val="FDE68A"/>
          </a:solidFill>
        </p:spPr>
        <p:txBody>
          <a:bodyPr/>
          <a:lstStyle/>
          <a:p>
            <a:endParaRPr/>
          </a:p>
        </p:txBody>
      </p:sp>
      <p:sp>
        <p:nvSpPr>
          <p:cNvPr id="84" name="ImpTxt3"/>
          <p:cNvSpPr txBox="1"/>
          <p:nvPr/>
        </p:nvSpPr>
        <p:spPr>
          <a:xfrm>
            <a:off x="6242151" y="4188496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Defects escape to production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Last-minute release delays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Increased regression risk</a:t>
            </a:r>
          </a:p>
        </p:txBody>
      </p:sp>
      <p:sp>
        <p:nvSpPr>
          <p:cNvPr id="85" name="AgLbl3"/>
          <p:cNvSpPr txBox="1"/>
          <p:nvPr/>
        </p:nvSpPr>
        <p:spPr>
          <a:xfrm>
            <a:off x="6242151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4338CA"/>
                </a:solidFill>
                <a:latin typeface="Calibri"/>
              </a:rPr>
              <a:t>RECOMMENDED AGENTS</a:t>
            </a:r>
          </a:p>
        </p:txBody>
      </p:sp>
      <p:sp>
        <p:nvSpPr>
          <p:cNvPr id="86" name="AgUL3"/>
          <p:cNvSpPr/>
          <p:nvPr/>
        </p:nvSpPr>
        <p:spPr>
          <a:xfrm>
            <a:off x="6427778" y="2651760"/>
            <a:ext cx="1316269" cy="14630"/>
          </a:xfrm>
          <a:prstGeom prst="rect">
            <a:avLst/>
          </a:prstGeom>
          <a:solidFill>
            <a:srgbClr val="C7D2FE"/>
          </a:solidFill>
        </p:spPr>
        <p:txBody>
          <a:bodyPr/>
          <a:lstStyle/>
          <a:p>
            <a:endParaRPr/>
          </a:p>
        </p:txBody>
      </p:sp>
      <p:sp>
        <p:nvSpPr>
          <p:cNvPr id="87" name="AgTxt3"/>
          <p:cNvSpPr txBox="1"/>
          <p:nvPr/>
        </p:nvSpPr>
        <p:spPr>
          <a:xfrm>
            <a:off x="6242151" y="2697480"/>
            <a:ext cx="1687525" cy="93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Test Generation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Peer Review</a:t>
            </a:r>
          </a:p>
        </p:txBody>
      </p:sp>
      <p:sp>
        <p:nvSpPr>
          <p:cNvPr id="88" name="BizValue3"/>
          <p:cNvSpPr txBox="1"/>
          <p:nvPr/>
        </p:nvSpPr>
        <p:spPr>
          <a:xfrm>
            <a:off x="6261567" y="3900000"/>
            <a:ext cx="1648693" cy="1700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5803D"/>
                </a:solidFill>
                <a:latin typeface="Calibri"/>
              </a:rPr>
              <a:t>BUSINESS VALUE</a:t>
            </a:r>
          </a:p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16A34A"/>
                </a:solidFill>
                <a:latin typeface="Calibri"/>
              </a:rPr>
              <a:t>30 – 50%</a:t>
            </a:r>
          </a:p>
          <a:p>
            <a:pPr algn="ctr">
              <a:lnSpc>
                <a:spcPct val="100000"/>
              </a:lnSpc>
            </a:pPr>
            <a:r>
              <a:rPr lang="en-US" sz="1000">
                <a:solidFill>
                  <a:srgbClr val="0B1F3A"/>
                </a:solidFill>
                <a:latin typeface="Calibri"/>
              </a:rPr>
              <a:t>Higher Test Coverage</a:t>
            </a:r>
          </a:p>
        </p:txBody>
      </p:sp>
      <p:sp>
        <p:nvSpPr>
          <p:cNvPr id="89" name="CardBody4"/>
          <p:cNvSpPr/>
          <p:nvPr/>
        </p:nvSpPr>
        <p:spPr>
          <a:xfrm>
            <a:off x="8121700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PastelHdr4"/>
          <p:cNvSpPr/>
          <p:nvPr/>
        </p:nvSpPr>
        <p:spPr>
          <a:xfrm>
            <a:off x="8121700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DD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tage4"/>
          <p:cNvSpPr txBox="1"/>
          <p:nvPr/>
        </p:nvSpPr>
        <p:spPr>
          <a:xfrm>
            <a:off x="8121700" y="987552"/>
            <a:ext cx="1888693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Deployment</a:t>
            </a:r>
          </a:p>
        </p:txBody>
      </p:sp>
      <p:sp>
        <p:nvSpPr>
          <p:cNvPr id="92" name="DurLbl4"/>
          <p:cNvSpPr txBox="1"/>
          <p:nvPr/>
        </p:nvSpPr>
        <p:spPr>
          <a:xfrm>
            <a:off x="8222284" y="1545336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93" name="DurUL4"/>
          <p:cNvSpPr/>
          <p:nvPr/>
        </p:nvSpPr>
        <p:spPr>
          <a:xfrm>
            <a:off x="8407911" y="1764792"/>
            <a:ext cx="1316269" cy="1463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/>
          </a:p>
        </p:txBody>
      </p:sp>
      <p:sp>
        <p:nvSpPr>
          <p:cNvPr id="94" name="DurVal4"/>
          <p:cNvSpPr txBox="1"/>
          <p:nvPr/>
        </p:nvSpPr>
        <p:spPr>
          <a:xfrm>
            <a:off x="8222284" y="1792224"/>
            <a:ext cx="168752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libri"/>
              </a:rPr>
              <a:t>1 – 4 Days</a:t>
            </a:r>
          </a:p>
        </p:txBody>
      </p:sp>
      <p:sp>
        <p:nvSpPr>
          <p:cNvPr id="95" name="Div1_4"/>
          <p:cNvSpPr/>
          <p:nvPr/>
        </p:nvSpPr>
        <p:spPr>
          <a:xfrm>
            <a:off x="8249716" y="2368296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96" name="PainLbl4"/>
          <p:cNvSpPr txBox="1"/>
          <p:nvPr/>
        </p:nvSpPr>
        <p:spPr>
          <a:xfrm>
            <a:off x="8222284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97" name="PainUL4"/>
          <p:cNvSpPr/>
          <p:nvPr/>
        </p:nvSpPr>
        <p:spPr>
          <a:xfrm>
            <a:off x="8407911" y="2651760"/>
            <a:ext cx="1316269" cy="14630"/>
          </a:xfrm>
          <a:prstGeom prst="rect">
            <a:avLst/>
          </a:prstGeom>
          <a:solidFill>
            <a:srgbClr val="FECACA"/>
          </a:solidFill>
        </p:spPr>
        <p:txBody>
          <a:bodyPr/>
          <a:lstStyle/>
          <a:p>
            <a:endParaRPr/>
          </a:p>
        </p:txBody>
      </p:sp>
      <p:sp>
        <p:nvSpPr>
          <p:cNvPr id="98" name="PainTxt4"/>
          <p:cNvSpPr txBox="1"/>
          <p:nvPr/>
        </p:nvSpPr>
        <p:spPr>
          <a:xfrm>
            <a:off x="8222284" y="2697480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Manual release preparation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Environment inconsistency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Incomplete change documentation</a:t>
            </a:r>
          </a:p>
        </p:txBody>
      </p:sp>
      <p:sp>
        <p:nvSpPr>
          <p:cNvPr id="99" name="Div2_4"/>
          <p:cNvSpPr/>
          <p:nvPr/>
        </p:nvSpPr>
        <p:spPr>
          <a:xfrm>
            <a:off x="8249716" y="3859312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100" name="ImpLbl4"/>
          <p:cNvSpPr txBox="1"/>
          <p:nvPr/>
        </p:nvSpPr>
        <p:spPr>
          <a:xfrm>
            <a:off x="8222284" y="3923320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101" name="ImpUL4"/>
          <p:cNvSpPr/>
          <p:nvPr/>
        </p:nvSpPr>
        <p:spPr>
          <a:xfrm>
            <a:off x="8407911" y="4142776"/>
            <a:ext cx="1316269" cy="14630"/>
          </a:xfrm>
          <a:prstGeom prst="rect">
            <a:avLst/>
          </a:prstGeom>
          <a:solidFill>
            <a:srgbClr val="FDE68A"/>
          </a:solidFill>
        </p:spPr>
        <p:txBody>
          <a:bodyPr/>
          <a:lstStyle/>
          <a:p>
            <a:endParaRPr/>
          </a:p>
        </p:txBody>
      </p:sp>
      <p:sp>
        <p:nvSpPr>
          <p:cNvPr id="102" name="ImpTxt4"/>
          <p:cNvSpPr txBox="1"/>
          <p:nvPr/>
        </p:nvSpPr>
        <p:spPr>
          <a:xfrm>
            <a:off x="8222284" y="4188496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Deployment failures &amp; rollbacks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Compliance exposure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Unplanned production downtime</a:t>
            </a:r>
          </a:p>
        </p:txBody>
      </p:sp>
      <p:sp>
        <p:nvSpPr>
          <p:cNvPr id="103" name="AgLbl4"/>
          <p:cNvSpPr txBox="1"/>
          <p:nvPr/>
        </p:nvSpPr>
        <p:spPr>
          <a:xfrm>
            <a:off x="8222284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4338CA"/>
                </a:solidFill>
                <a:latin typeface="Calibri"/>
              </a:rPr>
              <a:t>RECOMMENDED AGENTS</a:t>
            </a:r>
          </a:p>
        </p:txBody>
      </p:sp>
      <p:sp>
        <p:nvSpPr>
          <p:cNvPr id="104" name="AgUL4"/>
          <p:cNvSpPr/>
          <p:nvPr/>
        </p:nvSpPr>
        <p:spPr>
          <a:xfrm>
            <a:off x="8407911" y="2651760"/>
            <a:ext cx="1316269" cy="14630"/>
          </a:xfrm>
          <a:prstGeom prst="rect">
            <a:avLst/>
          </a:prstGeom>
          <a:solidFill>
            <a:srgbClr val="C7D2FE"/>
          </a:solidFill>
        </p:spPr>
        <p:txBody>
          <a:bodyPr/>
          <a:lstStyle/>
          <a:p>
            <a:endParaRPr/>
          </a:p>
        </p:txBody>
      </p:sp>
      <p:sp>
        <p:nvSpPr>
          <p:cNvPr id="105" name="AgTxt4"/>
          <p:cNvSpPr txBox="1"/>
          <p:nvPr/>
        </p:nvSpPr>
        <p:spPr>
          <a:xfrm>
            <a:off x="8222284" y="2697480"/>
            <a:ext cx="1687525" cy="93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Release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Codebase Navigator</a:t>
            </a:r>
          </a:p>
        </p:txBody>
      </p:sp>
      <p:sp>
        <p:nvSpPr>
          <p:cNvPr id="106" name="BizValue4"/>
          <p:cNvSpPr txBox="1"/>
          <p:nvPr/>
        </p:nvSpPr>
        <p:spPr>
          <a:xfrm>
            <a:off x="8241700" y="3900000"/>
            <a:ext cx="1648693" cy="1700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5803D"/>
                </a:solidFill>
                <a:latin typeface="Calibri"/>
              </a:rPr>
              <a:t>BUSINESS VALUE</a:t>
            </a:r>
          </a:p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16A34A"/>
                </a:solidFill>
                <a:latin typeface="Calibri"/>
              </a:rPr>
              <a:t>30 – 50%</a:t>
            </a:r>
          </a:p>
          <a:p>
            <a:pPr algn="ctr">
              <a:lnSpc>
                <a:spcPct val="100000"/>
              </a:lnSpc>
            </a:pPr>
            <a:r>
              <a:rPr lang="en-US" sz="1000">
                <a:solidFill>
                  <a:srgbClr val="0B1F3A"/>
                </a:solidFill>
                <a:latin typeface="Calibri"/>
              </a:rPr>
              <a:t>Faster Release Preparation</a:t>
            </a:r>
          </a:p>
        </p:txBody>
      </p:sp>
      <p:sp>
        <p:nvSpPr>
          <p:cNvPr id="107" name="CardBody5"/>
          <p:cNvSpPr/>
          <p:nvPr/>
        </p:nvSpPr>
        <p:spPr>
          <a:xfrm>
            <a:off x="10101834" y="987552"/>
            <a:ext cx="1888693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PastelHdr5"/>
          <p:cNvSpPr/>
          <p:nvPr/>
        </p:nvSpPr>
        <p:spPr>
          <a:xfrm>
            <a:off x="10101834" y="987552"/>
            <a:ext cx="1888693" cy="438912"/>
          </a:xfrm>
          <a:prstGeom prst="round2SameRect">
            <a:avLst>
              <a:gd name="adj1" fmla="val 25800"/>
              <a:gd name="adj2" fmla="val 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Stage5"/>
          <p:cNvSpPr txBox="1"/>
          <p:nvPr/>
        </p:nvSpPr>
        <p:spPr>
          <a:xfrm>
            <a:off x="10101834" y="987552"/>
            <a:ext cx="1888693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0B1F3A"/>
                </a:solidFill>
                <a:latin typeface="Calibri"/>
              </a:rPr>
              <a:t>Operations</a:t>
            </a:r>
          </a:p>
        </p:txBody>
      </p:sp>
      <p:sp>
        <p:nvSpPr>
          <p:cNvPr id="110" name="DurLbl5"/>
          <p:cNvSpPr txBox="1"/>
          <p:nvPr/>
        </p:nvSpPr>
        <p:spPr>
          <a:xfrm>
            <a:off x="10202418" y="1545336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E40AF"/>
                </a:solidFill>
                <a:latin typeface="Calibri"/>
              </a:rPr>
              <a:t>DURATION</a:t>
            </a:r>
          </a:p>
        </p:txBody>
      </p:sp>
      <p:sp>
        <p:nvSpPr>
          <p:cNvPr id="111" name="DurUL5"/>
          <p:cNvSpPr/>
          <p:nvPr/>
        </p:nvSpPr>
        <p:spPr>
          <a:xfrm>
            <a:off x="10388045" y="1764792"/>
            <a:ext cx="1316269" cy="1463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/>
          </a:p>
        </p:txBody>
      </p:sp>
      <p:sp>
        <p:nvSpPr>
          <p:cNvPr id="112" name="DurVal5"/>
          <p:cNvSpPr txBox="1"/>
          <p:nvPr/>
        </p:nvSpPr>
        <p:spPr>
          <a:xfrm>
            <a:off x="10202418" y="1792224"/>
            <a:ext cx="168752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libri"/>
              </a:rPr>
              <a:t>Ongoing</a:t>
            </a:r>
          </a:p>
        </p:txBody>
      </p:sp>
      <p:sp>
        <p:nvSpPr>
          <p:cNvPr id="113" name="Div1_5"/>
          <p:cNvSpPr/>
          <p:nvPr/>
        </p:nvSpPr>
        <p:spPr>
          <a:xfrm>
            <a:off x="10229850" y="2368296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114" name="PainLbl5"/>
          <p:cNvSpPr txBox="1"/>
          <p:nvPr/>
        </p:nvSpPr>
        <p:spPr>
          <a:xfrm>
            <a:off x="10202418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B91C1C"/>
                </a:solidFill>
                <a:latin typeface="Calibri"/>
              </a:rPr>
              <a:t>PAIN POINTS</a:t>
            </a:r>
          </a:p>
        </p:txBody>
      </p:sp>
      <p:sp>
        <p:nvSpPr>
          <p:cNvPr id="115" name="PainUL5"/>
          <p:cNvSpPr/>
          <p:nvPr/>
        </p:nvSpPr>
        <p:spPr>
          <a:xfrm>
            <a:off x="10388045" y="2651760"/>
            <a:ext cx="1316269" cy="14630"/>
          </a:xfrm>
          <a:prstGeom prst="rect">
            <a:avLst/>
          </a:prstGeom>
          <a:solidFill>
            <a:srgbClr val="FECACA"/>
          </a:solidFill>
        </p:spPr>
        <p:txBody>
          <a:bodyPr/>
          <a:lstStyle/>
          <a:p>
            <a:endParaRPr/>
          </a:p>
        </p:txBody>
      </p:sp>
      <p:sp>
        <p:nvSpPr>
          <p:cNvPr id="116" name="PainTxt5"/>
          <p:cNvSpPr txBox="1"/>
          <p:nvPr/>
        </p:nvSpPr>
        <p:spPr>
          <a:xfrm>
            <a:off x="10202418" y="2697480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Alert fatigue &amp; slow triage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Manual runbook execution</a:t>
            </a:r>
          </a:p>
          <a:p>
            <a:pPr algn="l"/>
            <a:r>
              <a:rPr lang="en-US" sz="1050">
                <a:solidFill>
                  <a:srgbClr val="0B1F3A"/>
                </a:solidFill>
                <a:latin typeface="Calibri"/>
              </a:rPr>
              <a:t>•  Recurring unresolved incidents</a:t>
            </a:r>
          </a:p>
        </p:txBody>
      </p:sp>
      <p:sp>
        <p:nvSpPr>
          <p:cNvPr id="117" name="Div2_5"/>
          <p:cNvSpPr/>
          <p:nvPr/>
        </p:nvSpPr>
        <p:spPr>
          <a:xfrm>
            <a:off x="10229850" y="3859312"/>
            <a:ext cx="1632661" cy="10972"/>
          </a:xfrm>
          <a:prstGeom prst="rect">
            <a:avLst/>
          </a:pr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118" name="ImpLbl5"/>
          <p:cNvSpPr txBox="1"/>
          <p:nvPr/>
        </p:nvSpPr>
        <p:spPr>
          <a:xfrm>
            <a:off x="10202418" y="3923320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92400E"/>
                </a:solidFill>
                <a:latin typeface="Calibri"/>
              </a:rPr>
              <a:t>BUSINESS IMPACT</a:t>
            </a:r>
          </a:p>
        </p:txBody>
      </p:sp>
      <p:sp>
        <p:nvSpPr>
          <p:cNvPr id="119" name="ImpUL5"/>
          <p:cNvSpPr/>
          <p:nvPr/>
        </p:nvSpPr>
        <p:spPr>
          <a:xfrm>
            <a:off x="10388045" y="4142776"/>
            <a:ext cx="1316269" cy="14630"/>
          </a:xfrm>
          <a:prstGeom prst="rect">
            <a:avLst/>
          </a:prstGeom>
          <a:solidFill>
            <a:srgbClr val="FDE68A"/>
          </a:solidFill>
        </p:spPr>
        <p:txBody>
          <a:bodyPr/>
          <a:lstStyle/>
          <a:p>
            <a:endParaRPr/>
          </a:p>
        </p:txBody>
      </p:sp>
      <p:sp>
        <p:nvSpPr>
          <p:cNvPr id="120" name="ImpTxt5"/>
          <p:cNvSpPr txBox="1"/>
          <p:nvPr/>
        </p:nvSpPr>
        <p:spPr>
          <a:xfrm>
            <a:off x="10202418" y="4188496"/>
            <a:ext cx="168752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Extended incident resolution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High operational toil</a:t>
            </a:r>
          </a:p>
          <a:p>
            <a:pPr algn="l"/>
            <a:r>
              <a:rPr lang="en-US" sz="1050">
                <a:solidFill>
                  <a:srgbClr val="6B7280"/>
                </a:solidFill>
                <a:latin typeface="Calibri"/>
              </a:rPr>
              <a:t>•  Eroding service reliability</a:t>
            </a:r>
          </a:p>
        </p:txBody>
      </p:sp>
      <p:sp>
        <p:nvSpPr>
          <p:cNvPr id="121" name="AgLbl5"/>
          <p:cNvSpPr txBox="1"/>
          <p:nvPr/>
        </p:nvSpPr>
        <p:spPr>
          <a:xfrm>
            <a:off x="10202418" y="2432304"/>
            <a:ext cx="1687525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4338CA"/>
                </a:solidFill>
                <a:latin typeface="Calibri"/>
              </a:rPr>
              <a:t>RECOMMENDED AGENTS</a:t>
            </a:r>
          </a:p>
        </p:txBody>
      </p:sp>
      <p:sp>
        <p:nvSpPr>
          <p:cNvPr id="122" name="AgUL5"/>
          <p:cNvSpPr/>
          <p:nvPr/>
        </p:nvSpPr>
        <p:spPr>
          <a:xfrm>
            <a:off x="10388045" y="2651760"/>
            <a:ext cx="1316269" cy="14630"/>
          </a:xfrm>
          <a:prstGeom prst="rect">
            <a:avLst/>
          </a:prstGeom>
          <a:solidFill>
            <a:srgbClr val="C7D2FE"/>
          </a:solidFill>
        </p:spPr>
        <p:txBody>
          <a:bodyPr/>
          <a:lstStyle/>
          <a:p>
            <a:endParaRPr/>
          </a:p>
        </p:txBody>
      </p:sp>
      <p:sp>
        <p:nvSpPr>
          <p:cNvPr id="123" name="AgTxt5"/>
          <p:cNvSpPr txBox="1"/>
          <p:nvPr/>
        </p:nvSpPr>
        <p:spPr>
          <a:xfrm>
            <a:off x="10202418" y="2697480"/>
            <a:ext cx="1687525" cy="93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Triaging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Root Cause Analysis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Auto-Remediation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Access Provisioner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Runbook Tutor</a:t>
            </a:r>
          </a:p>
          <a:p>
            <a:pPr algn="l">
              <a:lnSpc>
                <a:spcPct val="95000"/>
              </a:lnSpc>
            </a:pPr>
            <a:r>
              <a:rPr lang="en-US" sz="900">
                <a:solidFill>
                  <a:srgbClr val="0B1F3A"/>
                </a:solidFill>
                <a:latin typeface="Calibri"/>
              </a:rPr>
              <a:t>•  Learning Path</a:t>
            </a:r>
          </a:p>
        </p:txBody>
      </p:sp>
      <p:sp>
        <p:nvSpPr>
          <p:cNvPr id="124" name="BizValue5"/>
          <p:cNvSpPr txBox="1"/>
          <p:nvPr/>
        </p:nvSpPr>
        <p:spPr>
          <a:xfrm>
            <a:off x="10221834" y="3900000"/>
            <a:ext cx="1648693" cy="1700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algn="ctr"/>
            <a:r>
              <a:rPr lang="en-US" sz="800" b="1">
                <a:solidFill>
                  <a:srgbClr val="15803D"/>
                </a:solidFill>
                <a:latin typeface="Calibri"/>
              </a:rPr>
              <a:t>BUSINESS VALUE</a:t>
            </a:r>
          </a:p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16A34A"/>
                </a:solidFill>
                <a:latin typeface="Calibri"/>
              </a:rPr>
              <a:t>35%</a:t>
            </a:r>
          </a:p>
          <a:p>
            <a:pPr algn="ctr">
              <a:lnSpc>
                <a:spcPct val="100000"/>
              </a:lnSpc>
            </a:pPr>
            <a:r>
              <a:rPr lang="en-US" sz="1000">
                <a:solidFill>
                  <a:srgbClr val="0B1F3A"/>
                </a:solidFill>
                <a:latin typeface="Calibri"/>
              </a:rPr>
              <a:t>Reduction in MTTR</a:t>
            </a:r>
          </a:p>
        </p:txBody>
      </p:sp>
      <p:grpSp>
        <p:nvGrpSpPr>
          <p:cNvPr id="148" name="ExecValueBanner"/>
          <p:cNvGrpSpPr/>
          <p:nvPr/>
        </p:nvGrpSpPr>
        <p:grpSpPr>
          <a:xfrm>
            <a:off x="170000" y="912000"/>
            <a:ext cx="11860000" cy="5540000"/>
            <a:chOff x="170000" y="912000"/>
            <a:chExt cx="11860000" cy="5540000"/>
          </a:xfrm>
        </p:grpSpPr>
        <p:sp>
          <p:nvSpPr>
            <p:cNvPr id="125" name="BannerPanel"/>
            <p:cNvSpPr/>
            <p:nvPr/>
          </p:nvSpPr>
          <p:spPr>
            <a:xfrm>
              <a:off x="170000" y="912000"/>
              <a:ext cx="11860000" cy="5540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BannerAccent"/>
            <p:cNvSpPr/>
            <p:nvPr/>
          </p:nvSpPr>
          <p:spPr>
            <a:xfrm>
              <a:off x="170000" y="912000"/>
              <a:ext cx="11860000" cy="102000"/>
            </a:xfrm>
            <a:prstGeom prst="rect">
              <a:avLst/>
            </a:prstGeom>
            <a:solidFill>
              <a:srgbClr val="0B1F3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7" name="BannerTitle"/>
            <p:cNvSpPr txBox="1"/>
            <p:nvPr/>
          </p:nvSpPr>
          <p:spPr>
            <a:xfrm>
              <a:off x="170000" y="1152000"/>
              <a:ext cx="11860000" cy="56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3000" b="1">
                  <a:solidFill>
                    <a:srgbClr val="0B1F3A"/>
                  </a:solidFill>
                  <a:latin typeface="Calibri"/>
                </a:rPr>
                <a:t>Enterprise Value Realization</a:t>
              </a:r>
            </a:p>
          </p:txBody>
        </p:sp>
        <p:sp>
          <p:nvSpPr>
            <p:cNvPr id="128" name="BannerRule"/>
            <p:cNvSpPr/>
            <p:nvPr/>
          </p:nvSpPr>
          <p:spPr>
            <a:xfrm>
              <a:off x="5650000" y="1812000"/>
              <a:ext cx="900000" cy="20000"/>
            </a:xfrm>
            <a:prstGeom prst="rect">
              <a:avLst/>
            </a:prstGeom>
            <a:solidFill>
              <a:srgbClr val="00B8A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9" name="KpiCard0"/>
            <p:cNvSpPr/>
            <p:nvPr/>
          </p:nvSpPr>
          <p:spPr>
            <a:xfrm>
              <a:off x="680000" y="2272000"/>
              <a:ext cx="3300000" cy="25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KpiTop0"/>
            <p:cNvSpPr/>
            <p:nvPr/>
          </p:nvSpPr>
          <p:spPr>
            <a:xfrm>
              <a:off x="680000" y="2272000"/>
              <a:ext cx="3300000" cy="110000"/>
            </a:xfrm>
            <a:prstGeom prst="rect">
              <a:avLst/>
            </a:prstGeom>
            <a:solidFill>
              <a:srgbClr val="DDF8F8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1" name="KpiBadge0"/>
            <p:cNvSpPr/>
            <p:nvPr/>
          </p:nvSpPr>
          <p:spPr>
            <a:xfrm>
              <a:off x="1840000" y="2432000"/>
              <a:ext cx="980000" cy="980000"/>
            </a:xfrm>
            <a:prstGeom prst="ellipse">
              <a:avLst/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2" name="KpiIcon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0000" y="2542000"/>
              <a:ext cx="760000" cy="760000"/>
            </a:xfrm>
            <a:prstGeom prst="ellipse">
              <a:avLst/>
            </a:prstGeom>
          </p:spPr>
        </p:pic>
        <p:sp>
          <p:nvSpPr>
            <p:cNvPr id="133" name="KpiPct0"/>
            <p:cNvSpPr txBox="1"/>
            <p:nvPr/>
          </p:nvSpPr>
          <p:spPr>
            <a:xfrm>
              <a:off x="680000" y="3502000"/>
              <a:ext cx="3300000" cy="62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3200" b="1">
                  <a:solidFill>
                    <a:srgbClr val="0B1F3A"/>
                  </a:solidFill>
                  <a:latin typeface="Calibri"/>
                </a:rPr>
                <a:t>30 – 50%</a:t>
              </a:r>
            </a:p>
          </p:txBody>
        </p:sp>
        <p:sp>
          <p:nvSpPr>
            <p:cNvPr id="134" name="KpiLbl0"/>
            <p:cNvSpPr txBox="1"/>
            <p:nvPr/>
          </p:nvSpPr>
          <p:spPr>
            <a:xfrm>
              <a:off x="680000" y="4152000"/>
              <a:ext cx="3300000" cy="40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1300" b="1">
                  <a:solidFill>
                    <a:srgbClr val="374151"/>
                  </a:solidFill>
                  <a:latin typeface="Calibri"/>
                </a:rPr>
                <a:t>Faster Delivery</a:t>
              </a:r>
            </a:p>
          </p:txBody>
        </p:sp>
        <p:sp>
          <p:nvSpPr>
            <p:cNvPr id="135" name="KpiCard1"/>
            <p:cNvSpPr/>
            <p:nvPr/>
          </p:nvSpPr>
          <p:spPr>
            <a:xfrm>
              <a:off x="4450000" y="2272000"/>
              <a:ext cx="3300000" cy="25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KpiTop1"/>
            <p:cNvSpPr/>
            <p:nvPr/>
          </p:nvSpPr>
          <p:spPr>
            <a:xfrm>
              <a:off x="4450000" y="2272000"/>
              <a:ext cx="3300000" cy="110000"/>
            </a:xfrm>
            <a:prstGeom prst="rect">
              <a:avLst/>
            </a:prstGeom>
            <a:solidFill>
              <a:srgbClr val="EEE5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7" name="KpiBadge1"/>
            <p:cNvSpPr/>
            <p:nvPr/>
          </p:nvSpPr>
          <p:spPr>
            <a:xfrm>
              <a:off x="5610000" y="2432000"/>
              <a:ext cx="980000" cy="980000"/>
            </a:xfrm>
            <a:prstGeom prst="ellipse">
              <a:avLst/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8" name="KpiIcon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0000" y="2542000"/>
              <a:ext cx="760000" cy="760000"/>
            </a:xfrm>
            <a:prstGeom prst="ellipse">
              <a:avLst/>
            </a:prstGeom>
          </p:spPr>
        </p:pic>
        <p:sp>
          <p:nvSpPr>
            <p:cNvPr id="139" name="KpiPct1"/>
            <p:cNvSpPr txBox="1"/>
            <p:nvPr/>
          </p:nvSpPr>
          <p:spPr>
            <a:xfrm>
              <a:off x="4450000" y="3502000"/>
              <a:ext cx="3300000" cy="62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3200" b="1">
                  <a:solidFill>
                    <a:srgbClr val="0B1F3A"/>
                  </a:solidFill>
                  <a:latin typeface="Calibri"/>
                </a:rPr>
                <a:t>25 – 40%</a:t>
              </a:r>
            </a:p>
          </p:txBody>
        </p:sp>
        <p:sp>
          <p:nvSpPr>
            <p:cNvPr id="140" name="KpiLbl1"/>
            <p:cNvSpPr txBox="1"/>
            <p:nvPr/>
          </p:nvSpPr>
          <p:spPr>
            <a:xfrm>
              <a:off x="4450000" y="4152000"/>
              <a:ext cx="3300000" cy="40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1300" b="1">
                  <a:solidFill>
                    <a:srgbClr val="374151"/>
                  </a:solidFill>
                  <a:latin typeface="Calibri"/>
                </a:rPr>
                <a:t>Higher Quality</a:t>
              </a:r>
            </a:p>
          </p:txBody>
        </p:sp>
        <p:sp>
          <p:nvSpPr>
            <p:cNvPr id="141" name="KpiCard2"/>
            <p:cNvSpPr/>
            <p:nvPr/>
          </p:nvSpPr>
          <p:spPr>
            <a:xfrm>
              <a:off x="8220000" y="2272000"/>
              <a:ext cx="3300000" cy="25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KpiTop2"/>
            <p:cNvSpPr/>
            <p:nvPr/>
          </p:nvSpPr>
          <p:spPr>
            <a:xfrm>
              <a:off x="8220000" y="2272000"/>
              <a:ext cx="3300000" cy="110000"/>
            </a:xfrm>
            <a:prstGeom prst="rect">
              <a:avLst/>
            </a:prstGeom>
            <a:solidFill>
              <a:srgbClr val="FFF1D6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3" name="KpiBadge2"/>
            <p:cNvSpPr/>
            <p:nvPr/>
          </p:nvSpPr>
          <p:spPr>
            <a:xfrm>
              <a:off x="9380000" y="2432000"/>
              <a:ext cx="980000" cy="980000"/>
            </a:xfrm>
            <a:prstGeom prst="ellipse">
              <a:avLst/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4" name="KpiIcon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90000" y="2542000"/>
              <a:ext cx="760000" cy="760000"/>
            </a:xfrm>
            <a:prstGeom prst="ellipse">
              <a:avLst/>
            </a:prstGeom>
          </p:spPr>
        </p:pic>
        <p:sp>
          <p:nvSpPr>
            <p:cNvPr id="145" name="KpiPct2"/>
            <p:cNvSpPr txBox="1"/>
            <p:nvPr/>
          </p:nvSpPr>
          <p:spPr>
            <a:xfrm>
              <a:off x="8220000" y="3502000"/>
              <a:ext cx="3300000" cy="62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3200" b="1">
                  <a:solidFill>
                    <a:srgbClr val="0B1F3A"/>
                  </a:solidFill>
                  <a:latin typeface="Calibri"/>
                </a:rPr>
                <a:t>20 – 35%</a:t>
              </a:r>
            </a:p>
          </p:txBody>
        </p:sp>
        <p:sp>
          <p:nvSpPr>
            <p:cNvPr id="146" name="KpiLbl2"/>
            <p:cNvSpPr txBox="1"/>
            <p:nvPr/>
          </p:nvSpPr>
          <p:spPr>
            <a:xfrm>
              <a:off x="8220000" y="4152000"/>
              <a:ext cx="3300000" cy="40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1300" b="1">
                  <a:solidFill>
                    <a:srgbClr val="374151"/>
                  </a:solidFill>
                  <a:latin typeface="Calibri"/>
                </a:rPr>
                <a:t>Lower Operational Cost</a:t>
              </a:r>
            </a:p>
          </p:txBody>
        </p:sp>
        <p:sp>
          <p:nvSpPr>
            <p:cNvPr id="147" name="BannerStmt"/>
            <p:cNvSpPr txBox="1"/>
            <p:nvPr/>
          </p:nvSpPr>
          <p:spPr>
            <a:xfrm>
              <a:off x="1270000" y="5292000"/>
              <a:ext cx="9660000" cy="105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>
                <a:lnSpc>
                  <a:spcPct val="112000"/>
                </a:lnSpc>
              </a:pPr>
              <a:r>
                <a:rPr lang="en-US" sz="1300">
                  <a:solidFill>
                    <a:srgbClr val="374151"/>
                  </a:solidFill>
                  <a:latin typeface="Calibri"/>
                </a:rPr>
                <a:t>By systematically applying AI agents across the SDLC, organizations can significantly accelerate delivery, improve software quality, and reduce operational costs — while allowing engineering teams to focus on innovation rather than repetitive work.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8" grpId="0" animBg="1"/>
      <p:bldP spid="79" grpId="0" animBg="1"/>
      <p:bldP spid="80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6" grpId="0" animBg="1"/>
      <p:bldP spid="97" grpId="0" animBg="1"/>
      <p:bldP spid="98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14" grpId="0" animBg="1"/>
      <p:bldP spid="115" grpId="0" animBg="1"/>
      <p:bldP spid="116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6217920" cy="6858000"/>
          </a:xfrm>
          <a:prstGeom prst="rect">
            <a:avLst/>
          </a:prstGeom>
          <a:solidFill>
            <a:srgbClr val="F0F5FF"/>
          </a:solidFill>
          <a:ln w="12700">
            <a:solidFill>
              <a:srgbClr val="F0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1097280"/>
            <a:ext cx="4572000" cy="4572000"/>
          </a:xfrm>
          <a:prstGeom prst="ellipse">
            <a:avLst/>
          </a:prstGeom>
          <a:solidFill>
            <a:srgbClr val="DBEAFE">
              <a:alpha val="75000"/>
            </a:srgb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0" y="3200400"/>
            <a:ext cx="2286000" cy="228600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C7D9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is Here.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question is whether you lead it or follow it.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914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27648" y="1417320"/>
            <a:ext cx="502920" cy="502920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2764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22008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Phase 1 scope &amp; budget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22008" y="1700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VP Eng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287000" y="1435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21992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27648" y="2313432"/>
            <a:ext cx="502920" cy="502920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7648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2008" y="2313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 kickoff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22008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870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118104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27648" y="3209544"/>
            <a:ext cx="502920" cy="502920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27648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22008" y="32095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architecture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3493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287000" y="32278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4014216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27648" y="4105656"/>
            <a:ext cx="502920" cy="502920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27648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22008" y="4105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agent team assembly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22008" y="4389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287000" y="41239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Technology Strategy Practice  |  Not for Distribution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2313</Words>
  <Application>Microsoft Macintosh PowerPoint</Application>
  <PresentationFormat>Widescreen</PresentationFormat>
  <Paragraphs>724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Transformation — Executive Portfolio Assessment</dc:title>
  <dc:subject>PptxGenJS Presentation</dc:subject>
  <dc:creator>PptxGenJS</dc:creator>
  <cp:lastModifiedBy>sourav mahapatra</cp:lastModifiedBy>
  <cp:revision>8</cp:revision>
  <dcterms:created xsi:type="dcterms:W3CDTF">2026-06-22T05:46:05Z</dcterms:created>
  <dcterms:modified xsi:type="dcterms:W3CDTF">2026-07-09T23:07:42Z</dcterms:modified>
</cp:coreProperties>
</file>