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79" r:id="rId12"/>
    <p:sldId id="266" r:id="rId13"/>
    <p:sldId id="274" r:id="rId14"/>
    <p:sldId id="275" r:id="rId15"/>
    <p:sldId id="267" r:id="rId16"/>
    <p:sldId id="268" r:id="rId17"/>
    <p:sldId id="269" r:id="rId18"/>
    <p:sldId id="276" r:id="rId19"/>
    <p:sldId id="270" r:id="rId20"/>
    <p:sldId id="277" r:id="rId21"/>
    <p:sldId id="271" r:id="rId22"/>
    <p:sldId id="272" r:id="rId23"/>
    <p:sldId id="273"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p:scale>
          <a:sx n="160" d="100"/>
          <a:sy n="160" d="100"/>
        </p:scale>
        <p:origin x="-74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466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Set the scene: enterprise software delivery is at an inflection point. AI agents are no longer experimental — they are production-grade capabilities reshaping how engineering teams operate. Today we'll walk through where agentic AI creates the highest leverage, and how to build toward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Emphasize this is an end-to-end transformation narrative, not a technology pitch.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forces are converging: velocity pressure from business, quality debt from scale, and talent scarcity. Agentic AI addresses all three simultaneously. These outcome ranges are based on early adopter benchmarks from GitHub Copilot enterprise deployments, McKinsey engineering productivity studies, and early Agentic workflow pilots.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typical enterprise SDLC benchmark, not specific to the client. Customize the 'Avg wait time' data with client-specific discovery findings. Key talking point: the SDLC wastes the majority of its time on non-development activities — this is where agents win.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heatmap is the investment prioritization anchor. Highlight: Requirements and Code Development have the highest combined Agentic Potential + Business Value — these are the Phase 1 targets. Documentation is often overlooked but has very high automation potential.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this is not full automation. Humans remain in the loop at all critical decision points. The value is in eliminating the low-value mechanical work between decisions. The governance bar is critical for CIO/CTO audiences — compliance and auditability are non-negotiable.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agent capability. The 'Key Benefit' column uses conservative estimates from early adopter data. Development Agent is typically the highest ROI starting point due to code generation maturity. Code Review Agent has the fastest time-to-value because it augments existing PR workflows.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agents have the fastest measurable ROI due to 24/7 impact. MTTR and toil reduction are the primary KPIs. Emphasize that the Security Agent is critical for enterprise compliance — it shifts security left into the agent workflow rather than as a separate gate.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Horizontal agents are the 'connective tissue' that make the entire agentic ecosystem work. The Knowledge Agent is particularly critical as it provides the RAG (Retrieval-Augmented Generation) context that improves all other agents. The Governance Agent ensures enterprise guardrails are never bypassed.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Embabel is the open-source orchestration framework from Spring. It provides goal-directed planning, agent lifecycle management, and task decomposition. The MCP layer is critical — it provides standardized tool access so agents can interact with enterprise systems without custom integrations per agent. This is the 'USB-C' of agentic AI.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drives the Phase 1 investment decision. Quick Wins (top-left) should be funded immediately — they have 6–10 week time-to-value and create organizational confidence. Strategic Bets require platform investment but deliver transformational ROI. Avoid Low Priority quadrant in Year 1.</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PoCs represent the highest-confidence, fastest-to-value entry points. PoC 2 (Code Review Agent) is the most commonly adopted first step because it plugs directly into existing GitHub PR workflows with zero process change. PoC 3 (Incident Resolution) has the most dramatic MTTR impact and is measurable within weeks of deployment.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architecture is technology-stack opinionated: Embabel for orchestration, Spring AI for LLM integration, MCP for tool access. The key design principle is layered separation of concerns — the orchestrator doesn't know about enterprise systems; agents use MCP to access them. This makes the platform extensible and vendor-independent at the LLM layer.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54% net savings figure is the headline for the CFO. Emphasize the model is indicative — the discovery phase will baseline actual client cost data. The payback period of 8–14 months is consistently shorter than traditional platform investments due to the compounding effect of productivity gains.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12-month roadmap is sequenced for risk-adjusted value delivery. Phase 1 generates proof points and organizational confidence. Phase 2 compounds on Phase 1 infrastructure. Phase 3 is the transformational shift. Emphasize: this is not a 'big bang' program — every phase delivers measurable business outcomes.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governance framework is often the make-or-break for enterprise adoption. CISOs will focus on data leakage risk — emphasize private model deployment as the default architecture. The human oversight gate model aligns with emerging EU AI Act requirements. Recommend establishing an AI Governance Board as part of Phase 1.</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urgency: the window to establish early mover advantage in agentic AI is 12–18 months. Organizations that wait for a 'perfect' technology will find their competitors have learned through doing. The 90-day plan is designed to be low-risk, high-learning, with clear exit criteria at each gate.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meeting by asking: 'Which of the five recommendations do you want to action this week?' Get a commitment in the room. Leave the agreed next steps slide visible as you discuss. Offer to run a half-day discovery workshop as the immediate next engagement.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8686800" y="-1371600"/>
            <a:ext cx="5486400" cy="5486400"/>
          </a:xfrm>
          <a:prstGeom prst="ellipse">
            <a:avLst/>
          </a:prstGeom>
          <a:solidFill>
            <a:srgbClr val="1A2F5A"/>
          </a:solidFill>
          <a:ln w="12700">
            <a:solidFill>
              <a:srgbClr val="1A2F5A"/>
            </a:solidFill>
            <a:prstDash val="solid"/>
          </a:ln>
        </p:spPr>
        <p:txBody>
          <a:bodyPr/>
          <a:lstStyle/>
          <a:p>
            <a:endParaRPr lang="en-US"/>
          </a:p>
        </p:txBody>
      </p:sp>
      <p:sp>
        <p:nvSpPr>
          <p:cNvPr id="3" name="Shape 1"/>
          <p:cNvSpPr/>
          <p:nvPr/>
        </p:nvSpPr>
        <p:spPr>
          <a:xfrm>
            <a:off x="9875520" y="-457200"/>
            <a:ext cx="3200400" cy="3200400"/>
          </a:xfrm>
          <a:prstGeom prst="ellipse">
            <a:avLst/>
          </a:prstGeom>
          <a:solidFill>
            <a:srgbClr val="0099BB">
              <a:alpha val="40000"/>
            </a:srgbClr>
          </a:solidFill>
          <a:ln w="12700">
            <a:solidFill>
              <a:srgbClr val="0099BB">
                <a:alpha val="40000"/>
              </a:srgbClr>
            </a:solidFill>
            <a:prstDash val="solid"/>
          </a:ln>
        </p:spPr>
        <p:txBody>
          <a:bodyPr/>
          <a:lstStyle/>
          <a:p>
            <a:endParaRPr lang="en-US"/>
          </a:p>
        </p:txBody>
      </p:sp>
      <p:sp>
        <p:nvSpPr>
          <p:cNvPr id="4" name="Shape 2"/>
          <p:cNvSpPr/>
          <p:nvPr/>
        </p:nvSpPr>
        <p:spPr>
          <a:xfrm>
            <a:off x="-914400" y="4572000"/>
            <a:ext cx="3657600" cy="3657600"/>
          </a:xfrm>
          <a:prstGeom prst="ellipse">
            <a:avLst/>
          </a:prstGeom>
          <a:solidFill>
            <a:srgbClr val="1A2F5A"/>
          </a:solidFill>
          <a:ln w="12700">
            <a:solidFill>
              <a:srgbClr val="1A2F5A"/>
            </a:solidFill>
            <a:prstDash val="solid"/>
          </a:ln>
        </p:spPr>
        <p:txBody>
          <a:bodyPr/>
          <a:lstStyle/>
          <a:p>
            <a:endParaRPr lang="en-US"/>
          </a:p>
        </p:txBody>
      </p:sp>
      <p:sp>
        <p:nvSpPr>
          <p:cNvPr id="5" name="Shape 3"/>
          <p:cNvSpPr/>
          <p:nvPr/>
        </p:nvSpPr>
        <p:spPr>
          <a:xfrm>
            <a:off x="548640" y="1737360"/>
            <a:ext cx="1371600" cy="54864"/>
          </a:xfrm>
          <a:prstGeom prst="rect">
            <a:avLst/>
          </a:prstGeom>
          <a:solidFill>
            <a:srgbClr val="00D4FF"/>
          </a:solidFill>
          <a:ln w="12700">
            <a:solidFill>
              <a:srgbClr val="00D4FF"/>
            </a:solidFill>
            <a:prstDash val="solid"/>
          </a:ln>
        </p:spPr>
        <p:txBody>
          <a:bodyPr/>
          <a:lstStyle/>
          <a:p>
            <a:endParaRPr lang="en-US"/>
          </a:p>
        </p:txBody>
      </p:sp>
      <p:sp>
        <p:nvSpPr>
          <p:cNvPr id="6" name="Text 4"/>
          <p:cNvSpPr/>
          <p:nvPr/>
        </p:nvSpPr>
        <p:spPr>
          <a:xfrm>
            <a:off x="548640" y="1097280"/>
            <a:ext cx="9144000" cy="320040"/>
          </a:xfrm>
          <a:prstGeom prst="rect">
            <a:avLst/>
          </a:prstGeom>
          <a:noFill/>
          <a:ln/>
        </p:spPr>
        <p:txBody>
          <a:bodyPr wrap="square" lIns="0" tIns="0" rIns="0" bIns="0" rtlCol="0" anchor="ctr"/>
          <a:lstStyle/>
          <a:p>
            <a:pPr marL="0" indent="0">
              <a:buNone/>
            </a:pPr>
            <a:r>
              <a:rPr lang="en-US" sz="900" b="1" kern="0" spc="300" dirty="0">
                <a:solidFill>
                  <a:srgbClr val="00D4FF"/>
                </a:solidFill>
              </a:rPr>
              <a:t>CONFIDENTIAL  |  EXECUTIVE BRIEFING</a:t>
            </a:r>
            <a:endParaRPr lang="en-US" sz="900" dirty="0"/>
          </a:p>
        </p:txBody>
      </p:sp>
      <p:sp>
        <p:nvSpPr>
          <p:cNvPr id="7" name="Text 5"/>
          <p:cNvSpPr/>
          <p:nvPr/>
        </p:nvSpPr>
        <p:spPr>
          <a:xfrm>
            <a:off x="548640" y="1920240"/>
            <a:ext cx="8686800" cy="201168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Agentic SDLC</a:t>
            </a:r>
            <a:endParaRPr lang="en-US" sz="5200" dirty="0"/>
          </a:p>
          <a:p>
            <a:pPr marL="0" indent="0">
              <a:buNone/>
            </a:pPr>
            <a:r>
              <a:rPr lang="en-US" sz="5200" b="1" dirty="0">
                <a:solidFill>
                  <a:srgbClr val="FFFFFF"/>
                </a:solidFill>
                <a:latin typeface="Cambria" pitchFamily="34" charset="0"/>
                <a:ea typeface="Cambria" pitchFamily="34" charset="-122"/>
                <a:cs typeface="Cambria" pitchFamily="34" charset="-120"/>
              </a:rPr>
              <a:t>Transformation</a:t>
            </a:r>
            <a:endParaRPr lang="en-US" sz="5200" dirty="0"/>
          </a:p>
        </p:txBody>
      </p:sp>
      <p:sp>
        <p:nvSpPr>
          <p:cNvPr id="8" name="Text 6"/>
          <p:cNvSpPr/>
          <p:nvPr/>
        </p:nvSpPr>
        <p:spPr>
          <a:xfrm>
            <a:off x="548640" y="4069080"/>
            <a:ext cx="8229600" cy="548640"/>
          </a:xfrm>
          <a:prstGeom prst="rect">
            <a:avLst/>
          </a:prstGeom>
          <a:noFill/>
          <a:ln/>
        </p:spPr>
        <p:txBody>
          <a:bodyPr wrap="square" lIns="0" tIns="0" rIns="0" bIns="0" rtlCol="0" anchor="ctr"/>
          <a:lstStyle/>
          <a:p>
            <a:pPr marL="0" indent="0">
              <a:buNone/>
            </a:pPr>
            <a:r>
              <a:rPr lang="en-US" sz="1800" dirty="0">
                <a:solidFill>
                  <a:srgbClr val="E8F4F8"/>
                </a:solidFill>
                <a:latin typeface="Calibri" pitchFamily="34" charset="0"/>
                <a:ea typeface="Calibri" pitchFamily="34" charset="-122"/>
                <a:cs typeface="Calibri" pitchFamily="34" charset="-120"/>
              </a:rPr>
              <a:t>Reimagining Software Delivery with AI-Native Agent Workflows</a:t>
            </a:r>
            <a:endParaRPr lang="en-US" sz="1800" dirty="0"/>
          </a:p>
        </p:txBody>
      </p:sp>
      <p:sp>
        <p:nvSpPr>
          <p:cNvPr id="9" name="Shape 7"/>
          <p:cNvSpPr/>
          <p:nvPr/>
        </p:nvSpPr>
        <p:spPr>
          <a:xfrm>
            <a:off x="548640" y="5029200"/>
            <a:ext cx="2834640" cy="411480"/>
          </a:xfrm>
          <a:prstGeom prst="roundRect">
            <a:avLst>
              <a:gd name="adj" fmla="val 15556"/>
            </a:avLst>
          </a:prstGeom>
          <a:solidFill>
            <a:srgbClr val="243752"/>
          </a:solidFill>
          <a:ln w="12700">
            <a:solidFill>
              <a:srgbClr val="0099BB"/>
            </a:solidFill>
            <a:prstDash val="solid"/>
          </a:ln>
        </p:spPr>
        <p:txBody>
          <a:bodyPr/>
          <a:lstStyle/>
          <a:p>
            <a:endParaRPr lang="en-US"/>
          </a:p>
        </p:txBody>
      </p:sp>
      <p:sp>
        <p:nvSpPr>
          <p:cNvPr id="10" name="Text 8"/>
          <p:cNvSpPr/>
          <p:nvPr/>
        </p:nvSpPr>
        <p:spPr>
          <a:xfrm>
            <a:off x="548640" y="5029200"/>
            <a:ext cx="2834640" cy="411480"/>
          </a:xfrm>
          <a:prstGeom prst="rect">
            <a:avLst/>
          </a:prstGeom>
          <a:noFill/>
          <a:ln/>
        </p:spPr>
        <p:txBody>
          <a:bodyPr wrap="square" lIns="0" tIns="0" rIns="0" bIns="0" rtlCol="0" anchor="ctr"/>
          <a:lstStyle/>
          <a:p>
            <a:pPr marL="0" indent="0" algn="ctr">
              <a:buNone/>
            </a:pPr>
            <a:r>
              <a:rPr lang="en-US" sz="900" dirty="0">
                <a:solidFill>
                  <a:srgbClr val="CBD5E1"/>
                </a:solidFill>
              </a:rPr>
              <a:t>Fortune 500 Enterprise</a:t>
            </a:r>
            <a:endParaRPr lang="en-US" sz="900" dirty="0"/>
          </a:p>
        </p:txBody>
      </p:sp>
      <p:sp>
        <p:nvSpPr>
          <p:cNvPr id="11" name="Shape 9"/>
          <p:cNvSpPr/>
          <p:nvPr/>
        </p:nvSpPr>
        <p:spPr>
          <a:xfrm>
            <a:off x="3749040" y="5029200"/>
            <a:ext cx="2834640" cy="411480"/>
          </a:xfrm>
          <a:prstGeom prst="roundRect">
            <a:avLst>
              <a:gd name="adj" fmla="val 15556"/>
            </a:avLst>
          </a:prstGeom>
          <a:solidFill>
            <a:srgbClr val="243752"/>
          </a:solidFill>
          <a:ln w="12700">
            <a:solidFill>
              <a:srgbClr val="0099BB"/>
            </a:solidFill>
            <a:prstDash val="solid"/>
          </a:ln>
        </p:spPr>
        <p:txBody>
          <a:bodyPr/>
          <a:lstStyle/>
          <a:p>
            <a:endParaRPr lang="en-US"/>
          </a:p>
        </p:txBody>
      </p:sp>
      <p:sp>
        <p:nvSpPr>
          <p:cNvPr id="12" name="Text 10"/>
          <p:cNvSpPr/>
          <p:nvPr/>
        </p:nvSpPr>
        <p:spPr>
          <a:xfrm>
            <a:off x="3749040" y="5029200"/>
            <a:ext cx="2834640" cy="411480"/>
          </a:xfrm>
          <a:prstGeom prst="rect">
            <a:avLst/>
          </a:prstGeom>
          <a:noFill/>
          <a:ln/>
        </p:spPr>
        <p:txBody>
          <a:bodyPr wrap="square" lIns="0" tIns="0" rIns="0" bIns="0" rtlCol="0" anchor="ctr"/>
          <a:lstStyle/>
          <a:p>
            <a:pPr marL="0" indent="0" algn="ctr">
              <a:buNone/>
            </a:pPr>
            <a:r>
              <a:rPr lang="en-US" sz="900" dirty="0">
                <a:solidFill>
                  <a:srgbClr val="CBD5E1"/>
                </a:solidFill>
              </a:rPr>
              <a:t>Q3 2026</a:t>
            </a:r>
            <a:endParaRPr lang="en-US" sz="900" dirty="0"/>
          </a:p>
        </p:txBody>
      </p:sp>
      <p:sp>
        <p:nvSpPr>
          <p:cNvPr id="13" name="Shape 11"/>
          <p:cNvSpPr/>
          <p:nvPr/>
        </p:nvSpPr>
        <p:spPr>
          <a:xfrm>
            <a:off x="6949440" y="5029200"/>
            <a:ext cx="2834640" cy="411480"/>
          </a:xfrm>
          <a:prstGeom prst="roundRect">
            <a:avLst>
              <a:gd name="adj" fmla="val 15556"/>
            </a:avLst>
          </a:prstGeom>
          <a:solidFill>
            <a:srgbClr val="243752"/>
          </a:solidFill>
          <a:ln w="12700">
            <a:solidFill>
              <a:srgbClr val="0099BB"/>
            </a:solidFill>
            <a:prstDash val="solid"/>
          </a:ln>
        </p:spPr>
        <p:txBody>
          <a:bodyPr/>
          <a:lstStyle/>
          <a:p>
            <a:endParaRPr lang="en-US"/>
          </a:p>
        </p:txBody>
      </p:sp>
      <p:sp>
        <p:nvSpPr>
          <p:cNvPr id="14" name="Text 12"/>
          <p:cNvSpPr/>
          <p:nvPr/>
        </p:nvSpPr>
        <p:spPr>
          <a:xfrm>
            <a:off x="6949440" y="5029200"/>
            <a:ext cx="2834640" cy="411480"/>
          </a:xfrm>
          <a:prstGeom prst="rect">
            <a:avLst/>
          </a:prstGeom>
          <a:noFill/>
          <a:ln/>
        </p:spPr>
        <p:txBody>
          <a:bodyPr wrap="square" lIns="0" tIns="0" rIns="0" bIns="0" rtlCol="0" anchor="ctr"/>
          <a:lstStyle/>
          <a:p>
            <a:pPr marL="0" indent="0" algn="ctr">
              <a:buNone/>
            </a:pPr>
            <a:r>
              <a:rPr lang="en-US" sz="900" dirty="0">
                <a:solidFill>
                  <a:srgbClr val="CBD5E1"/>
                </a:solidFill>
              </a:rPr>
              <a:t>Technology Strategy Practice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137160"/>
            <a:ext cx="10972800" cy="73152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TODAY'S AGENDA</a:t>
            </a:r>
            <a:endParaRPr lang="en-US" sz="2200" dirty="0"/>
          </a:p>
        </p:txBody>
      </p:sp>
      <p:sp>
        <p:nvSpPr>
          <p:cNvPr id="4" name="Text 2"/>
          <p:cNvSpPr/>
          <p:nvPr/>
        </p:nvSpPr>
        <p:spPr>
          <a:xfrm>
            <a:off x="457200" y="502920"/>
            <a:ext cx="9144000" cy="365760"/>
          </a:xfrm>
          <a:prstGeom prst="rect">
            <a:avLst/>
          </a:prstGeom>
          <a:noFill/>
          <a:ln/>
        </p:spPr>
        <p:txBody>
          <a:bodyPr wrap="square" lIns="0" tIns="0" rIns="0" bIns="0" rtlCol="0" anchor="ctr"/>
          <a:lstStyle/>
          <a:p>
            <a:pPr marL="0" indent="0">
              <a:buNone/>
            </a:pPr>
            <a:r>
              <a:rPr lang="en-US" sz="1100" dirty="0">
                <a:solidFill>
                  <a:srgbClr val="00D4FF"/>
                </a:solidFill>
              </a:rPr>
              <a:t>A structured narrative from current pain to future value</a:t>
            </a:r>
            <a:endParaRPr lang="en-US" sz="1100" dirty="0"/>
          </a:p>
        </p:txBody>
      </p:sp>
      <p:sp>
        <p:nvSpPr>
          <p:cNvPr id="5" name="Shape 3"/>
          <p:cNvSpPr/>
          <p:nvPr/>
        </p:nvSpPr>
        <p:spPr>
          <a:xfrm>
            <a:off x="365760" y="1234440"/>
            <a:ext cx="5486400" cy="868680"/>
          </a:xfrm>
          <a:prstGeom prst="roundRect">
            <a:avLst>
              <a:gd name="adj" fmla="val 8421"/>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6" name="Shape 4"/>
          <p:cNvSpPr/>
          <p:nvPr/>
        </p:nvSpPr>
        <p:spPr>
          <a:xfrm>
            <a:off x="365760" y="1234440"/>
            <a:ext cx="502920" cy="868680"/>
          </a:xfrm>
          <a:prstGeom prst="roundRect">
            <a:avLst>
              <a:gd name="adj" fmla="val 14545"/>
            </a:avLst>
          </a:prstGeom>
          <a:solidFill>
            <a:srgbClr val="00D4FF"/>
          </a:solidFill>
          <a:ln w="12700">
            <a:solidFill>
              <a:srgbClr val="00D4FF"/>
            </a:solidFill>
            <a:prstDash val="solid"/>
          </a:ln>
        </p:spPr>
        <p:txBody>
          <a:bodyPr/>
          <a:lstStyle/>
          <a:p>
            <a:endParaRPr lang="en-US"/>
          </a:p>
        </p:txBody>
      </p:sp>
      <p:sp>
        <p:nvSpPr>
          <p:cNvPr id="7" name="Text 5"/>
          <p:cNvSpPr/>
          <p:nvPr/>
        </p:nvSpPr>
        <p:spPr>
          <a:xfrm>
            <a:off x="365760" y="1234440"/>
            <a:ext cx="502920" cy="868680"/>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8" name="Text 6"/>
          <p:cNvSpPr/>
          <p:nvPr/>
        </p:nvSpPr>
        <p:spPr>
          <a:xfrm>
            <a:off x="960120" y="1289304"/>
            <a:ext cx="4754880" cy="384048"/>
          </a:xfrm>
          <a:prstGeom prst="rect">
            <a:avLst/>
          </a:prstGeom>
          <a:noFill/>
          <a:ln/>
        </p:spPr>
        <p:txBody>
          <a:bodyPr wrap="square" lIns="0" tIns="0" rIns="0" bIns="0" rtlCol="0" anchor="ctr"/>
          <a:lstStyle/>
          <a:p>
            <a:pPr marL="0" indent="0">
              <a:buNone/>
            </a:pPr>
            <a:r>
              <a:rPr lang="en-US" sz="1200" b="1" dirty="0">
                <a:solidFill>
                  <a:srgbClr val="1E293B"/>
                </a:solidFill>
              </a:rPr>
              <a:t>Executive Summary</a:t>
            </a:r>
            <a:endParaRPr lang="en-US" sz="1200" dirty="0"/>
          </a:p>
        </p:txBody>
      </p:sp>
      <p:sp>
        <p:nvSpPr>
          <p:cNvPr id="9" name="Text 7"/>
          <p:cNvSpPr/>
          <p:nvPr/>
        </p:nvSpPr>
        <p:spPr>
          <a:xfrm>
            <a:off x="960120" y="1691640"/>
            <a:ext cx="4754880" cy="320040"/>
          </a:xfrm>
          <a:prstGeom prst="rect">
            <a:avLst/>
          </a:prstGeom>
          <a:noFill/>
          <a:ln/>
        </p:spPr>
        <p:txBody>
          <a:bodyPr wrap="square" lIns="0" tIns="0" rIns="0" bIns="0" rtlCol="0" anchor="ctr"/>
          <a:lstStyle/>
          <a:p>
            <a:pPr marL="0" indent="0">
              <a:buNone/>
            </a:pPr>
            <a:r>
              <a:rPr lang="en-US" sz="900" dirty="0">
                <a:solidFill>
                  <a:srgbClr val="64748B"/>
                </a:solidFill>
              </a:rPr>
              <a:t>The case for agentic AI now</a:t>
            </a:r>
            <a:endParaRPr lang="en-US" sz="900" dirty="0"/>
          </a:p>
        </p:txBody>
      </p:sp>
      <p:sp>
        <p:nvSpPr>
          <p:cNvPr id="10" name="Shape 8"/>
          <p:cNvSpPr/>
          <p:nvPr/>
        </p:nvSpPr>
        <p:spPr>
          <a:xfrm>
            <a:off x="365760" y="2313432"/>
            <a:ext cx="5486400" cy="868680"/>
          </a:xfrm>
          <a:prstGeom prst="roundRect">
            <a:avLst>
              <a:gd name="adj" fmla="val 8421"/>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1" name="Shape 9"/>
          <p:cNvSpPr/>
          <p:nvPr/>
        </p:nvSpPr>
        <p:spPr>
          <a:xfrm>
            <a:off x="365760" y="2313432"/>
            <a:ext cx="502920" cy="868680"/>
          </a:xfrm>
          <a:prstGeom prst="roundRect">
            <a:avLst>
              <a:gd name="adj" fmla="val 14545"/>
            </a:avLst>
          </a:prstGeom>
          <a:solidFill>
            <a:srgbClr val="0099BB"/>
          </a:solidFill>
          <a:ln w="12700">
            <a:solidFill>
              <a:srgbClr val="0099BB"/>
            </a:solidFill>
            <a:prstDash val="solid"/>
          </a:ln>
        </p:spPr>
        <p:txBody>
          <a:bodyPr/>
          <a:lstStyle/>
          <a:p>
            <a:endParaRPr lang="en-US"/>
          </a:p>
        </p:txBody>
      </p:sp>
      <p:sp>
        <p:nvSpPr>
          <p:cNvPr id="12" name="Text 10"/>
          <p:cNvSpPr/>
          <p:nvPr/>
        </p:nvSpPr>
        <p:spPr>
          <a:xfrm>
            <a:off x="365760" y="2313432"/>
            <a:ext cx="502920" cy="868680"/>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13" name="Text 11"/>
          <p:cNvSpPr/>
          <p:nvPr/>
        </p:nvSpPr>
        <p:spPr>
          <a:xfrm>
            <a:off x="960120" y="2368296"/>
            <a:ext cx="4754880" cy="384048"/>
          </a:xfrm>
          <a:prstGeom prst="rect">
            <a:avLst/>
          </a:prstGeom>
          <a:noFill/>
          <a:ln/>
        </p:spPr>
        <p:txBody>
          <a:bodyPr wrap="square" lIns="0" tIns="0" rIns="0" bIns="0" rtlCol="0" anchor="ctr"/>
          <a:lstStyle/>
          <a:p>
            <a:pPr marL="0" indent="0">
              <a:buNone/>
            </a:pPr>
            <a:r>
              <a:rPr lang="en-US" sz="1200" b="1" dirty="0">
                <a:solidFill>
                  <a:srgbClr val="1E293B"/>
                </a:solidFill>
              </a:rPr>
              <a:t>Current State Assessment</a:t>
            </a:r>
            <a:endParaRPr lang="en-US" sz="1200" dirty="0"/>
          </a:p>
        </p:txBody>
      </p:sp>
      <p:sp>
        <p:nvSpPr>
          <p:cNvPr id="14" name="Text 12"/>
          <p:cNvSpPr/>
          <p:nvPr/>
        </p:nvSpPr>
        <p:spPr>
          <a:xfrm>
            <a:off x="960120" y="2770632"/>
            <a:ext cx="4754880" cy="320040"/>
          </a:xfrm>
          <a:prstGeom prst="rect">
            <a:avLst/>
          </a:prstGeom>
          <a:noFill/>
          <a:ln/>
        </p:spPr>
        <p:txBody>
          <a:bodyPr wrap="square" lIns="0" tIns="0" rIns="0" bIns="0" rtlCol="0" anchor="ctr"/>
          <a:lstStyle/>
          <a:p>
            <a:pPr marL="0" indent="0">
              <a:buNone/>
            </a:pPr>
            <a:r>
              <a:rPr lang="en-US" sz="900" dirty="0">
                <a:solidFill>
                  <a:srgbClr val="64748B"/>
                </a:solidFill>
              </a:rPr>
              <a:t>Where the SDLC breaks down</a:t>
            </a:r>
            <a:endParaRPr lang="en-US" sz="900" dirty="0"/>
          </a:p>
        </p:txBody>
      </p:sp>
      <p:sp>
        <p:nvSpPr>
          <p:cNvPr id="15" name="Shape 13"/>
          <p:cNvSpPr/>
          <p:nvPr/>
        </p:nvSpPr>
        <p:spPr>
          <a:xfrm>
            <a:off x="365760" y="3392424"/>
            <a:ext cx="5486400" cy="868680"/>
          </a:xfrm>
          <a:prstGeom prst="roundRect">
            <a:avLst>
              <a:gd name="adj" fmla="val 8421"/>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6" name="Shape 14"/>
          <p:cNvSpPr/>
          <p:nvPr/>
        </p:nvSpPr>
        <p:spPr>
          <a:xfrm>
            <a:off x="365760" y="3392424"/>
            <a:ext cx="502920" cy="868680"/>
          </a:xfrm>
          <a:prstGeom prst="roundRect">
            <a:avLst>
              <a:gd name="adj" fmla="val 14545"/>
            </a:avLst>
          </a:prstGeom>
          <a:solidFill>
            <a:srgbClr val="8B5CF6"/>
          </a:solidFill>
          <a:ln w="12700">
            <a:solidFill>
              <a:srgbClr val="8B5CF6"/>
            </a:solidFill>
            <a:prstDash val="solid"/>
          </a:ln>
        </p:spPr>
        <p:txBody>
          <a:bodyPr/>
          <a:lstStyle/>
          <a:p>
            <a:endParaRPr lang="en-US"/>
          </a:p>
        </p:txBody>
      </p:sp>
      <p:sp>
        <p:nvSpPr>
          <p:cNvPr id="17" name="Text 15"/>
          <p:cNvSpPr/>
          <p:nvPr/>
        </p:nvSpPr>
        <p:spPr>
          <a:xfrm>
            <a:off x="365760" y="3392424"/>
            <a:ext cx="502920" cy="868680"/>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18" name="Text 16"/>
          <p:cNvSpPr/>
          <p:nvPr/>
        </p:nvSpPr>
        <p:spPr>
          <a:xfrm>
            <a:off x="960120" y="3447288"/>
            <a:ext cx="4754880" cy="384048"/>
          </a:xfrm>
          <a:prstGeom prst="rect">
            <a:avLst/>
          </a:prstGeom>
          <a:noFill/>
          <a:ln/>
        </p:spPr>
        <p:txBody>
          <a:bodyPr wrap="square" lIns="0" tIns="0" rIns="0" bIns="0" rtlCol="0" anchor="ctr"/>
          <a:lstStyle/>
          <a:p>
            <a:pPr marL="0" indent="0">
              <a:buNone/>
            </a:pPr>
            <a:r>
              <a:rPr lang="en-US" sz="1200" b="1" dirty="0">
                <a:solidFill>
                  <a:srgbClr val="1E293B"/>
                </a:solidFill>
              </a:rPr>
              <a:t>AI &amp; Automation Propensity</a:t>
            </a:r>
            <a:endParaRPr lang="en-US" sz="1200" dirty="0"/>
          </a:p>
        </p:txBody>
      </p:sp>
      <p:sp>
        <p:nvSpPr>
          <p:cNvPr id="19" name="Text 17"/>
          <p:cNvSpPr/>
          <p:nvPr/>
        </p:nvSpPr>
        <p:spPr>
          <a:xfrm>
            <a:off x="960120" y="3849624"/>
            <a:ext cx="4754880" cy="320040"/>
          </a:xfrm>
          <a:prstGeom prst="rect">
            <a:avLst/>
          </a:prstGeom>
          <a:noFill/>
          <a:ln/>
        </p:spPr>
        <p:txBody>
          <a:bodyPr wrap="square" lIns="0" tIns="0" rIns="0" bIns="0" rtlCol="0" anchor="ctr"/>
          <a:lstStyle/>
          <a:p>
            <a:pPr marL="0" indent="0">
              <a:buNone/>
            </a:pPr>
            <a:r>
              <a:rPr lang="en-US" sz="900" dirty="0">
                <a:solidFill>
                  <a:srgbClr val="64748B"/>
                </a:solidFill>
              </a:rPr>
              <a:t>Heatmap of automation potential</a:t>
            </a:r>
            <a:endParaRPr lang="en-US" sz="900" dirty="0"/>
          </a:p>
        </p:txBody>
      </p:sp>
      <p:sp>
        <p:nvSpPr>
          <p:cNvPr id="20" name="Shape 18"/>
          <p:cNvSpPr/>
          <p:nvPr/>
        </p:nvSpPr>
        <p:spPr>
          <a:xfrm>
            <a:off x="365760" y="4471416"/>
            <a:ext cx="5486400" cy="868680"/>
          </a:xfrm>
          <a:prstGeom prst="roundRect">
            <a:avLst>
              <a:gd name="adj" fmla="val 8421"/>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21" name="Shape 19"/>
          <p:cNvSpPr/>
          <p:nvPr/>
        </p:nvSpPr>
        <p:spPr>
          <a:xfrm>
            <a:off x="365760" y="4471416"/>
            <a:ext cx="502920" cy="868680"/>
          </a:xfrm>
          <a:prstGeom prst="roundRect">
            <a:avLst>
              <a:gd name="adj" fmla="val 14545"/>
            </a:avLst>
          </a:prstGeom>
          <a:solidFill>
            <a:srgbClr val="10B981"/>
          </a:solidFill>
          <a:ln w="12700">
            <a:solidFill>
              <a:srgbClr val="10B981"/>
            </a:solidFill>
            <a:prstDash val="solid"/>
          </a:ln>
        </p:spPr>
        <p:txBody>
          <a:bodyPr/>
          <a:lstStyle/>
          <a:p>
            <a:endParaRPr lang="en-US"/>
          </a:p>
        </p:txBody>
      </p:sp>
      <p:sp>
        <p:nvSpPr>
          <p:cNvPr id="22" name="Text 20"/>
          <p:cNvSpPr/>
          <p:nvPr/>
        </p:nvSpPr>
        <p:spPr>
          <a:xfrm>
            <a:off x="365760" y="4471416"/>
            <a:ext cx="502920" cy="868680"/>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23" name="Text 21"/>
          <p:cNvSpPr/>
          <p:nvPr/>
        </p:nvSpPr>
        <p:spPr>
          <a:xfrm>
            <a:off x="960120" y="4526280"/>
            <a:ext cx="4754880" cy="384048"/>
          </a:xfrm>
          <a:prstGeom prst="rect">
            <a:avLst/>
          </a:prstGeom>
          <a:noFill/>
          <a:ln/>
        </p:spPr>
        <p:txBody>
          <a:bodyPr wrap="square" lIns="0" tIns="0" rIns="0" bIns="0" rtlCol="0" anchor="ctr"/>
          <a:lstStyle/>
          <a:p>
            <a:pPr marL="0" indent="0">
              <a:buNone/>
            </a:pPr>
            <a:r>
              <a:rPr lang="en-US" sz="1200" b="1" dirty="0">
                <a:solidFill>
                  <a:srgbClr val="1E293B"/>
                </a:solidFill>
              </a:rPr>
              <a:t>Agentic Future State</a:t>
            </a:r>
            <a:endParaRPr lang="en-US" sz="1200" dirty="0"/>
          </a:p>
        </p:txBody>
      </p:sp>
      <p:sp>
        <p:nvSpPr>
          <p:cNvPr id="24" name="Text 22"/>
          <p:cNvSpPr/>
          <p:nvPr/>
        </p:nvSpPr>
        <p:spPr>
          <a:xfrm>
            <a:off x="960120" y="4928616"/>
            <a:ext cx="4754880" cy="320040"/>
          </a:xfrm>
          <a:prstGeom prst="rect">
            <a:avLst/>
          </a:prstGeom>
          <a:noFill/>
          <a:ln/>
        </p:spPr>
        <p:txBody>
          <a:bodyPr wrap="square" lIns="0" tIns="0" rIns="0" bIns="0" rtlCol="0" anchor="ctr"/>
          <a:lstStyle/>
          <a:p>
            <a:pPr marL="0" indent="0">
              <a:buNone/>
            </a:pPr>
            <a:r>
              <a:rPr lang="en-US" sz="900" dirty="0">
                <a:solidFill>
                  <a:srgbClr val="64748B"/>
                </a:solidFill>
              </a:rPr>
              <a:t>Human + Agent workforce model</a:t>
            </a:r>
            <a:endParaRPr lang="en-US" sz="900" dirty="0"/>
          </a:p>
        </p:txBody>
      </p:sp>
      <p:sp>
        <p:nvSpPr>
          <p:cNvPr id="25" name="Shape 23"/>
          <p:cNvSpPr/>
          <p:nvPr/>
        </p:nvSpPr>
        <p:spPr>
          <a:xfrm>
            <a:off x="365760" y="5550408"/>
            <a:ext cx="5486400" cy="868680"/>
          </a:xfrm>
          <a:prstGeom prst="roundRect">
            <a:avLst>
              <a:gd name="adj" fmla="val 8421"/>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4"/>
          <p:cNvSpPr/>
          <p:nvPr/>
        </p:nvSpPr>
        <p:spPr>
          <a:xfrm>
            <a:off x="365760" y="5550408"/>
            <a:ext cx="502920" cy="868680"/>
          </a:xfrm>
          <a:prstGeom prst="roundRect">
            <a:avLst>
              <a:gd name="adj" fmla="val 14545"/>
            </a:avLst>
          </a:prstGeom>
          <a:solidFill>
            <a:srgbClr val="F59E0B"/>
          </a:solidFill>
          <a:ln w="12700">
            <a:solidFill>
              <a:srgbClr val="F59E0B"/>
            </a:solidFill>
            <a:prstDash val="solid"/>
          </a:ln>
        </p:spPr>
        <p:txBody>
          <a:bodyPr/>
          <a:lstStyle/>
          <a:p>
            <a:endParaRPr lang="en-US"/>
          </a:p>
        </p:txBody>
      </p:sp>
      <p:sp>
        <p:nvSpPr>
          <p:cNvPr id="27" name="Text 25"/>
          <p:cNvSpPr/>
          <p:nvPr/>
        </p:nvSpPr>
        <p:spPr>
          <a:xfrm>
            <a:off x="365760" y="5550408"/>
            <a:ext cx="502920" cy="868680"/>
          </a:xfrm>
          <a:prstGeom prst="rect">
            <a:avLst/>
          </a:prstGeom>
          <a:noFill/>
          <a:ln/>
        </p:spPr>
        <p:txBody>
          <a:bodyPr wrap="square" lIns="0" tIns="0" rIns="0" bIns="0" rtlCol="0" anchor="ctr"/>
          <a:lstStyle/>
          <a:p>
            <a:pPr marL="0" indent="0" algn="ctr">
              <a:buNone/>
            </a:pPr>
            <a:r>
              <a:rPr lang="en-US" sz="1300" b="1" dirty="0">
                <a:solidFill>
                  <a:srgbClr val="FFFFFF"/>
                </a:solidFill>
              </a:rPr>
              <a:t>05</a:t>
            </a:r>
            <a:endParaRPr lang="en-US" sz="1300" dirty="0"/>
          </a:p>
        </p:txBody>
      </p:sp>
      <p:sp>
        <p:nvSpPr>
          <p:cNvPr id="28" name="Text 26"/>
          <p:cNvSpPr/>
          <p:nvPr/>
        </p:nvSpPr>
        <p:spPr>
          <a:xfrm>
            <a:off x="960120" y="5605272"/>
            <a:ext cx="4754880" cy="384048"/>
          </a:xfrm>
          <a:prstGeom prst="rect">
            <a:avLst/>
          </a:prstGeom>
          <a:noFill/>
          <a:ln/>
        </p:spPr>
        <p:txBody>
          <a:bodyPr wrap="square" lIns="0" tIns="0" rIns="0" bIns="0" rtlCol="0" anchor="ctr"/>
          <a:lstStyle/>
          <a:p>
            <a:pPr marL="0" indent="0">
              <a:buNone/>
            </a:pPr>
            <a:r>
              <a:rPr lang="en-US" sz="1200" b="1" dirty="0">
                <a:solidFill>
                  <a:srgbClr val="1E293B"/>
                </a:solidFill>
              </a:rPr>
              <a:t>Agent Landscape</a:t>
            </a:r>
            <a:endParaRPr lang="en-US" sz="1200" dirty="0"/>
          </a:p>
        </p:txBody>
      </p:sp>
      <p:sp>
        <p:nvSpPr>
          <p:cNvPr id="29" name="Text 27"/>
          <p:cNvSpPr/>
          <p:nvPr/>
        </p:nvSpPr>
        <p:spPr>
          <a:xfrm>
            <a:off x="960120" y="6007608"/>
            <a:ext cx="4754880" cy="320040"/>
          </a:xfrm>
          <a:prstGeom prst="rect">
            <a:avLst/>
          </a:prstGeom>
          <a:noFill/>
          <a:ln/>
        </p:spPr>
        <p:txBody>
          <a:bodyPr wrap="square" lIns="0" tIns="0" rIns="0" bIns="0" rtlCol="0" anchor="ctr"/>
          <a:lstStyle/>
          <a:p>
            <a:pPr marL="0" indent="0">
              <a:buNone/>
            </a:pPr>
            <a:r>
              <a:rPr lang="en-US" sz="900" dirty="0">
                <a:solidFill>
                  <a:srgbClr val="64748B"/>
                </a:solidFill>
              </a:rPr>
              <a:t>Dev, Ops &amp; Horizontal agents</a:t>
            </a:r>
            <a:endParaRPr lang="en-US" sz="900" dirty="0"/>
          </a:p>
        </p:txBody>
      </p:sp>
      <p:sp>
        <p:nvSpPr>
          <p:cNvPr id="30" name="Shape 28"/>
          <p:cNvSpPr/>
          <p:nvPr/>
        </p:nvSpPr>
        <p:spPr>
          <a:xfrm>
            <a:off x="6309360" y="1234440"/>
            <a:ext cx="5486400" cy="868680"/>
          </a:xfrm>
          <a:prstGeom prst="roundRect">
            <a:avLst>
              <a:gd name="adj" fmla="val 8421"/>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31" name="Shape 29"/>
          <p:cNvSpPr/>
          <p:nvPr/>
        </p:nvSpPr>
        <p:spPr>
          <a:xfrm>
            <a:off x="6309360" y="1234440"/>
            <a:ext cx="502920" cy="868680"/>
          </a:xfrm>
          <a:prstGeom prst="roundRect">
            <a:avLst>
              <a:gd name="adj" fmla="val 14545"/>
            </a:avLst>
          </a:prstGeom>
          <a:solidFill>
            <a:srgbClr val="00D4FF"/>
          </a:solidFill>
          <a:ln w="12700">
            <a:solidFill>
              <a:srgbClr val="00D4FF"/>
            </a:solidFill>
            <a:prstDash val="solid"/>
          </a:ln>
        </p:spPr>
        <p:txBody>
          <a:bodyPr/>
          <a:lstStyle/>
          <a:p>
            <a:endParaRPr lang="en-US"/>
          </a:p>
        </p:txBody>
      </p:sp>
      <p:sp>
        <p:nvSpPr>
          <p:cNvPr id="32" name="Text 30"/>
          <p:cNvSpPr/>
          <p:nvPr/>
        </p:nvSpPr>
        <p:spPr>
          <a:xfrm>
            <a:off x="6309360" y="1234440"/>
            <a:ext cx="502920" cy="868680"/>
          </a:xfrm>
          <a:prstGeom prst="rect">
            <a:avLst/>
          </a:prstGeom>
          <a:noFill/>
          <a:ln/>
        </p:spPr>
        <p:txBody>
          <a:bodyPr wrap="square" lIns="0" tIns="0" rIns="0" bIns="0" rtlCol="0" anchor="ctr"/>
          <a:lstStyle/>
          <a:p>
            <a:pPr marL="0" indent="0" algn="ctr">
              <a:buNone/>
            </a:pPr>
            <a:r>
              <a:rPr lang="en-US" sz="1300" b="1" dirty="0">
                <a:solidFill>
                  <a:srgbClr val="FFFFFF"/>
                </a:solidFill>
              </a:rPr>
              <a:t>06</a:t>
            </a:r>
            <a:endParaRPr lang="en-US" sz="1300" dirty="0"/>
          </a:p>
        </p:txBody>
      </p:sp>
      <p:sp>
        <p:nvSpPr>
          <p:cNvPr id="33" name="Text 31"/>
          <p:cNvSpPr/>
          <p:nvPr/>
        </p:nvSpPr>
        <p:spPr>
          <a:xfrm>
            <a:off x="6903720" y="1289304"/>
            <a:ext cx="4754880" cy="384048"/>
          </a:xfrm>
          <a:prstGeom prst="rect">
            <a:avLst/>
          </a:prstGeom>
          <a:noFill/>
          <a:ln/>
        </p:spPr>
        <p:txBody>
          <a:bodyPr wrap="square" lIns="0" tIns="0" rIns="0" bIns="0" rtlCol="0" anchor="ctr"/>
          <a:lstStyle/>
          <a:p>
            <a:pPr marL="0" indent="0">
              <a:buNone/>
            </a:pPr>
            <a:r>
              <a:rPr lang="en-US" sz="1200" b="1" dirty="0">
                <a:solidFill>
                  <a:srgbClr val="1E293B"/>
                </a:solidFill>
              </a:rPr>
              <a:t>Multi-Agent Architecture</a:t>
            </a:r>
            <a:endParaRPr lang="en-US" sz="1200" dirty="0"/>
          </a:p>
        </p:txBody>
      </p:sp>
      <p:sp>
        <p:nvSpPr>
          <p:cNvPr id="34" name="Text 32"/>
          <p:cNvSpPr/>
          <p:nvPr/>
        </p:nvSpPr>
        <p:spPr>
          <a:xfrm>
            <a:off x="6903720" y="1691640"/>
            <a:ext cx="4754880" cy="320040"/>
          </a:xfrm>
          <a:prstGeom prst="rect">
            <a:avLst/>
          </a:prstGeom>
          <a:noFill/>
          <a:ln/>
        </p:spPr>
        <p:txBody>
          <a:bodyPr wrap="square" lIns="0" tIns="0" rIns="0" bIns="0" rtlCol="0" anchor="ctr"/>
          <a:lstStyle/>
          <a:p>
            <a:pPr marL="0" indent="0">
              <a:buNone/>
            </a:pPr>
            <a:r>
              <a:rPr lang="en-US" sz="900" dirty="0">
                <a:solidFill>
                  <a:srgbClr val="64748B"/>
                </a:solidFill>
              </a:rPr>
              <a:t>Orchestration &amp; interaction model</a:t>
            </a:r>
            <a:endParaRPr lang="en-US" sz="900" dirty="0"/>
          </a:p>
        </p:txBody>
      </p:sp>
      <p:sp>
        <p:nvSpPr>
          <p:cNvPr id="35" name="Shape 33"/>
          <p:cNvSpPr/>
          <p:nvPr/>
        </p:nvSpPr>
        <p:spPr>
          <a:xfrm>
            <a:off x="6309360" y="2313432"/>
            <a:ext cx="5486400" cy="868680"/>
          </a:xfrm>
          <a:prstGeom prst="roundRect">
            <a:avLst>
              <a:gd name="adj" fmla="val 8421"/>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36" name="Shape 34"/>
          <p:cNvSpPr/>
          <p:nvPr/>
        </p:nvSpPr>
        <p:spPr>
          <a:xfrm>
            <a:off x="6309360" y="2313432"/>
            <a:ext cx="502920" cy="868680"/>
          </a:xfrm>
          <a:prstGeom prst="roundRect">
            <a:avLst>
              <a:gd name="adj" fmla="val 14545"/>
            </a:avLst>
          </a:prstGeom>
          <a:solidFill>
            <a:srgbClr val="0099BB"/>
          </a:solidFill>
          <a:ln w="12700">
            <a:solidFill>
              <a:srgbClr val="0099BB"/>
            </a:solidFill>
            <a:prstDash val="solid"/>
          </a:ln>
        </p:spPr>
        <p:txBody>
          <a:bodyPr/>
          <a:lstStyle/>
          <a:p>
            <a:endParaRPr lang="en-US"/>
          </a:p>
        </p:txBody>
      </p:sp>
      <p:sp>
        <p:nvSpPr>
          <p:cNvPr id="37" name="Text 35"/>
          <p:cNvSpPr/>
          <p:nvPr/>
        </p:nvSpPr>
        <p:spPr>
          <a:xfrm>
            <a:off x="6309360" y="2313432"/>
            <a:ext cx="502920" cy="868680"/>
          </a:xfrm>
          <a:prstGeom prst="rect">
            <a:avLst/>
          </a:prstGeom>
          <a:noFill/>
          <a:ln/>
        </p:spPr>
        <p:txBody>
          <a:bodyPr wrap="square" lIns="0" tIns="0" rIns="0" bIns="0" rtlCol="0" anchor="ctr"/>
          <a:lstStyle/>
          <a:p>
            <a:pPr marL="0" indent="0" algn="ctr">
              <a:buNone/>
            </a:pPr>
            <a:r>
              <a:rPr lang="en-US" sz="1300" b="1" dirty="0">
                <a:solidFill>
                  <a:srgbClr val="FFFFFF"/>
                </a:solidFill>
              </a:rPr>
              <a:t>07</a:t>
            </a:r>
            <a:endParaRPr lang="en-US" sz="1300" dirty="0"/>
          </a:p>
        </p:txBody>
      </p:sp>
      <p:sp>
        <p:nvSpPr>
          <p:cNvPr id="38" name="Text 36"/>
          <p:cNvSpPr/>
          <p:nvPr/>
        </p:nvSpPr>
        <p:spPr>
          <a:xfrm>
            <a:off x="6903720" y="2368296"/>
            <a:ext cx="4754880" cy="384048"/>
          </a:xfrm>
          <a:prstGeom prst="rect">
            <a:avLst/>
          </a:prstGeom>
          <a:noFill/>
          <a:ln/>
        </p:spPr>
        <p:txBody>
          <a:bodyPr wrap="square" lIns="0" tIns="0" rIns="0" bIns="0" rtlCol="0" anchor="ctr"/>
          <a:lstStyle/>
          <a:p>
            <a:pPr marL="0" indent="0">
              <a:buNone/>
            </a:pPr>
            <a:r>
              <a:rPr lang="en-US" sz="1200" b="1" dirty="0">
                <a:solidFill>
                  <a:srgbClr val="1E293B"/>
                </a:solidFill>
              </a:rPr>
              <a:t>Prioritization &amp; PoCs</a:t>
            </a:r>
            <a:endParaRPr lang="en-US" sz="1200" dirty="0"/>
          </a:p>
        </p:txBody>
      </p:sp>
      <p:sp>
        <p:nvSpPr>
          <p:cNvPr id="39" name="Text 37"/>
          <p:cNvSpPr/>
          <p:nvPr/>
        </p:nvSpPr>
        <p:spPr>
          <a:xfrm>
            <a:off x="6903720" y="2770632"/>
            <a:ext cx="4754880" cy="320040"/>
          </a:xfrm>
          <a:prstGeom prst="rect">
            <a:avLst/>
          </a:prstGeom>
          <a:noFill/>
          <a:ln/>
        </p:spPr>
        <p:txBody>
          <a:bodyPr wrap="square" lIns="0" tIns="0" rIns="0" bIns="0" rtlCol="0" anchor="ctr"/>
          <a:lstStyle/>
          <a:p>
            <a:pPr marL="0" indent="0">
              <a:buNone/>
            </a:pPr>
            <a:r>
              <a:rPr lang="en-US" sz="900" dirty="0">
                <a:solidFill>
                  <a:srgbClr val="64748B"/>
                </a:solidFill>
              </a:rPr>
              <a:t>Effort vs Impact · Top 3 use cases</a:t>
            </a:r>
            <a:endParaRPr lang="en-US" sz="900" dirty="0"/>
          </a:p>
        </p:txBody>
      </p:sp>
      <p:sp>
        <p:nvSpPr>
          <p:cNvPr id="40" name="Shape 38"/>
          <p:cNvSpPr/>
          <p:nvPr/>
        </p:nvSpPr>
        <p:spPr>
          <a:xfrm>
            <a:off x="6309360" y="3392424"/>
            <a:ext cx="5486400" cy="868680"/>
          </a:xfrm>
          <a:prstGeom prst="roundRect">
            <a:avLst>
              <a:gd name="adj" fmla="val 8421"/>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41" name="Shape 39"/>
          <p:cNvSpPr/>
          <p:nvPr/>
        </p:nvSpPr>
        <p:spPr>
          <a:xfrm>
            <a:off x="6309360" y="3392424"/>
            <a:ext cx="502920" cy="868680"/>
          </a:xfrm>
          <a:prstGeom prst="roundRect">
            <a:avLst>
              <a:gd name="adj" fmla="val 14545"/>
            </a:avLst>
          </a:prstGeom>
          <a:solidFill>
            <a:srgbClr val="10B981"/>
          </a:solidFill>
          <a:ln w="12700">
            <a:solidFill>
              <a:srgbClr val="10B981"/>
            </a:solidFill>
            <a:prstDash val="solid"/>
          </a:ln>
        </p:spPr>
        <p:txBody>
          <a:bodyPr/>
          <a:lstStyle/>
          <a:p>
            <a:endParaRPr lang="en-US"/>
          </a:p>
        </p:txBody>
      </p:sp>
      <p:sp>
        <p:nvSpPr>
          <p:cNvPr id="42" name="Text 40"/>
          <p:cNvSpPr/>
          <p:nvPr/>
        </p:nvSpPr>
        <p:spPr>
          <a:xfrm>
            <a:off x="6309360" y="3392424"/>
            <a:ext cx="502920" cy="868680"/>
          </a:xfrm>
          <a:prstGeom prst="rect">
            <a:avLst/>
          </a:prstGeom>
          <a:noFill/>
          <a:ln/>
        </p:spPr>
        <p:txBody>
          <a:bodyPr wrap="square" lIns="0" tIns="0" rIns="0" bIns="0" rtlCol="0" anchor="ctr"/>
          <a:lstStyle/>
          <a:p>
            <a:pPr marL="0" indent="0" algn="ctr">
              <a:buNone/>
            </a:pPr>
            <a:r>
              <a:rPr lang="en-US" sz="1300" b="1" dirty="0">
                <a:solidFill>
                  <a:srgbClr val="FFFFFF"/>
                </a:solidFill>
              </a:rPr>
              <a:t>08</a:t>
            </a:r>
            <a:endParaRPr lang="en-US" sz="1300" dirty="0"/>
          </a:p>
        </p:txBody>
      </p:sp>
      <p:sp>
        <p:nvSpPr>
          <p:cNvPr id="43" name="Text 41"/>
          <p:cNvSpPr/>
          <p:nvPr/>
        </p:nvSpPr>
        <p:spPr>
          <a:xfrm>
            <a:off x="6903720" y="3447288"/>
            <a:ext cx="4754880" cy="384048"/>
          </a:xfrm>
          <a:prstGeom prst="rect">
            <a:avLst/>
          </a:prstGeom>
          <a:noFill/>
          <a:ln/>
        </p:spPr>
        <p:txBody>
          <a:bodyPr wrap="square" lIns="0" tIns="0" rIns="0" bIns="0" rtlCol="0" anchor="ctr"/>
          <a:lstStyle/>
          <a:p>
            <a:pPr marL="0" indent="0">
              <a:buNone/>
            </a:pPr>
            <a:r>
              <a:rPr lang="en-US" sz="1200" b="1" dirty="0">
                <a:solidFill>
                  <a:srgbClr val="1E293B"/>
                </a:solidFill>
              </a:rPr>
              <a:t>Business Case &amp; Roadmap</a:t>
            </a:r>
            <a:endParaRPr lang="en-US" sz="1200" dirty="0"/>
          </a:p>
        </p:txBody>
      </p:sp>
      <p:sp>
        <p:nvSpPr>
          <p:cNvPr id="44" name="Text 42"/>
          <p:cNvSpPr/>
          <p:nvPr/>
        </p:nvSpPr>
        <p:spPr>
          <a:xfrm>
            <a:off x="6903720" y="3849624"/>
            <a:ext cx="4754880" cy="320040"/>
          </a:xfrm>
          <a:prstGeom prst="rect">
            <a:avLst/>
          </a:prstGeom>
          <a:noFill/>
          <a:ln/>
        </p:spPr>
        <p:txBody>
          <a:bodyPr wrap="square" lIns="0" tIns="0" rIns="0" bIns="0" rtlCol="0" anchor="ctr"/>
          <a:lstStyle/>
          <a:p>
            <a:pPr marL="0" indent="0">
              <a:buNone/>
            </a:pPr>
            <a:r>
              <a:rPr lang="en-US" sz="900" dirty="0">
                <a:solidFill>
                  <a:srgbClr val="64748B"/>
                </a:solidFill>
              </a:rPr>
              <a:t>Benefits · Investment · Timeline</a:t>
            </a:r>
            <a:endParaRPr lang="en-US" sz="900" dirty="0"/>
          </a:p>
        </p:txBody>
      </p:sp>
      <p:sp>
        <p:nvSpPr>
          <p:cNvPr id="45" name="Shape 43"/>
          <p:cNvSpPr/>
          <p:nvPr/>
        </p:nvSpPr>
        <p:spPr>
          <a:xfrm>
            <a:off x="6309360" y="4471416"/>
            <a:ext cx="5486400" cy="868680"/>
          </a:xfrm>
          <a:prstGeom prst="roundRect">
            <a:avLst>
              <a:gd name="adj" fmla="val 8421"/>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46" name="Shape 44"/>
          <p:cNvSpPr/>
          <p:nvPr/>
        </p:nvSpPr>
        <p:spPr>
          <a:xfrm>
            <a:off x="6309360" y="4471416"/>
            <a:ext cx="502920" cy="868680"/>
          </a:xfrm>
          <a:prstGeom prst="roundRect">
            <a:avLst>
              <a:gd name="adj" fmla="val 14545"/>
            </a:avLst>
          </a:prstGeom>
          <a:solidFill>
            <a:srgbClr val="EF4444"/>
          </a:solidFill>
          <a:ln w="12700">
            <a:solidFill>
              <a:srgbClr val="EF4444"/>
            </a:solidFill>
            <a:prstDash val="solid"/>
          </a:ln>
        </p:spPr>
        <p:txBody>
          <a:bodyPr/>
          <a:lstStyle/>
          <a:p>
            <a:endParaRPr lang="en-US"/>
          </a:p>
        </p:txBody>
      </p:sp>
      <p:sp>
        <p:nvSpPr>
          <p:cNvPr id="47" name="Text 45"/>
          <p:cNvSpPr/>
          <p:nvPr/>
        </p:nvSpPr>
        <p:spPr>
          <a:xfrm>
            <a:off x="6309360" y="4471416"/>
            <a:ext cx="502920" cy="868680"/>
          </a:xfrm>
          <a:prstGeom prst="rect">
            <a:avLst/>
          </a:prstGeom>
          <a:noFill/>
          <a:ln/>
        </p:spPr>
        <p:txBody>
          <a:bodyPr wrap="square" lIns="0" tIns="0" rIns="0" bIns="0" rtlCol="0" anchor="ctr"/>
          <a:lstStyle/>
          <a:p>
            <a:pPr marL="0" indent="0" algn="ctr">
              <a:buNone/>
            </a:pPr>
            <a:r>
              <a:rPr lang="en-US" sz="1300" b="1" dirty="0">
                <a:solidFill>
                  <a:srgbClr val="FFFFFF"/>
                </a:solidFill>
              </a:rPr>
              <a:t>09</a:t>
            </a:r>
            <a:endParaRPr lang="en-US" sz="1300" dirty="0"/>
          </a:p>
        </p:txBody>
      </p:sp>
      <p:sp>
        <p:nvSpPr>
          <p:cNvPr id="48" name="Text 46"/>
          <p:cNvSpPr/>
          <p:nvPr/>
        </p:nvSpPr>
        <p:spPr>
          <a:xfrm>
            <a:off x="6903720" y="4526280"/>
            <a:ext cx="4754880" cy="384048"/>
          </a:xfrm>
          <a:prstGeom prst="rect">
            <a:avLst/>
          </a:prstGeom>
          <a:noFill/>
          <a:ln/>
        </p:spPr>
        <p:txBody>
          <a:bodyPr wrap="square" lIns="0" tIns="0" rIns="0" bIns="0" rtlCol="0" anchor="ctr"/>
          <a:lstStyle/>
          <a:p>
            <a:pPr marL="0" indent="0">
              <a:buNone/>
            </a:pPr>
            <a:r>
              <a:rPr lang="en-US" sz="1200" b="1" dirty="0">
                <a:solidFill>
                  <a:srgbClr val="1E293B"/>
                </a:solidFill>
              </a:rPr>
              <a:t>Risks &amp; Governance</a:t>
            </a:r>
            <a:endParaRPr lang="en-US" sz="1200" dirty="0"/>
          </a:p>
        </p:txBody>
      </p:sp>
      <p:sp>
        <p:nvSpPr>
          <p:cNvPr id="49" name="Text 47"/>
          <p:cNvSpPr/>
          <p:nvPr/>
        </p:nvSpPr>
        <p:spPr>
          <a:xfrm>
            <a:off x="6903720" y="4928616"/>
            <a:ext cx="4754880" cy="320040"/>
          </a:xfrm>
          <a:prstGeom prst="rect">
            <a:avLst/>
          </a:prstGeom>
          <a:noFill/>
          <a:ln/>
        </p:spPr>
        <p:txBody>
          <a:bodyPr wrap="square" lIns="0" tIns="0" rIns="0" bIns="0" rtlCol="0" anchor="ctr"/>
          <a:lstStyle/>
          <a:p>
            <a:pPr marL="0" indent="0">
              <a:buNone/>
            </a:pPr>
            <a:r>
              <a:rPr lang="en-US" sz="900" dirty="0">
                <a:solidFill>
                  <a:srgbClr val="64748B"/>
                </a:solidFill>
              </a:rPr>
              <a:t>Controls &amp; human oversight</a:t>
            </a:r>
            <a:endParaRPr lang="en-US" sz="900" dirty="0"/>
          </a:p>
        </p:txBody>
      </p:sp>
      <p:sp>
        <p:nvSpPr>
          <p:cNvPr id="50" name="Shape 48"/>
          <p:cNvSpPr/>
          <p:nvPr/>
        </p:nvSpPr>
        <p:spPr>
          <a:xfrm>
            <a:off x="6309360" y="5550408"/>
            <a:ext cx="5486400" cy="868680"/>
          </a:xfrm>
          <a:prstGeom prst="roundRect">
            <a:avLst>
              <a:gd name="adj" fmla="val 8421"/>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51" name="Shape 49"/>
          <p:cNvSpPr/>
          <p:nvPr/>
        </p:nvSpPr>
        <p:spPr>
          <a:xfrm>
            <a:off x="6309360" y="5550408"/>
            <a:ext cx="502920" cy="868680"/>
          </a:xfrm>
          <a:prstGeom prst="roundRect">
            <a:avLst>
              <a:gd name="adj" fmla="val 14545"/>
            </a:avLst>
          </a:prstGeom>
          <a:solidFill>
            <a:srgbClr val="8B5CF6"/>
          </a:solidFill>
          <a:ln w="12700">
            <a:solidFill>
              <a:srgbClr val="8B5CF6"/>
            </a:solidFill>
            <a:prstDash val="solid"/>
          </a:ln>
        </p:spPr>
        <p:txBody>
          <a:bodyPr/>
          <a:lstStyle/>
          <a:p>
            <a:endParaRPr lang="en-US"/>
          </a:p>
        </p:txBody>
      </p:sp>
      <p:sp>
        <p:nvSpPr>
          <p:cNvPr id="52" name="Text 50"/>
          <p:cNvSpPr/>
          <p:nvPr/>
        </p:nvSpPr>
        <p:spPr>
          <a:xfrm>
            <a:off x="6309360" y="5550408"/>
            <a:ext cx="502920" cy="868680"/>
          </a:xfrm>
          <a:prstGeom prst="rect">
            <a:avLst/>
          </a:prstGeom>
          <a:noFill/>
          <a:ln/>
        </p:spPr>
        <p:txBody>
          <a:bodyPr wrap="square" lIns="0" tIns="0" rIns="0" bIns="0" rtlCol="0" anchor="ctr"/>
          <a:lstStyle/>
          <a:p>
            <a:pPr marL="0" indent="0" algn="ctr">
              <a:buNone/>
            </a:pPr>
            <a:r>
              <a:rPr lang="en-US" sz="1300" b="1" dirty="0">
                <a:solidFill>
                  <a:srgbClr val="FFFFFF"/>
                </a:solidFill>
              </a:rPr>
              <a:t>10</a:t>
            </a:r>
            <a:endParaRPr lang="en-US" sz="1300" dirty="0"/>
          </a:p>
        </p:txBody>
      </p:sp>
      <p:sp>
        <p:nvSpPr>
          <p:cNvPr id="53" name="Text 51"/>
          <p:cNvSpPr/>
          <p:nvPr/>
        </p:nvSpPr>
        <p:spPr>
          <a:xfrm>
            <a:off x="6903720" y="5605272"/>
            <a:ext cx="4754880" cy="384048"/>
          </a:xfrm>
          <a:prstGeom prst="rect">
            <a:avLst/>
          </a:prstGeom>
          <a:noFill/>
          <a:ln/>
        </p:spPr>
        <p:txBody>
          <a:bodyPr wrap="square" lIns="0" tIns="0" rIns="0" bIns="0" rtlCol="0" anchor="ctr"/>
          <a:lstStyle/>
          <a:p>
            <a:pPr marL="0" indent="0">
              <a:buNone/>
            </a:pPr>
            <a:r>
              <a:rPr lang="en-US" sz="1200" b="1" dirty="0">
                <a:solidFill>
                  <a:srgbClr val="1E293B"/>
                </a:solidFill>
              </a:rPr>
              <a:t>Executive Recommendations</a:t>
            </a:r>
            <a:endParaRPr lang="en-US" sz="1200" dirty="0"/>
          </a:p>
        </p:txBody>
      </p:sp>
      <p:sp>
        <p:nvSpPr>
          <p:cNvPr id="54" name="Text 52"/>
          <p:cNvSpPr/>
          <p:nvPr/>
        </p:nvSpPr>
        <p:spPr>
          <a:xfrm>
            <a:off x="6903720" y="6007608"/>
            <a:ext cx="4754880" cy="320040"/>
          </a:xfrm>
          <a:prstGeom prst="rect">
            <a:avLst/>
          </a:prstGeom>
          <a:noFill/>
          <a:ln/>
        </p:spPr>
        <p:txBody>
          <a:bodyPr wrap="square" lIns="0" tIns="0" rIns="0" bIns="0" rtlCol="0" anchor="ctr"/>
          <a:lstStyle/>
          <a:p>
            <a:pPr marL="0" indent="0">
              <a:buNone/>
            </a:pPr>
            <a:r>
              <a:rPr lang="en-US" sz="900" dirty="0">
                <a:solidFill>
                  <a:srgbClr val="64748B"/>
                </a:solidFill>
              </a:rPr>
              <a:t>Next 90 days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1A2F5A"/>
          </a:solidFill>
          <a:ln w="12700">
            <a:solidFill>
              <a:srgbClr val="1A2F5A"/>
            </a:solidFill>
            <a:prstDash val="solid"/>
          </a:ln>
        </p:spPr>
        <p:txBody>
          <a:bodyPr/>
          <a:lstStyle/>
          <a:p>
            <a:endParaRPr lang="en-US"/>
          </a:p>
        </p:txBody>
      </p:sp>
      <p:sp>
        <p:nvSpPr>
          <p:cNvPr id="3" name="Text 1"/>
          <p:cNvSpPr/>
          <p:nvPr/>
        </p:nvSpPr>
        <p:spPr>
          <a:xfrm>
            <a:off x="457200" y="137160"/>
            <a:ext cx="8229600" cy="457200"/>
          </a:xfrm>
          <a:prstGeom prst="rect">
            <a:avLst/>
          </a:prstGeom>
          <a:noFill/>
          <a:ln/>
        </p:spPr>
        <p:txBody>
          <a:bodyPr wrap="square" lIns="0" tIns="0" rIns="0" bIns="0" rtlCol="0" anchor="ctr"/>
          <a:lstStyle/>
          <a:p>
            <a:pPr marL="0" indent="0">
              <a:buNone/>
            </a:pPr>
            <a:r>
              <a:rPr lang="en-US" sz="1100" b="1" kern="0" spc="200" dirty="0">
                <a:solidFill>
                  <a:srgbClr val="00D4FF"/>
                </a:solidFill>
              </a:rPr>
              <a:t>EXECUTIVE SUMMARY</a:t>
            </a:r>
            <a:endParaRPr lang="en-US" sz="1100" dirty="0"/>
          </a:p>
        </p:txBody>
      </p:sp>
      <p:sp>
        <p:nvSpPr>
          <p:cNvPr id="4" name="Text 2"/>
          <p:cNvSpPr/>
          <p:nvPr/>
        </p:nvSpPr>
        <p:spPr>
          <a:xfrm>
            <a:off x="457200" y="457200"/>
            <a:ext cx="822960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Why Agentic AI. Why Now.</a:t>
            </a:r>
            <a:endParaRPr lang="en-US" sz="2200" dirty="0"/>
          </a:p>
        </p:txBody>
      </p:sp>
      <p:sp>
        <p:nvSpPr>
          <p:cNvPr id="5" name="Shape 3"/>
          <p:cNvSpPr/>
          <p:nvPr/>
        </p:nvSpPr>
        <p:spPr>
          <a:xfrm>
            <a:off x="365760" y="1188720"/>
            <a:ext cx="2423160" cy="1828800"/>
          </a:xfrm>
          <a:prstGeom prst="roundRect">
            <a:avLst>
              <a:gd name="adj" fmla="val 5000"/>
            </a:avLst>
          </a:prstGeom>
          <a:solidFill>
            <a:srgbClr val="243752"/>
          </a:solidFill>
          <a:ln w="12700">
            <a:solidFill>
              <a:srgbClr val="0099BB"/>
            </a:solidFill>
            <a:prstDash val="solid"/>
          </a:ln>
        </p:spPr>
        <p:txBody>
          <a:bodyPr/>
          <a:lstStyle/>
          <a:p>
            <a:endParaRPr lang="en-US"/>
          </a:p>
        </p:txBody>
      </p:sp>
      <p:sp>
        <p:nvSpPr>
          <p:cNvPr id="6" name="Text 4"/>
          <p:cNvSpPr/>
          <p:nvPr/>
        </p:nvSpPr>
        <p:spPr>
          <a:xfrm>
            <a:off x="365760" y="1280160"/>
            <a:ext cx="2423160" cy="5486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7" name="Text 5"/>
          <p:cNvSpPr/>
          <p:nvPr/>
        </p:nvSpPr>
        <p:spPr>
          <a:xfrm>
            <a:off x="365760" y="1828800"/>
            <a:ext cx="2423160" cy="594360"/>
          </a:xfrm>
          <a:prstGeom prst="rect">
            <a:avLst/>
          </a:prstGeom>
          <a:noFill/>
          <a:ln/>
        </p:spPr>
        <p:txBody>
          <a:bodyPr wrap="square" lIns="0" tIns="0" rIns="0" bIns="0" rtlCol="0" anchor="ctr"/>
          <a:lstStyle/>
          <a:p>
            <a:pPr marL="0" indent="0" algn="ctr">
              <a:buNone/>
            </a:pPr>
            <a:r>
              <a:rPr lang="en-US" sz="3600" b="1" dirty="0">
                <a:solidFill>
                  <a:srgbClr val="00D4FF"/>
                </a:solidFill>
                <a:latin typeface="Cambria" pitchFamily="34" charset="0"/>
                <a:ea typeface="Cambria" pitchFamily="34" charset="-122"/>
                <a:cs typeface="Cambria" pitchFamily="34" charset="-120"/>
              </a:rPr>
              <a:t>47%</a:t>
            </a:r>
            <a:endParaRPr lang="en-US" sz="3600" dirty="0"/>
          </a:p>
        </p:txBody>
      </p:sp>
      <p:sp>
        <p:nvSpPr>
          <p:cNvPr id="8" name="Text 6"/>
          <p:cNvSpPr/>
          <p:nvPr/>
        </p:nvSpPr>
        <p:spPr>
          <a:xfrm>
            <a:off x="365760" y="2395728"/>
            <a:ext cx="2423160" cy="274320"/>
          </a:xfrm>
          <a:prstGeom prst="rect">
            <a:avLst/>
          </a:prstGeom>
          <a:noFill/>
          <a:ln/>
        </p:spPr>
        <p:txBody>
          <a:bodyPr wrap="square" lIns="0" tIns="0" rIns="0" bIns="0" rtlCol="0" anchor="ctr"/>
          <a:lstStyle/>
          <a:p>
            <a:pPr marL="0" indent="0" algn="ctr">
              <a:buNone/>
            </a:pPr>
            <a:r>
              <a:rPr lang="en-US" sz="1000" b="1" dirty="0">
                <a:solidFill>
                  <a:srgbClr val="FFFFFF"/>
                </a:solidFill>
              </a:rPr>
              <a:t>Velocity Gap</a:t>
            </a:r>
            <a:endParaRPr lang="en-US" sz="1000" dirty="0"/>
          </a:p>
        </p:txBody>
      </p:sp>
      <p:sp>
        <p:nvSpPr>
          <p:cNvPr id="9" name="Text 7"/>
          <p:cNvSpPr/>
          <p:nvPr/>
        </p:nvSpPr>
        <p:spPr>
          <a:xfrm>
            <a:off x="365760" y="2670048"/>
            <a:ext cx="2423160" cy="292608"/>
          </a:xfrm>
          <a:prstGeom prst="rect">
            <a:avLst/>
          </a:prstGeom>
          <a:noFill/>
          <a:ln/>
        </p:spPr>
        <p:txBody>
          <a:bodyPr wrap="square" lIns="0" tIns="0" rIns="0" bIns="0" rtlCol="0" anchor="ctr"/>
          <a:lstStyle/>
          <a:p>
            <a:pPr marL="0" indent="0" algn="ctr">
              <a:buNone/>
            </a:pPr>
            <a:r>
              <a:rPr lang="en-US" sz="850" dirty="0">
                <a:solidFill>
                  <a:srgbClr val="CBD5E1"/>
                </a:solidFill>
              </a:rPr>
              <a:t>of sprint capacity lost to non-coding tasks</a:t>
            </a:r>
            <a:endParaRPr lang="en-US" sz="850" dirty="0"/>
          </a:p>
        </p:txBody>
      </p:sp>
      <p:sp>
        <p:nvSpPr>
          <p:cNvPr id="10" name="Shape 8"/>
          <p:cNvSpPr/>
          <p:nvPr/>
        </p:nvSpPr>
        <p:spPr>
          <a:xfrm>
            <a:off x="3017520" y="1188720"/>
            <a:ext cx="2423160" cy="1828800"/>
          </a:xfrm>
          <a:prstGeom prst="roundRect">
            <a:avLst>
              <a:gd name="adj" fmla="val 5000"/>
            </a:avLst>
          </a:prstGeom>
          <a:solidFill>
            <a:srgbClr val="243752"/>
          </a:solidFill>
          <a:ln w="12700">
            <a:solidFill>
              <a:srgbClr val="0099BB"/>
            </a:solidFill>
            <a:prstDash val="solid"/>
          </a:ln>
        </p:spPr>
        <p:txBody>
          <a:bodyPr/>
          <a:lstStyle/>
          <a:p>
            <a:endParaRPr lang="en-US"/>
          </a:p>
        </p:txBody>
      </p:sp>
      <p:sp>
        <p:nvSpPr>
          <p:cNvPr id="11" name="Text 9"/>
          <p:cNvSpPr/>
          <p:nvPr/>
        </p:nvSpPr>
        <p:spPr>
          <a:xfrm>
            <a:off x="3017520" y="1280160"/>
            <a:ext cx="2423160" cy="5486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2" name="Text 10"/>
          <p:cNvSpPr/>
          <p:nvPr/>
        </p:nvSpPr>
        <p:spPr>
          <a:xfrm>
            <a:off x="3017520" y="1828800"/>
            <a:ext cx="2423160" cy="594360"/>
          </a:xfrm>
          <a:prstGeom prst="rect">
            <a:avLst/>
          </a:prstGeom>
          <a:noFill/>
          <a:ln/>
        </p:spPr>
        <p:txBody>
          <a:bodyPr wrap="square" lIns="0" tIns="0" rIns="0" bIns="0" rtlCol="0" anchor="ctr"/>
          <a:lstStyle/>
          <a:p>
            <a:pPr marL="0" indent="0" algn="ctr">
              <a:buNone/>
            </a:pPr>
            <a:r>
              <a:rPr lang="en-US" sz="3600" b="1" dirty="0">
                <a:solidFill>
                  <a:srgbClr val="00D4FF"/>
                </a:solidFill>
                <a:latin typeface="Cambria" pitchFamily="34" charset="0"/>
                <a:ea typeface="Cambria" pitchFamily="34" charset="-122"/>
                <a:cs typeface="Cambria" pitchFamily="34" charset="-120"/>
              </a:rPr>
              <a:t>3.2×</a:t>
            </a:r>
            <a:endParaRPr lang="en-US" sz="3600" dirty="0"/>
          </a:p>
        </p:txBody>
      </p:sp>
      <p:sp>
        <p:nvSpPr>
          <p:cNvPr id="13" name="Text 11"/>
          <p:cNvSpPr/>
          <p:nvPr/>
        </p:nvSpPr>
        <p:spPr>
          <a:xfrm>
            <a:off x="3017520" y="2395728"/>
            <a:ext cx="2423160" cy="274320"/>
          </a:xfrm>
          <a:prstGeom prst="rect">
            <a:avLst/>
          </a:prstGeom>
          <a:noFill/>
          <a:ln/>
        </p:spPr>
        <p:txBody>
          <a:bodyPr wrap="square" lIns="0" tIns="0" rIns="0" bIns="0" rtlCol="0" anchor="ctr"/>
          <a:lstStyle/>
          <a:p>
            <a:pPr marL="0" indent="0" algn="ctr">
              <a:buNone/>
            </a:pPr>
            <a:r>
              <a:rPr lang="en-US" sz="1000" b="1" dirty="0">
                <a:solidFill>
                  <a:srgbClr val="FFFFFF"/>
                </a:solidFill>
              </a:rPr>
              <a:t>Quality Debt</a:t>
            </a:r>
            <a:endParaRPr lang="en-US" sz="1000" dirty="0"/>
          </a:p>
        </p:txBody>
      </p:sp>
      <p:sp>
        <p:nvSpPr>
          <p:cNvPr id="14" name="Text 12"/>
          <p:cNvSpPr/>
          <p:nvPr/>
        </p:nvSpPr>
        <p:spPr>
          <a:xfrm>
            <a:off x="3017520" y="2670048"/>
            <a:ext cx="2423160" cy="292608"/>
          </a:xfrm>
          <a:prstGeom prst="rect">
            <a:avLst/>
          </a:prstGeom>
          <a:noFill/>
          <a:ln/>
        </p:spPr>
        <p:txBody>
          <a:bodyPr wrap="square" lIns="0" tIns="0" rIns="0" bIns="0" rtlCol="0" anchor="ctr"/>
          <a:lstStyle/>
          <a:p>
            <a:pPr marL="0" indent="0" algn="ctr">
              <a:buNone/>
            </a:pPr>
            <a:r>
              <a:rPr lang="en-US" sz="850" dirty="0">
                <a:solidFill>
                  <a:srgbClr val="CBD5E1"/>
                </a:solidFill>
              </a:rPr>
              <a:t>cost to fix a defect in production vs. design</a:t>
            </a:r>
            <a:endParaRPr lang="en-US" sz="850" dirty="0"/>
          </a:p>
        </p:txBody>
      </p:sp>
      <p:sp>
        <p:nvSpPr>
          <p:cNvPr id="15" name="Shape 13"/>
          <p:cNvSpPr/>
          <p:nvPr/>
        </p:nvSpPr>
        <p:spPr>
          <a:xfrm>
            <a:off x="5669280" y="1188720"/>
            <a:ext cx="2423160" cy="1828800"/>
          </a:xfrm>
          <a:prstGeom prst="roundRect">
            <a:avLst>
              <a:gd name="adj" fmla="val 5000"/>
            </a:avLst>
          </a:prstGeom>
          <a:solidFill>
            <a:srgbClr val="243752"/>
          </a:solidFill>
          <a:ln w="12700">
            <a:solidFill>
              <a:srgbClr val="0099BB"/>
            </a:solidFill>
            <a:prstDash val="solid"/>
          </a:ln>
        </p:spPr>
        <p:txBody>
          <a:bodyPr/>
          <a:lstStyle/>
          <a:p>
            <a:endParaRPr lang="en-US"/>
          </a:p>
        </p:txBody>
      </p:sp>
      <p:sp>
        <p:nvSpPr>
          <p:cNvPr id="16" name="Text 14"/>
          <p:cNvSpPr/>
          <p:nvPr/>
        </p:nvSpPr>
        <p:spPr>
          <a:xfrm>
            <a:off x="5669280" y="1280160"/>
            <a:ext cx="2423160" cy="5486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5669280" y="1828800"/>
            <a:ext cx="2423160" cy="594360"/>
          </a:xfrm>
          <a:prstGeom prst="rect">
            <a:avLst/>
          </a:prstGeom>
          <a:noFill/>
          <a:ln/>
        </p:spPr>
        <p:txBody>
          <a:bodyPr wrap="square" lIns="0" tIns="0" rIns="0" bIns="0" rtlCol="0" anchor="ctr"/>
          <a:lstStyle/>
          <a:p>
            <a:pPr marL="0" indent="0" algn="ctr">
              <a:buNone/>
            </a:pPr>
            <a:r>
              <a:rPr lang="en-US" sz="3600" b="1" dirty="0">
                <a:solidFill>
                  <a:srgbClr val="00D4FF"/>
                </a:solidFill>
                <a:latin typeface="Cambria" pitchFamily="34" charset="0"/>
                <a:ea typeface="Cambria" pitchFamily="34" charset="-122"/>
                <a:cs typeface="Cambria" pitchFamily="34" charset="-120"/>
              </a:rPr>
              <a:t>68%</a:t>
            </a:r>
            <a:endParaRPr lang="en-US" sz="3600" dirty="0"/>
          </a:p>
        </p:txBody>
      </p:sp>
      <p:sp>
        <p:nvSpPr>
          <p:cNvPr id="18" name="Text 16"/>
          <p:cNvSpPr/>
          <p:nvPr/>
        </p:nvSpPr>
        <p:spPr>
          <a:xfrm>
            <a:off x="5669280" y="2395728"/>
            <a:ext cx="2423160" cy="274320"/>
          </a:xfrm>
          <a:prstGeom prst="rect">
            <a:avLst/>
          </a:prstGeom>
          <a:noFill/>
          <a:ln/>
        </p:spPr>
        <p:txBody>
          <a:bodyPr wrap="square" lIns="0" tIns="0" rIns="0" bIns="0" rtlCol="0" anchor="ctr"/>
          <a:lstStyle/>
          <a:p>
            <a:pPr marL="0" indent="0" algn="ctr">
              <a:buNone/>
            </a:pPr>
            <a:r>
              <a:rPr lang="en-US" sz="1000" b="1" dirty="0">
                <a:solidFill>
                  <a:srgbClr val="FFFFFF"/>
                </a:solidFill>
              </a:rPr>
              <a:t>Talent Pressure</a:t>
            </a:r>
            <a:endParaRPr lang="en-US" sz="1000" dirty="0"/>
          </a:p>
        </p:txBody>
      </p:sp>
      <p:sp>
        <p:nvSpPr>
          <p:cNvPr id="19" name="Text 17"/>
          <p:cNvSpPr/>
          <p:nvPr/>
        </p:nvSpPr>
        <p:spPr>
          <a:xfrm>
            <a:off x="5669280" y="2670048"/>
            <a:ext cx="2423160" cy="292608"/>
          </a:xfrm>
          <a:prstGeom prst="rect">
            <a:avLst/>
          </a:prstGeom>
          <a:noFill/>
          <a:ln/>
        </p:spPr>
        <p:txBody>
          <a:bodyPr wrap="square" lIns="0" tIns="0" rIns="0" bIns="0" rtlCol="0" anchor="ctr"/>
          <a:lstStyle/>
          <a:p>
            <a:pPr marL="0" indent="0" algn="ctr">
              <a:buNone/>
            </a:pPr>
            <a:r>
              <a:rPr lang="en-US" sz="850" dirty="0">
                <a:solidFill>
                  <a:srgbClr val="CBD5E1"/>
                </a:solidFill>
              </a:rPr>
              <a:t>of engineering leaders cite skills shortage</a:t>
            </a:r>
            <a:endParaRPr lang="en-US" sz="850" dirty="0"/>
          </a:p>
        </p:txBody>
      </p:sp>
      <p:sp>
        <p:nvSpPr>
          <p:cNvPr id="20" name="Shape 18"/>
          <p:cNvSpPr/>
          <p:nvPr/>
        </p:nvSpPr>
        <p:spPr>
          <a:xfrm>
            <a:off x="8366760" y="2103120"/>
            <a:ext cx="0" cy="2286000"/>
          </a:xfrm>
          <a:prstGeom prst="line">
            <a:avLst/>
          </a:prstGeom>
          <a:noFill/>
          <a:ln w="12700">
            <a:solidFill>
              <a:srgbClr val="0099BB"/>
            </a:solidFill>
            <a:prstDash val="dash"/>
          </a:ln>
        </p:spPr>
        <p:txBody>
          <a:bodyPr/>
          <a:lstStyle/>
          <a:p>
            <a:endParaRPr lang="en-US"/>
          </a:p>
        </p:txBody>
      </p:sp>
      <p:sp>
        <p:nvSpPr>
          <p:cNvPr id="21" name="Text 19"/>
          <p:cNvSpPr/>
          <p:nvPr/>
        </p:nvSpPr>
        <p:spPr>
          <a:xfrm>
            <a:off x="8503920" y="1188720"/>
            <a:ext cx="3291840" cy="731520"/>
          </a:xfrm>
          <a:prstGeom prst="rect">
            <a:avLst/>
          </a:prstGeom>
          <a:noFill/>
          <a:ln/>
        </p:spPr>
        <p:txBody>
          <a:bodyPr wrap="square" lIns="0" tIns="0" rIns="0" bIns="0" rtlCol="0" anchor="ctr"/>
          <a:lstStyle/>
          <a:p>
            <a:pPr marL="0" indent="0">
              <a:buNone/>
            </a:pPr>
            <a:r>
              <a:rPr lang="en-US" sz="1300" b="1" dirty="0">
                <a:solidFill>
                  <a:srgbClr val="00D4FF"/>
                </a:solidFill>
              </a:rPr>
              <a:t>AGENTIC AI</a:t>
            </a:r>
            <a:endParaRPr lang="en-US" sz="1300" dirty="0"/>
          </a:p>
          <a:p>
            <a:pPr marL="0" indent="0">
              <a:buNone/>
            </a:pPr>
            <a:r>
              <a:rPr lang="en-US" sz="1300" b="1" dirty="0">
                <a:solidFill>
                  <a:srgbClr val="00D4FF"/>
                </a:solidFill>
              </a:rPr>
              <a:t>OUTCOMES</a:t>
            </a:r>
            <a:endParaRPr lang="en-US" sz="1300" dirty="0"/>
          </a:p>
        </p:txBody>
      </p:sp>
      <p:sp>
        <p:nvSpPr>
          <p:cNvPr id="22" name="Shape 20"/>
          <p:cNvSpPr/>
          <p:nvPr/>
        </p:nvSpPr>
        <p:spPr>
          <a:xfrm>
            <a:off x="8503920" y="1920240"/>
            <a:ext cx="3291840" cy="868680"/>
          </a:xfrm>
          <a:prstGeom prst="roundRect">
            <a:avLst>
              <a:gd name="adj" fmla="val 8421"/>
            </a:avLst>
          </a:prstGeom>
          <a:solidFill>
            <a:srgbClr val="0D9488">
              <a:alpha val="20000"/>
            </a:srgbClr>
          </a:solidFill>
          <a:ln w="12700">
            <a:solidFill>
              <a:srgbClr val="10B981"/>
            </a:solidFill>
            <a:prstDash val="solid"/>
          </a:ln>
        </p:spPr>
        <p:txBody>
          <a:bodyPr/>
          <a:lstStyle/>
          <a:p>
            <a:endParaRPr lang="en-US"/>
          </a:p>
        </p:txBody>
      </p:sp>
      <p:sp>
        <p:nvSpPr>
          <p:cNvPr id="23" name="Text 21"/>
          <p:cNvSpPr/>
          <p:nvPr/>
        </p:nvSpPr>
        <p:spPr>
          <a:xfrm>
            <a:off x="8503920" y="1920240"/>
            <a:ext cx="1188720" cy="868680"/>
          </a:xfrm>
          <a:prstGeom prst="rect">
            <a:avLst/>
          </a:prstGeom>
          <a:noFill/>
          <a:ln/>
        </p:spPr>
        <p:txBody>
          <a:bodyPr wrap="square" lIns="0" tIns="0" rIns="0" bIns="0" rtlCol="0" anchor="ctr"/>
          <a:lstStyle/>
          <a:p>
            <a:pPr marL="0" indent="0" algn="ctr">
              <a:buNone/>
            </a:pPr>
            <a:r>
              <a:rPr lang="en-US" sz="2200" b="1" dirty="0">
                <a:solidFill>
                  <a:srgbClr val="10B981"/>
                </a:solidFill>
                <a:latin typeface="Cambria" pitchFamily="34" charset="0"/>
                <a:ea typeface="Cambria" pitchFamily="34" charset="-122"/>
                <a:cs typeface="Cambria" pitchFamily="34" charset="-120"/>
              </a:rPr>
              <a:t>40–60%</a:t>
            </a:r>
            <a:endParaRPr lang="en-US" sz="2200" dirty="0"/>
          </a:p>
        </p:txBody>
      </p:sp>
      <p:sp>
        <p:nvSpPr>
          <p:cNvPr id="24" name="Text 22"/>
          <p:cNvSpPr/>
          <p:nvPr/>
        </p:nvSpPr>
        <p:spPr>
          <a:xfrm>
            <a:off x="9692640" y="1920240"/>
            <a:ext cx="2103120" cy="868680"/>
          </a:xfrm>
          <a:prstGeom prst="rect">
            <a:avLst/>
          </a:prstGeom>
          <a:noFill/>
          <a:ln/>
        </p:spPr>
        <p:txBody>
          <a:bodyPr wrap="square" lIns="0" tIns="0" rIns="0" bIns="0" rtlCol="0" anchor="ctr"/>
          <a:lstStyle/>
          <a:p>
            <a:pPr marL="0" indent="0">
              <a:buNone/>
            </a:pPr>
            <a:r>
              <a:rPr lang="en-US" sz="1000" dirty="0">
                <a:solidFill>
                  <a:srgbClr val="FFFFFF"/>
                </a:solidFill>
              </a:rPr>
              <a:t>Reduction in manual effort</a:t>
            </a:r>
            <a:endParaRPr lang="en-US" sz="1000" dirty="0"/>
          </a:p>
        </p:txBody>
      </p:sp>
      <p:sp>
        <p:nvSpPr>
          <p:cNvPr id="25" name="Shape 23"/>
          <p:cNvSpPr/>
          <p:nvPr/>
        </p:nvSpPr>
        <p:spPr>
          <a:xfrm>
            <a:off x="8503920" y="2971800"/>
            <a:ext cx="3291840" cy="868680"/>
          </a:xfrm>
          <a:prstGeom prst="roundRect">
            <a:avLst>
              <a:gd name="adj" fmla="val 8421"/>
            </a:avLst>
          </a:prstGeom>
          <a:solidFill>
            <a:srgbClr val="0D9488">
              <a:alpha val="20000"/>
            </a:srgbClr>
          </a:solidFill>
          <a:ln w="12700">
            <a:solidFill>
              <a:srgbClr val="10B981"/>
            </a:solidFill>
            <a:prstDash val="solid"/>
          </a:ln>
        </p:spPr>
        <p:txBody>
          <a:bodyPr/>
          <a:lstStyle/>
          <a:p>
            <a:endParaRPr lang="en-US"/>
          </a:p>
        </p:txBody>
      </p:sp>
      <p:sp>
        <p:nvSpPr>
          <p:cNvPr id="26" name="Text 24"/>
          <p:cNvSpPr/>
          <p:nvPr/>
        </p:nvSpPr>
        <p:spPr>
          <a:xfrm>
            <a:off x="8503920" y="2971800"/>
            <a:ext cx="1188720" cy="868680"/>
          </a:xfrm>
          <a:prstGeom prst="rect">
            <a:avLst/>
          </a:prstGeom>
          <a:noFill/>
          <a:ln/>
        </p:spPr>
        <p:txBody>
          <a:bodyPr wrap="square" lIns="0" tIns="0" rIns="0" bIns="0" rtlCol="0" anchor="ctr"/>
          <a:lstStyle/>
          <a:p>
            <a:pPr marL="0" indent="0" algn="ctr">
              <a:buNone/>
            </a:pPr>
            <a:r>
              <a:rPr lang="en-US" sz="2200" b="1" dirty="0">
                <a:solidFill>
                  <a:srgbClr val="10B981"/>
                </a:solidFill>
                <a:latin typeface="Cambria" pitchFamily="34" charset="0"/>
                <a:ea typeface="Cambria" pitchFamily="34" charset="-122"/>
                <a:cs typeface="Cambria" pitchFamily="34" charset="-120"/>
              </a:rPr>
              <a:t>50%</a:t>
            </a:r>
            <a:endParaRPr lang="en-US" sz="2200" dirty="0"/>
          </a:p>
        </p:txBody>
      </p:sp>
      <p:sp>
        <p:nvSpPr>
          <p:cNvPr id="27" name="Text 25"/>
          <p:cNvSpPr/>
          <p:nvPr/>
        </p:nvSpPr>
        <p:spPr>
          <a:xfrm>
            <a:off x="9692640" y="2971800"/>
            <a:ext cx="2103120" cy="868680"/>
          </a:xfrm>
          <a:prstGeom prst="rect">
            <a:avLst/>
          </a:prstGeom>
          <a:noFill/>
          <a:ln/>
        </p:spPr>
        <p:txBody>
          <a:bodyPr wrap="square" lIns="0" tIns="0" rIns="0" bIns="0" rtlCol="0" anchor="ctr"/>
          <a:lstStyle/>
          <a:p>
            <a:pPr marL="0" indent="0">
              <a:buNone/>
            </a:pPr>
            <a:r>
              <a:rPr lang="en-US" sz="1000" dirty="0">
                <a:solidFill>
                  <a:srgbClr val="FFFFFF"/>
                </a:solidFill>
              </a:rPr>
              <a:t>Faster time-to-production</a:t>
            </a:r>
            <a:endParaRPr lang="en-US" sz="1000" dirty="0"/>
          </a:p>
        </p:txBody>
      </p:sp>
      <p:sp>
        <p:nvSpPr>
          <p:cNvPr id="28" name="Shape 26"/>
          <p:cNvSpPr/>
          <p:nvPr/>
        </p:nvSpPr>
        <p:spPr>
          <a:xfrm>
            <a:off x="8503920" y="4023360"/>
            <a:ext cx="3291840" cy="868680"/>
          </a:xfrm>
          <a:prstGeom prst="roundRect">
            <a:avLst>
              <a:gd name="adj" fmla="val 8421"/>
            </a:avLst>
          </a:prstGeom>
          <a:solidFill>
            <a:srgbClr val="0D9488">
              <a:alpha val="20000"/>
            </a:srgbClr>
          </a:solidFill>
          <a:ln w="12700">
            <a:solidFill>
              <a:srgbClr val="10B981"/>
            </a:solidFill>
            <a:prstDash val="solid"/>
          </a:ln>
        </p:spPr>
        <p:txBody>
          <a:bodyPr/>
          <a:lstStyle/>
          <a:p>
            <a:endParaRPr lang="en-US"/>
          </a:p>
        </p:txBody>
      </p:sp>
      <p:sp>
        <p:nvSpPr>
          <p:cNvPr id="29" name="Text 27"/>
          <p:cNvSpPr/>
          <p:nvPr/>
        </p:nvSpPr>
        <p:spPr>
          <a:xfrm>
            <a:off x="8503920" y="4023360"/>
            <a:ext cx="1188720" cy="868680"/>
          </a:xfrm>
          <a:prstGeom prst="rect">
            <a:avLst/>
          </a:prstGeom>
          <a:noFill/>
          <a:ln/>
        </p:spPr>
        <p:txBody>
          <a:bodyPr wrap="square" lIns="0" tIns="0" rIns="0" bIns="0" rtlCol="0" anchor="ctr"/>
          <a:lstStyle/>
          <a:p>
            <a:pPr marL="0" indent="0" algn="ctr">
              <a:buNone/>
            </a:pPr>
            <a:r>
              <a:rPr lang="en-US" sz="2200" b="1" dirty="0">
                <a:solidFill>
                  <a:srgbClr val="10B981"/>
                </a:solidFill>
                <a:latin typeface="Cambria" pitchFamily="34" charset="0"/>
                <a:ea typeface="Cambria" pitchFamily="34" charset="-122"/>
                <a:cs typeface="Cambria" pitchFamily="34" charset="-120"/>
              </a:rPr>
              <a:t>35%</a:t>
            </a:r>
            <a:endParaRPr lang="en-US" sz="2200" dirty="0"/>
          </a:p>
        </p:txBody>
      </p:sp>
      <p:sp>
        <p:nvSpPr>
          <p:cNvPr id="30" name="Text 28"/>
          <p:cNvSpPr/>
          <p:nvPr/>
        </p:nvSpPr>
        <p:spPr>
          <a:xfrm>
            <a:off x="9692640" y="4023360"/>
            <a:ext cx="2103120" cy="868680"/>
          </a:xfrm>
          <a:prstGeom prst="rect">
            <a:avLst/>
          </a:prstGeom>
          <a:noFill/>
          <a:ln/>
        </p:spPr>
        <p:txBody>
          <a:bodyPr wrap="square" lIns="0" tIns="0" rIns="0" bIns="0" rtlCol="0" anchor="ctr"/>
          <a:lstStyle/>
          <a:p>
            <a:pPr marL="0" indent="0">
              <a:buNone/>
            </a:pPr>
            <a:r>
              <a:rPr lang="en-US" sz="1000" dirty="0">
                <a:solidFill>
                  <a:srgbClr val="FFFFFF"/>
                </a:solidFill>
              </a:rPr>
              <a:t>Defect escape rate reduction</a:t>
            </a:r>
            <a:endParaRPr lang="en-US" sz="1000" dirty="0"/>
          </a:p>
        </p:txBody>
      </p:sp>
      <p:sp>
        <p:nvSpPr>
          <p:cNvPr id="31" name="Shape 29"/>
          <p:cNvSpPr/>
          <p:nvPr/>
        </p:nvSpPr>
        <p:spPr>
          <a:xfrm>
            <a:off x="8503920" y="5074920"/>
            <a:ext cx="3291840" cy="868680"/>
          </a:xfrm>
          <a:prstGeom prst="roundRect">
            <a:avLst>
              <a:gd name="adj" fmla="val 8421"/>
            </a:avLst>
          </a:prstGeom>
          <a:solidFill>
            <a:srgbClr val="0D9488">
              <a:alpha val="20000"/>
            </a:srgbClr>
          </a:solidFill>
          <a:ln w="12700">
            <a:solidFill>
              <a:srgbClr val="10B981"/>
            </a:solidFill>
            <a:prstDash val="solid"/>
          </a:ln>
        </p:spPr>
        <p:txBody>
          <a:bodyPr/>
          <a:lstStyle/>
          <a:p>
            <a:endParaRPr lang="en-US"/>
          </a:p>
        </p:txBody>
      </p:sp>
      <p:sp>
        <p:nvSpPr>
          <p:cNvPr id="32" name="Text 30"/>
          <p:cNvSpPr/>
          <p:nvPr/>
        </p:nvSpPr>
        <p:spPr>
          <a:xfrm>
            <a:off x="8503920" y="5074920"/>
            <a:ext cx="1188720" cy="868680"/>
          </a:xfrm>
          <a:prstGeom prst="rect">
            <a:avLst/>
          </a:prstGeom>
          <a:noFill/>
          <a:ln/>
        </p:spPr>
        <p:txBody>
          <a:bodyPr wrap="square" lIns="0" tIns="0" rIns="0" bIns="0" rtlCol="0" anchor="ctr"/>
          <a:lstStyle/>
          <a:p>
            <a:pPr marL="0" indent="0" algn="ctr">
              <a:buNone/>
            </a:pPr>
            <a:r>
              <a:rPr lang="en-US" sz="2200" b="1" dirty="0">
                <a:solidFill>
                  <a:srgbClr val="10B981"/>
                </a:solidFill>
                <a:latin typeface="Cambria" pitchFamily="34" charset="0"/>
                <a:ea typeface="Cambria" pitchFamily="34" charset="-122"/>
                <a:cs typeface="Cambria" pitchFamily="34" charset="-120"/>
              </a:rPr>
              <a:t>4×</a:t>
            </a:r>
            <a:endParaRPr lang="en-US" sz="2200" dirty="0"/>
          </a:p>
        </p:txBody>
      </p:sp>
      <p:sp>
        <p:nvSpPr>
          <p:cNvPr id="33" name="Text 31"/>
          <p:cNvSpPr/>
          <p:nvPr/>
        </p:nvSpPr>
        <p:spPr>
          <a:xfrm>
            <a:off x="9692640" y="5074920"/>
            <a:ext cx="2103120" cy="868680"/>
          </a:xfrm>
          <a:prstGeom prst="rect">
            <a:avLst/>
          </a:prstGeom>
          <a:noFill/>
          <a:ln/>
        </p:spPr>
        <p:txBody>
          <a:bodyPr wrap="square" lIns="0" tIns="0" rIns="0" bIns="0" rtlCol="0" anchor="ctr"/>
          <a:lstStyle/>
          <a:p>
            <a:pPr marL="0" indent="0">
              <a:buNone/>
            </a:pPr>
            <a:r>
              <a:rPr lang="en-US" sz="1000" dirty="0">
                <a:solidFill>
                  <a:srgbClr val="FFFFFF"/>
                </a:solidFill>
              </a:rPr>
              <a:t>Documentation coverage</a:t>
            </a:r>
            <a:endParaRPr lang="en-US" sz="1000" dirty="0"/>
          </a:p>
        </p:txBody>
      </p:sp>
      <p:sp>
        <p:nvSpPr>
          <p:cNvPr id="34" name="Shape 32"/>
          <p:cNvSpPr/>
          <p:nvPr/>
        </p:nvSpPr>
        <p:spPr>
          <a:xfrm>
            <a:off x="7909560" y="1188720"/>
            <a:ext cx="457200" cy="2377440"/>
          </a:xfrm>
          <a:prstGeom prst="ellipse">
            <a:avLst/>
          </a:prstGeom>
          <a:solidFill>
            <a:srgbClr val="0099BB">
              <a:alpha val="30000"/>
            </a:srgbClr>
          </a:solidFill>
          <a:ln w="12700">
            <a:solidFill>
              <a:srgbClr val="0099BB"/>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73152"/>
            <a:ext cx="7315200" cy="365760"/>
          </a:xfrm>
          <a:prstGeom prst="rect">
            <a:avLst/>
          </a:prstGeom>
          <a:noFill/>
          <a:ln/>
        </p:spPr>
        <p:txBody>
          <a:bodyPr wrap="square" lIns="0" tIns="0" rIns="0" bIns="0" rtlCol="0" anchor="ctr"/>
          <a:lstStyle/>
          <a:p>
            <a:pPr marL="0" indent="0">
              <a:buNone/>
            </a:pPr>
            <a:r>
              <a:rPr lang="en-US" sz="1000" b="1" kern="0" spc="200" dirty="0">
                <a:solidFill>
                  <a:srgbClr val="00D4FF"/>
                </a:solidFill>
              </a:rPr>
              <a:t>CURRENT-STATE ASSESSMENT</a:t>
            </a:r>
            <a:endParaRPr lang="en-US" sz="1000" dirty="0"/>
          </a:p>
        </p:txBody>
      </p:sp>
      <p:sp>
        <p:nvSpPr>
          <p:cNvPr id="4" name="Text 2"/>
          <p:cNvSpPr/>
          <p:nvPr/>
        </p:nvSpPr>
        <p:spPr>
          <a:xfrm>
            <a:off x="457200" y="384048"/>
            <a:ext cx="10058400" cy="384048"/>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SDLC Value Stream — Where Time and Value Are Lost</a:t>
            </a:r>
            <a:endParaRPr lang="en-US" sz="1800" dirty="0"/>
          </a:p>
        </p:txBody>
      </p:sp>
      <p:sp>
        <p:nvSpPr>
          <p:cNvPr id="5" name="Shape 3"/>
          <p:cNvSpPr/>
          <p:nvPr/>
        </p:nvSpPr>
        <p:spPr>
          <a:xfrm>
            <a:off x="274320" y="1005840"/>
            <a:ext cx="1783080" cy="1188720"/>
          </a:xfrm>
          <a:prstGeom prst="roundRect">
            <a:avLst>
              <a:gd name="adj" fmla="val 7692"/>
            </a:avLst>
          </a:prstGeom>
          <a:solidFill>
            <a:srgbClr val="0D1B3E"/>
          </a:solidFill>
          <a:ln w="12700">
            <a:solidFill>
              <a:srgbClr val="243752"/>
            </a:solidFill>
            <a:prstDash val="solid"/>
          </a:ln>
          <a:effectLst>
            <a:outerShdw blurRad="101600" dist="38100" dir="2700000" algn="bl" rotWithShape="0">
              <a:srgbClr val="000000">
                <a:alpha val="12000"/>
              </a:srgbClr>
            </a:outerShdw>
          </a:effectLst>
        </p:spPr>
        <p:txBody>
          <a:bodyPr/>
          <a:lstStyle/>
          <a:p>
            <a:endParaRPr lang="en-US"/>
          </a:p>
        </p:txBody>
      </p:sp>
      <p:sp>
        <p:nvSpPr>
          <p:cNvPr id="6" name="Text 4"/>
          <p:cNvSpPr/>
          <p:nvPr/>
        </p:nvSpPr>
        <p:spPr>
          <a:xfrm>
            <a:off x="274320" y="1005840"/>
            <a:ext cx="1783080" cy="685800"/>
          </a:xfrm>
          <a:prstGeom prst="rect">
            <a:avLst/>
          </a:prstGeom>
          <a:noFill/>
          <a:ln/>
        </p:spPr>
        <p:txBody>
          <a:bodyPr wrap="square" lIns="0" tIns="0" rIns="0" bIns="0" rtlCol="0" anchor="ctr"/>
          <a:lstStyle/>
          <a:p>
            <a:pPr marL="0" indent="0" algn="ctr">
              <a:buNone/>
            </a:pPr>
            <a:r>
              <a:rPr lang="en-US" sz="1100" b="1" dirty="0">
                <a:solidFill>
                  <a:srgbClr val="FFFFFF"/>
                </a:solidFill>
              </a:rPr>
              <a:t>Requirements</a:t>
            </a:r>
            <a:endParaRPr lang="en-US" sz="1100" dirty="0"/>
          </a:p>
        </p:txBody>
      </p:sp>
      <p:sp>
        <p:nvSpPr>
          <p:cNvPr id="7" name="Shape 5"/>
          <p:cNvSpPr/>
          <p:nvPr/>
        </p:nvSpPr>
        <p:spPr>
          <a:xfrm>
            <a:off x="274320" y="1691640"/>
            <a:ext cx="1783080" cy="502920"/>
          </a:xfrm>
          <a:prstGeom prst="rect">
            <a:avLst/>
          </a:prstGeom>
          <a:solidFill>
            <a:srgbClr val="243752"/>
          </a:solidFill>
          <a:ln w="12700">
            <a:solidFill>
              <a:srgbClr val="243752"/>
            </a:solidFill>
            <a:prstDash val="solid"/>
          </a:ln>
        </p:spPr>
        <p:txBody>
          <a:bodyPr/>
          <a:lstStyle/>
          <a:p>
            <a:endParaRPr lang="en-US"/>
          </a:p>
        </p:txBody>
      </p:sp>
      <p:sp>
        <p:nvSpPr>
          <p:cNvPr id="8" name="Text 6"/>
          <p:cNvSpPr/>
          <p:nvPr/>
        </p:nvSpPr>
        <p:spPr>
          <a:xfrm>
            <a:off x="274320" y="1691640"/>
            <a:ext cx="1783080" cy="502920"/>
          </a:xfrm>
          <a:prstGeom prst="rect">
            <a:avLst/>
          </a:prstGeom>
          <a:noFill/>
          <a:ln/>
        </p:spPr>
        <p:txBody>
          <a:bodyPr wrap="square" lIns="0" tIns="0" rIns="0" bIns="0" rtlCol="0" anchor="ctr"/>
          <a:lstStyle/>
          <a:p>
            <a:pPr marL="0" indent="0" algn="ctr">
              <a:buNone/>
            </a:pPr>
            <a:r>
              <a:rPr lang="en-US" sz="1000" dirty="0">
                <a:solidFill>
                  <a:srgbClr val="00D4FF"/>
                </a:solidFill>
              </a:rPr>
              <a:t>Avg: 8d</a:t>
            </a:r>
            <a:endParaRPr lang="en-US" sz="1000" dirty="0"/>
          </a:p>
        </p:txBody>
      </p:sp>
      <p:sp>
        <p:nvSpPr>
          <p:cNvPr id="9" name="Shape 7"/>
          <p:cNvSpPr/>
          <p:nvPr/>
        </p:nvSpPr>
        <p:spPr>
          <a:xfrm>
            <a:off x="2057400" y="1600200"/>
            <a:ext cx="182880" cy="0"/>
          </a:xfrm>
          <a:prstGeom prst="line">
            <a:avLst/>
          </a:prstGeom>
          <a:noFill/>
          <a:ln w="25400">
            <a:solidFill>
              <a:srgbClr val="0099BB"/>
            </a:solidFill>
            <a:prstDash val="solid"/>
          </a:ln>
        </p:spPr>
        <p:txBody>
          <a:bodyPr/>
          <a:lstStyle/>
          <a:p>
            <a:endParaRPr lang="en-US"/>
          </a:p>
        </p:txBody>
      </p:sp>
      <p:sp>
        <p:nvSpPr>
          <p:cNvPr id="10" name="Shape 8"/>
          <p:cNvSpPr/>
          <p:nvPr/>
        </p:nvSpPr>
        <p:spPr>
          <a:xfrm>
            <a:off x="274320" y="2468880"/>
            <a:ext cx="1783080" cy="594360"/>
          </a:xfrm>
          <a:prstGeom prst="roundRect">
            <a:avLst>
              <a:gd name="adj" fmla="val 10769"/>
            </a:avLst>
          </a:prstGeom>
          <a:solidFill>
            <a:srgbClr val="EF4444">
              <a:alpha val="20000"/>
            </a:srgbClr>
          </a:solidFill>
          <a:ln w="12700">
            <a:solidFill>
              <a:srgbClr val="EF4444"/>
            </a:solidFill>
            <a:prstDash val="solid"/>
          </a:ln>
        </p:spPr>
        <p:txBody>
          <a:bodyPr/>
          <a:lstStyle/>
          <a:p>
            <a:endParaRPr lang="en-US"/>
          </a:p>
        </p:txBody>
      </p:sp>
      <p:sp>
        <p:nvSpPr>
          <p:cNvPr id="11" name="Text 9"/>
          <p:cNvSpPr/>
          <p:nvPr/>
        </p:nvSpPr>
        <p:spPr>
          <a:xfrm>
            <a:off x="274320" y="2468880"/>
            <a:ext cx="1783080" cy="594360"/>
          </a:xfrm>
          <a:prstGeom prst="rect">
            <a:avLst/>
          </a:prstGeom>
          <a:noFill/>
          <a:ln/>
        </p:spPr>
        <p:txBody>
          <a:bodyPr wrap="square" lIns="0" tIns="0" rIns="0" bIns="0" rtlCol="0" anchor="ctr"/>
          <a:lstStyle/>
          <a:p>
            <a:pPr marL="0" indent="0" algn="ctr">
              <a:buNone/>
            </a:pPr>
            <a:r>
              <a:rPr lang="en-US" sz="850" dirty="0">
                <a:solidFill>
                  <a:srgbClr val="1E293B"/>
                </a:solidFill>
              </a:rPr>
              <a:t>⚠ Ambiguity &amp; rework</a:t>
            </a:r>
            <a:endParaRPr lang="en-US" sz="850" dirty="0"/>
          </a:p>
        </p:txBody>
      </p:sp>
      <p:sp>
        <p:nvSpPr>
          <p:cNvPr id="12" name="Shape 10"/>
          <p:cNvSpPr/>
          <p:nvPr/>
        </p:nvSpPr>
        <p:spPr>
          <a:xfrm>
            <a:off x="2240280" y="1005840"/>
            <a:ext cx="1783080" cy="1188720"/>
          </a:xfrm>
          <a:prstGeom prst="roundRect">
            <a:avLst>
              <a:gd name="adj" fmla="val 7692"/>
            </a:avLst>
          </a:prstGeom>
          <a:solidFill>
            <a:srgbClr val="0D1B3E"/>
          </a:solidFill>
          <a:ln w="12700">
            <a:solidFill>
              <a:srgbClr val="243752"/>
            </a:solidFill>
            <a:prstDash val="solid"/>
          </a:ln>
          <a:effectLst>
            <a:outerShdw blurRad="101600" dist="38100" dir="2700000" algn="bl" rotWithShape="0">
              <a:srgbClr val="000000">
                <a:alpha val="12000"/>
              </a:srgbClr>
            </a:outerShdw>
          </a:effectLst>
        </p:spPr>
        <p:txBody>
          <a:bodyPr/>
          <a:lstStyle/>
          <a:p>
            <a:endParaRPr lang="en-US"/>
          </a:p>
        </p:txBody>
      </p:sp>
      <p:sp>
        <p:nvSpPr>
          <p:cNvPr id="13" name="Text 11"/>
          <p:cNvSpPr/>
          <p:nvPr/>
        </p:nvSpPr>
        <p:spPr>
          <a:xfrm>
            <a:off x="2240280" y="1005840"/>
            <a:ext cx="1783080" cy="685800"/>
          </a:xfrm>
          <a:prstGeom prst="rect">
            <a:avLst/>
          </a:prstGeom>
          <a:noFill/>
          <a:ln/>
        </p:spPr>
        <p:txBody>
          <a:bodyPr wrap="square" lIns="0" tIns="0" rIns="0" bIns="0" rtlCol="0" anchor="ctr"/>
          <a:lstStyle/>
          <a:p>
            <a:pPr marL="0" indent="0" algn="ctr">
              <a:buNone/>
            </a:pPr>
            <a:r>
              <a:rPr lang="en-US" sz="1100" b="1" dirty="0">
                <a:solidFill>
                  <a:srgbClr val="FFFFFF"/>
                </a:solidFill>
              </a:rPr>
              <a:t>Design &amp;</a:t>
            </a:r>
            <a:endParaRPr lang="en-US" sz="1100" dirty="0"/>
          </a:p>
          <a:p>
            <a:pPr marL="0" indent="0" algn="ctr">
              <a:buNone/>
            </a:pPr>
            <a:r>
              <a:rPr lang="en-US" sz="1100" b="1" dirty="0">
                <a:solidFill>
                  <a:srgbClr val="FFFFFF"/>
                </a:solidFill>
              </a:rPr>
              <a:t>Architecture</a:t>
            </a:r>
            <a:endParaRPr lang="en-US" sz="1100" dirty="0"/>
          </a:p>
        </p:txBody>
      </p:sp>
      <p:sp>
        <p:nvSpPr>
          <p:cNvPr id="14" name="Shape 12"/>
          <p:cNvSpPr/>
          <p:nvPr/>
        </p:nvSpPr>
        <p:spPr>
          <a:xfrm>
            <a:off x="2240280" y="1691640"/>
            <a:ext cx="1783080" cy="502920"/>
          </a:xfrm>
          <a:prstGeom prst="rect">
            <a:avLst/>
          </a:prstGeom>
          <a:solidFill>
            <a:srgbClr val="243752"/>
          </a:solidFill>
          <a:ln w="12700">
            <a:solidFill>
              <a:srgbClr val="243752"/>
            </a:solidFill>
            <a:prstDash val="solid"/>
          </a:ln>
        </p:spPr>
        <p:txBody>
          <a:bodyPr/>
          <a:lstStyle/>
          <a:p>
            <a:endParaRPr lang="en-US"/>
          </a:p>
        </p:txBody>
      </p:sp>
      <p:sp>
        <p:nvSpPr>
          <p:cNvPr id="15" name="Text 13"/>
          <p:cNvSpPr/>
          <p:nvPr/>
        </p:nvSpPr>
        <p:spPr>
          <a:xfrm>
            <a:off x="2240280" y="1691640"/>
            <a:ext cx="1783080" cy="502920"/>
          </a:xfrm>
          <a:prstGeom prst="rect">
            <a:avLst/>
          </a:prstGeom>
          <a:noFill/>
          <a:ln/>
        </p:spPr>
        <p:txBody>
          <a:bodyPr wrap="square" lIns="0" tIns="0" rIns="0" bIns="0" rtlCol="0" anchor="ctr"/>
          <a:lstStyle/>
          <a:p>
            <a:pPr marL="0" indent="0" algn="ctr">
              <a:buNone/>
            </a:pPr>
            <a:r>
              <a:rPr lang="en-US" sz="1000" dirty="0">
                <a:solidFill>
                  <a:srgbClr val="00D4FF"/>
                </a:solidFill>
              </a:rPr>
              <a:t>Avg: 5d</a:t>
            </a:r>
            <a:endParaRPr lang="en-US" sz="1000" dirty="0"/>
          </a:p>
        </p:txBody>
      </p:sp>
      <p:sp>
        <p:nvSpPr>
          <p:cNvPr id="16" name="Shape 14"/>
          <p:cNvSpPr/>
          <p:nvPr/>
        </p:nvSpPr>
        <p:spPr>
          <a:xfrm>
            <a:off x="4023360" y="1600200"/>
            <a:ext cx="182880" cy="0"/>
          </a:xfrm>
          <a:prstGeom prst="line">
            <a:avLst/>
          </a:prstGeom>
          <a:noFill/>
          <a:ln w="25400">
            <a:solidFill>
              <a:srgbClr val="0099BB"/>
            </a:solidFill>
            <a:prstDash val="solid"/>
          </a:ln>
        </p:spPr>
        <p:txBody>
          <a:bodyPr/>
          <a:lstStyle/>
          <a:p>
            <a:endParaRPr lang="en-US"/>
          </a:p>
        </p:txBody>
      </p:sp>
      <p:sp>
        <p:nvSpPr>
          <p:cNvPr id="17" name="Shape 15"/>
          <p:cNvSpPr/>
          <p:nvPr/>
        </p:nvSpPr>
        <p:spPr>
          <a:xfrm>
            <a:off x="2240280" y="2468880"/>
            <a:ext cx="1783080" cy="594360"/>
          </a:xfrm>
          <a:prstGeom prst="roundRect">
            <a:avLst>
              <a:gd name="adj" fmla="val 10769"/>
            </a:avLst>
          </a:prstGeom>
          <a:solidFill>
            <a:srgbClr val="F59E0B">
              <a:alpha val="20000"/>
            </a:srgbClr>
          </a:solidFill>
          <a:ln w="12700">
            <a:solidFill>
              <a:srgbClr val="F59E0B"/>
            </a:solidFill>
            <a:prstDash val="solid"/>
          </a:ln>
        </p:spPr>
        <p:txBody>
          <a:bodyPr/>
          <a:lstStyle/>
          <a:p>
            <a:endParaRPr lang="en-US"/>
          </a:p>
        </p:txBody>
      </p:sp>
      <p:sp>
        <p:nvSpPr>
          <p:cNvPr id="18" name="Text 16"/>
          <p:cNvSpPr/>
          <p:nvPr/>
        </p:nvSpPr>
        <p:spPr>
          <a:xfrm>
            <a:off x="2240280" y="2468880"/>
            <a:ext cx="1783080" cy="594360"/>
          </a:xfrm>
          <a:prstGeom prst="rect">
            <a:avLst/>
          </a:prstGeom>
          <a:noFill/>
          <a:ln/>
        </p:spPr>
        <p:txBody>
          <a:bodyPr wrap="square" lIns="0" tIns="0" rIns="0" bIns="0" rtlCol="0" anchor="ctr"/>
          <a:lstStyle/>
          <a:p>
            <a:pPr marL="0" indent="0" algn="ctr">
              <a:buNone/>
            </a:pPr>
            <a:r>
              <a:rPr lang="en-US" sz="850" dirty="0">
                <a:solidFill>
                  <a:srgbClr val="1E293B"/>
                </a:solidFill>
              </a:rPr>
              <a:t>⚠ Manual decisions</a:t>
            </a:r>
            <a:endParaRPr lang="en-US" sz="850" dirty="0"/>
          </a:p>
        </p:txBody>
      </p:sp>
      <p:sp>
        <p:nvSpPr>
          <p:cNvPr id="19" name="Shape 17"/>
          <p:cNvSpPr/>
          <p:nvPr/>
        </p:nvSpPr>
        <p:spPr>
          <a:xfrm>
            <a:off x="4206240" y="1005840"/>
            <a:ext cx="1783080" cy="1188720"/>
          </a:xfrm>
          <a:prstGeom prst="roundRect">
            <a:avLst>
              <a:gd name="adj" fmla="val 7692"/>
            </a:avLst>
          </a:prstGeom>
          <a:solidFill>
            <a:srgbClr val="0D1B3E"/>
          </a:solidFill>
          <a:ln w="12700">
            <a:solidFill>
              <a:srgbClr val="243752"/>
            </a:solidFill>
            <a:prstDash val="solid"/>
          </a:ln>
          <a:effectLst>
            <a:outerShdw blurRad="101600" dist="38100" dir="2700000" algn="bl" rotWithShape="0">
              <a:srgbClr val="000000">
                <a:alpha val="12000"/>
              </a:srgbClr>
            </a:outerShdw>
          </a:effectLst>
        </p:spPr>
        <p:txBody>
          <a:bodyPr/>
          <a:lstStyle/>
          <a:p>
            <a:endParaRPr lang="en-US"/>
          </a:p>
        </p:txBody>
      </p:sp>
      <p:sp>
        <p:nvSpPr>
          <p:cNvPr id="20" name="Text 18"/>
          <p:cNvSpPr/>
          <p:nvPr/>
        </p:nvSpPr>
        <p:spPr>
          <a:xfrm>
            <a:off x="4206240" y="1005840"/>
            <a:ext cx="1783080" cy="685800"/>
          </a:xfrm>
          <a:prstGeom prst="rect">
            <a:avLst/>
          </a:prstGeom>
          <a:noFill/>
          <a:ln/>
        </p:spPr>
        <p:txBody>
          <a:bodyPr wrap="square" lIns="0" tIns="0" rIns="0" bIns="0" rtlCol="0" anchor="ctr"/>
          <a:lstStyle/>
          <a:p>
            <a:pPr marL="0" indent="0" algn="ctr">
              <a:buNone/>
            </a:pPr>
            <a:r>
              <a:rPr lang="en-US" sz="1100" b="1" dirty="0">
                <a:solidFill>
                  <a:srgbClr val="FFFFFF"/>
                </a:solidFill>
              </a:rPr>
              <a:t>Development</a:t>
            </a:r>
            <a:endParaRPr lang="en-US" sz="1100" dirty="0"/>
          </a:p>
        </p:txBody>
      </p:sp>
      <p:sp>
        <p:nvSpPr>
          <p:cNvPr id="21" name="Shape 19"/>
          <p:cNvSpPr/>
          <p:nvPr/>
        </p:nvSpPr>
        <p:spPr>
          <a:xfrm>
            <a:off x="4206240" y="1691640"/>
            <a:ext cx="1783080" cy="502920"/>
          </a:xfrm>
          <a:prstGeom prst="rect">
            <a:avLst/>
          </a:prstGeom>
          <a:solidFill>
            <a:srgbClr val="243752"/>
          </a:solidFill>
          <a:ln w="12700">
            <a:solidFill>
              <a:srgbClr val="243752"/>
            </a:solidFill>
            <a:prstDash val="solid"/>
          </a:ln>
        </p:spPr>
        <p:txBody>
          <a:bodyPr/>
          <a:lstStyle/>
          <a:p>
            <a:endParaRPr lang="en-US"/>
          </a:p>
        </p:txBody>
      </p:sp>
      <p:sp>
        <p:nvSpPr>
          <p:cNvPr id="22" name="Text 20"/>
          <p:cNvSpPr/>
          <p:nvPr/>
        </p:nvSpPr>
        <p:spPr>
          <a:xfrm>
            <a:off x="4206240" y="1691640"/>
            <a:ext cx="1783080" cy="502920"/>
          </a:xfrm>
          <a:prstGeom prst="rect">
            <a:avLst/>
          </a:prstGeom>
          <a:noFill/>
          <a:ln/>
        </p:spPr>
        <p:txBody>
          <a:bodyPr wrap="square" lIns="0" tIns="0" rIns="0" bIns="0" rtlCol="0" anchor="ctr"/>
          <a:lstStyle/>
          <a:p>
            <a:pPr marL="0" indent="0" algn="ctr">
              <a:buNone/>
            </a:pPr>
            <a:r>
              <a:rPr lang="en-US" sz="1000" dirty="0">
                <a:solidFill>
                  <a:srgbClr val="00D4FF"/>
                </a:solidFill>
              </a:rPr>
              <a:t>Avg: 12d</a:t>
            </a:r>
            <a:endParaRPr lang="en-US" sz="1000" dirty="0"/>
          </a:p>
        </p:txBody>
      </p:sp>
      <p:sp>
        <p:nvSpPr>
          <p:cNvPr id="23" name="Shape 21"/>
          <p:cNvSpPr/>
          <p:nvPr/>
        </p:nvSpPr>
        <p:spPr>
          <a:xfrm>
            <a:off x="5989320" y="1600200"/>
            <a:ext cx="182880" cy="0"/>
          </a:xfrm>
          <a:prstGeom prst="line">
            <a:avLst/>
          </a:prstGeom>
          <a:noFill/>
          <a:ln w="25400">
            <a:solidFill>
              <a:srgbClr val="0099BB"/>
            </a:solidFill>
            <a:prstDash val="solid"/>
          </a:ln>
        </p:spPr>
        <p:txBody>
          <a:bodyPr/>
          <a:lstStyle/>
          <a:p>
            <a:endParaRPr lang="en-US"/>
          </a:p>
        </p:txBody>
      </p:sp>
      <p:sp>
        <p:nvSpPr>
          <p:cNvPr id="24" name="Shape 22"/>
          <p:cNvSpPr/>
          <p:nvPr/>
        </p:nvSpPr>
        <p:spPr>
          <a:xfrm>
            <a:off x="4206240" y="2468880"/>
            <a:ext cx="1783080" cy="594360"/>
          </a:xfrm>
          <a:prstGeom prst="roundRect">
            <a:avLst>
              <a:gd name="adj" fmla="val 10769"/>
            </a:avLst>
          </a:prstGeom>
          <a:solidFill>
            <a:srgbClr val="F59E0B">
              <a:alpha val="20000"/>
            </a:srgbClr>
          </a:solidFill>
          <a:ln w="12700">
            <a:solidFill>
              <a:srgbClr val="F59E0B"/>
            </a:solidFill>
            <a:prstDash val="solid"/>
          </a:ln>
        </p:spPr>
        <p:txBody>
          <a:bodyPr/>
          <a:lstStyle/>
          <a:p>
            <a:endParaRPr lang="en-US"/>
          </a:p>
        </p:txBody>
      </p:sp>
      <p:sp>
        <p:nvSpPr>
          <p:cNvPr id="25" name="Text 23"/>
          <p:cNvSpPr/>
          <p:nvPr/>
        </p:nvSpPr>
        <p:spPr>
          <a:xfrm>
            <a:off x="4206240" y="2468880"/>
            <a:ext cx="1783080" cy="594360"/>
          </a:xfrm>
          <a:prstGeom prst="rect">
            <a:avLst/>
          </a:prstGeom>
          <a:noFill/>
          <a:ln/>
        </p:spPr>
        <p:txBody>
          <a:bodyPr wrap="square" lIns="0" tIns="0" rIns="0" bIns="0" rtlCol="0" anchor="ctr"/>
          <a:lstStyle/>
          <a:p>
            <a:pPr marL="0" indent="0" algn="ctr">
              <a:buNone/>
            </a:pPr>
            <a:r>
              <a:rPr lang="en-US" sz="850" dirty="0">
                <a:solidFill>
                  <a:srgbClr val="1E293B"/>
                </a:solidFill>
              </a:rPr>
              <a:t>⚠ Context switching</a:t>
            </a:r>
            <a:endParaRPr lang="en-US" sz="850" dirty="0"/>
          </a:p>
        </p:txBody>
      </p:sp>
      <p:sp>
        <p:nvSpPr>
          <p:cNvPr id="26" name="Shape 24"/>
          <p:cNvSpPr/>
          <p:nvPr/>
        </p:nvSpPr>
        <p:spPr>
          <a:xfrm>
            <a:off x="6172200" y="1005840"/>
            <a:ext cx="1783080" cy="1188720"/>
          </a:xfrm>
          <a:prstGeom prst="roundRect">
            <a:avLst>
              <a:gd name="adj" fmla="val 7692"/>
            </a:avLst>
          </a:prstGeom>
          <a:solidFill>
            <a:srgbClr val="0D1B3E"/>
          </a:solidFill>
          <a:ln w="12700">
            <a:solidFill>
              <a:srgbClr val="243752"/>
            </a:solidFill>
            <a:prstDash val="solid"/>
          </a:ln>
          <a:effectLst>
            <a:outerShdw blurRad="101600" dist="38100" dir="2700000" algn="bl" rotWithShape="0">
              <a:srgbClr val="000000">
                <a:alpha val="12000"/>
              </a:srgbClr>
            </a:outerShdw>
          </a:effectLst>
        </p:spPr>
        <p:txBody>
          <a:bodyPr/>
          <a:lstStyle/>
          <a:p>
            <a:endParaRPr lang="en-US"/>
          </a:p>
        </p:txBody>
      </p:sp>
      <p:sp>
        <p:nvSpPr>
          <p:cNvPr id="27" name="Text 25"/>
          <p:cNvSpPr/>
          <p:nvPr/>
        </p:nvSpPr>
        <p:spPr>
          <a:xfrm>
            <a:off x="6172200" y="1005840"/>
            <a:ext cx="1783080" cy="685800"/>
          </a:xfrm>
          <a:prstGeom prst="rect">
            <a:avLst/>
          </a:prstGeom>
          <a:noFill/>
          <a:ln/>
        </p:spPr>
        <p:txBody>
          <a:bodyPr wrap="square" lIns="0" tIns="0" rIns="0" bIns="0" rtlCol="0" anchor="ctr"/>
          <a:lstStyle/>
          <a:p>
            <a:pPr marL="0" indent="0" algn="ctr">
              <a:buNone/>
            </a:pPr>
            <a:r>
              <a:rPr lang="en-US" sz="1100" b="1" dirty="0">
                <a:solidFill>
                  <a:srgbClr val="FFFFFF"/>
                </a:solidFill>
              </a:rPr>
              <a:t>Testing</a:t>
            </a:r>
            <a:endParaRPr lang="en-US" sz="1100" dirty="0"/>
          </a:p>
        </p:txBody>
      </p:sp>
      <p:sp>
        <p:nvSpPr>
          <p:cNvPr id="28" name="Shape 26"/>
          <p:cNvSpPr/>
          <p:nvPr/>
        </p:nvSpPr>
        <p:spPr>
          <a:xfrm>
            <a:off x="6172200" y="1691640"/>
            <a:ext cx="1783080" cy="502920"/>
          </a:xfrm>
          <a:prstGeom prst="rect">
            <a:avLst/>
          </a:prstGeom>
          <a:solidFill>
            <a:srgbClr val="243752"/>
          </a:solidFill>
          <a:ln w="12700">
            <a:solidFill>
              <a:srgbClr val="243752"/>
            </a:solidFill>
            <a:prstDash val="solid"/>
          </a:ln>
        </p:spPr>
        <p:txBody>
          <a:bodyPr/>
          <a:lstStyle/>
          <a:p>
            <a:endParaRPr lang="en-US"/>
          </a:p>
        </p:txBody>
      </p:sp>
      <p:sp>
        <p:nvSpPr>
          <p:cNvPr id="29" name="Text 27"/>
          <p:cNvSpPr/>
          <p:nvPr/>
        </p:nvSpPr>
        <p:spPr>
          <a:xfrm>
            <a:off x="6172200" y="1691640"/>
            <a:ext cx="1783080" cy="502920"/>
          </a:xfrm>
          <a:prstGeom prst="rect">
            <a:avLst/>
          </a:prstGeom>
          <a:noFill/>
          <a:ln/>
        </p:spPr>
        <p:txBody>
          <a:bodyPr wrap="square" lIns="0" tIns="0" rIns="0" bIns="0" rtlCol="0" anchor="ctr"/>
          <a:lstStyle/>
          <a:p>
            <a:pPr marL="0" indent="0" algn="ctr">
              <a:buNone/>
            </a:pPr>
            <a:r>
              <a:rPr lang="en-US" sz="1000" dirty="0">
                <a:solidFill>
                  <a:srgbClr val="00D4FF"/>
                </a:solidFill>
              </a:rPr>
              <a:t>Avg: 9d</a:t>
            </a:r>
            <a:endParaRPr lang="en-US" sz="1000" dirty="0"/>
          </a:p>
        </p:txBody>
      </p:sp>
      <p:sp>
        <p:nvSpPr>
          <p:cNvPr id="30" name="Shape 28"/>
          <p:cNvSpPr/>
          <p:nvPr/>
        </p:nvSpPr>
        <p:spPr>
          <a:xfrm>
            <a:off x="7955280" y="1600200"/>
            <a:ext cx="182880" cy="0"/>
          </a:xfrm>
          <a:prstGeom prst="line">
            <a:avLst/>
          </a:prstGeom>
          <a:noFill/>
          <a:ln w="25400">
            <a:solidFill>
              <a:srgbClr val="0099BB"/>
            </a:solidFill>
            <a:prstDash val="solid"/>
          </a:ln>
        </p:spPr>
        <p:txBody>
          <a:bodyPr/>
          <a:lstStyle/>
          <a:p>
            <a:endParaRPr lang="en-US"/>
          </a:p>
        </p:txBody>
      </p:sp>
      <p:sp>
        <p:nvSpPr>
          <p:cNvPr id="31" name="Shape 29"/>
          <p:cNvSpPr/>
          <p:nvPr/>
        </p:nvSpPr>
        <p:spPr>
          <a:xfrm>
            <a:off x="6172200" y="2468880"/>
            <a:ext cx="1783080" cy="594360"/>
          </a:xfrm>
          <a:prstGeom prst="roundRect">
            <a:avLst>
              <a:gd name="adj" fmla="val 10769"/>
            </a:avLst>
          </a:prstGeom>
          <a:solidFill>
            <a:srgbClr val="EF4444">
              <a:alpha val="20000"/>
            </a:srgbClr>
          </a:solidFill>
          <a:ln w="12700">
            <a:solidFill>
              <a:srgbClr val="EF4444"/>
            </a:solidFill>
            <a:prstDash val="solid"/>
          </a:ln>
        </p:spPr>
        <p:txBody>
          <a:bodyPr/>
          <a:lstStyle/>
          <a:p>
            <a:endParaRPr lang="en-US"/>
          </a:p>
        </p:txBody>
      </p:sp>
      <p:sp>
        <p:nvSpPr>
          <p:cNvPr id="32" name="Text 30"/>
          <p:cNvSpPr/>
          <p:nvPr/>
        </p:nvSpPr>
        <p:spPr>
          <a:xfrm>
            <a:off x="6172200" y="2468880"/>
            <a:ext cx="1783080" cy="594360"/>
          </a:xfrm>
          <a:prstGeom prst="rect">
            <a:avLst/>
          </a:prstGeom>
          <a:noFill/>
          <a:ln/>
        </p:spPr>
        <p:txBody>
          <a:bodyPr wrap="square" lIns="0" tIns="0" rIns="0" bIns="0" rtlCol="0" anchor="ctr"/>
          <a:lstStyle/>
          <a:p>
            <a:pPr marL="0" indent="0" algn="ctr">
              <a:buNone/>
            </a:pPr>
            <a:r>
              <a:rPr lang="en-US" sz="850" dirty="0">
                <a:solidFill>
                  <a:srgbClr val="1E293B"/>
                </a:solidFill>
              </a:rPr>
              <a:t>⚠ Manual test authoring</a:t>
            </a:r>
            <a:endParaRPr lang="en-US" sz="850" dirty="0"/>
          </a:p>
        </p:txBody>
      </p:sp>
      <p:sp>
        <p:nvSpPr>
          <p:cNvPr id="33" name="Shape 31"/>
          <p:cNvSpPr/>
          <p:nvPr/>
        </p:nvSpPr>
        <p:spPr>
          <a:xfrm>
            <a:off x="8138160" y="1005840"/>
            <a:ext cx="1783080" cy="1188720"/>
          </a:xfrm>
          <a:prstGeom prst="roundRect">
            <a:avLst>
              <a:gd name="adj" fmla="val 7692"/>
            </a:avLst>
          </a:prstGeom>
          <a:solidFill>
            <a:srgbClr val="0D1B3E"/>
          </a:solidFill>
          <a:ln w="12700">
            <a:solidFill>
              <a:srgbClr val="243752"/>
            </a:solidFill>
            <a:prstDash val="solid"/>
          </a:ln>
          <a:effectLst>
            <a:outerShdw blurRad="101600" dist="38100" dir="2700000" algn="bl" rotWithShape="0">
              <a:srgbClr val="000000">
                <a:alpha val="12000"/>
              </a:srgbClr>
            </a:outerShdw>
          </a:effectLst>
        </p:spPr>
        <p:txBody>
          <a:bodyPr/>
          <a:lstStyle/>
          <a:p>
            <a:endParaRPr lang="en-US"/>
          </a:p>
        </p:txBody>
      </p:sp>
      <p:sp>
        <p:nvSpPr>
          <p:cNvPr id="34" name="Text 32"/>
          <p:cNvSpPr/>
          <p:nvPr/>
        </p:nvSpPr>
        <p:spPr>
          <a:xfrm>
            <a:off x="8138160" y="1005840"/>
            <a:ext cx="1783080" cy="685800"/>
          </a:xfrm>
          <a:prstGeom prst="rect">
            <a:avLst/>
          </a:prstGeom>
          <a:noFill/>
          <a:ln/>
        </p:spPr>
        <p:txBody>
          <a:bodyPr wrap="square" lIns="0" tIns="0" rIns="0" bIns="0" rtlCol="0" anchor="ctr"/>
          <a:lstStyle/>
          <a:p>
            <a:pPr marL="0" indent="0" algn="ctr">
              <a:buNone/>
            </a:pPr>
            <a:r>
              <a:rPr lang="en-US" sz="1100" b="1" dirty="0">
                <a:solidFill>
                  <a:srgbClr val="FFFFFF"/>
                </a:solidFill>
              </a:rPr>
              <a:t>Deployment</a:t>
            </a:r>
            <a:endParaRPr lang="en-US" sz="1100" dirty="0"/>
          </a:p>
        </p:txBody>
      </p:sp>
      <p:sp>
        <p:nvSpPr>
          <p:cNvPr id="35" name="Shape 33"/>
          <p:cNvSpPr/>
          <p:nvPr/>
        </p:nvSpPr>
        <p:spPr>
          <a:xfrm>
            <a:off x="8138160" y="1691640"/>
            <a:ext cx="1783080" cy="502920"/>
          </a:xfrm>
          <a:prstGeom prst="rect">
            <a:avLst/>
          </a:prstGeom>
          <a:solidFill>
            <a:srgbClr val="243752"/>
          </a:solidFill>
          <a:ln w="12700">
            <a:solidFill>
              <a:srgbClr val="243752"/>
            </a:solidFill>
            <a:prstDash val="solid"/>
          </a:ln>
        </p:spPr>
        <p:txBody>
          <a:bodyPr/>
          <a:lstStyle/>
          <a:p>
            <a:endParaRPr lang="en-US"/>
          </a:p>
        </p:txBody>
      </p:sp>
      <p:sp>
        <p:nvSpPr>
          <p:cNvPr id="36" name="Text 34"/>
          <p:cNvSpPr/>
          <p:nvPr/>
        </p:nvSpPr>
        <p:spPr>
          <a:xfrm>
            <a:off x="8138160" y="1691640"/>
            <a:ext cx="1783080" cy="502920"/>
          </a:xfrm>
          <a:prstGeom prst="rect">
            <a:avLst/>
          </a:prstGeom>
          <a:noFill/>
          <a:ln/>
        </p:spPr>
        <p:txBody>
          <a:bodyPr wrap="square" lIns="0" tIns="0" rIns="0" bIns="0" rtlCol="0" anchor="ctr"/>
          <a:lstStyle/>
          <a:p>
            <a:pPr marL="0" indent="0" algn="ctr">
              <a:buNone/>
            </a:pPr>
            <a:r>
              <a:rPr lang="en-US" sz="1000" dirty="0">
                <a:solidFill>
                  <a:srgbClr val="00D4FF"/>
                </a:solidFill>
              </a:rPr>
              <a:t>Avg: 3d</a:t>
            </a:r>
            <a:endParaRPr lang="en-US" sz="1000" dirty="0"/>
          </a:p>
        </p:txBody>
      </p:sp>
      <p:sp>
        <p:nvSpPr>
          <p:cNvPr id="37" name="Shape 35"/>
          <p:cNvSpPr/>
          <p:nvPr/>
        </p:nvSpPr>
        <p:spPr>
          <a:xfrm>
            <a:off x="9921240" y="1600200"/>
            <a:ext cx="182880" cy="0"/>
          </a:xfrm>
          <a:prstGeom prst="line">
            <a:avLst/>
          </a:prstGeom>
          <a:noFill/>
          <a:ln w="25400">
            <a:solidFill>
              <a:srgbClr val="0099BB"/>
            </a:solidFill>
            <a:prstDash val="solid"/>
          </a:ln>
        </p:spPr>
        <p:txBody>
          <a:bodyPr/>
          <a:lstStyle/>
          <a:p>
            <a:endParaRPr lang="en-US"/>
          </a:p>
        </p:txBody>
      </p:sp>
      <p:sp>
        <p:nvSpPr>
          <p:cNvPr id="38" name="Shape 36"/>
          <p:cNvSpPr/>
          <p:nvPr/>
        </p:nvSpPr>
        <p:spPr>
          <a:xfrm>
            <a:off x="8138160" y="2468880"/>
            <a:ext cx="1783080" cy="594360"/>
          </a:xfrm>
          <a:prstGeom prst="roundRect">
            <a:avLst>
              <a:gd name="adj" fmla="val 10769"/>
            </a:avLst>
          </a:prstGeom>
          <a:solidFill>
            <a:srgbClr val="F59E0B">
              <a:alpha val="20000"/>
            </a:srgbClr>
          </a:solidFill>
          <a:ln w="12700">
            <a:solidFill>
              <a:srgbClr val="F59E0B"/>
            </a:solidFill>
            <a:prstDash val="solid"/>
          </a:ln>
        </p:spPr>
        <p:txBody>
          <a:bodyPr/>
          <a:lstStyle/>
          <a:p>
            <a:endParaRPr lang="en-US"/>
          </a:p>
        </p:txBody>
      </p:sp>
      <p:sp>
        <p:nvSpPr>
          <p:cNvPr id="39" name="Text 37"/>
          <p:cNvSpPr/>
          <p:nvPr/>
        </p:nvSpPr>
        <p:spPr>
          <a:xfrm>
            <a:off x="8138160" y="2468880"/>
            <a:ext cx="1783080" cy="594360"/>
          </a:xfrm>
          <a:prstGeom prst="rect">
            <a:avLst/>
          </a:prstGeom>
          <a:noFill/>
          <a:ln/>
        </p:spPr>
        <p:txBody>
          <a:bodyPr wrap="square" lIns="0" tIns="0" rIns="0" bIns="0" rtlCol="0" anchor="ctr"/>
          <a:lstStyle/>
          <a:p>
            <a:pPr marL="0" indent="0" algn="ctr">
              <a:buNone/>
            </a:pPr>
            <a:r>
              <a:rPr lang="en-US" sz="850" dirty="0">
                <a:solidFill>
                  <a:srgbClr val="1E293B"/>
                </a:solidFill>
              </a:rPr>
              <a:t>⚠ Manual pipelines</a:t>
            </a:r>
            <a:endParaRPr lang="en-US" sz="850" dirty="0"/>
          </a:p>
        </p:txBody>
      </p:sp>
      <p:sp>
        <p:nvSpPr>
          <p:cNvPr id="40" name="Shape 38"/>
          <p:cNvSpPr/>
          <p:nvPr/>
        </p:nvSpPr>
        <p:spPr>
          <a:xfrm>
            <a:off x="10104120" y="1005840"/>
            <a:ext cx="1783080" cy="1188720"/>
          </a:xfrm>
          <a:prstGeom prst="roundRect">
            <a:avLst>
              <a:gd name="adj" fmla="val 7692"/>
            </a:avLst>
          </a:prstGeom>
          <a:solidFill>
            <a:srgbClr val="0D1B3E"/>
          </a:solidFill>
          <a:ln w="12700">
            <a:solidFill>
              <a:srgbClr val="243752"/>
            </a:solidFill>
            <a:prstDash val="solid"/>
          </a:ln>
          <a:effectLst>
            <a:outerShdw blurRad="101600" dist="38100" dir="2700000" algn="bl" rotWithShape="0">
              <a:srgbClr val="000000">
                <a:alpha val="12000"/>
              </a:srgbClr>
            </a:outerShdw>
          </a:effectLst>
        </p:spPr>
        <p:txBody>
          <a:bodyPr/>
          <a:lstStyle/>
          <a:p>
            <a:endParaRPr lang="en-US"/>
          </a:p>
        </p:txBody>
      </p:sp>
      <p:sp>
        <p:nvSpPr>
          <p:cNvPr id="41" name="Text 39"/>
          <p:cNvSpPr/>
          <p:nvPr/>
        </p:nvSpPr>
        <p:spPr>
          <a:xfrm>
            <a:off x="10104120" y="1005840"/>
            <a:ext cx="1783080" cy="685800"/>
          </a:xfrm>
          <a:prstGeom prst="rect">
            <a:avLst/>
          </a:prstGeom>
          <a:noFill/>
          <a:ln/>
        </p:spPr>
        <p:txBody>
          <a:bodyPr wrap="square" lIns="0" tIns="0" rIns="0" bIns="0" rtlCol="0" anchor="ctr"/>
          <a:lstStyle/>
          <a:p>
            <a:pPr marL="0" indent="0" algn="ctr">
              <a:buNone/>
            </a:pPr>
            <a:r>
              <a:rPr lang="en-US" sz="1100" b="1" dirty="0">
                <a:solidFill>
                  <a:srgbClr val="FFFFFF"/>
                </a:solidFill>
              </a:rPr>
              <a:t>Operations</a:t>
            </a:r>
            <a:endParaRPr lang="en-US" sz="1100" dirty="0"/>
          </a:p>
        </p:txBody>
      </p:sp>
      <p:sp>
        <p:nvSpPr>
          <p:cNvPr id="42" name="Shape 40"/>
          <p:cNvSpPr/>
          <p:nvPr/>
        </p:nvSpPr>
        <p:spPr>
          <a:xfrm>
            <a:off x="10104120" y="1691640"/>
            <a:ext cx="1783080" cy="502920"/>
          </a:xfrm>
          <a:prstGeom prst="rect">
            <a:avLst/>
          </a:prstGeom>
          <a:solidFill>
            <a:srgbClr val="243752"/>
          </a:solidFill>
          <a:ln w="12700">
            <a:solidFill>
              <a:srgbClr val="243752"/>
            </a:solidFill>
            <a:prstDash val="solid"/>
          </a:ln>
        </p:spPr>
        <p:txBody>
          <a:bodyPr/>
          <a:lstStyle/>
          <a:p>
            <a:endParaRPr lang="en-US"/>
          </a:p>
        </p:txBody>
      </p:sp>
      <p:sp>
        <p:nvSpPr>
          <p:cNvPr id="43" name="Text 41"/>
          <p:cNvSpPr/>
          <p:nvPr/>
        </p:nvSpPr>
        <p:spPr>
          <a:xfrm>
            <a:off x="10104120" y="1691640"/>
            <a:ext cx="1783080" cy="502920"/>
          </a:xfrm>
          <a:prstGeom prst="rect">
            <a:avLst/>
          </a:prstGeom>
          <a:noFill/>
          <a:ln/>
        </p:spPr>
        <p:txBody>
          <a:bodyPr wrap="square" lIns="0" tIns="0" rIns="0" bIns="0" rtlCol="0" anchor="ctr"/>
          <a:lstStyle/>
          <a:p>
            <a:pPr marL="0" indent="0" algn="ctr">
              <a:buNone/>
            </a:pPr>
            <a:r>
              <a:rPr lang="en-US" sz="1000" dirty="0">
                <a:solidFill>
                  <a:srgbClr val="00D4FF"/>
                </a:solidFill>
              </a:rPr>
              <a:t>Avg: Ongoing</a:t>
            </a:r>
            <a:endParaRPr lang="en-US" sz="1000" dirty="0"/>
          </a:p>
        </p:txBody>
      </p:sp>
      <p:sp>
        <p:nvSpPr>
          <p:cNvPr id="44" name="Shape 42"/>
          <p:cNvSpPr/>
          <p:nvPr/>
        </p:nvSpPr>
        <p:spPr>
          <a:xfrm>
            <a:off x="10104120" y="2468880"/>
            <a:ext cx="1783080" cy="594360"/>
          </a:xfrm>
          <a:prstGeom prst="roundRect">
            <a:avLst>
              <a:gd name="adj" fmla="val 10769"/>
            </a:avLst>
          </a:prstGeom>
          <a:solidFill>
            <a:srgbClr val="EF4444">
              <a:alpha val="20000"/>
            </a:srgbClr>
          </a:solidFill>
          <a:ln w="12700">
            <a:solidFill>
              <a:srgbClr val="EF4444"/>
            </a:solidFill>
            <a:prstDash val="solid"/>
          </a:ln>
        </p:spPr>
        <p:txBody>
          <a:bodyPr/>
          <a:lstStyle/>
          <a:p>
            <a:endParaRPr lang="en-US"/>
          </a:p>
        </p:txBody>
      </p:sp>
      <p:sp>
        <p:nvSpPr>
          <p:cNvPr id="45" name="Text 43"/>
          <p:cNvSpPr/>
          <p:nvPr/>
        </p:nvSpPr>
        <p:spPr>
          <a:xfrm>
            <a:off x="10104120" y="2468880"/>
            <a:ext cx="1783080" cy="594360"/>
          </a:xfrm>
          <a:prstGeom prst="rect">
            <a:avLst/>
          </a:prstGeom>
          <a:noFill/>
          <a:ln/>
        </p:spPr>
        <p:txBody>
          <a:bodyPr wrap="square" lIns="0" tIns="0" rIns="0" bIns="0" rtlCol="0" anchor="ctr"/>
          <a:lstStyle/>
          <a:p>
            <a:pPr marL="0" indent="0" algn="ctr">
              <a:buNone/>
            </a:pPr>
            <a:r>
              <a:rPr lang="en-US" sz="850" dirty="0">
                <a:solidFill>
                  <a:srgbClr val="1E293B"/>
                </a:solidFill>
              </a:rPr>
              <a:t>⚠ Alert fatigue</a:t>
            </a:r>
            <a:endParaRPr lang="en-US" sz="850" dirty="0"/>
          </a:p>
        </p:txBody>
      </p:sp>
      <p:sp>
        <p:nvSpPr>
          <p:cNvPr id="46" name="Text 44"/>
          <p:cNvSpPr/>
          <p:nvPr/>
        </p:nvSpPr>
        <p:spPr>
          <a:xfrm>
            <a:off x="274320" y="2304288"/>
            <a:ext cx="3657600" cy="182880"/>
          </a:xfrm>
          <a:prstGeom prst="rect">
            <a:avLst/>
          </a:prstGeom>
          <a:noFill/>
          <a:ln/>
        </p:spPr>
        <p:txBody>
          <a:bodyPr wrap="square" lIns="0" tIns="0" rIns="0" bIns="0" rtlCol="0" anchor="ctr"/>
          <a:lstStyle/>
          <a:p>
            <a:pPr marL="0" indent="0">
              <a:buNone/>
            </a:pPr>
            <a:r>
              <a:rPr lang="en-US" sz="800" b="1" kern="0" spc="100" dirty="0">
                <a:solidFill>
                  <a:srgbClr val="64748B"/>
                </a:solidFill>
              </a:rPr>
              <a:t>KEY BOTTLENECKS</a:t>
            </a:r>
            <a:endParaRPr lang="en-US" sz="800" dirty="0"/>
          </a:p>
        </p:txBody>
      </p:sp>
      <p:sp>
        <p:nvSpPr>
          <p:cNvPr id="47" name="Shape 45"/>
          <p:cNvSpPr/>
          <p:nvPr/>
        </p:nvSpPr>
        <p:spPr>
          <a:xfrm>
            <a:off x="274320" y="3383280"/>
            <a:ext cx="2697480" cy="1005840"/>
          </a:xfrm>
          <a:prstGeom prst="roundRect">
            <a:avLst>
              <a:gd name="adj" fmla="val 7273"/>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48" name="Text 46"/>
          <p:cNvSpPr/>
          <p:nvPr/>
        </p:nvSpPr>
        <p:spPr>
          <a:xfrm>
            <a:off x="274320" y="3429000"/>
            <a:ext cx="2697480" cy="502920"/>
          </a:xfrm>
          <a:prstGeom prst="rect">
            <a:avLst/>
          </a:prstGeom>
          <a:noFill/>
          <a:ln/>
        </p:spPr>
        <p:txBody>
          <a:bodyPr wrap="square" lIns="0" tIns="0" rIns="0" bIns="0" rtlCol="0" anchor="ctr"/>
          <a:lstStyle/>
          <a:p>
            <a:pPr marL="0" indent="0" algn="ctr">
              <a:buNone/>
            </a:pPr>
            <a:r>
              <a:rPr lang="en-US" sz="2600" b="1" dirty="0">
                <a:solidFill>
                  <a:srgbClr val="0D1B3E"/>
                </a:solidFill>
                <a:latin typeface="Cambria" pitchFamily="34" charset="0"/>
                <a:ea typeface="Cambria" pitchFamily="34" charset="-122"/>
                <a:cs typeface="Cambria" pitchFamily="34" charset="-120"/>
              </a:rPr>
              <a:t>6–8 weeks</a:t>
            </a:r>
            <a:endParaRPr lang="en-US" sz="2600" dirty="0"/>
          </a:p>
        </p:txBody>
      </p:sp>
      <p:sp>
        <p:nvSpPr>
          <p:cNvPr id="49" name="Text 47"/>
          <p:cNvSpPr/>
          <p:nvPr/>
        </p:nvSpPr>
        <p:spPr>
          <a:xfrm>
            <a:off x="274320" y="3913632"/>
            <a:ext cx="2697480" cy="256032"/>
          </a:xfrm>
          <a:prstGeom prst="rect">
            <a:avLst/>
          </a:prstGeom>
          <a:noFill/>
          <a:ln/>
        </p:spPr>
        <p:txBody>
          <a:bodyPr wrap="square" lIns="0" tIns="0" rIns="0" bIns="0" rtlCol="0" anchor="ctr"/>
          <a:lstStyle/>
          <a:p>
            <a:pPr marL="0" indent="0" algn="ctr">
              <a:buNone/>
            </a:pPr>
            <a:r>
              <a:rPr lang="en-US" sz="900" b="1" dirty="0">
                <a:solidFill>
                  <a:srgbClr val="1E293B"/>
                </a:solidFill>
              </a:rPr>
              <a:t>Avg Lead Time</a:t>
            </a:r>
            <a:endParaRPr lang="en-US" sz="900" dirty="0"/>
          </a:p>
        </p:txBody>
      </p:sp>
      <p:sp>
        <p:nvSpPr>
          <p:cNvPr id="50" name="Text 48"/>
          <p:cNvSpPr/>
          <p:nvPr/>
        </p:nvSpPr>
        <p:spPr>
          <a:xfrm>
            <a:off x="274320" y="4142232"/>
            <a:ext cx="2697480" cy="201168"/>
          </a:xfrm>
          <a:prstGeom prst="rect">
            <a:avLst/>
          </a:prstGeom>
          <a:noFill/>
          <a:ln/>
        </p:spPr>
        <p:txBody>
          <a:bodyPr wrap="square" lIns="0" tIns="0" rIns="0" bIns="0" rtlCol="0" anchor="ctr"/>
          <a:lstStyle/>
          <a:p>
            <a:pPr marL="0" indent="0" algn="ctr">
              <a:buNone/>
            </a:pPr>
            <a:r>
              <a:rPr lang="en-US" sz="800" dirty="0">
                <a:solidFill>
                  <a:srgbClr val="64748B"/>
                </a:solidFill>
              </a:rPr>
              <a:t>requirement to prod</a:t>
            </a:r>
            <a:endParaRPr lang="en-US" sz="800" dirty="0"/>
          </a:p>
        </p:txBody>
      </p:sp>
      <p:sp>
        <p:nvSpPr>
          <p:cNvPr id="51" name="Shape 49"/>
          <p:cNvSpPr/>
          <p:nvPr/>
        </p:nvSpPr>
        <p:spPr>
          <a:xfrm>
            <a:off x="3154680" y="3383280"/>
            <a:ext cx="2697480" cy="1005840"/>
          </a:xfrm>
          <a:prstGeom prst="roundRect">
            <a:avLst>
              <a:gd name="adj" fmla="val 7273"/>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52" name="Text 50"/>
          <p:cNvSpPr/>
          <p:nvPr/>
        </p:nvSpPr>
        <p:spPr>
          <a:xfrm>
            <a:off x="3154680" y="3429000"/>
            <a:ext cx="2697480" cy="502920"/>
          </a:xfrm>
          <a:prstGeom prst="rect">
            <a:avLst/>
          </a:prstGeom>
          <a:noFill/>
          <a:ln/>
        </p:spPr>
        <p:txBody>
          <a:bodyPr wrap="square" lIns="0" tIns="0" rIns="0" bIns="0" rtlCol="0" anchor="ctr"/>
          <a:lstStyle/>
          <a:p>
            <a:pPr marL="0" indent="0" algn="ctr">
              <a:buNone/>
            </a:pPr>
            <a:r>
              <a:rPr lang="en-US" sz="2600" b="1" dirty="0">
                <a:solidFill>
                  <a:srgbClr val="0D1B3E"/>
                </a:solidFill>
                <a:latin typeface="Cambria" pitchFamily="34" charset="0"/>
                <a:ea typeface="Cambria" pitchFamily="34" charset="-122"/>
                <a:cs typeface="Cambria" pitchFamily="34" charset="-120"/>
              </a:rPr>
              <a:t>22%</a:t>
            </a:r>
            <a:endParaRPr lang="en-US" sz="2600" dirty="0"/>
          </a:p>
        </p:txBody>
      </p:sp>
      <p:sp>
        <p:nvSpPr>
          <p:cNvPr id="53" name="Text 51"/>
          <p:cNvSpPr/>
          <p:nvPr/>
        </p:nvSpPr>
        <p:spPr>
          <a:xfrm>
            <a:off x="3154680" y="3913632"/>
            <a:ext cx="2697480" cy="256032"/>
          </a:xfrm>
          <a:prstGeom prst="rect">
            <a:avLst/>
          </a:prstGeom>
          <a:noFill/>
          <a:ln/>
        </p:spPr>
        <p:txBody>
          <a:bodyPr wrap="square" lIns="0" tIns="0" rIns="0" bIns="0" rtlCol="0" anchor="ctr"/>
          <a:lstStyle/>
          <a:p>
            <a:pPr marL="0" indent="0" algn="ctr">
              <a:buNone/>
            </a:pPr>
            <a:r>
              <a:rPr lang="en-US" sz="900" b="1" dirty="0">
                <a:solidFill>
                  <a:srgbClr val="1E293B"/>
                </a:solidFill>
              </a:rPr>
              <a:t>Value-Add Ratio</a:t>
            </a:r>
            <a:endParaRPr lang="en-US" sz="900" dirty="0"/>
          </a:p>
        </p:txBody>
      </p:sp>
      <p:sp>
        <p:nvSpPr>
          <p:cNvPr id="54" name="Text 52"/>
          <p:cNvSpPr/>
          <p:nvPr/>
        </p:nvSpPr>
        <p:spPr>
          <a:xfrm>
            <a:off x="3154680" y="4142232"/>
            <a:ext cx="2697480" cy="201168"/>
          </a:xfrm>
          <a:prstGeom prst="rect">
            <a:avLst/>
          </a:prstGeom>
          <a:noFill/>
          <a:ln/>
        </p:spPr>
        <p:txBody>
          <a:bodyPr wrap="square" lIns="0" tIns="0" rIns="0" bIns="0" rtlCol="0" anchor="ctr"/>
          <a:lstStyle/>
          <a:p>
            <a:pPr marL="0" indent="0" algn="ctr">
              <a:buNone/>
            </a:pPr>
            <a:r>
              <a:rPr lang="en-US" sz="800" dirty="0">
                <a:solidFill>
                  <a:srgbClr val="64748B"/>
                </a:solidFill>
              </a:rPr>
              <a:t>of cycle time is actual dev</a:t>
            </a:r>
            <a:endParaRPr lang="en-US" sz="800" dirty="0"/>
          </a:p>
        </p:txBody>
      </p:sp>
      <p:sp>
        <p:nvSpPr>
          <p:cNvPr id="55" name="Shape 53"/>
          <p:cNvSpPr/>
          <p:nvPr/>
        </p:nvSpPr>
        <p:spPr>
          <a:xfrm>
            <a:off x="6035040" y="3383280"/>
            <a:ext cx="2697480" cy="1005840"/>
          </a:xfrm>
          <a:prstGeom prst="roundRect">
            <a:avLst>
              <a:gd name="adj" fmla="val 7273"/>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56" name="Text 54"/>
          <p:cNvSpPr/>
          <p:nvPr/>
        </p:nvSpPr>
        <p:spPr>
          <a:xfrm>
            <a:off x="6035040" y="3429000"/>
            <a:ext cx="2697480" cy="502920"/>
          </a:xfrm>
          <a:prstGeom prst="rect">
            <a:avLst/>
          </a:prstGeom>
          <a:noFill/>
          <a:ln/>
        </p:spPr>
        <p:txBody>
          <a:bodyPr wrap="square" lIns="0" tIns="0" rIns="0" bIns="0" rtlCol="0" anchor="ctr"/>
          <a:lstStyle/>
          <a:p>
            <a:pPr marL="0" indent="0" algn="ctr">
              <a:buNone/>
            </a:pPr>
            <a:r>
              <a:rPr lang="en-US" sz="2600" b="1" dirty="0">
                <a:solidFill>
                  <a:srgbClr val="0D1B3E"/>
                </a:solidFill>
                <a:latin typeface="Cambria" pitchFamily="34" charset="0"/>
                <a:ea typeface="Cambria" pitchFamily="34" charset="-122"/>
                <a:cs typeface="Cambria" pitchFamily="34" charset="-120"/>
              </a:rPr>
              <a:t>18–25%</a:t>
            </a:r>
            <a:endParaRPr lang="en-US" sz="2600" dirty="0"/>
          </a:p>
        </p:txBody>
      </p:sp>
      <p:sp>
        <p:nvSpPr>
          <p:cNvPr id="57" name="Text 55"/>
          <p:cNvSpPr/>
          <p:nvPr/>
        </p:nvSpPr>
        <p:spPr>
          <a:xfrm>
            <a:off x="6035040" y="3913632"/>
            <a:ext cx="2697480" cy="256032"/>
          </a:xfrm>
          <a:prstGeom prst="rect">
            <a:avLst/>
          </a:prstGeom>
          <a:noFill/>
          <a:ln/>
        </p:spPr>
        <p:txBody>
          <a:bodyPr wrap="square" lIns="0" tIns="0" rIns="0" bIns="0" rtlCol="0" anchor="ctr"/>
          <a:lstStyle/>
          <a:p>
            <a:pPr marL="0" indent="0" algn="ctr">
              <a:buNone/>
            </a:pPr>
            <a:r>
              <a:rPr lang="en-US" sz="900" b="1" dirty="0">
                <a:solidFill>
                  <a:srgbClr val="1E293B"/>
                </a:solidFill>
              </a:rPr>
              <a:t>Defect Escape Rate</a:t>
            </a:r>
            <a:endParaRPr lang="en-US" sz="900" dirty="0"/>
          </a:p>
        </p:txBody>
      </p:sp>
      <p:sp>
        <p:nvSpPr>
          <p:cNvPr id="58" name="Text 56"/>
          <p:cNvSpPr/>
          <p:nvPr/>
        </p:nvSpPr>
        <p:spPr>
          <a:xfrm>
            <a:off x="6035040" y="4142232"/>
            <a:ext cx="2697480" cy="201168"/>
          </a:xfrm>
          <a:prstGeom prst="rect">
            <a:avLst/>
          </a:prstGeom>
          <a:noFill/>
          <a:ln/>
        </p:spPr>
        <p:txBody>
          <a:bodyPr wrap="square" lIns="0" tIns="0" rIns="0" bIns="0" rtlCol="0" anchor="ctr"/>
          <a:lstStyle/>
          <a:p>
            <a:pPr marL="0" indent="0" algn="ctr">
              <a:buNone/>
            </a:pPr>
            <a:r>
              <a:rPr lang="en-US" sz="800" dirty="0">
                <a:solidFill>
                  <a:srgbClr val="64748B"/>
                </a:solidFill>
              </a:rPr>
              <a:t>reach production</a:t>
            </a:r>
            <a:endParaRPr lang="en-US" sz="800" dirty="0"/>
          </a:p>
        </p:txBody>
      </p:sp>
      <p:sp>
        <p:nvSpPr>
          <p:cNvPr id="59" name="Shape 57"/>
          <p:cNvSpPr/>
          <p:nvPr/>
        </p:nvSpPr>
        <p:spPr>
          <a:xfrm>
            <a:off x="8915400" y="3383280"/>
            <a:ext cx="2697480" cy="1005840"/>
          </a:xfrm>
          <a:prstGeom prst="roundRect">
            <a:avLst>
              <a:gd name="adj" fmla="val 7273"/>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60" name="Text 58"/>
          <p:cNvSpPr/>
          <p:nvPr/>
        </p:nvSpPr>
        <p:spPr>
          <a:xfrm>
            <a:off x="8915400" y="3429000"/>
            <a:ext cx="2697480" cy="502920"/>
          </a:xfrm>
          <a:prstGeom prst="rect">
            <a:avLst/>
          </a:prstGeom>
          <a:noFill/>
          <a:ln/>
        </p:spPr>
        <p:txBody>
          <a:bodyPr wrap="square" lIns="0" tIns="0" rIns="0" bIns="0" rtlCol="0" anchor="ctr"/>
          <a:lstStyle/>
          <a:p>
            <a:pPr marL="0" indent="0" algn="ctr">
              <a:buNone/>
            </a:pPr>
            <a:r>
              <a:rPr lang="en-US" sz="2600" b="1" dirty="0">
                <a:solidFill>
                  <a:srgbClr val="0D1B3E"/>
                </a:solidFill>
                <a:latin typeface="Cambria" pitchFamily="34" charset="0"/>
                <a:ea typeface="Cambria" pitchFamily="34" charset="-122"/>
                <a:cs typeface="Cambria" pitchFamily="34" charset="-120"/>
              </a:rPr>
              <a:t>55%</a:t>
            </a:r>
            <a:endParaRPr lang="en-US" sz="2600" dirty="0"/>
          </a:p>
        </p:txBody>
      </p:sp>
      <p:sp>
        <p:nvSpPr>
          <p:cNvPr id="61" name="Text 59"/>
          <p:cNvSpPr/>
          <p:nvPr/>
        </p:nvSpPr>
        <p:spPr>
          <a:xfrm>
            <a:off x="8915400" y="3913632"/>
            <a:ext cx="2697480" cy="256032"/>
          </a:xfrm>
          <a:prstGeom prst="rect">
            <a:avLst/>
          </a:prstGeom>
          <a:noFill/>
          <a:ln/>
        </p:spPr>
        <p:txBody>
          <a:bodyPr wrap="square" lIns="0" tIns="0" rIns="0" bIns="0" rtlCol="0" anchor="ctr"/>
          <a:lstStyle/>
          <a:p>
            <a:pPr marL="0" indent="0" algn="ctr">
              <a:buNone/>
            </a:pPr>
            <a:r>
              <a:rPr lang="en-US" sz="900" b="1" dirty="0">
                <a:solidFill>
                  <a:srgbClr val="1E293B"/>
                </a:solidFill>
              </a:rPr>
              <a:t>Toil Index</a:t>
            </a:r>
            <a:endParaRPr lang="en-US" sz="900" dirty="0"/>
          </a:p>
        </p:txBody>
      </p:sp>
      <p:sp>
        <p:nvSpPr>
          <p:cNvPr id="62" name="Text 60"/>
          <p:cNvSpPr/>
          <p:nvPr/>
        </p:nvSpPr>
        <p:spPr>
          <a:xfrm>
            <a:off x="8915400" y="4142232"/>
            <a:ext cx="2697480" cy="201168"/>
          </a:xfrm>
          <a:prstGeom prst="rect">
            <a:avLst/>
          </a:prstGeom>
          <a:noFill/>
          <a:ln/>
        </p:spPr>
        <p:txBody>
          <a:bodyPr wrap="square" lIns="0" tIns="0" rIns="0" bIns="0" rtlCol="0" anchor="ctr"/>
          <a:lstStyle/>
          <a:p>
            <a:pPr marL="0" indent="0" algn="ctr">
              <a:buNone/>
            </a:pPr>
            <a:r>
              <a:rPr lang="en-US" sz="800" dirty="0">
                <a:solidFill>
                  <a:srgbClr val="64748B"/>
                </a:solidFill>
              </a:rPr>
              <a:t>of ops tasks are manual</a:t>
            </a:r>
            <a:endParaRPr lang="en-US" sz="800" dirty="0"/>
          </a:p>
        </p:txBody>
      </p:sp>
      <p:sp>
        <p:nvSpPr>
          <p:cNvPr id="63" name="Shape 61"/>
          <p:cNvSpPr/>
          <p:nvPr/>
        </p:nvSpPr>
        <p:spPr>
          <a:xfrm>
            <a:off x="274320" y="4663440"/>
            <a:ext cx="11612880" cy="594360"/>
          </a:xfrm>
          <a:prstGeom prst="roundRect">
            <a:avLst>
              <a:gd name="adj" fmla="val 12308"/>
            </a:avLst>
          </a:prstGeom>
          <a:solidFill>
            <a:srgbClr val="1A2F5A"/>
          </a:solidFill>
          <a:ln w="12700">
            <a:solidFill>
              <a:srgbClr val="0099BB"/>
            </a:solidFill>
            <a:prstDash val="solid"/>
          </a:ln>
        </p:spPr>
        <p:txBody>
          <a:bodyPr/>
          <a:lstStyle/>
          <a:p>
            <a:endParaRPr lang="en-US"/>
          </a:p>
        </p:txBody>
      </p:sp>
      <p:sp>
        <p:nvSpPr>
          <p:cNvPr id="64" name="Text 62"/>
          <p:cNvSpPr/>
          <p:nvPr/>
        </p:nvSpPr>
        <p:spPr>
          <a:xfrm>
            <a:off x="457200" y="4663440"/>
            <a:ext cx="11430000" cy="594360"/>
          </a:xfrm>
          <a:prstGeom prst="rect">
            <a:avLst/>
          </a:prstGeom>
          <a:noFill/>
          <a:ln/>
        </p:spPr>
        <p:txBody>
          <a:bodyPr wrap="square" lIns="0" tIns="0" rIns="0" bIns="0" rtlCol="0" anchor="ctr"/>
          <a:lstStyle/>
          <a:p>
            <a:pPr marL="0" indent="0">
              <a:buNone/>
            </a:pPr>
            <a:r>
              <a:rPr lang="en-US" sz="1050" dirty="0">
                <a:solidFill>
                  <a:srgbClr val="FFFFFF"/>
                </a:solidFill>
              </a:rPr>
              <a:t>⚡  INSIGHT:  Only 22% of the typical SDLC cycle is value-adding development work. Agentic AI can compress the remaining 78% by automating handoffs, reviews, and operational toil.</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0"/>
            <a:ext cx="12191695" cy="36576"/>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73152"/>
            <a:ext cx="9144000" cy="502920"/>
          </a:xfrm>
          <a:prstGeom prst="rect">
            <a:avLst/>
          </a:prstGeom>
          <a:noFill/>
        </p:spPr>
        <p:txBody>
          <a:bodyPr wrap="square">
            <a:spAutoFit/>
          </a:bodyPr>
          <a:lstStyle/>
          <a:p>
            <a:pPr algn="l"/>
            <a:r>
              <a:rPr sz="2200" b="1" i="0">
                <a:solidFill>
                  <a:srgbClr val="FFFFFF"/>
                </a:solidFill>
                <a:latin typeface="Cambria"/>
              </a:rPr>
              <a:t>AI &amp; AUTOMATION PROPENSITY ASSESSMENT</a:t>
            </a:r>
          </a:p>
        </p:txBody>
      </p:sp>
      <p:sp>
        <p:nvSpPr>
          <p:cNvPr id="5" name="TextBox 4"/>
          <p:cNvSpPr txBox="1"/>
          <p:nvPr/>
        </p:nvSpPr>
        <p:spPr>
          <a:xfrm>
            <a:off x="274320" y="548640"/>
            <a:ext cx="10972800" cy="320040"/>
          </a:xfrm>
          <a:prstGeom prst="rect">
            <a:avLst/>
          </a:prstGeom>
          <a:noFill/>
        </p:spPr>
        <p:txBody>
          <a:bodyPr wrap="square">
            <a:spAutoFit/>
          </a:bodyPr>
          <a:lstStyle/>
          <a:p>
            <a:pPr algn="l"/>
            <a:r>
              <a:rPr sz="1100" b="0" i="0">
                <a:solidFill>
                  <a:srgbClr val="A0C8FF"/>
                </a:solidFill>
                <a:latin typeface="Calibri"/>
              </a:rPr>
              <a:t>Agent Coverage Mapped Across SDLC Stages — Colour-Coded by Impact</a:t>
            </a:r>
          </a:p>
        </p:txBody>
      </p:sp>
      <p:sp>
        <p:nvSpPr>
          <p:cNvPr id="6" name="Rectangle 5"/>
          <p:cNvSpPr/>
          <p:nvPr/>
        </p:nvSpPr>
        <p:spPr>
          <a:xfrm>
            <a:off x="0" y="6675120"/>
            <a:ext cx="12191695" cy="182880"/>
          </a:xfrm>
          <a:prstGeom prst="rect">
            <a:avLst/>
          </a:prstGeom>
          <a:solidFill>
            <a:srgbClr val="EC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84264"/>
            <a:ext cx="10972800" cy="164592"/>
          </a:xfrm>
          <a:prstGeom prst="rect">
            <a:avLst/>
          </a:prstGeom>
          <a:noFill/>
        </p:spPr>
        <p:txBody>
          <a:bodyPr wrap="square">
            <a:spAutoFit/>
          </a:bodyPr>
          <a:lstStyle/>
          <a:p>
            <a:pPr algn="l"/>
            <a:r>
              <a:rPr sz="700" b="0" i="0">
                <a:solidFill>
                  <a:srgbClr val="5D6D7E"/>
                </a:solidFill>
                <a:latin typeface="Calibri"/>
              </a:rPr>
              <a:t>CONFIDENTIAL  |  Technology Strategy Practice  |  Not for Distribution</a:t>
            </a:r>
          </a:p>
        </p:txBody>
      </p:sp>
      <p:sp>
        <p:nvSpPr>
          <p:cNvPr id="8" name="Rounded Rectangle 7"/>
          <p:cNvSpPr/>
          <p:nvPr/>
        </p:nvSpPr>
        <p:spPr>
          <a:xfrm>
            <a:off x="155448" y="960120"/>
            <a:ext cx="1908047" cy="5394960"/>
          </a:xfrm>
          <a:prstGeom prst="roundRect">
            <a:avLst>
              <a:gd name="adj" fmla="val 6000"/>
            </a:avLst>
          </a:prstGeom>
          <a:solidFill>
            <a:srgbClr val="EBF5FF"/>
          </a:solidFill>
          <a:ln w="1270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55448" y="960120"/>
            <a:ext cx="1908047" cy="5943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1168" y="1005840"/>
            <a:ext cx="1871471" cy="256032"/>
          </a:xfrm>
          <a:prstGeom prst="rect">
            <a:avLst/>
          </a:prstGeom>
          <a:noFill/>
        </p:spPr>
        <p:txBody>
          <a:bodyPr wrap="square">
            <a:spAutoFit/>
          </a:bodyPr>
          <a:lstStyle/>
          <a:p>
            <a:pPr algn="ctr"/>
            <a:r>
              <a:rPr sz="1400" b="0" i="0">
                <a:solidFill>
                  <a:srgbClr val="FFFFFF"/>
                </a:solidFill>
                <a:latin typeface="Calibri"/>
              </a:rPr>
              <a:t>📋</a:t>
            </a:r>
          </a:p>
        </p:txBody>
      </p:sp>
      <p:sp>
        <p:nvSpPr>
          <p:cNvPr id="11" name="TextBox 10"/>
          <p:cNvSpPr txBox="1"/>
          <p:nvPr/>
        </p:nvSpPr>
        <p:spPr>
          <a:xfrm>
            <a:off x="173736" y="1234440"/>
            <a:ext cx="1889759" cy="274320"/>
          </a:xfrm>
          <a:prstGeom prst="rect">
            <a:avLst/>
          </a:prstGeom>
          <a:noFill/>
        </p:spPr>
        <p:txBody>
          <a:bodyPr wrap="square">
            <a:spAutoFit/>
          </a:bodyPr>
          <a:lstStyle/>
          <a:p>
            <a:pPr algn="ctr"/>
            <a:r>
              <a:rPr sz="800" b="1" i="0">
                <a:solidFill>
                  <a:srgbClr val="A0C8FF"/>
                </a:solidFill>
                <a:latin typeface="Calibri"/>
              </a:rPr>
              <a:t>REQUIREMENTS</a:t>
            </a:r>
          </a:p>
        </p:txBody>
      </p:sp>
      <p:sp>
        <p:nvSpPr>
          <p:cNvPr id="12" name="Rounded Rectangle 11"/>
          <p:cNvSpPr/>
          <p:nvPr/>
        </p:nvSpPr>
        <p:spPr>
          <a:xfrm>
            <a:off x="201168" y="1618488"/>
            <a:ext cx="1816608" cy="502920"/>
          </a:xfrm>
          <a:prstGeom prst="roundRect">
            <a:avLst>
              <a:gd name="adj" fmla="val 8000"/>
            </a:avLst>
          </a:prstGeom>
          <a:solidFill>
            <a:srgbClr val="FFF3CD"/>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19456" y="1655064"/>
            <a:ext cx="1780032" cy="256032"/>
          </a:xfrm>
          <a:prstGeom prst="rect">
            <a:avLst/>
          </a:prstGeom>
          <a:noFill/>
        </p:spPr>
        <p:txBody>
          <a:bodyPr wrap="square">
            <a:spAutoFit/>
          </a:bodyPr>
          <a:lstStyle/>
          <a:p>
            <a:pPr algn="l"/>
            <a:r>
              <a:rPr sz="700" b="1" i="0">
                <a:solidFill>
                  <a:srgbClr val="0D1B3E"/>
                </a:solidFill>
                <a:latin typeface="Calibri"/>
              </a:rPr>
              <a:t>Requirements Elic…</a:t>
            </a:r>
          </a:p>
        </p:txBody>
      </p:sp>
      <p:sp>
        <p:nvSpPr>
          <p:cNvPr id="14" name="TextBox 13"/>
          <p:cNvSpPr txBox="1"/>
          <p:nvPr/>
        </p:nvSpPr>
        <p:spPr>
          <a:xfrm>
            <a:off x="219456" y="1892807"/>
            <a:ext cx="1780032" cy="182880"/>
          </a:xfrm>
          <a:prstGeom prst="rect">
            <a:avLst/>
          </a:prstGeom>
          <a:noFill/>
        </p:spPr>
        <p:txBody>
          <a:bodyPr wrap="square">
            <a:spAutoFit/>
          </a:bodyPr>
          <a:lstStyle/>
          <a:p>
            <a:pPr algn="l"/>
            <a:r>
              <a:rPr sz="650" b="0" i="0">
                <a:solidFill>
                  <a:srgbClr val="D47F00"/>
                </a:solidFill>
                <a:latin typeface="Calibri"/>
              </a:rPr>
              <a:t>● MEDIUM</a:t>
            </a:r>
          </a:p>
        </p:txBody>
      </p:sp>
      <p:sp>
        <p:nvSpPr>
          <p:cNvPr id="15" name="Rounded Rectangle 14"/>
          <p:cNvSpPr/>
          <p:nvPr/>
        </p:nvSpPr>
        <p:spPr>
          <a:xfrm>
            <a:off x="201168" y="2176272"/>
            <a:ext cx="1816608" cy="502920"/>
          </a:xfrm>
          <a:prstGeom prst="roundRect">
            <a:avLst>
              <a:gd name="adj" fmla="val 8000"/>
            </a:avLst>
          </a:prstGeom>
          <a:solidFill>
            <a:srgbClr val="FFF3CD"/>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9456" y="2212848"/>
            <a:ext cx="1780032" cy="256032"/>
          </a:xfrm>
          <a:prstGeom prst="rect">
            <a:avLst/>
          </a:prstGeom>
          <a:noFill/>
        </p:spPr>
        <p:txBody>
          <a:bodyPr wrap="square">
            <a:spAutoFit/>
          </a:bodyPr>
          <a:lstStyle/>
          <a:p>
            <a:pPr algn="l"/>
            <a:r>
              <a:rPr sz="700" b="1" i="0">
                <a:solidFill>
                  <a:srgbClr val="0D1B3E"/>
                </a:solidFill>
                <a:latin typeface="Calibri"/>
              </a:rPr>
              <a:t>User Story Genera…</a:t>
            </a:r>
          </a:p>
        </p:txBody>
      </p:sp>
      <p:sp>
        <p:nvSpPr>
          <p:cNvPr id="17" name="TextBox 16"/>
          <p:cNvSpPr txBox="1"/>
          <p:nvPr/>
        </p:nvSpPr>
        <p:spPr>
          <a:xfrm>
            <a:off x="219456" y="2450591"/>
            <a:ext cx="1780032" cy="182880"/>
          </a:xfrm>
          <a:prstGeom prst="rect">
            <a:avLst/>
          </a:prstGeom>
          <a:noFill/>
        </p:spPr>
        <p:txBody>
          <a:bodyPr wrap="square">
            <a:spAutoFit/>
          </a:bodyPr>
          <a:lstStyle/>
          <a:p>
            <a:pPr algn="l"/>
            <a:r>
              <a:rPr sz="650" b="0" i="0">
                <a:solidFill>
                  <a:srgbClr val="D47F00"/>
                </a:solidFill>
                <a:latin typeface="Calibri"/>
              </a:rPr>
              <a:t>● MEDIUM</a:t>
            </a:r>
          </a:p>
        </p:txBody>
      </p:sp>
      <p:sp>
        <p:nvSpPr>
          <p:cNvPr id="18" name="Rounded Rectangle 17"/>
          <p:cNvSpPr/>
          <p:nvPr/>
        </p:nvSpPr>
        <p:spPr>
          <a:xfrm>
            <a:off x="201168" y="2734056"/>
            <a:ext cx="1816608" cy="502920"/>
          </a:xfrm>
          <a:prstGeom prst="roundRect">
            <a:avLst>
              <a:gd name="adj" fmla="val 8000"/>
            </a:avLst>
          </a:prstGeom>
          <a:solidFill>
            <a:srgbClr val="FFF3CD"/>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19456" y="2770632"/>
            <a:ext cx="1780032" cy="256032"/>
          </a:xfrm>
          <a:prstGeom prst="rect">
            <a:avLst/>
          </a:prstGeom>
          <a:noFill/>
        </p:spPr>
        <p:txBody>
          <a:bodyPr wrap="square">
            <a:spAutoFit/>
          </a:bodyPr>
          <a:lstStyle/>
          <a:p>
            <a:pPr algn="l"/>
            <a:r>
              <a:rPr sz="700" b="1" i="0">
                <a:solidFill>
                  <a:srgbClr val="0D1B3E"/>
                </a:solidFill>
                <a:latin typeface="Calibri"/>
              </a:rPr>
              <a:t>Story Sizing</a:t>
            </a:r>
          </a:p>
        </p:txBody>
      </p:sp>
      <p:sp>
        <p:nvSpPr>
          <p:cNvPr id="20" name="TextBox 19"/>
          <p:cNvSpPr txBox="1"/>
          <p:nvPr/>
        </p:nvSpPr>
        <p:spPr>
          <a:xfrm>
            <a:off x="219456" y="3008376"/>
            <a:ext cx="1780032" cy="182880"/>
          </a:xfrm>
          <a:prstGeom prst="rect">
            <a:avLst/>
          </a:prstGeom>
          <a:noFill/>
        </p:spPr>
        <p:txBody>
          <a:bodyPr wrap="square">
            <a:spAutoFit/>
          </a:bodyPr>
          <a:lstStyle/>
          <a:p>
            <a:pPr algn="l"/>
            <a:r>
              <a:rPr sz="650" b="0" i="0">
                <a:solidFill>
                  <a:srgbClr val="D47F00"/>
                </a:solidFill>
                <a:latin typeface="Calibri"/>
              </a:rPr>
              <a:t>● LOW</a:t>
            </a:r>
          </a:p>
        </p:txBody>
      </p:sp>
      <p:sp>
        <p:nvSpPr>
          <p:cNvPr id="21" name="Rounded Rectangle 20"/>
          <p:cNvSpPr/>
          <p:nvPr/>
        </p:nvSpPr>
        <p:spPr>
          <a:xfrm>
            <a:off x="201168" y="3291840"/>
            <a:ext cx="1816608" cy="502920"/>
          </a:xfrm>
          <a:prstGeom prst="roundRect">
            <a:avLst>
              <a:gd name="adj" fmla="val 8000"/>
            </a:avLst>
          </a:prstGeom>
          <a:solidFill>
            <a:srgbClr val="FFF3CD"/>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19456" y="3328416"/>
            <a:ext cx="1780032" cy="256032"/>
          </a:xfrm>
          <a:prstGeom prst="rect">
            <a:avLst/>
          </a:prstGeom>
          <a:noFill/>
        </p:spPr>
        <p:txBody>
          <a:bodyPr wrap="square">
            <a:spAutoFit/>
          </a:bodyPr>
          <a:lstStyle/>
          <a:p>
            <a:pPr algn="l"/>
            <a:r>
              <a:rPr sz="700" b="1" i="0">
                <a:solidFill>
                  <a:srgbClr val="0D1B3E"/>
                </a:solidFill>
                <a:latin typeface="Calibri"/>
              </a:rPr>
              <a:t>Dependency Mapper</a:t>
            </a:r>
          </a:p>
        </p:txBody>
      </p:sp>
      <p:sp>
        <p:nvSpPr>
          <p:cNvPr id="23" name="TextBox 22"/>
          <p:cNvSpPr txBox="1"/>
          <p:nvPr/>
        </p:nvSpPr>
        <p:spPr>
          <a:xfrm>
            <a:off x="219456" y="3566160"/>
            <a:ext cx="1780032" cy="182880"/>
          </a:xfrm>
          <a:prstGeom prst="rect">
            <a:avLst/>
          </a:prstGeom>
          <a:noFill/>
        </p:spPr>
        <p:txBody>
          <a:bodyPr wrap="square">
            <a:spAutoFit/>
          </a:bodyPr>
          <a:lstStyle/>
          <a:p>
            <a:pPr algn="l"/>
            <a:r>
              <a:rPr sz="650" b="0" i="0">
                <a:solidFill>
                  <a:srgbClr val="D47F00"/>
                </a:solidFill>
                <a:latin typeface="Calibri"/>
              </a:rPr>
              <a:t>● MEDIUM</a:t>
            </a:r>
          </a:p>
        </p:txBody>
      </p:sp>
      <p:sp>
        <p:nvSpPr>
          <p:cNvPr id="24" name="Rounded Rectangle 23"/>
          <p:cNvSpPr/>
          <p:nvPr/>
        </p:nvSpPr>
        <p:spPr>
          <a:xfrm>
            <a:off x="2136648" y="960120"/>
            <a:ext cx="1908047" cy="5394960"/>
          </a:xfrm>
          <a:prstGeom prst="roundRect">
            <a:avLst>
              <a:gd name="adj" fmla="val 6000"/>
            </a:avLst>
          </a:prstGeom>
          <a:solidFill>
            <a:srgbClr val="EFF5FF"/>
          </a:solidFill>
          <a:ln w="1270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136648" y="960120"/>
            <a:ext cx="1908047" cy="5943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82367" y="1005840"/>
            <a:ext cx="1871471" cy="256032"/>
          </a:xfrm>
          <a:prstGeom prst="rect">
            <a:avLst/>
          </a:prstGeom>
          <a:noFill/>
        </p:spPr>
        <p:txBody>
          <a:bodyPr wrap="square">
            <a:spAutoFit/>
          </a:bodyPr>
          <a:lstStyle/>
          <a:p>
            <a:pPr algn="ctr"/>
            <a:r>
              <a:rPr sz="1400" b="0" i="0">
                <a:solidFill>
                  <a:srgbClr val="FFFFFF"/>
                </a:solidFill>
                <a:latin typeface="Calibri"/>
              </a:rPr>
              <a:t>🏗</a:t>
            </a:r>
          </a:p>
        </p:txBody>
      </p:sp>
      <p:sp>
        <p:nvSpPr>
          <p:cNvPr id="27" name="TextBox 26"/>
          <p:cNvSpPr txBox="1"/>
          <p:nvPr/>
        </p:nvSpPr>
        <p:spPr>
          <a:xfrm>
            <a:off x="2154936" y="1234440"/>
            <a:ext cx="1889759" cy="274320"/>
          </a:xfrm>
          <a:prstGeom prst="rect">
            <a:avLst/>
          </a:prstGeom>
          <a:noFill/>
        </p:spPr>
        <p:txBody>
          <a:bodyPr wrap="square">
            <a:spAutoFit/>
          </a:bodyPr>
          <a:lstStyle/>
          <a:p>
            <a:pPr algn="ctr"/>
            <a:r>
              <a:rPr sz="800" b="1" i="0">
                <a:solidFill>
                  <a:srgbClr val="A0C8FF"/>
                </a:solidFill>
                <a:latin typeface="Calibri"/>
              </a:rPr>
              <a:t>DESIGN</a:t>
            </a:r>
          </a:p>
        </p:txBody>
      </p:sp>
      <p:sp>
        <p:nvSpPr>
          <p:cNvPr id="28" name="Rounded Rectangle 27"/>
          <p:cNvSpPr/>
          <p:nvPr/>
        </p:nvSpPr>
        <p:spPr>
          <a:xfrm>
            <a:off x="2182367" y="1618488"/>
            <a:ext cx="1816608" cy="502920"/>
          </a:xfrm>
          <a:prstGeom prst="roundRect">
            <a:avLst>
              <a:gd name="adj" fmla="val 8000"/>
            </a:avLst>
          </a:prstGeom>
          <a:solidFill>
            <a:srgbClr val="E8F8EE"/>
          </a:solidFill>
          <a:ln w="1270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00655" y="1655064"/>
            <a:ext cx="1780032" cy="256032"/>
          </a:xfrm>
          <a:prstGeom prst="rect">
            <a:avLst/>
          </a:prstGeom>
          <a:noFill/>
        </p:spPr>
        <p:txBody>
          <a:bodyPr wrap="square">
            <a:spAutoFit/>
          </a:bodyPr>
          <a:lstStyle/>
          <a:p>
            <a:pPr algn="l"/>
            <a:r>
              <a:rPr sz="700" b="1" i="0">
                <a:solidFill>
                  <a:srgbClr val="0D1B3E"/>
                </a:solidFill>
                <a:latin typeface="Calibri"/>
              </a:rPr>
              <a:t>Architecture Advi…</a:t>
            </a:r>
          </a:p>
        </p:txBody>
      </p:sp>
      <p:sp>
        <p:nvSpPr>
          <p:cNvPr id="30" name="TextBox 29"/>
          <p:cNvSpPr txBox="1"/>
          <p:nvPr/>
        </p:nvSpPr>
        <p:spPr>
          <a:xfrm>
            <a:off x="2200655" y="1892807"/>
            <a:ext cx="1780032" cy="182880"/>
          </a:xfrm>
          <a:prstGeom prst="rect">
            <a:avLst/>
          </a:prstGeom>
          <a:noFill/>
        </p:spPr>
        <p:txBody>
          <a:bodyPr wrap="square">
            <a:spAutoFit/>
          </a:bodyPr>
          <a:lstStyle/>
          <a:p>
            <a:pPr algn="l"/>
            <a:r>
              <a:rPr sz="650" b="0" i="0">
                <a:solidFill>
                  <a:srgbClr val="1E8B4C"/>
                </a:solidFill>
                <a:latin typeface="Calibri"/>
              </a:rPr>
              <a:t>● HIGH</a:t>
            </a:r>
          </a:p>
        </p:txBody>
      </p:sp>
      <p:sp>
        <p:nvSpPr>
          <p:cNvPr id="31" name="Rounded Rectangle 30"/>
          <p:cNvSpPr/>
          <p:nvPr/>
        </p:nvSpPr>
        <p:spPr>
          <a:xfrm>
            <a:off x="2182367" y="2176272"/>
            <a:ext cx="1816608" cy="502920"/>
          </a:xfrm>
          <a:prstGeom prst="roundRect">
            <a:avLst>
              <a:gd name="adj" fmla="val 8000"/>
            </a:avLst>
          </a:prstGeom>
          <a:solidFill>
            <a:srgbClr val="FFF3CD"/>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200655" y="2212848"/>
            <a:ext cx="1780032" cy="256032"/>
          </a:xfrm>
          <a:prstGeom prst="rect">
            <a:avLst/>
          </a:prstGeom>
          <a:noFill/>
        </p:spPr>
        <p:txBody>
          <a:bodyPr wrap="square">
            <a:spAutoFit/>
          </a:bodyPr>
          <a:lstStyle/>
          <a:p>
            <a:pPr algn="l"/>
            <a:r>
              <a:rPr sz="700" b="1" i="0">
                <a:solidFill>
                  <a:srgbClr val="0D1B3E"/>
                </a:solidFill>
                <a:latin typeface="Calibri"/>
              </a:rPr>
              <a:t>API Design</a:t>
            </a:r>
          </a:p>
        </p:txBody>
      </p:sp>
      <p:sp>
        <p:nvSpPr>
          <p:cNvPr id="33" name="TextBox 32"/>
          <p:cNvSpPr txBox="1"/>
          <p:nvPr/>
        </p:nvSpPr>
        <p:spPr>
          <a:xfrm>
            <a:off x="2200655" y="2450591"/>
            <a:ext cx="1780032" cy="182880"/>
          </a:xfrm>
          <a:prstGeom prst="rect">
            <a:avLst/>
          </a:prstGeom>
          <a:noFill/>
        </p:spPr>
        <p:txBody>
          <a:bodyPr wrap="square">
            <a:spAutoFit/>
          </a:bodyPr>
          <a:lstStyle/>
          <a:p>
            <a:pPr algn="l"/>
            <a:r>
              <a:rPr sz="650" b="0" i="0">
                <a:solidFill>
                  <a:srgbClr val="D47F00"/>
                </a:solidFill>
                <a:latin typeface="Calibri"/>
              </a:rPr>
              <a:t>● MEDIUM</a:t>
            </a:r>
          </a:p>
        </p:txBody>
      </p:sp>
      <p:sp>
        <p:nvSpPr>
          <p:cNvPr id="34" name="Rounded Rectangle 33"/>
          <p:cNvSpPr/>
          <p:nvPr/>
        </p:nvSpPr>
        <p:spPr>
          <a:xfrm>
            <a:off x="2182367" y="2734056"/>
            <a:ext cx="1816608" cy="502920"/>
          </a:xfrm>
          <a:prstGeom prst="roundRect">
            <a:avLst>
              <a:gd name="adj" fmla="val 8000"/>
            </a:avLst>
          </a:prstGeom>
          <a:solidFill>
            <a:srgbClr val="FFF3CD"/>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200655" y="2770632"/>
            <a:ext cx="1780032" cy="256032"/>
          </a:xfrm>
          <a:prstGeom prst="rect">
            <a:avLst/>
          </a:prstGeom>
          <a:noFill/>
        </p:spPr>
        <p:txBody>
          <a:bodyPr wrap="square">
            <a:spAutoFit/>
          </a:bodyPr>
          <a:lstStyle/>
          <a:p>
            <a:pPr algn="l"/>
            <a:r>
              <a:rPr sz="700" b="1" i="0">
                <a:solidFill>
                  <a:srgbClr val="0D1B3E"/>
                </a:solidFill>
                <a:latin typeface="Calibri"/>
              </a:rPr>
              <a:t>Data Modelling</a:t>
            </a:r>
          </a:p>
        </p:txBody>
      </p:sp>
      <p:sp>
        <p:nvSpPr>
          <p:cNvPr id="36" name="TextBox 35"/>
          <p:cNvSpPr txBox="1"/>
          <p:nvPr/>
        </p:nvSpPr>
        <p:spPr>
          <a:xfrm>
            <a:off x="2200655" y="3008376"/>
            <a:ext cx="1780032" cy="182880"/>
          </a:xfrm>
          <a:prstGeom prst="rect">
            <a:avLst/>
          </a:prstGeom>
          <a:noFill/>
        </p:spPr>
        <p:txBody>
          <a:bodyPr wrap="square">
            <a:spAutoFit/>
          </a:bodyPr>
          <a:lstStyle/>
          <a:p>
            <a:pPr algn="l"/>
            <a:r>
              <a:rPr sz="650" b="0" i="0">
                <a:solidFill>
                  <a:srgbClr val="D47F00"/>
                </a:solidFill>
                <a:latin typeface="Calibri"/>
              </a:rPr>
              <a:t>● MEDIUM</a:t>
            </a:r>
          </a:p>
        </p:txBody>
      </p:sp>
      <p:sp>
        <p:nvSpPr>
          <p:cNvPr id="37" name="Rounded Rectangle 36"/>
          <p:cNvSpPr/>
          <p:nvPr/>
        </p:nvSpPr>
        <p:spPr>
          <a:xfrm>
            <a:off x="4117847" y="960120"/>
            <a:ext cx="1908047" cy="5394960"/>
          </a:xfrm>
          <a:prstGeom prst="roundRect">
            <a:avLst>
              <a:gd name="adj" fmla="val 6000"/>
            </a:avLst>
          </a:prstGeom>
          <a:solidFill>
            <a:srgbClr val="F0F8FF"/>
          </a:solidFill>
          <a:ln w="1270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117847" y="960120"/>
            <a:ext cx="1908047" cy="5943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63567" y="1005840"/>
            <a:ext cx="1871471" cy="256032"/>
          </a:xfrm>
          <a:prstGeom prst="rect">
            <a:avLst/>
          </a:prstGeom>
          <a:noFill/>
        </p:spPr>
        <p:txBody>
          <a:bodyPr wrap="square">
            <a:spAutoFit/>
          </a:bodyPr>
          <a:lstStyle/>
          <a:p>
            <a:pPr algn="ctr"/>
            <a:r>
              <a:rPr sz="1400" b="0" i="0">
                <a:solidFill>
                  <a:srgbClr val="FFFFFF"/>
                </a:solidFill>
                <a:latin typeface="Calibri"/>
              </a:rPr>
              <a:t>💻</a:t>
            </a:r>
          </a:p>
        </p:txBody>
      </p:sp>
      <p:sp>
        <p:nvSpPr>
          <p:cNvPr id="40" name="TextBox 39"/>
          <p:cNvSpPr txBox="1"/>
          <p:nvPr/>
        </p:nvSpPr>
        <p:spPr>
          <a:xfrm>
            <a:off x="4136135" y="1234440"/>
            <a:ext cx="1889759" cy="274320"/>
          </a:xfrm>
          <a:prstGeom prst="rect">
            <a:avLst/>
          </a:prstGeom>
          <a:noFill/>
        </p:spPr>
        <p:txBody>
          <a:bodyPr wrap="square">
            <a:spAutoFit/>
          </a:bodyPr>
          <a:lstStyle/>
          <a:p>
            <a:pPr algn="ctr"/>
            <a:r>
              <a:rPr sz="800" b="1" i="0">
                <a:solidFill>
                  <a:srgbClr val="A0C8FF"/>
                </a:solidFill>
                <a:latin typeface="Calibri"/>
              </a:rPr>
              <a:t>DEVELOPMENT</a:t>
            </a:r>
          </a:p>
        </p:txBody>
      </p:sp>
      <p:sp>
        <p:nvSpPr>
          <p:cNvPr id="41" name="Rounded Rectangle 40"/>
          <p:cNvSpPr/>
          <p:nvPr/>
        </p:nvSpPr>
        <p:spPr>
          <a:xfrm>
            <a:off x="4163567" y="1618488"/>
            <a:ext cx="1816608" cy="502920"/>
          </a:xfrm>
          <a:prstGeom prst="roundRect">
            <a:avLst>
              <a:gd name="adj" fmla="val 8000"/>
            </a:avLst>
          </a:prstGeom>
          <a:solidFill>
            <a:srgbClr val="E8F8EE"/>
          </a:solidFill>
          <a:ln w="1270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181856" y="1655064"/>
            <a:ext cx="1780032" cy="256032"/>
          </a:xfrm>
          <a:prstGeom prst="rect">
            <a:avLst/>
          </a:prstGeom>
          <a:noFill/>
        </p:spPr>
        <p:txBody>
          <a:bodyPr wrap="square">
            <a:spAutoFit/>
          </a:bodyPr>
          <a:lstStyle/>
          <a:p>
            <a:pPr algn="l"/>
            <a:r>
              <a:rPr sz="700" b="1" i="0">
                <a:solidFill>
                  <a:srgbClr val="0D1B3E"/>
                </a:solidFill>
                <a:latin typeface="Calibri"/>
              </a:rPr>
              <a:t>Code Generation</a:t>
            </a:r>
          </a:p>
        </p:txBody>
      </p:sp>
      <p:sp>
        <p:nvSpPr>
          <p:cNvPr id="43" name="TextBox 42"/>
          <p:cNvSpPr txBox="1"/>
          <p:nvPr/>
        </p:nvSpPr>
        <p:spPr>
          <a:xfrm>
            <a:off x="4181856" y="1892807"/>
            <a:ext cx="1780032" cy="182880"/>
          </a:xfrm>
          <a:prstGeom prst="rect">
            <a:avLst/>
          </a:prstGeom>
          <a:noFill/>
        </p:spPr>
        <p:txBody>
          <a:bodyPr wrap="square">
            <a:spAutoFit/>
          </a:bodyPr>
          <a:lstStyle/>
          <a:p>
            <a:pPr algn="l"/>
            <a:r>
              <a:rPr sz="650" b="0" i="0">
                <a:solidFill>
                  <a:srgbClr val="1E8B4C"/>
                </a:solidFill>
                <a:latin typeface="Calibri"/>
              </a:rPr>
              <a:t>● HIGH</a:t>
            </a:r>
          </a:p>
        </p:txBody>
      </p:sp>
      <p:sp>
        <p:nvSpPr>
          <p:cNvPr id="44" name="Rounded Rectangle 43"/>
          <p:cNvSpPr/>
          <p:nvPr/>
        </p:nvSpPr>
        <p:spPr>
          <a:xfrm>
            <a:off x="4163567" y="2176272"/>
            <a:ext cx="1816608" cy="502920"/>
          </a:xfrm>
          <a:prstGeom prst="roundRect">
            <a:avLst>
              <a:gd name="adj" fmla="val 8000"/>
            </a:avLst>
          </a:prstGeom>
          <a:solidFill>
            <a:srgbClr val="E8F8EE"/>
          </a:solidFill>
          <a:ln w="1270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81856" y="2212848"/>
            <a:ext cx="1780032" cy="256032"/>
          </a:xfrm>
          <a:prstGeom prst="rect">
            <a:avLst/>
          </a:prstGeom>
          <a:noFill/>
        </p:spPr>
        <p:txBody>
          <a:bodyPr wrap="square">
            <a:spAutoFit/>
          </a:bodyPr>
          <a:lstStyle/>
          <a:p>
            <a:pPr algn="l"/>
            <a:r>
              <a:rPr sz="700" b="1" i="0">
                <a:solidFill>
                  <a:srgbClr val="0D1B3E"/>
                </a:solidFill>
                <a:latin typeface="Calibri"/>
              </a:rPr>
              <a:t>Pair Programming</a:t>
            </a:r>
          </a:p>
        </p:txBody>
      </p:sp>
      <p:sp>
        <p:nvSpPr>
          <p:cNvPr id="46" name="TextBox 45"/>
          <p:cNvSpPr txBox="1"/>
          <p:nvPr/>
        </p:nvSpPr>
        <p:spPr>
          <a:xfrm>
            <a:off x="4181856" y="2450591"/>
            <a:ext cx="1780032" cy="182880"/>
          </a:xfrm>
          <a:prstGeom prst="rect">
            <a:avLst/>
          </a:prstGeom>
          <a:noFill/>
        </p:spPr>
        <p:txBody>
          <a:bodyPr wrap="square">
            <a:spAutoFit/>
          </a:bodyPr>
          <a:lstStyle/>
          <a:p>
            <a:pPr algn="l"/>
            <a:r>
              <a:rPr sz="650" b="0" i="0">
                <a:solidFill>
                  <a:srgbClr val="1E8B4C"/>
                </a:solidFill>
                <a:latin typeface="Calibri"/>
              </a:rPr>
              <a:t>● HIGH</a:t>
            </a:r>
          </a:p>
        </p:txBody>
      </p:sp>
      <p:sp>
        <p:nvSpPr>
          <p:cNvPr id="47" name="Rounded Rectangle 46"/>
          <p:cNvSpPr/>
          <p:nvPr/>
        </p:nvSpPr>
        <p:spPr>
          <a:xfrm>
            <a:off x="4163567" y="2734056"/>
            <a:ext cx="1816608" cy="502920"/>
          </a:xfrm>
          <a:prstGeom prst="roundRect">
            <a:avLst>
              <a:gd name="adj" fmla="val 8000"/>
            </a:avLst>
          </a:prstGeom>
          <a:solidFill>
            <a:srgbClr val="FFF3CD"/>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181856" y="2770632"/>
            <a:ext cx="1780032" cy="256032"/>
          </a:xfrm>
          <a:prstGeom prst="rect">
            <a:avLst/>
          </a:prstGeom>
          <a:noFill/>
        </p:spPr>
        <p:txBody>
          <a:bodyPr wrap="square">
            <a:spAutoFit/>
          </a:bodyPr>
          <a:lstStyle/>
          <a:p>
            <a:pPr algn="l"/>
            <a:r>
              <a:rPr sz="700" b="1" i="0">
                <a:solidFill>
                  <a:srgbClr val="0D1B3E"/>
                </a:solidFill>
                <a:latin typeface="Calibri"/>
              </a:rPr>
              <a:t>Documentation</a:t>
            </a:r>
          </a:p>
        </p:txBody>
      </p:sp>
      <p:sp>
        <p:nvSpPr>
          <p:cNvPr id="49" name="TextBox 48"/>
          <p:cNvSpPr txBox="1"/>
          <p:nvPr/>
        </p:nvSpPr>
        <p:spPr>
          <a:xfrm>
            <a:off x="4181856" y="3008376"/>
            <a:ext cx="1780032" cy="182880"/>
          </a:xfrm>
          <a:prstGeom prst="rect">
            <a:avLst/>
          </a:prstGeom>
          <a:noFill/>
        </p:spPr>
        <p:txBody>
          <a:bodyPr wrap="square">
            <a:spAutoFit/>
          </a:bodyPr>
          <a:lstStyle/>
          <a:p>
            <a:pPr algn="l"/>
            <a:r>
              <a:rPr sz="650" b="0" i="0">
                <a:solidFill>
                  <a:srgbClr val="D47F00"/>
                </a:solidFill>
                <a:latin typeface="Calibri"/>
              </a:rPr>
              <a:t>● LOW</a:t>
            </a:r>
          </a:p>
        </p:txBody>
      </p:sp>
      <p:sp>
        <p:nvSpPr>
          <p:cNvPr id="50" name="Rounded Rectangle 49"/>
          <p:cNvSpPr/>
          <p:nvPr/>
        </p:nvSpPr>
        <p:spPr>
          <a:xfrm>
            <a:off x="4163567" y="3291840"/>
            <a:ext cx="1816608" cy="502920"/>
          </a:xfrm>
          <a:prstGeom prst="roundRect">
            <a:avLst>
              <a:gd name="adj" fmla="val 8000"/>
            </a:avLst>
          </a:prstGeom>
          <a:solidFill>
            <a:srgbClr val="FFF3CD"/>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181856" y="3328416"/>
            <a:ext cx="1780032" cy="256032"/>
          </a:xfrm>
          <a:prstGeom prst="rect">
            <a:avLst/>
          </a:prstGeom>
          <a:noFill/>
        </p:spPr>
        <p:txBody>
          <a:bodyPr wrap="square">
            <a:spAutoFit/>
          </a:bodyPr>
          <a:lstStyle/>
          <a:p>
            <a:pPr algn="l"/>
            <a:r>
              <a:rPr sz="700" b="1" i="0">
                <a:solidFill>
                  <a:srgbClr val="0D1B3E"/>
                </a:solidFill>
                <a:latin typeface="Calibri"/>
              </a:rPr>
              <a:t>Sprint Planner</a:t>
            </a:r>
          </a:p>
        </p:txBody>
      </p:sp>
      <p:sp>
        <p:nvSpPr>
          <p:cNvPr id="52" name="TextBox 51"/>
          <p:cNvSpPr txBox="1"/>
          <p:nvPr/>
        </p:nvSpPr>
        <p:spPr>
          <a:xfrm>
            <a:off x="4181856" y="3566160"/>
            <a:ext cx="1780032" cy="182880"/>
          </a:xfrm>
          <a:prstGeom prst="rect">
            <a:avLst/>
          </a:prstGeom>
          <a:noFill/>
        </p:spPr>
        <p:txBody>
          <a:bodyPr wrap="square">
            <a:spAutoFit/>
          </a:bodyPr>
          <a:lstStyle/>
          <a:p>
            <a:pPr algn="l"/>
            <a:r>
              <a:rPr sz="650" b="0" i="0">
                <a:solidFill>
                  <a:srgbClr val="D47F00"/>
                </a:solidFill>
                <a:latin typeface="Calibri"/>
              </a:rPr>
              <a:t>● MEDIUM</a:t>
            </a:r>
          </a:p>
        </p:txBody>
      </p:sp>
      <p:sp>
        <p:nvSpPr>
          <p:cNvPr id="53" name="Rounded Rectangle 52"/>
          <p:cNvSpPr/>
          <p:nvPr/>
        </p:nvSpPr>
        <p:spPr>
          <a:xfrm>
            <a:off x="6099048" y="960120"/>
            <a:ext cx="1908047" cy="5394960"/>
          </a:xfrm>
          <a:prstGeom prst="roundRect">
            <a:avLst>
              <a:gd name="adj" fmla="val 6000"/>
            </a:avLst>
          </a:prstGeom>
          <a:solidFill>
            <a:srgbClr val="F5F5FF"/>
          </a:solidFill>
          <a:ln w="1270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099048" y="960120"/>
            <a:ext cx="1908047" cy="5943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144768" y="1005840"/>
            <a:ext cx="1871471" cy="256032"/>
          </a:xfrm>
          <a:prstGeom prst="rect">
            <a:avLst/>
          </a:prstGeom>
          <a:noFill/>
        </p:spPr>
        <p:txBody>
          <a:bodyPr wrap="square">
            <a:spAutoFit/>
          </a:bodyPr>
          <a:lstStyle/>
          <a:p>
            <a:pPr algn="ctr"/>
            <a:r>
              <a:rPr sz="1400" b="0" i="0">
                <a:solidFill>
                  <a:srgbClr val="FFFFFF"/>
                </a:solidFill>
                <a:latin typeface="Calibri"/>
              </a:rPr>
              <a:t>🧪</a:t>
            </a:r>
          </a:p>
        </p:txBody>
      </p:sp>
      <p:sp>
        <p:nvSpPr>
          <p:cNvPr id="56" name="TextBox 55"/>
          <p:cNvSpPr txBox="1"/>
          <p:nvPr/>
        </p:nvSpPr>
        <p:spPr>
          <a:xfrm>
            <a:off x="6117336" y="1234440"/>
            <a:ext cx="1889759" cy="274320"/>
          </a:xfrm>
          <a:prstGeom prst="rect">
            <a:avLst/>
          </a:prstGeom>
          <a:noFill/>
        </p:spPr>
        <p:txBody>
          <a:bodyPr wrap="square">
            <a:spAutoFit/>
          </a:bodyPr>
          <a:lstStyle/>
          <a:p>
            <a:pPr algn="ctr"/>
            <a:r>
              <a:rPr sz="800" b="1" i="0">
                <a:solidFill>
                  <a:srgbClr val="A0C8FF"/>
                </a:solidFill>
                <a:latin typeface="Calibri"/>
              </a:rPr>
              <a:t>TESTING</a:t>
            </a:r>
          </a:p>
        </p:txBody>
      </p:sp>
      <p:sp>
        <p:nvSpPr>
          <p:cNvPr id="57" name="Rounded Rectangle 56"/>
          <p:cNvSpPr/>
          <p:nvPr/>
        </p:nvSpPr>
        <p:spPr>
          <a:xfrm>
            <a:off x="6144768" y="1618488"/>
            <a:ext cx="1816608" cy="502920"/>
          </a:xfrm>
          <a:prstGeom prst="roundRect">
            <a:avLst>
              <a:gd name="adj" fmla="val 8000"/>
            </a:avLst>
          </a:prstGeom>
          <a:solidFill>
            <a:srgbClr val="FFF3CD"/>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163056" y="1655064"/>
            <a:ext cx="1780032" cy="256032"/>
          </a:xfrm>
          <a:prstGeom prst="rect">
            <a:avLst/>
          </a:prstGeom>
          <a:noFill/>
        </p:spPr>
        <p:txBody>
          <a:bodyPr wrap="square">
            <a:spAutoFit/>
          </a:bodyPr>
          <a:lstStyle/>
          <a:p>
            <a:pPr algn="l"/>
            <a:r>
              <a:rPr sz="700" b="1" i="0">
                <a:solidFill>
                  <a:srgbClr val="0D1B3E"/>
                </a:solidFill>
                <a:latin typeface="Calibri"/>
              </a:rPr>
              <a:t>Test Generation</a:t>
            </a:r>
          </a:p>
        </p:txBody>
      </p:sp>
      <p:sp>
        <p:nvSpPr>
          <p:cNvPr id="59" name="TextBox 58"/>
          <p:cNvSpPr txBox="1"/>
          <p:nvPr/>
        </p:nvSpPr>
        <p:spPr>
          <a:xfrm>
            <a:off x="6163056" y="1892807"/>
            <a:ext cx="1780032" cy="182880"/>
          </a:xfrm>
          <a:prstGeom prst="rect">
            <a:avLst/>
          </a:prstGeom>
          <a:noFill/>
        </p:spPr>
        <p:txBody>
          <a:bodyPr wrap="square">
            <a:spAutoFit/>
          </a:bodyPr>
          <a:lstStyle/>
          <a:p>
            <a:pPr algn="l"/>
            <a:r>
              <a:rPr sz="650" b="0" i="0">
                <a:solidFill>
                  <a:srgbClr val="D47F00"/>
                </a:solidFill>
                <a:latin typeface="Calibri"/>
              </a:rPr>
              <a:t>● MEDIUM</a:t>
            </a:r>
          </a:p>
        </p:txBody>
      </p:sp>
      <p:sp>
        <p:nvSpPr>
          <p:cNvPr id="60" name="Rounded Rectangle 59"/>
          <p:cNvSpPr/>
          <p:nvPr/>
        </p:nvSpPr>
        <p:spPr>
          <a:xfrm>
            <a:off x="6144768" y="2176272"/>
            <a:ext cx="1816608" cy="502920"/>
          </a:xfrm>
          <a:prstGeom prst="roundRect">
            <a:avLst>
              <a:gd name="adj" fmla="val 8000"/>
            </a:avLst>
          </a:prstGeom>
          <a:solidFill>
            <a:srgbClr val="FFF3CD"/>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163056" y="2212848"/>
            <a:ext cx="1780032" cy="256032"/>
          </a:xfrm>
          <a:prstGeom prst="rect">
            <a:avLst/>
          </a:prstGeom>
          <a:noFill/>
        </p:spPr>
        <p:txBody>
          <a:bodyPr wrap="square">
            <a:spAutoFit/>
          </a:bodyPr>
          <a:lstStyle/>
          <a:p>
            <a:pPr algn="l"/>
            <a:r>
              <a:rPr sz="700" b="1" i="0">
                <a:solidFill>
                  <a:srgbClr val="0D1B3E"/>
                </a:solidFill>
                <a:latin typeface="Calibri"/>
              </a:rPr>
              <a:t>Peer Review</a:t>
            </a:r>
          </a:p>
        </p:txBody>
      </p:sp>
      <p:sp>
        <p:nvSpPr>
          <p:cNvPr id="62" name="TextBox 61"/>
          <p:cNvSpPr txBox="1"/>
          <p:nvPr/>
        </p:nvSpPr>
        <p:spPr>
          <a:xfrm>
            <a:off x="6163056" y="2450591"/>
            <a:ext cx="1780032" cy="182880"/>
          </a:xfrm>
          <a:prstGeom prst="rect">
            <a:avLst/>
          </a:prstGeom>
          <a:noFill/>
        </p:spPr>
        <p:txBody>
          <a:bodyPr wrap="square">
            <a:spAutoFit/>
          </a:bodyPr>
          <a:lstStyle/>
          <a:p>
            <a:pPr algn="l"/>
            <a:r>
              <a:rPr sz="650" b="0" i="0">
                <a:solidFill>
                  <a:srgbClr val="D47F00"/>
                </a:solidFill>
                <a:latin typeface="Calibri"/>
              </a:rPr>
              <a:t>● MEDIUM</a:t>
            </a:r>
          </a:p>
        </p:txBody>
      </p:sp>
      <p:sp>
        <p:nvSpPr>
          <p:cNvPr id="63" name="Rounded Rectangle 62"/>
          <p:cNvSpPr/>
          <p:nvPr/>
        </p:nvSpPr>
        <p:spPr>
          <a:xfrm>
            <a:off x="8080247" y="960120"/>
            <a:ext cx="1908047" cy="5394960"/>
          </a:xfrm>
          <a:prstGeom prst="roundRect">
            <a:avLst>
              <a:gd name="adj" fmla="val 6000"/>
            </a:avLst>
          </a:prstGeom>
          <a:solidFill>
            <a:srgbClr val="F0FBFF"/>
          </a:solidFill>
          <a:ln w="1270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8080247" y="960120"/>
            <a:ext cx="1908047" cy="5943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125968" y="1005840"/>
            <a:ext cx="1871471" cy="256032"/>
          </a:xfrm>
          <a:prstGeom prst="rect">
            <a:avLst/>
          </a:prstGeom>
          <a:noFill/>
        </p:spPr>
        <p:txBody>
          <a:bodyPr wrap="square">
            <a:spAutoFit/>
          </a:bodyPr>
          <a:lstStyle/>
          <a:p>
            <a:pPr algn="ctr"/>
            <a:r>
              <a:rPr sz="1400" b="0" i="0">
                <a:solidFill>
                  <a:srgbClr val="FFFFFF"/>
                </a:solidFill>
                <a:latin typeface="Calibri"/>
              </a:rPr>
              <a:t>🚀</a:t>
            </a:r>
          </a:p>
        </p:txBody>
      </p:sp>
      <p:sp>
        <p:nvSpPr>
          <p:cNvPr id="66" name="TextBox 65"/>
          <p:cNvSpPr txBox="1"/>
          <p:nvPr/>
        </p:nvSpPr>
        <p:spPr>
          <a:xfrm>
            <a:off x="8098535" y="1234440"/>
            <a:ext cx="1889759" cy="274320"/>
          </a:xfrm>
          <a:prstGeom prst="rect">
            <a:avLst/>
          </a:prstGeom>
          <a:noFill/>
        </p:spPr>
        <p:txBody>
          <a:bodyPr wrap="square">
            <a:spAutoFit/>
          </a:bodyPr>
          <a:lstStyle/>
          <a:p>
            <a:pPr algn="ctr"/>
            <a:r>
              <a:rPr sz="800" b="1" i="0">
                <a:solidFill>
                  <a:srgbClr val="A0C8FF"/>
                </a:solidFill>
                <a:latin typeface="Calibri"/>
              </a:rPr>
              <a:t>DEPLOYMENT</a:t>
            </a:r>
          </a:p>
        </p:txBody>
      </p:sp>
      <p:sp>
        <p:nvSpPr>
          <p:cNvPr id="67" name="Rounded Rectangle 66"/>
          <p:cNvSpPr/>
          <p:nvPr/>
        </p:nvSpPr>
        <p:spPr>
          <a:xfrm>
            <a:off x="8125968" y="1618488"/>
            <a:ext cx="1816608" cy="502920"/>
          </a:xfrm>
          <a:prstGeom prst="roundRect">
            <a:avLst>
              <a:gd name="adj" fmla="val 8000"/>
            </a:avLst>
          </a:prstGeom>
          <a:solidFill>
            <a:srgbClr val="FFF3CD"/>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144256" y="1655064"/>
            <a:ext cx="1780032" cy="256032"/>
          </a:xfrm>
          <a:prstGeom prst="rect">
            <a:avLst/>
          </a:prstGeom>
          <a:noFill/>
        </p:spPr>
        <p:txBody>
          <a:bodyPr wrap="square">
            <a:spAutoFit/>
          </a:bodyPr>
          <a:lstStyle/>
          <a:p>
            <a:pPr algn="l"/>
            <a:r>
              <a:rPr sz="700" b="1" i="0">
                <a:solidFill>
                  <a:srgbClr val="0D1B3E"/>
                </a:solidFill>
                <a:latin typeface="Calibri"/>
              </a:rPr>
              <a:t>Release</a:t>
            </a:r>
          </a:p>
        </p:txBody>
      </p:sp>
      <p:sp>
        <p:nvSpPr>
          <p:cNvPr id="69" name="TextBox 68"/>
          <p:cNvSpPr txBox="1"/>
          <p:nvPr/>
        </p:nvSpPr>
        <p:spPr>
          <a:xfrm>
            <a:off x="8144256" y="1892807"/>
            <a:ext cx="1780032" cy="182880"/>
          </a:xfrm>
          <a:prstGeom prst="rect">
            <a:avLst/>
          </a:prstGeom>
          <a:noFill/>
        </p:spPr>
        <p:txBody>
          <a:bodyPr wrap="square">
            <a:spAutoFit/>
          </a:bodyPr>
          <a:lstStyle/>
          <a:p>
            <a:pPr algn="l"/>
            <a:r>
              <a:rPr sz="650" b="0" i="0">
                <a:solidFill>
                  <a:srgbClr val="D47F00"/>
                </a:solidFill>
                <a:latin typeface="Calibri"/>
              </a:rPr>
              <a:t>● MEDIUM</a:t>
            </a:r>
          </a:p>
        </p:txBody>
      </p:sp>
      <p:sp>
        <p:nvSpPr>
          <p:cNvPr id="70" name="Rounded Rectangle 69"/>
          <p:cNvSpPr/>
          <p:nvPr/>
        </p:nvSpPr>
        <p:spPr>
          <a:xfrm>
            <a:off x="8125968" y="2176272"/>
            <a:ext cx="1816608" cy="502920"/>
          </a:xfrm>
          <a:prstGeom prst="roundRect">
            <a:avLst>
              <a:gd name="adj" fmla="val 8000"/>
            </a:avLst>
          </a:prstGeom>
          <a:solidFill>
            <a:srgbClr val="E8F8EE"/>
          </a:solidFill>
          <a:ln w="1270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144256" y="2212848"/>
            <a:ext cx="1780032" cy="256032"/>
          </a:xfrm>
          <a:prstGeom prst="rect">
            <a:avLst/>
          </a:prstGeom>
          <a:noFill/>
        </p:spPr>
        <p:txBody>
          <a:bodyPr wrap="square">
            <a:spAutoFit/>
          </a:bodyPr>
          <a:lstStyle/>
          <a:p>
            <a:pPr algn="l"/>
            <a:r>
              <a:rPr sz="700" b="1" i="0">
                <a:solidFill>
                  <a:srgbClr val="0D1B3E"/>
                </a:solidFill>
                <a:latin typeface="Calibri"/>
              </a:rPr>
              <a:t>Codebase Navigator</a:t>
            </a:r>
          </a:p>
        </p:txBody>
      </p:sp>
      <p:sp>
        <p:nvSpPr>
          <p:cNvPr id="72" name="TextBox 71"/>
          <p:cNvSpPr txBox="1"/>
          <p:nvPr/>
        </p:nvSpPr>
        <p:spPr>
          <a:xfrm>
            <a:off x="8144256" y="2450591"/>
            <a:ext cx="1780032" cy="182880"/>
          </a:xfrm>
          <a:prstGeom prst="rect">
            <a:avLst/>
          </a:prstGeom>
          <a:noFill/>
        </p:spPr>
        <p:txBody>
          <a:bodyPr wrap="square">
            <a:spAutoFit/>
          </a:bodyPr>
          <a:lstStyle/>
          <a:p>
            <a:pPr algn="l"/>
            <a:r>
              <a:rPr sz="650" b="0" i="0">
                <a:solidFill>
                  <a:srgbClr val="1E8B4C"/>
                </a:solidFill>
                <a:latin typeface="Calibri"/>
              </a:rPr>
              <a:t>● HIGH</a:t>
            </a:r>
          </a:p>
        </p:txBody>
      </p:sp>
      <p:sp>
        <p:nvSpPr>
          <p:cNvPr id="73" name="Rounded Rectangle 72"/>
          <p:cNvSpPr/>
          <p:nvPr/>
        </p:nvSpPr>
        <p:spPr>
          <a:xfrm>
            <a:off x="10061447" y="960120"/>
            <a:ext cx="1908047" cy="5394960"/>
          </a:xfrm>
          <a:prstGeom prst="roundRect">
            <a:avLst>
              <a:gd name="adj" fmla="val 6000"/>
            </a:avLst>
          </a:prstGeom>
          <a:solidFill>
            <a:srgbClr val="F5FFFB"/>
          </a:solidFill>
          <a:ln w="1270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0061447" y="960120"/>
            <a:ext cx="1908047" cy="5943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107168" y="1005840"/>
            <a:ext cx="1871471" cy="256032"/>
          </a:xfrm>
          <a:prstGeom prst="rect">
            <a:avLst/>
          </a:prstGeom>
          <a:noFill/>
        </p:spPr>
        <p:txBody>
          <a:bodyPr wrap="square">
            <a:spAutoFit/>
          </a:bodyPr>
          <a:lstStyle/>
          <a:p>
            <a:pPr algn="ctr"/>
            <a:r>
              <a:rPr sz="1400" b="0" i="0">
                <a:solidFill>
                  <a:srgbClr val="FFFFFF"/>
                </a:solidFill>
                <a:latin typeface="Calibri"/>
              </a:rPr>
              <a:t>⚙</a:t>
            </a:r>
          </a:p>
        </p:txBody>
      </p:sp>
      <p:sp>
        <p:nvSpPr>
          <p:cNvPr id="76" name="TextBox 75"/>
          <p:cNvSpPr txBox="1"/>
          <p:nvPr/>
        </p:nvSpPr>
        <p:spPr>
          <a:xfrm>
            <a:off x="10079735" y="1234440"/>
            <a:ext cx="1889759" cy="274320"/>
          </a:xfrm>
          <a:prstGeom prst="rect">
            <a:avLst/>
          </a:prstGeom>
          <a:noFill/>
        </p:spPr>
        <p:txBody>
          <a:bodyPr wrap="square">
            <a:spAutoFit/>
          </a:bodyPr>
          <a:lstStyle/>
          <a:p>
            <a:pPr algn="ctr"/>
            <a:r>
              <a:rPr sz="800" b="1" i="0">
                <a:solidFill>
                  <a:srgbClr val="A0C8FF"/>
                </a:solidFill>
                <a:latin typeface="Calibri"/>
              </a:rPr>
              <a:t>OPERATIONS</a:t>
            </a:r>
          </a:p>
        </p:txBody>
      </p:sp>
      <p:sp>
        <p:nvSpPr>
          <p:cNvPr id="77" name="Rounded Rectangle 76"/>
          <p:cNvSpPr/>
          <p:nvPr/>
        </p:nvSpPr>
        <p:spPr>
          <a:xfrm>
            <a:off x="10107168" y="1618488"/>
            <a:ext cx="1816608" cy="502920"/>
          </a:xfrm>
          <a:prstGeom prst="roundRect">
            <a:avLst>
              <a:gd name="adj" fmla="val 8000"/>
            </a:avLst>
          </a:prstGeom>
          <a:solidFill>
            <a:srgbClr val="FFF3CD"/>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10125456" y="1655064"/>
            <a:ext cx="1780032" cy="256032"/>
          </a:xfrm>
          <a:prstGeom prst="rect">
            <a:avLst/>
          </a:prstGeom>
          <a:noFill/>
        </p:spPr>
        <p:txBody>
          <a:bodyPr wrap="square">
            <a:spAutoFit/>
          </a:bodyPr>
          <a:lstStyle/>
          <a:p>
            <a:pPr algn="l"/>
            <a:r>
              <a:rPr sz="700" b="1" i="0">
                <a:solidFill>
                  <a:srgbClr val="0D1B3E"/>
                </a:solidFill>
                <a:latin typeface="Calibri"/>
              </a:rPr>
              <a:t>Triaging</a:t>
            </a:r>
          </a:p>
        </p:txBody>
      </p:sp>
      <p:sp>
        <p:nvSpPr>
          <p:cNvPr id="79" name="TextBox 78"/>
          <p:cNvSpPr txBox="1"/>
          <p:nvPr/>
        </p:nvSpPr>
        <p:spPr>
          <a:xfrm>
            <a:off x="10125456" y="1892807"/>
            <a:ext cx="1780032" cy="182880"/>
          </a:xfrm>
          <a:prstGeom prst="rect">
            <a:avLst/>
          </a:prstGeom>
          <a:noFill/>
        </p:spPr>
        <p:txBody>
          <a:bodyPr wrap="square">
            <a:spAutoFit/>
          </a:bodyPr>
          <a:lstStyle/>
          <a:p>
            <a:pPr algn="l"/>
            <a:r>
              <a:rPr sz="650" b="0" i="0">
                <a:solidFill>
                  <a:srgbClr val="D47F00"/>
                </a:solidFill>
                <a:latin typeface="Calibri"/>
              </a:rPr>
              <a:t>● MEDIUM</a:t>
            </a:r>
          </a:p>
        </p:txBody>
      </p:sp>
      <p:sp>
        <p:nvSpPr>
          <p:cNvPr id="80" name="Rounded Rectangle 79"/>
          <p:cNvSpPr/>
          <p:nvPr/>
        </p:nvSpPr>
        <p:spPr>
          <a:xfrm>
            <a:off x="10107168" y="2176272"/>
            <a:ext cx="1816608" cy="502920"/>
          </a:xfrm>
          <a:prstGeom prst="roundRect">
            <a:avLst>
              <a:gd name="adj" fmla="val 8000"/>
            </a:avLst>
          </a:prstGeom>
          <a:solidFill>
            <a:srgbClr val="E8F8EE"/>
          </a:solidFill>
          <a:ln w="1270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125456" y="2212848"/>
            <a:ext cx="1780032" cy="256032"/>
          </a:xfrm>
          <a:prstGeom prst="rect">
            <a:avLst/>
          </a:prstGeom>
          <a:noFill/>
        </p:spPr>
        <p:txBody>
          <a:bodyPr wrap="square">
            <a:spAutoFit/>
          </a:bodyPr>
          <a:lstStyle/>
          <a:p>
            <a:pPr algn="l"/>
            <a:r>
              <a:rPr sz="700" b="1" i="0">
                <a:solidFill>
                  <a:srgbClr val="0D1B3E"/>
                </a:solidFill>
                <a:latin typeface="Calibri"/>
              </a:rPr>
              <a:t>Root Cause Analys…</a:t>
            </a:r>
          </a:p>
        </p:txBody>
      </p:sp>
      <p:sp>
        <p:nvSpPr>
          <p:cNvPr id="82" name="TextBox 81"/>
          <p:cNvSpPr txBox="1"/>
          <p:nvPr/>
        </p:nvSpPr>
        <p:spPr>
          <a:xfrm>
            <a:off x="10125456" y="2450591"/>
            <a:ext cx="1780032" cy="182880"/>
          </a:xfrm>
          <a:prstGeom prst="rect">
            <a:avLst/>
          </a:prstGeom>
          <a:noFill/>
        </p:spPr>
        <p:txBody>
          <a:bodyPr wrap="square">
            <a:spAutoFit/>
          </a:bodyPr>
          <a:lstStyle/>
          <a:p>
            <a:pPr algn="l"/>
            <a:r>
              <a:rPr sz="650" b="0" i="0">
                <a:solidFill>
                  <a:srgbClr val="1E8B4C"/>
                </a:solidFill>
                <a:latin typeface="Calibri"/>
              </a:rPr>
              <a:t>● HIGH</a:t>
            </a:r>
          </a:p>
        </p:txBody>
      </p:sp>
      <p:sp>
        <p:nvSpPr>
          <p:cNvPr id="83" name="Rounded Rectangle 82"/>
          <p:cNvSpPr/>
          <p:nvPr/>
        </p:nvSpPr>
        <p:spPr>
          <a:xfrm>
            <a:off x="10107168" y="2734056"/>
            <a:ext cx="1816608" cy="502920"/>
          </a:xfrm>
          <a:prstGeom prst="roundRect">
            <a:avLst>
              <a:gd name="adj" fmla="val 8000"/>
            </a:avLst>
          </a:prstGeom>
          <a:solidFill>
            <a:srgbClr val="E8F8EE"/>
          </a:solidFill>
          <a:ln w="1270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10125456" y="2770632"/>
            <a:ext cx="1780032" cy="256032"/>
          </a:xfrm>
          <a:prstGeom prst="rect">
            <a:avLst/>
          </a:prstGeom>
          <a:noFill/>
        </p:spPr>
        <p:txBody>
          <a:bodyPr wrap="square">
            <a:spAutoFit/>
          </a:bodyPr>
          <a:lstStyle/>
          <a:p>
            <a:pPr algn="l"/>
            <a:r>
              <a:rPr sz="700" b="1" i="0">
                <a:solidFill>
                  <a:srgbClr val="0D1B3E"/>
                </a:solidFill>
                <a:latin typeface="Calibri"/>
              </a:rPr>
              <a:t>Auto-Remediation</a:t>
            </a:r>
          </a:p>
        </p:txBody>
      </p:sp>
      <p:sp>
        <p:nvSpPr>
          <p:cNvPr id="85" name="TextBox 84"/>
          <p:cNvSpPr txBox="1"/>
          <p:nvPr/>
        </p:nvSpPr>
        <p:spPr>
          <a:xfrm>
            <a:off x="10125456" y="3008376"/>
            <a:ext cx="1780032" cy="182880"/>
          </a:xfrm>
          <a:prstGeom prst="rect">
            <a:avLst/>
          </a:prstGeom>
          <a:noFill/>
        </p:spPr>
        <p:txBody>
          <a:bodyPr wrap="square">
            <a:spAutoFit/>
          </a:bodyPr>
          <a:lstStyle/>
          <a:p>
            <a:pPr algn="l"/>
            <a:r>
              <a:rPr sz="650" b="0" i="0">
                <a:solidFill>
                  <a:srgbClr val="1E8B4C"/>
                </a:solidFill>
                <a:latin typeface="Calibri"/>
              </a:rPr>
              <a:t>● HIGH</a:t>
            </a:r>
          </a:p>
        </p:txBody>
      </p:sp>
      <p:sp>
        <p:nvSpPr>
          <p:cNvPr id="86" name="Rounded Rectangle 85"/>
          <p:cNvSpPr/>
          <p:nvPr/>
        </p:nvSpPr>
        <p:spPr>
          <a:xfrm>
            <a:off x="10107168" y="3291840"/>
            <a:ext cx="1816608" cy="502920"/>
          </a:xfrm>
          <a:prstGeom prst="roundRect">
            <a:avLst>
              <a:gd name="adj" fmla="val 8000"/>
            </a:avLst>
          </a:prstGeom>
          <a:solidFill>
            <a:srgbClr val="E8F8EE"/>
          </a:solidFill>
          <a:ln w="1270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0125456" y="3328416"/>
            <a:ext cx="1780032" cy="256032"/>
          </a:xfrm>
          <a:prstGeom prst="rect">
            <a:avLst/>
          </a:prstGeom>
          <a:noFill/>
        </p:spPr>
        <p:txBody>
          <a:bodyPr wrap="square">
            <a:spAutoFit/>
          </a:bodyPr>
          <a:lstStyle/>
          <a:p>
            <a:pPr algn="l"/>
            <a:r>
              <a:rPr sz="700" b="1" i="0">
                <a:solidFill>
                  <a:srgbClr val="0D1B3E"/>
                </a:solidFill>
                <a:latin typeface="Calibri"/>
              </a:rPr>
              <a:t>Access Provisioner</a:t>
            </a:r>
          </a:p>
        </p:txBody>
      </p:sp>
      <p:sp>
        <p:nvSpPr>
          <p:cNvPr id="88" name="TextBox 87"/>
          <p:cNvSpPr txBox="1"/>
          <p:nvPr/>
        </p:nvSpPr>
        <p:spPr>
          <a:xfrm>
            <a:off x="10125456" y="3566160"/>
            <a:ext cx="1780032" cy="182880"/>
          </a:xfrm>
          <a:prstGeom prst="rect">
            <a:avLst/>
          </a:prstGeom>
          <a:noFill/>
        </p:spPr>
        <p:txBody>
          <a:bodyPr wrap="square">
            <a:spAutoFit/>
          </a:bodyPr>
          <a:lstStyle/>
          <a:p>
            <a:pPr algn="l"/>
            <a:r>
              <a:rPr sz="650" b="0" i="0">
                <a:solidFill>
                  <a:srgbClr val="1E8B4C"/>
                </a:solidFill>
                <a:latin typeface="Calibri"/>
              </a:rPr>
              <a:t>● HIGH</a:t>
            </a:r>
          </a:p>
        </p:txBody>
      </p:sp>
      <p:sp>
        <p:nvSpPr>
          <p:cNvPr id="89" name="Rounded Rectangle 88"/>
          <p:cNvSpPr/>
          <p:nvPr/>
        </p:nvSpPr>
        <p:spPr>
          <a:xfrm>
            <a:off x="10107168" y="3849624"/>
            <a:ext cx="1816608" cy="502920"/>
          </a:xfrm>
          <a:prstGeom prst="roundRect">
            <a:avLst>
              <a:gd name="adj" fmla="val 8000"/>
            </a:avLst>
          </a:prstGeom>
          <a:solidFill>
            <a:srgbClr val="FFF3CD"/>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10125456" y="3886200"/>
            <a:ext cx="1780032" cy="256032"/>
          </a:xfrm>
          <a:prstGeom prst="rect">
            <a:avLst/>
          </a:prstGeom>
          <a:noFill/>
        </p:spPr>
        <p:txBody>
          <a:bodyPr wrap="square">
            <a:spAutoFit/>
          </a:bodyPr>
          <a:lstStyle/>
          <a:p>
            <a:pPr algn="l"/>
            <a:r>
              <a:rPr sz="700" b="1" i="0">
                <a:solidFill>
                  <a:srgbClr val="0D1B3E"/>
                </a:solidFill>
                <a:latin typeface="Calibri"/>
              </a:rPr>
              <a:t>Runbook Tutor</a:t>
            </a:r>
          </a:p>
        </p:txBody>
      </p:sp>
      <p:sp>
        <p:nvSpPr>
          <p:cNvPr id="91" name="TextBox 90"/>
          <p:cNvSpPr txBox="1"/>
          <p:nvPr/>
        </p:nvSpPr>
        <p:spPr>
          <a:xfrm>
            <a:off x="10125456" y="4123944"/>
            <a:ext cx="1780032" cy="182880"/>
          </a:xfrm>
          <a:prstGeom prst="rect">
            <a:avLst/>
          </a:prstGeom>
          <a:noFill/>
        </p:spPr>
        <p:txBody>
          <a:bodyPr wrap="square">
            <a:spAutoFit/>
          </a:bodyPr>
          <a:lstStyle/>
          <a:p>
            <a:pPr algn="l"/>
            <a:r>
              <a:rPr sz="650" b="0" i="0">
                <a:solidFill>
                  <a:srgbClr val="D47F00"/>
                </a:solidFill>
                <a:latin typeface="Calibri"/>
              </a:rPr>
              <a:t>● LOW</a:t>
            </a:r>
          </a:p>
        </p:txBody>
      </p:sp>
      <p:sp>
        <p:nvSpPr>
          <p:cNvPr id="92" name="Rounded Rectangle 91"/>
          <p:cNvSpPr/>
          <p:nvPr/>
        </p:nvSpPr>
        <p:spPr>
          <a:xfrm>
            <a:off x="10107168" y="4407408"/>
            <a:ext cx="1816608" cy="502920"/>
          </a:xfrm>
          <a:prstGeom prst="roundRect">
            <a:avLst>
              <a:gd name="adj" fmla="val 8000"/>
            </a:avLst>
          </a:prstGeom>
          <a:solidFill>
            <a:srgbClr val="FFF3CD"/>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10125456" y="4443984"/>
            <a:ext cx="1780032" cy="256032"/>
          </a:xfrm>
          <a:prstGeom prst="rect">
            <a:avLst/>
          </a:prstGeom>
          <a:noFill/>
        </p:spPr>
        <p:txBody>
          <a:bodyPr wrap="square">
            <a:spAutoFit/>
          </a:bodyPr>
          <a:lstStyle/>
          <a:p>
            <a:pPr algn="l"/>
            <a:r>
              <a:rPr sz="700" b="1" i="0">
                <a:solidFill>
                  <a:srgbClr val="0D1B3E"/>
                </a:solidFill>
                <a:latin typeface="Calibri"/>
              </a:rPr>
              <a:t>PII Leak Detection</a:t>
            </a:r>
          </a:p>
        </p:txBody>
      </p:sp>
      <p:sp>
        <p:nvSpPr>
          <p:cNvPr id="94" name="TextBox 93"/>
          <p:cNvSpPr txBox="1"/>
          <p:nvPr/>
        </p:nvSpPr>
        <p:spPr>
          <a:xfrm>
            <a:off x="10125456" y="4681728"/>
            <a:ext cx="1780032" cy="182880"/>
          </a:xfrm>
          <a:prstGeom prst="rect">
            <a:avLst/>
          </a:prstGeom>
          <a:noFill/>
        </p:spPr>
        <p:txBody>
          <a:bodyPr wrap="square">
            <a:spAutoFit/>
          </a:bodyPr>
          <a:lstStyle/>
          <a:p>
            <a:pPr algn="l"/>
            <a:r>
              <a:rPr sz="650" b="0" i="0">
                <a:solidFill>
                  <a:srgbClr val="D47F00"/>
                </a:solidFill>
                <a:latin typeface="Calibri"/>
              </a:rPr>
              <a:t>● LOW</a:t>
            </a:r>
          </a:p>
        </p:txBody>
      </p:sp>
      <p:sp>
        <p:nvSpPr>
          <p:cNvPr id="95" name="Rounded Rectangle 94"/>
          <p:cNvSpPr/>
          <p:nvPr/>
        </p:nvSpPr>
        <p:spPr>
          <a:xfrm>
            <a:off x="10107168" y="4965192"/>
            <a:ext cx="1816608" cy="502920"/>
          </a:xfrm>
          <a:prstGeom prst="roundRect">
            <a:avLst>
              <a:gd name="adj" fmla="val 8000"/>
            </a:avLst>
          </a:prstGeom>
          <a:solidFill>
            <a:srgbClr val="FFF3CD"/>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10125456" y="5001768"/>
            <a:ext cx="1780032" cy="256032"/>
          </a:xfrm>
          <a:prstGeom prst="rect">
            <a:avLst/>
          </a:prstGeom>
          <a:noFill/>
        </p:spPr>
        <p:txBody>
          <a:bodyPr wrap="square">
            <a:spAutoFit/>
          </a:bodyPr>
          <a:lstStyle/>
          <a:p>
            <a:pPr algn="l"/>
            <a:r>
              <a:rPr sz="700" b="1" i="0">
                <a:solidFill>
                  <a:srgbClr val="0D1B3E"/>
                </a:solidFill>
                <a:latin typeface="Calibri"/>
              </a:rPr>
              <a:t>Meeting Intellige…</a:t>
            </a:r>
          </a:p>
        </p:txBody>
      </p:sp>
      <p:sp>
        <p:nvSpPr>
          <p:cNvPr id="97" name="TextBox 96"/>
          <p:cNvSpPr txBox="1"/>
          <p:nvPr/>
        </p:nvSpPr>
        <p:spPr>
          <a:xfrm>
            <a:off x="10125456" y="5239512"/>
            <a:ext cx="1780032" cy="182880"/>
          </a:xfrm>
          <a:prstGeom prst="rect">
            <a:avLst/>
          </a:prstGeom>
          <a:noFill/>
        </p:spPr>
        <p:txBody>
          <a:bodyPr wrap="square">
            <a:spAutoFit/>
          </a:bodyPr>
          <a:lstStyle/>
          <a:p>
            <a:pPr algn="l"/>
            <a:r>
              <a:rPr sz="650" b="0" i="0">
                <a:solidFill>
                  <a:srgbClr val="D47F00"/>
                </a:solidFill>
                <a:latin typeface="Calibri"/>
              </a:rPr>
              <a:t>● LOW</a:t>
            </a:r>
          </a:p>
        </p:txBody>
      </p:sp>
      <p:sp>
        <p:nvSpPr>
          <p:cNvPr id="98" name="Rounded Rectangle 97"/>
          <p:cNvSpPr/>
          <p:nvPr/>
        </p:nvSpPr>
        <p:spPr>
          <a:xfrm>
            <a:off x="10107168" y="5522976"/>
            <a:ext cx="1816608" cy="502920"/>
          </a:xfrm>
          <a:prstGeom prst="roundRect">
            <a:avLst>
              <a:gd name="adj" fmla="val 8000"/>
            </a:avLst>
          </a:prstGeom>
          <a:solidFill>
            <a:srgbClr val="FFF3CD"/>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10125456" y="5559552"/>
            <a:ext cx="1780032" cy="256032"/>
          </a:xfrm>
          <a:prstGeom prst="rect">
            <a:avLst/>
          </a:prstGeom>
          <a:noFill/>
        </p:spPr>
        <p:txBody>
          <a:bodyPr wrap="square">
            <a:spAutoFit/>
          </a:bodyPr>
          <a:lstStyle/>
          <a:p>
            <a:pPr algn="l"/>
            <a:r>
              <a:rPr sz="700" b="1" i="0">
                <a:solidFill>
                  <a:srgbClr val="0D1B3E"/>
                </a:solidFill>
                <a:latin typeface="Calibri"/>
              </a:rPr>
              <a:t>Learning Path</a:t>
            </a:r>
          </a:p>
        </p:txBody>
      </p:sp>
      <p:sp>
        <p:nvSpPr>
          <p:cNvPr id="100" name="TextBox 99"/>
          <p:cNvSpPr txBox="1"/>
          <p:nvPr/>
        </p:nvSpPr>
        <p:spPr>
          <a:xfrm>
            <a:off x="10125456" y="5797296"/>
            <a:ext cx="1780032" cy="182880"/>
          </a:xfrm>
          <a:prstGeom prst="rect">
            <a:avLst/>
          </a:prstGeom>
          <a:noFill/>
        </p:spPr>
        <p:txBody>
          <a:bodyPr wrap="square">
            <a:spAutoFit/>
          </a:bodyPr>
          <a:lstStyle/>
          <a:p>
            <a:pPr algn="l"/>
            <a:r>
              <a:rPr sz="650" b="0" i="0">
                <a:solidFill>
                  <a:srgbClr val="D47F00"/>
                </a:solidFill>
                <a:latin typeface="Calibri"/>
              </a:rPr>
              <a:t>● LOW</a:t>
            </a:r>
          </a:p>
        </p:txBody>
      </p:sp>
      <p:sp>
        <p:nvSpPr>
          <p:cNvPr id="101" name="Rectangle 100"/>
          <p:cNvSpPr/>
          <p:nvPr/>
        </p:nvSpPr>
        <p:spPr>
          <a:xfrm>
            <a:off x="155448" y="6446520"/>
            <a:ext cx="11887200" cy="201168"/>
          </a:xfrm>
          <a:prstGeom prst="rect">
            <a:avLst/>
          </a:prstGeom>
          <a:solidFill>
            <a:srgbClr val="EC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320040" y="6473952"/>
            <a:ext cx="228600" cy="164592"/>
          </a:xfrm>
          <a:prstGeom prst="rect">
            <a:avLst/>
          </a:prstGeom>
          <a:noFill/>
        </p:spPr>
        <p:txBody>
          <a:bodyPr wrap="square">
            <a:spAutoFit/>
          </a:bodyPr>
          <a:lstStyle/>
          <a:p>
            <a:pPr algn="l"/>
            <a:r>
              <a:rPr sz="900" b="0" i="0">
                <a:solidFill>
                  <a:srgbClr val="1E8B4C"/>
                </a:solidFill>
                <a:latin typeface="Calibri"/>
              </a:rPr>
              <a:t>■</a:t>
            </a:r>
          </a:p>
        </p:txBody>
      </p:sp>
      <p:sp>
        <p:nvSpPr>
          <p:cNvPr id="103" name="TextBox 102"/>
          <p:cNvSpPr txBox="1"/>
          <p:nvPr/>
        </p:nvSpPr>
        <p:spPr>
          <a:xfrm>
            <a:off x="502920" y="6473952"/>
            <a:ext cx="1097280" cy="164592"/>
          </a:xfrm>
          <a:prstGeom prst="rect">
            <a:avLst/>
          </a:prstGeom>
          <a:noFill/>
        </p:spPr>
        <p:txBody>
          <a:bodyPr wrap="square">
            <a:spAutoFit/>
          </a:bodyPr>
          <a:lstStyle/>
          <a:p>
            <a:pPr algn="l"/>
            <a:r>
              <a:rPr sz="800" b="0" i="0">
                <a:solidFill>
                  <a:srgbClr val="0D1B3E"/>
                </a:solidFill>
                <a:latin typeface="Calibri"/>
              </a:rPr>
              <a:t>High Impact</a:t>
            </a:r>
          </a:p>
        </p:txBody>
      </p:sp>
      <p:sp>
        <p:nvSpPr>
          <p:cNvPr id="104" name="TextBox 103"/>
          <p:cNvSpPr txBox="1"/>
          <p:nvPr/>
        </p:nvSpPr>
        <p:spPr>
          <a:xfrm>
            <a:off x="1737360" y="6473952"/>
            <a:ext cx="228600" cy="164592"/>
          </a:xfrm>
          <a:prstGeom prst="rect">
            <a:avLst/>
          </a:prstGeom>
          <a:noFill/>
        </p:spPr>
        <p:txBody>
          <a:bodyPr wrap="square">
            <a:spAutoFit/>
          </a:bodyPr>
          <a:lstStyle/>
          <a:p>
            <a:pPr algn="l"/>
            <a:r>
              <a:rPr sz="900" b="0" i="0">
                <a:solidFill>
                  <a:srgbClr val="D47F00"/>
                </a:solidFill>
                <a:latin typeface="Calibri"/>
              </a:rPr>
              <a:t>■</a:t>
            </a:r>
          </a:p>
        </p:txBody>
      </p:sp>
      <p:sp>
        <p:nvSpPr>
          <p:cNvPr id="105" name="TextBox 104"/>
          <p:cNvSpPr txBox="1"/>
          <p:nvPr/>
        </p:nvSpPr>
        <p:spPr>
          <a:xfrm>
            <a:off x="1920240" y="6473952"/>
            <a:ext cx="1280160" cy="164592"/>
          </a:xfrm>
          <a:prstGeom prst="rect">
            <a:avLst/>
          </a:prstGeom>
          <a:noFill/>
        </p:spPr>
        <p:txBody>
          <a:bodyPr wrap="square">
            <a:spAutoFit/>
          </a:bodyPr>
          <a:lstStyle/>
          <a:p>
            <a:pPr algn="l"/>
            <a:r>
              <a:rPr sz="800" b="0" i="0">
                <a:solidFill>
                  <a:srgbClr val="0D1B3E"/>
                </a:solidFill>
                <a:latin typeface="Calibri"/>
              </a:rPr>
              <a:t>Medium Impact</a:t>
            </a:r>
          </a:p>
        </p:txBody>
      </p:sp>
      <p:sp>
        <p:nvSpPr>
          <p:cNvPr id="106" name="TextBox 105"/>
          <p:cNvSpPr txBox="1"/>
          <p:nvPr/>
        </p:nvSpPr>
        <p:spPr>
          <a:xfrm>
            <a:off x="9601200" y="6473952"/>
            <a:ext cx="2468880" cy="164592"/>
          </a:xfrm>
          <a:prstGeom prst="rect">
            <a:avLst/>
          </a:prstGeom>
          <a:noFill/>
        </p:spPr>
        <p:txBody>
          <a:bodyPr wrap="square">
            <a:spAutoFit/>
          </a:bodyPr>
          <a:lstStyle/>
          <a:p>
            <a:pPr algn="r"/>
            <a:r>
              <a:rPr sz="800" b="1" i="0">
                <a:solidFill>
                  <a:srgbClr val="007ABF"/>
                </a:solidFill>
                <a:latin typeface="Calibri"/>
              </a:rPr>
              <a:t>Total Agents Mapped: 24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1A2F5A"/>
          </a:solidFill>
          <a:ln w="12700">
            <a:solidFill>
              <a:srgbClr val="1A2F5A"/>
            </a:solidFill>
            <a:prstDash val="solid"/>
          </a:ln>
        </p:spPr>
        <p:txBody>
          <a:bodyPr/>
          <a:lstStyle/>
          <a:p>
            <a:endParaRPr lang="en-US"/>
          </a:p>
        </p:txBody>
      </p:sp>
      <p:sp>
        <p:nvSpPr>
          <p:cNvPr id="3" name="Text 1"/>
          <p:cNvSpPr/>
          <p:nvPr/>
        </p:nvSpPr>
        <p:spPr>
          <a:xfrm>
            <a:off x="457200" y="73152"/>
            <a:ext cx="8229600" cy="347472"/>
          </a:xfrm>
          <a:prstGeom prst="rect">
            <a:avLst/>
          </a:prstGeom>
          <a:noFill/>
          <a:ln/>
        </p:spPr>
        <p:txBody>
          <a:bodyPr wrap="square" lIns="0" tIns="0" rIns="0" bIns="0" rtlCol="0" anchor="ctr"/>
          <a:lstStyle/>
          <a:p>
            <a:pPr marL="0" indent="0">
              <a:buNone/>
            </a:pPr>
            <a:r>
              <a:rPr lang="en-US" sz="1000" b="1" kern="0" spc="200" dirty="0">
                <a:solidFill>
                  <a:srgbClr val="00D4FF"/>
                </a:solidFill>
              </a:rPr>
              <a:t>AGENTIC SDLC FUTURE STATE</a:t>
            </a:r>
            <a:endParaRPr lang="en-US" sz="1000" dirty="0"/>
          </a:p>
        </p:txBody>
      </p:sp>
      <p:sp>
        <p:nvSpPr>
          <p:cNvPr id="4" name="Text 2"/>
          <p:cNvSpPr/>
          <p:nvPr/>
        </p:nvSpPr>
        <p:spPr>
          <a:xfrm>
            <a:off x="457200" y="402336"/>
            <a:ext cx="914400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Human + Agent Collaborative Workforce</a:t>
            </a:r>
            <a:endParaRPr lang="en-US" sz="1800" dirty="0"/>
          </a:p>
        </p:txBody>
      </p:sp>
      <p:sp>
        <p:nvSpPr>
          <p:cNvPr id="5" name="Shape 3"/>
          <p:cNvSpPr/>
          <p:nvPr/>
        </p:nvSpPr>
        <p:spPr>
          <a:xfrm>
            <a:off x="457200" y="1097280"/>
            <a:ext cx="1280160" cy="1280160"/>
          </a:xfrm>
          <a:prstGeom prst="ellipse">
            <a:avLst/>
          </a:prstGeom>
          <a:solidFill>
            <a:srgbClr val="0099BB"/>
          </a:solidFill>
          <a:ln w="38100">
            <a:solidFill>
              <a:srgbClr val="0099BB"/>
            </a:solidFill>
            <a:prstDash val="solid"/>
          </a:ln>
          <a:effectLst>
            <a:outerShdw blurRad="101600" dist="38100" dir="2700000" algn="bl" rotWithShape="0">
              <a:srgbClr val="000000">
                <a:alpha val="12000"/>
              </a:srgbClr>
            </a:outerShdw>
          </a:effectLst>
        </p:spPr>
        <p:txBody>
          <a:bodyPr/>
          <a:lstStyle/>
          <a:p>
            <a:endParaRPr lang="en-US"/>
          </a:p>
        </p:txBody>
      </p:sp>
      <p:sp>
        <p:nvSpPr>
          <p:cNvPr id="6" name="Text 4"/>
          <p:cNvSpPr/>
          <p:nvPr/>
        </p:nvSpPr>
        <p:spPr>
          <a:xfrm>
            <a:off x="457200" y="1143000"/>
            <a:ext cx="1280160" cy="7772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7" name="Text 5"/>
          <p:cNvSpPr/>
          <p:nvPr/>
        </p:nvSpPr>
        <p:spPr>
          <a:xfrm>
            <a:off x="457200" y="1828800"/>
            <a:ext cx="1280160" cy="320040"/>
          </a:xfrm>
          <a:prstGeom prst="rect">
            <a:avLst/>
          </a:prstGeom>
          <a:noFill/>
          <a:ln/>
        </p:spPr>
        <p:txBody>
          <a:bodyPr wrap="square" lIns="0" tIns="0" rIns="0" bIns="0" rtlCol="0" anchor="ctr"/>
          <a:lstStyle/>
          <a:p>
            <a:pPr marL="0" indent="0" algn="ctr">
              <a:buNone/>
            </a:pPr>
            <a:r>
              <a:rPr lang="en-US" sz="700" b="1" dirty="0">
                <a:solidFill>
                  <a:srgbClr val="0099BB"/>
                </a:solidFill>
              </a:rPr>
              <a:t>HUMAN</a:t>
            </a:r>
            <a:endParaRPr lang="en-US" sz="700" dirty="0"/>
          </a:p>
        </p:txBody>
      </p:sp>
      <p:sp>
        <p:nvSpPr>
          <p:cNvPr id="8" name="Text 6"/>
          <p:cNvSpPr/>
          <p:nvPr/>
        </p:nvSpPr>
        <p:spPr>
          <a:xfrm>
            <a:off x="365760" y="2377440"/>
            <a:ext cx="1463040" cy="548640"/>
          </a:xfrm>
          <a:prstGeom prst="rect">
            <a:avLst/>
          </a:prstGeom>
          <a:noFill/>
          <a:ln/>
        </p:spPr>
        <p:txBody>
          <a:bodyPr wrap="square" lIns="0" tIns="0" rIns="0" bIns="0" rtlCol="0" anchor="ctr"/>
          <a:lstStyle/>
          <a:p>
            <a:pPr marL="0" indent="0" algn="ctr">
              <a:buNone/>
            </a:pPr>
            <a:r>
              <a:rPr lang="en-US" sz="900" b="1" dirty="0">
                <a:solidFill>
                  <a:srgbClr val="FFFFFF"/>
                </a:solidFill>
              </a:rPr>
              <a:t>Product</a:t>
            </a:r>
            <a:endParaRPr lang="en-US" sz="900" dirty="0"/>
          </a:p>
          <a:p>
            <a:pPr marL="0" indent="0" algn="ctr">
              <a:buNone/>
            </a:pPr>
            <a:r>
              <a:rPr lang="en-US" sz="900" b="1" dirty="0">
                <a:solidFill>
                  <a:srgbClr val="FFFFFF"/>
                </a:solidFill>
              </a:rPr>
              <a:t>Owner</a:t>
            </a:r>
            <a:endParaRPr lang="en-US" sz="900" dirty="0"/>
          </a:p>
        </p:txBody>
      </p:sp>
      <p:sp>
        <p:nvSpPr>
          <p:cNvPr id="9" name="Shape 7"/>
          <p:cNvSpPr/>
          <p:nvPr/>
        </p:nvSpPr>
        <p:spPr>
          <a:xfrm>
            <a:off x="1737360" y="1737360"/>
            <a:ext cx="365760" cy="0"/>
          </a:xfrm>
          <a:prstGeom prst="line">
            <a:avLst/>
          </a:prstGeom>
          <a:noFill/>
          <a:ln w="25400">
            <a:solidFill>
              <a:srgbClr val="0099BB"/>
            </a:solidFill>
            <a:prstDash val="solid"/>
          </a:ln>
        </p:spPr>
        <p:txBody>
          <a:bodyPr/>
          <a:lstStyle/>
          <a:p>
            <a:endParaRPr lang="en-US"/>
          </a:p>
        </p:txBody>
      </p:sp>
      <p:sp>
        <p:nvSpPr>
          <p:cNvPr id="10" name="Shape 8"/>
          <p:cNvSpPr/>
          <p:nvPr/>
        </p:nvSpPr>
        <p:spPr>
          <a:xfrm>
            <a:off x="2103120" y="1097280"/>
            <a:ext cx="1280160" cy="1280160"/>
          </a:xfrm>
          <a:prstGeom prst="ellipse">
            <a:avLst/>
          </a:prstGeom>
          <a:solidFill>
            <a:srgbClr val="1A2F5A"/>
          </a:solidFill>
          <a:ln w="25400">
            <a:solidFill>
              <a:srgbClr val="8B5CF6"/>
            </a:solidFill>
            <a:prstDash val="solid"/>
          </a:ln>
          <a:effectLst>
            <a:outerShdw blurRad="101600" dist="38100" dir="2700000" algn="bl" rotWithShape="0">
              <a:srgbClr val="000000">
                <a:alpha val="12000"/>
              </a:srgbClr>
            </a:outerShdw>
          </a:effectLst>
        </p:spPr>
        <p:txBody>
          <a:bodyPr/>
          <a:lstStyle/>
          <a:p>
            <a:endParaRPr lang="en-US"/>
          </a:p>
        </p:txBody>
      </p:sp>
      <p:sp>
        <p:nvSpPr>
          <p:cNvPr id="11" name="Text 9"/>
          <p:cNvSpPr/>
          <p:nvPr/>
        </p:nvSpPr>
        <p:spPr>
          <a:xfrm>
            <a:off x="2103120" y="1143000"/>
            <a:ext cx="1280160" cy="7772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2" name="Text 10"/>
          <p:cNvSpPr/>
          <p:nvPr/>
        </p:nvSpPr>
        <p:spPr>
          <a:xfrm>
            <a:off x="2103120" y="1828800"/>
            <a:ext cx="1280160" cy="320040"/>
          </a:xfrm>
          <a:prstGeom prst="rect">
            <a:avLst/>
          </a:prstGeom>
          <a:noFill/>
          <a:ln/>
        </p:spPr>
        <p:txBody>
          <a:bodyPr wrap="square" lIns="0" tIns="0" rIns="0" bIns="0" rtlCol="0" anchor="ctr"/>
          <a:lstStyle/>
          <a:p>
            <a:pPr marL="0" indent="0" algn="ctr">
              <a:buNone/>
            </a:pPr>
            <a:r>
              <a:rPr lang="en-US" sz="700" b="1" dirty="0">
                <a:solidFill>
                  <a:srgbClr val="8B5CF6"/>
                </a:solidFill>
              </a:rPr>
              <a:t>AI AGENT</a:t>
            </a:r>
            <a:endParaRPr lang="en-US" sz="700" dirty="0"/>
          </a:p>
        </p:txBody>
      </p:sp>
      <p:sp>
        <p:nvSpPr>
          <p:cNvPr id="13" name="Text 11"/>
          <p:cNvSpPr/>
          <p:nvPr/>
        </p:nvSpPr>
        <p:spPr>
          <a:xfrm>
            <a:off x="2011680" y="2377440"/>
            <a:ext cx="1463040" cy="548640"/>
          </a:xfrm>
          <a:prstGeom prst="rect">
            <a:avLst/>
          </a:prstGeom>
          <a:noFill/>
          <a:ln/>
        </p:spPr>
        <p:txBody>
          <a:bodyPr wrap="square" lIns="0" tIns="0" rIns="0" bIns="0" rtlCol="0" anchor="ctr"/>
          <a:lstStyle/>
          <a:p>
            <a:pPr marL="0" indent="0" algn="ctr">
              <a:buNone/>
            </a:pPr>
            <a:r>
              <a:rPr lang="en-US" sz="900" b="1" dirty="0">
                <a:solidFill>
                  <a:srgbClr val="FFFFFF"/>
                </a:solidFill>
              </a:rPr>
              <a:t>Requirement</a:t>
            </a:r>
            <a:endParaRPr lang="en-US" sz="900" dirty="0"/>
          </a:p>
          <a:p>
            <a:pPr marL="0" indent="0" algn="ctr">
              <a:buNone/>
            </a:pPr>
            <a:r>
              <a:rPr lang="en-US" sz="900" b="1" dirty="0">
                <a:solidFill>
                  <a:srgbClr val="FFFFFF"/>
                </a:solidFill>
              </a:rPr>
              <a:t>Agent</a:t>
            </a:r>
            <a:endParaRPr lang="en-US" sz="900" dirty="0"/>
          </a:p>
        </p:txBody>
      </p:sp>
      <p:sp>
        <p:nvSpPr>
          <p:cNvPr id="14" name="Shape 12"/>
          <p:cNvSpPr/>
          <p:nvPr/>
        </p:nvSpPr>
        <p:spPr>
          <a:xfrm>
            <a:off x="3383280" y="1737360"/>
            <a:ext cx="365760" cy="0"/>
          </a:xfrm>
          <a:prstGeom prst="line">
            <a:avLst/>
          </a:prstGeom>
          <a:noFill/>
          <a:ln w="25400">
            <a:solidFill>
              <a:srgbClr val="0099BB"/>
            </a:solidFill>
            <a:prstDash val="dash"/>
          </a:ln>
        </p:spPr>
        <p:txBody>
          <a:bodyPr/>
          <a:lstStyle/>
          <a:p>
            <a:endParaRPr lang="en-US"/>
          </a:p>
        </p:txBody>
      </p:sp>
      <p:sp>
        <p:nvSpPr>
          <p:cNvPr id="15" name="Shape 13"/>
          <p:cNvSpPr/>
          <p:nvPr/>
        </p:nvSpPr>
        <p:spPr>
          <a:xfrm>
            <a:off x="3749040" y="1097280"/>
            <a:ext cx="1280160" cy="1280160"/>
          </a:xfrm>
          <a:prstGeom prst="ellipse">
            <a:avLst/>
          </a:prstGeom>
          <a:solidFill>
            <a:srgbClr val="1A2F5A"/>
          </a:solidFill>
          <a:ln w="25400">
            <a:solidFill>
              <a:srgbClr val="8B5CF6"/>
            </a:solidFill>
            <a:prstDash val="solid"/>
          </a:ln>
          <a:effectLst>
            <a:outerShdw blurRad="101600" dist="38100" dir="2700000" algn="bl" rotWithShape="0">
              <a:srgbClr val="000000">
                <a:alpha val="12000"/>
              </a:srgbClr>
            </a:outerShdw>
          </a:effectLst>
        </p:spPr>
        <p:txBody>
          <a:bodyPr/>
          <a:lstStyle/>
          <a:p>
            <a:endParaRPr lang="en-US"/>
          </a:p>
        </p:txBody>
      </p:sp>
      <p:sp>
        <p:nvSpPr>
          <p:cNvPr id="16" name="Text 14"/>
          <p:cNvSpPr/>
          <p:nvPr/>
        </p:nvSpPr>
        <p:spPr>
          <a:xfrm>
            <a:off x="3749040" y="1143000"/>
            <a:ext cx="1280160" cy="7772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3749040" y="1828800"/>
            <a:ext cx="1280160" cy="320040"/>
          </a:xfrm>
          <a:prstGeom prst="rect">
            <a:avLst/>
          </a:prstGeom>
          <a:noFill/>
          <a:ln/>
        </p:spPr>
        <p:txBody>
          <a:bodyPr wrap="square" lIns="0" tIns="0" rIns="0" bIns="0" rtlCol="0" anchor="ctr"/>
          <a:lstStyle/>
          <a:p>
            <a:pPr marL="0" indent="0" algn="ctr">
              <a:buNone/>
            </a:pPr>
            <a:r>
              <a:rPr lang="en-US" sz="700" b="1" dirty="0">
                <a:solidFill>
                  <a:srgbClr val="8B5CF6"/>
                </a:solidFill>
              </a:rPr>
              <a:t>AI AGENT</a:t>
            </a:r>
            <a:endParaRPr lang="en-US" sz="700" dirty="0"/>
          </a:p>
        </p:txBody>
      </p:sp>
      <p:sp>
        <p:nvSpPr>
          <p:cNvPr id="18" name="Text 16"/>
          <p:cNvSpPr/>
          <p:nvPr/>
        </p:nvSpPr>
        <p:spPr>
          <a:xfrm>
            <a:off x="3657600" y="2377440"/>
            <a:ext cx="1463040" cy="548640"/>
          </a:xfrm>
          <a:prstGeom prst="rect">
            <a:avLst/>
          </a:prstGeom>
          <a:noFill/>
          <a:ln/>
        </p:spPr>
        <p:txBody>
          <a:bodyPr wrap="square" lIns="0" tIns="0" rIns="0" bIns="0" rtlCol="0" anchor="ctr"/>
          <a:lstStyle/>
          <a:p>
            <a:pPr marL="0" indent="0" algn="ctr">
              <a:buNone/>
            </a:pPr>
            <a:r>
              <a:rPr lang="en-US" sz="900" b="1" dirty="0">
                <a:solidFill>
                  <a:srgbClr val="FFFFFF"/>
                </a:solidFill>
              </a:rPr>
              <a:t>Architecture</a:t>
            </a:r>
            <a:endParaRPr lang="en-US" sz="900" dirty="0"/>
          </a:p>
          <a:p>
            <a:pPr marL="0" indent="0" algn="ctr">
              <a:buNone/>
            </a:pPr>
            <a:r>
              <a:rPr lang="en-US" sz="900" b="1" dirty="0">
                <a:solidFill>
                  <a:srgbClr val="FFFFFF"/>
                </a:solidFill>
              </a:rPr>
              <a:t>Agent</a:t>
            </a:r>
            <a:endParaRPr lang="en-US" sz="900" dirty="0"/>
          </a:p>
        </p:txBody>
      </p:sp>
      <p:sp>
        <p:nvSpPr>
          <p:cNvPr id="19" name="Shape 17"/>
          <p:cNvSpPr/>
          <p:nvPr/>
        </p:nvSpPr>
        <p:spPr>
          <a:xfrm>
            <a:off x="5029200" y="1737360"/>
            <a:ext cx="365760" cy="0"/>
          </a:xfrm>
          <a:prstGeom prst="line">
            <a:avLst/>
          </a:prstGeom>
          <a:noFill/>
          <a:ln w="25400">
            <a:solidFill>
              <a:srgbClr val="0099BB"/>
            </a:solidFill>
            <a:prstDash val="dash"/>
          </a:ln>
        </p:spPr>
        <p:txBody>
          <a:bodyPr/>
          <a:lstStyle/>
          <a:p>
            <a:endParaRPr lang="en-US"/>
          </a:p>
        </p:txBody>
      </p:sp>
      <p:sp>
        <p:nvSpPr>
          <p:cNvPr id="20" name="Shape 18"/>
          <p:cNvSpPr/>
          <p:nvPr/>
        </p:nvSpPr>
        <p:spPr>
          <a:xfrm>
            <a:off x="5394960" y="1097280"/>
            <a:ext cx="1280160" cy="1280160"/>
          </a:xfrm>
          <a:prstGeom prst="ellipse">
            <a:avLst/>
          </a:prstGeom>
          <a:solidFill>
            <a:srgbClr val="1A2F5A"/>
          </a:solidFill>
          <a:ln w="25400">
            <a:solidFill>
              <a:srgbClr val="8B5CF6"/>
            </a:solidFill>
            <a:prstDash val="solid"/>
          </a:ln>
          <a:effectLst>
            <a:outerShdw blurRad="101600" dist="38100" dir="2700000" algn="bl" rotWithShape="0">
              <a:srgbClr val="000000">
                <a:alpha val="12000"/>
              </a:srgbClr>
            </a:outerShdw>
          </a:effectLst>
        </p:spPr>
        <p:txBody>
          <a:bodyPr/>
          <a:lstStyle/>
          <a:p>
            <a:endParaRPr lang="en-US"/>
          </a:p>
        </p:txBody>
      </p:sp>
      <p:sp>
        <p:nvSpPr>
          <p:cNvPr id="21" name="Text 19"/>
          <p:cNvSpPr/>
          <p:nvPr/>
        </p:nvSpPr>
        <p:spPr>
          <a:xfrm>
            <a:off x="5394960" y="1143000"/>
            <a:ext cx="1280160" cy="7772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2" name="Text 20"/>
          <p:cNvSpPr/>
          <p:nvPr/>
        </p:nvSpPr>
        <p:spPr>
          <a:xfrm>
            <a:off x="5394960" y="1828800"/>
            <a:ext cx="1280160" cy="320040"/>
          </a:xfrm>
          <a:prstGeom prst="rect">
            <a:avLst/>
          </a:prstGeom>
          <a:noFill/>
          <a:ln/>
        </p:spPr>
        <p:txBody>
          <a:bodyPr wrap="square" lIns="0" tIns="0" rIns="0" bIns="0" rtlCol="0" anchor="ctr"/>
          <a:lstStyle/>
          <a:p>
            <a:pPr marL="0" indent="0" algn="ctr">
              <a:buNone/>
            </a:pPr>
            <a:r>
              <a:rPr lang="en-US" sz="700" b="1" dirty="0">
                <a:solidFill>
                  <a:srgbClr val="8B5CF6"/>
                </a:solidFill>
              </a:rPr>
              <a:t>AI AGENT</a:t>
            </a:r>
            <a:endParaRPr lang="en-US" sz="700" dirty="0"/>
          </a:p>
        </p:txBody>
      </p:sp>
      <p:sp>
        <p:nvSpPr>
          <p:cNvPr id="23" name="Text 21"/>
          <p:cNvSpPr/>
          <p:nvPr/>
        </p:nvSpPr>
        <p:spPr>
          <a:xfrm>
            <a:off x="5303520" y="2377440"/>
            <a:ext cx="1463040" cy="548640"/>
          </a:xfrm>
          <a:prstGeom prst="rect">
            <a:avLst/>
          </a:prstGeom>
          <a:noFill/>
          <a:ln/>
        </p:spPr>
        <p:txBody>
          <a:bodyPr wrap="square" lIns="0" tIns="0" rIns="0" bIns="0" rtlCol="0" anchor="ctr"/>
          <a:lstStyle/>
          <a:p>
            <a:pPr marL="0" indent="0" algn="ctr">
              <a:buNone/>
            </a:pPr>
            <a:r>
              <a:rPr lang="en-US" sz="900" b="1" dirty="0">
                <a:solidFill>
                  <a:srgbClr val="FFFFFF"/>
                </a:solidFill>
              </a:rPr>
              <a:t>Developer</a:t>
            </a:r>
            <a:endParaRPr lang="en-US" sz="900" dirty="0"/>
          </a:p>
          <a:p>
            <a:pPr marL="0" indent="0" algn="ctr">
              <a:buNone/>
            </a:pPr>
            <a:r>
              <a:rPr lang="en-US" sz="900" b="1" dirty="0">
                <a:solidFill>
                  <a:srgbClr val="FFFFFF"/>
                </a:solidFill>
              </a:rPr>
              <a:t>Agent</a:t>
            </a:r>
            <a:endParaRPr lang="en-US" sz="900" dirty="0"/>
          </a:p>
        </p:txBody>
      </p:sp>
      <p:sp>
        <p:nvSpPr>
          <p:cNvPr id="24" name="Shape 22"/>
          <p:cNvSpPr/>
          <p:nvPr/>
        </p:nvSpPr>
        <p:spPr>
          <a:xfrm>
            <a:off x="6675120" y="1737360"/>
            <a:ext cx="365760" cy="0"/>
          </a:xfrm>
          <a:prstGeom prst="line">
            <a:avLst/>
          </a:prstGeom>
          <a:noFill/>
          <a:ln w="25400">
            <a:solidFill>
              <a:srgbClr val="0099BB"/>
            </a:solidFill>
            <a:prstDash val="dash"/>
          </a:ln>
        </p:spPr>
        <p:txBody>
          <a:bodyPr/>
          <a:lstStyle/>
          <a:p>
            <a:endParaRPr lang="en-US"/>
          </a:p>
        </p:txBody>
      </p:sp>
      <p:sp>
        <p:nvSpPr>
          <p:cNvPr id="25" name="Shape 23"/>
          <p:cNvSpPr/>
          <p:nvPr/>
        </p:nvSpPr>
        <p:spPr>
          <a:xfrm>
            <a:off x="7040880" y="1097280"/>
            <a:ext cx="1280160" cy="1280160"/>
          </a:xfrm>
          <a:prstGeom prst="ellipse">
            <a:avLst/>
          </a:prstGeom>
          <a:solidFill>
            <a:srgbClr val="1A2F5A"/>
          </a:solidFill>
          <a:ln w="25400">
            <a:solidFill>
              <a:srgbClr val="8B5CF6"/>
            </a:solidFill>
            <a:prstDash val="solid"/>
          </a:ln>
          <a:effectLst>
            <a:outerShdw blurRad="101600" dist="38100" dir="2700000" algn="bl" rotWithShape="0">
              <a:srgbClr val="000000">
                <a:alpha val="12000"/>
              </a:srgbClr>
            </a:outerShdw>
          </a:effectLst>
        </p:spPr>
        <p:txBody>
          <a:bodyPr/>
          <a:lstStyle/>
          <a:p>
            <a:endParaRPr lang="en-US"/>
          </a:p>
        </p:txBody>
      </p:sp>
      <p:sp>
        <p:nvSpPr>
          <p:cNvPr id="26" name="Text 24"/>
          <p:cNvSpPr/>
          <p:nvPr/>
        </p:nvSpPr>
        <p:spPr>
          <a:xfrm>
            <a:off x="7040880" y="1143000"/>
            <a:ext cx="1280160" cy="7772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7" name="Text 25"/>
          <p:cNvSpPr/>
          <p:nvPr/>
        </p:nvSpPr>
        <p:spPr>
          <a:xfrm>
            <a:off x="7040880" y="1828800"/>
            <a:ext cx="1280160" cy="320040"/>
          </a:xfrm>
          <a:prstGeom prst="rect">
            <a:avLst/>
          </a:prstGeom>
          <a:noFill/>
          <a:ln/>
        </p:spPr>
        <p:txBody>
          <a:bodyPr wrap="square" lIns="0" tIns="0" rIns="0" bIns="0" rtlCol="0" anchor="ctr"/>
          <a:lstStyle/>
          <a:p>
            <a:pPr marL="0" indent="0" algn="ctr">
              <a:buNone/>
            </a:pPr>
            <a:r>
              <a:rPr lang="en-US" sz="700" b="1" dirty="0">
                <a:solidFill>
                  <a:srgbClr val="8B5CF6"/>
                </a:solidFill>
              </a:rPr>
              <a:t>AI AGENT</a:t>
            </a:r>
            <a:endParaRPr lang="en-US" sz="700" dirty="0"/>
          </a:p>
        </p:txBody>
      </p:sp>
      <p:sp>
        <p:nvSpPr>
          <p:cNvPr id="28" name="Text 26"/>
          <p:cNvSpPr/>
          <p:nvPr/>
        </p:nvSpPr>
        <p:spPr>
          <a:xfrm>
            <a:off x="6949440" y="2377440"/>
            <a:ext cx="1463040" cy="548640"/>
          </a:xfrm>
          <a:prstGeom prst="rect">
            <a:avLst/>
          </a:prstGeom>
          <a:noFill/>
          <a:ln/>
        </p:spPr>
        <p:txBody>
          <a:bodyPr wrap="square" lIns="0" tIns="0" rIns="0" bIns="0" rtlCol="0" anchor="ctr"/>
          <a:lstStyle/>
          <a:p>
            <a:pPr marL="0" indent="0" algn="ctr">
              <a:buNone/>
            </a:pPr>
            <a:r>
              <a:rPr lang="en-US" sz="900" b="1" dirty="0">
                <a:solidFill>
                  <a:srgbClr val="FFFFFF"/>
                </a:solidFill>
              </a:rPr>
              <a:t>QA Agent</a:t>
            </a:r>
            <a:endParaRPr lang="en-US" sz="900" dirty="0"/>
          </a:p>
        </p:txBody>
      </p:sp>
      <p:sp>
        <p:nvSpPr>
          <p:cNvPr id="29" name="Shape 27"/>
          <p:cNvSpPr/>
          <p:nvPr/>
        </p:nvSpPr>
        <p:spPr>
          <a:xfrm>
            <a:off x="8321040" y="1737360"/>
            <a:ext cx="365760" cy="0"/>
          </a:xfrm>
          <a:prstGeom prst="line">
            <a:avLst/>
          </a:prstGeom>
          <a:noFill/>
          <a:ln w="25400">
            <a:solidFill>
              <a:srgbClr val="0099BB"/>
            </a:solidFill>
            <a:prstDash val="dash"/>
          </a:ln>
        </p:spPr>
        <p:txBody>
          <a:bodyPr/>
          <a:lstStyle/>
          <a:p>
            <a:endParaRPr lang="en-US"/>
          </a:p>
        </p:txBody>
      </p:sp>
      <p:sp>
        <p:nvSpPr>
          <p:cNvPr id="30" name="Shape 28"/>
          <p:cNvSpPr/>
          <p:nvPr/>
        </p:nvSpPr>
        <p:spPr>
          <a:xfrm>
            <a:off x="8686800" y="1097280"/>
            <a:ext cx="1280160" cy="1280160"/>
          </a:xfrm>
          <a:prstGeom prst="ellipse">
            <a:avLst/>
          </a:prstGeom>
          <a:solidFill>
            <a:srgbClr val="1A2F5A"/>
          </a:solidFill>
          <a:ln w="25400">
            <a:solidFill>
              <a:srgbClr val="8B5CF6"/>
            </a:solidFill>
            <a:prstDash val="solid"/>
          </a:ln>
          <a:effectLst>
            <a:outerShdw blurRad="101600" dist="38100" dir="2700000" algn="bl" rotWithShape="0">
              <a:srgbClr val="000000">
                <a:alpha val="12000"/>
              </a:srgbClr>
            </a:outerShdw>
          </a:effectLst>
        </p:spPr>
        <p:txBody>
          <a:bodyPr/>
          <a:lstStyle/>
          <a:p>
            <a:endParaRPr lang="en-US"/>
          </a:p>
        </p:txBody>
      </p:sp>
      <p:sp>
        <p:nvSpPr>
          <p:cNvPr id="31" name="Text 29"/>
          <p:cNvSpPr/>
          <p:nvPr/>
        </p:nvSpPr>
        <p:spPr>
          <a:xfrm>
            <a:off x="8686800" y="1143000"/>
            <a:ext cx="1280160" cy="7772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32" name="Text 30"/>
          <p:cNvSpPr/>
          <p:nvPr/>
        </p:nvSpPr>
        <p:spPr>
          <a:xfrm>
            <a:off x="8686800" y="1828800"/>
            <a:ext cx="1280160" cy="320040"/>
          </a:xfrm>
          <a:prstGeom prst="rect">
            <a:avLst/>
          </a:prstGeom>
          <a:noFill/>
          <a:ln/>
        </p:spPr>
        <p:txBody>
          <a:bodyPr wrap="square" lIns="0" tIns="0" rIns="0" bIns="0" rtlCol="0" anchor="ctr"/>
          <a:lstStyle/>
          <a:p>
            <a:pPr marL="0" indent="0" algn="ctr">
              <a:buNone/>
            </a:pPr>
            <a:r>
              <a:rPr lang="en-US" sz="700" b="1" dirty="0">
                <a:solidFill>
                  <a:srgbClr val="8B5CF6"/>
                </a:solidFill>
              </a:rPr>
              <a:t>AI AGENT</a:t>
            </a:r>
            <a:endParaRPr lang="en-US" sz="700" dirty="0"/>
          </a:p>
        </p:txBody>
      </p:sp>
      <p:sp>
        <p:nvSpPr>
          <p:cNvPr id="33" name="Text 31"/>
          <p:cNvSpPr/>
          <p:nvPr/>
        </p:nvSpPr>
        <p:spPr>
          <a:xfrm>
            <a:off x="8595360" y="2377440"/>
            <a:ext cx="1463040" cy="548640"/>
          </a:xfrm>
          <a:prstGeom prst="rect">
            <a:avLst/>
          </a:prstGeom>
          <a:noFill/>
          <a:ln/>
        </p:spPr>
        <p:txBody>
          <a:bodyPr wrap="square" lIns="0" tIns="0" rIns="0" bIns="0" rtlCol="0" anchor="ctr"/>
          <a:lstStyle/>
          <a:p>
            <a:pPr marL="0" indent="0" algn="ctr">
              <a:buNone/>
            </a:pPr>
            <a:r>
              <a:rPr lang="en-US" sz="900" b="1" dirty="0">
                <a:solidFill>
                  <a:srgbClr val="FFFFFF"/>
                </a:solidFill>
              </a:rPr>
              <a:t>Release</a:t>
            </a:r>
            <a:endParaRPr lang="en-US" sz="900" dirty="0"/>
          </a:p>
          <a:p>
            <a:pPr marL="0" indent="0" algn="ctr">
              <a:buNone/>
            </a:pPr>
            <a:r>
              <a:rPr lang="en-US" sz="900" b="1" dirty="0">
                <a:solidFill>
                  <a:srgbClr val="FFFFFF"/>
                </a:solidFill>
              </a:rPr>
              <a:t>Agent</a:t>
            </a:r>
            <a:endParaRPr lang="en-US" sz="900" dirty="0"/>
          </a:p>
        </p:txBody>
      </p:sp>
      <p:sp>
        <p:nvSpPr>
          <p:cNvPr id="34" name="Shape 32"/>
          <p:cNvSpPr/>
          <p:nvPr/>
        </p:nvSpPr>
        <p:spPr>
          <a:xfrm>
            <a:off x="9966960" y="1737360"/>
            <a:ext cx="365760" cy="0"/>
          </a:xfrm>
          <a:prstGeom prst="line">
            <a:avLst/>
          </a:prstGeom>
          <a:noFill/>
          <a:ln w="25400">
            <a:solidFill>
              <a:srgbClr val="0099BB"/>
            </a:solidFill>
            <a:prstDash val="dash"/>
          </a:ln>
        </p:spPr>
        <p:txBody>
          <a:bodyPr/>
          <a:lstStyle/>
          <a:p>
            <a:endParaRPr lang="en-US"/>
          </a:p>
        </p:txBody>
      </p:sp>
      <p:sp>
        <p:nvSpPr>
          <p:cNvPr id="35" name="Shape 33"/>
          <p:cNvSpPr/>
          <p:nvPr/>
        </p:nvSpPr>
        <p:spPr>
          <a:xfrm>
            <a:off x="10332720" y="1097280"/>
            <a:ext cx="1280160" cy="1280160"/>
          </a:xfrm>
          <a:prstGeom prst="ellipse">
            <a:avLst/>
          </a:prstGeom>
          <a:solidFill>
            <a:srgbClr val="1A2F5A"/>
          </a:solidFill>
          <a:ln w="25400">
            <a:solidFill>
              <a:srgbClr val="8B5CF6"/>
            </a:solidFill>
            <a:prstDash val="solid"/>
          </a:ln>
          <a:effectLst>
            <a:outerShdw blurRad="101600" dist="38100" dir="2700000" algn="bl" rotWithShape="0">
              <a:srgbClr val="000000">
                <a:alpha val="12000"/>
              </a:srgbClr>
            </a:outerShdw>
          </a:effectLst>
        </p:spPr>
        <p:txBody>
          <a:bodyPr/>
          <a:lstStyle/>
          <a:p>
            <a:endParaRPr lang="en-US"/>
          </a:p>
        </p:txBody>
      </p:sp>
      <p:sp>
        <p:nvSpPr>
          <p:cNvPr id="36" name="Text 34"/>
          <p:cNvSpPr/>
          <p:nvPr/>
        </p:nvSpPr>
        <p:spPr>
          <a:xfrm>
            <a:off x="10332720" y="1143000"/>
            <a:ext cx="1280160" cy="7772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37" name="Text 35"/>
          <p:cNvSpPr/>
          <p:nvPr/>
        </p:nvSpPr>
        <p:spPr>
          <a:xfrm>
            <a:off x="10332720" y="1828800"/>
            <a:ext cx="1280160" cy="320040"/>
          </a:xfrm>
          <a:prstGeom prst="rect">
            <a:avLst/>
          </a:prstGeom>
          <a:noFill/>
          <a:ln/>
        </p:spPr>
        <p:txBody>
          <a:bodyPr wrap="square" lIns="0" tIns="0" rIns="0" bIns="0" rtlCol="0" anchor="ctr"/>
          <a:lstStyle/>
          <a:p>
            <a:pPr marL="0" indent="0" algn="ctr">
              <a:buNone/>
            </a:pPr>
            <a:r>
              <a:rPr lang="en-US" sz="700" b="1" dirty="0">
                <a:solidFill>
                  <a:srgbClr val="8B5CF6"/>
                </a:solidFill>
              </a:rPr>
              <a:t>AI AGENT</a:t>
            </a:r>
            <a:endParaRPr lang="en-US" sz="700" dirty="0"/>
          </a:p>
        </p:txBody>
      </p:sp>
      <p:sp>
        <p:nvSpPr>
          <p:cNvPr id="38" name="Text 36"/>
          <p:cNvSpPr/>
          <p:nvPr/>
        </p:nvSpPr>
        <p:spPr>
          <a:xfrm>
            <a:off x="10241280" y="2377440"/>
            <a:ext cx="1463040" cy="548640"/>
          </a:xfrm>
          <a:prstGeom prst="rect">
            <a:avLst/>
          </a:prstGeom>
          <a:noFill/>
          <a:ln/>
        </p:spPr>
        <p:txBody>
          <a:bodyPr wrap="square" lIns="0" tIns="0" rIns="0" bIns="0" rtlCol="0" anchor="ctr"/>
          <a:lstStyle/>
          <a:p>
            <a:pPr marL="0" indent="0" algn="ctr">
              <a:buNone/>
            </a:pPr>
            <a:r>
              <a:rPr lang="en-US" sz="900" b="1" dirty="0">
                <a:solidFill>
                  <a:srgbClr val="FFFFFF"/>
                </a:solidFill>
              </a:rPr>
              <a:t>Ops Agent /</a:t>
            </a:r>
            <a:endParaRPr lang="en-US" sz="900" dirty="0"/>
          </a:p>
          <a:p>
            <a:pPr marL="0" indent="0" algn="ctr">
              <a:buNone/>
            </a:pPr>
            <a:r>
              <a:rPr lang="en-US" sz="900" b="1" dirty="0">
                <a:solidFill>
                  <a:srgbClr val="FFFFFF"/>
                </a:solidFill>
              </a:rPr>
              <a:t>SRE</a:t>
            </a:r>
            <a:endParaRPr lang="en-US" sz="900" dirty="0"/>
          </a:p>
        </p:txBody>
      </p:sp>
      <p:sp>
        <p:nvSpPr>
          <p:cNvPr id="39" name="Shape 37"/>
          <p:cNvSpPr/>
          <p:nvPr/>
        </p:nvSpPr>
        <p:spPr>
          <a:xfrm>
            <a:off x="365760" y="3154680"/>
            <a:ext cx="11430000" cy="685800"/>
          </a:xfrm>
          <a:prstGeom prst="roundRect">
            <a:avLst>
              <a:gd name="adj" fmla="val 10667"/>
            </a:avLst>
          </a:prstGeom>
          <a:solidFill>
            <a:srgbClr val="0099BB">
              <a:alpha val="20000"/>
            </a:srgbClr>
          </a:solidFill>
          <a:ln w="12700">
            <a:solidFill>
              <a:srgbClr val="0099BB"/>
            </a:solidFill>
            <a:prstDash val="solid"/>
          </a:ln>
        </p:spPr>
        <p:txBody>
          <a:bodyPr/>
          <a:lstStyle/>
          <a:p>
            <a:endParaRPr lang="en-US"/>
          </a:p>
        </p:txBody>
      </p:sp>
      <p:sp>
        <p:nvSpPr>
          <p:cNvPr id="40" name="Text 38"/>
          <p:cNvSpPr/>
          <p:nvPr/>
        </p:nvSpPr>
        <p:spPr>
          <a:xfrm>
            <a:off x="457200" y="3154680"/>
            <a:ext cx="11338560" cy="685800"/>
          </a:xfrm>
          <a:prstGeom prst="rect">
            <a:avLst/>
          </a:prstGeom>
          <a:noFill/>
          <a:ln/>
        </p:spPr>
        <p:txBody>
          <a:bodyPr wrap="square" lIns="0" tIns="0" rIns="0" bIns="0" rtlCol="0" anchor="ctr"/>
          <a:lstStyle/>
          <a:p>
            <a:pPr marL="0" indent="0">
              <a:buNone/>
            </a:pPr>
            <a:r>
              <a:rPr lang="en-US" sz="1050" b="1" dirty="0">
                <a:solidFill>
                  <a:srgbClr val="FFFFFF"/>
                </a:solidFill>
              </a:rPr>
              <a:t>🔒  HUMAN-IN-THE-LOOP GOVERNANCE  |  Approval gates at: Requirement sign-off · Architecture review · PR merge · Release authorization · Incident escalation</a:t>
            </a:r>
            <a:endParaRPr lang="en-US" sz="1050" dirty="0"/>
          </a:p>
        </p:txBody>
      </p:sp>
      <p:sp>
        <p:nvSpPr>
          <p:cNvPr id="41" name="Shape 39"/>
          <p:cNvSpPr/>
          <p:nvPr/>
        </p:nvSpPr>
        <p:spPr>
          <a:xfrm>
            <a:off x="365760" y="4023360"/>
            <a:ext cx="2651760" cy="1645920"/>
          </a:xfrm>
          <a:prstGeom prst="roundRect">
            <a:avLst>
              <a:gd name="adj" fmla="val 5556"/>
            </a:avLst>
          </a:prstGeom>
          <a:solidFill>
            <a:srgbClr val="243752"/>
          </a:solidFill>
          <a:ln w="12700">
            <a:solidFill>
              <a:srgbClr val="1A2F5A"/>
            </a:solidFill>
            <a:prstDash val="solid"/>
          </a:ln>
          <a:effectLst>
            <a:outerShdw blurRad="101600" dist="38100" dir="2700000" algn="bl" rotWithShape="0">
              <a:srgbClr val="000000">
                <a:alpha val="12000"/>
              </a:srgbClr>
            </a:outerShdw>
          </a:effectLst>
        </p:spPr>
        <p:txBody>
          <a:bodyPr/>
          <a:lstStyle/>
          <a:p>
            <a:endParaRPr lang="en-US"/>
          </a:p>
        </p:txBody>
      </p:sp>
      <p:sp>
        <p:nvSpPr>
          <p:cNvPr id="42" name="Text 40"/>
          <p:cNvSpPr/>
          <p:nvPr/>
        </p:nvSpPr>
        <p:spPr>
          <a:xfrm>
            <a:off x="411480" y="4114800"/>
            <a:ext cx="2560320" cy="502920"/>
          </a:xfrm>
          <a:prstGeom prst="rect">
            <a:avLst/>
          </a:prstGeom>
          <a:noFill/>
          <a:ln/>
        </p:spPr>
        <p:txBody>
          <a:bodyPr wrap="square" lIns="0" tIns="0" rIns="0" bIns="0" rtlCol="0" anchor="ctr"/>
          <a:lstStyle/>
          <a:p>
            <a:pPr marL="0" indent="0">
              <a:buNone/>
            </a:pPr>
            <a:r>
              <a:rPr lang="en-US" sz="1000" b="1" dirty="0">
                <a:solidFill>
                  <a:srgbClr val="00D4FF"/>
                </a:solidFill>
              </a:rPr>
              <a:t>Augmentation, Not Replacement</a:t>
            </a:r>
            <a:endParaRPr lang="en-US" sz="1000" dirty="0"/>
          </a:p>
        </p:txBody>
      </p:sp>
      <p:sp>
        <p:nvSpPr>
          <p:cNvPr id="43" name="Text 41"/>
          <p:cNvSpPr/>
          <p:nvPr/>
        </p:nvSpPr>
        <p:spPr>
          <a:xfrm>
            <a:off x="411480" y="4626864"/>
            <a:ext cx="2560320" cy="914400"/>
          </a:xfrm>
          <a:prstGeom prst="rect">
            <a:avLst/>
          </a:prstGeom>
          <a:noFill/>
          <a:ln/>
        </p:spPr>
        <p:txBody>
          <a:bodyPr wrap="square" lIns="0" tIns="0" rIns="0" bIns="0" rtlCol="0" anchor="ctr"/>
          <a:lstStyle/>
          <a:p>
            <a:pPr marL="0" indent="0">
              <a:buNone/>
            </a:pPr>
            <a:r>
              <a:rPr lang="en-US" sz="900" dirty="0">
                <a:solidFill>
                  <a:srgbClr val="CBD5E1"/>
                </a:solidFill>
              </a:rPr>
              <a:t>Agents handle toil; humans own decisions, creativity &amp; accountability</a:t>
            </a:r>
            <a:endParaRPr lang="en-US" sz="900" dirty="0"/>
          </a:p>
        </p:txBody>
      </p:sp>
      <p:sp>
        <p:nvSpPr>
          <p:cNvPr id="44" name="Shape 42"/>
          <p:cNvSpPr/>
          <p:nvPr/>
        </p:nvSpPr>
        <p:spPr>
          <a:xfrm>
            <a:off x="3200400" y="4023360"/>
            <a:ext cx="2651760" cy="1645920"/>
          </a:xfrm>
          <a:prstGeom prst="roundRect">
            <a:avLst>
              <a:gd name="adj" fmla="val 5556"/>
            </a:avLst>
          </a:prstGeom>
          <a:solidFill>
            <a:srgbClr val="243752"/>
          </a:solidFill>
          <a:ln w="12700">
            <a:solidFill>
              <a:srgbClr val="1A2F5A"/>
            </a:solidFill>
            <a:prstDash val="solid"/>
          </a:ln>
          <a:effectLst>
            <a:outerShdw blurRad="101600" dist="38100" dir="2700000" algn="bl" rotWithShape="0">
              <a:srgbClr val="000000">
                <a:alpha val="12000"/>
              </a:srgbClr>
            </a:outerShdw>
          </a:effectLst>
        </p:spPr>
        <p:txBody>
          <a:bodyPr/>
          <a:lstStyle/>
          <a:p>
            <a:endParaRPr lang="en-US"/>
          </a:p>
        </p:txBody>
      </p:sp>
      <p:sp>
        <p:nvSpPr>
          <p:cNvPr id="45" name="Text 43"/>
          <p:cNvSpPr/>
          <p:nvPr/>
        </p:nvSpPr>
        <p:spPr>
          <a:xfrm>
            <a:off x="3246120" y="4114800"/>
            <a:ext cx="2560320" cy="502920"/>
          </a:xfrm>
          <a:prstGeom prst="rect">
            <a:avLst/>
          </a:prstGeom>
          <a:noFill/>
          <a:ln/>
        </p:spPr>
        <p:txBody>
          <a:bodyPr wrap="square" lIns="0" tIns="0" rIns="0" bIns="0" rtlCol="0" anchor="ctr"/>
          <a:lstStyle/>
          <a:p>
            <a:pPr marL="0" indent="0">
              <a:buNone/>
            </a:pPr>
            <a:r>
              <a:rPr lang="en-US" sz="1000" b="1" dirty="0">
                <a:solidFill>
                  <a:srgbClr val="00D4FF"/>
                </a:solidFill>
              </a:rPr>
              <a:t>Agent Orchestration</a:t>
            </a:r>
            <a:endParaRPr lang="en-US" sz="1000" dirty="0"/>
          </a:p>
        </p:txBody>
      </p:sp>
      <p:sp>
        <p:nvSpPr>
          <p:cNvPr id="46" name="Text 44"/>
          <p:cNvSpPr/>
          <p:nvPr/>
        </p:nvSpPr>
        <p:spPr>
          <a:xfrm>
            <a:off x="3246120" y="4626864"/>
            <a:ext cx="2560320" cy="914400"/>
          </a:xfrm>
          <a:prstGeom prst="rect">
            <a:avLst/>
          </a:prstGeom>
          <a:noFill/>
          <a:ln/>
        </p:spPr>
        <p:txBody>
          <a:bodyPr wrap="square" lIns="0" tIns="0" rIns="0" bIns="0" rtlCol="0" anchor="ctr"/>
          <a:lstStyle/>
          <a:p>
            <a:pPr marL="0" indent="0">
              <a:buNone/>
            </a:pPr>
            <a:r>
              <a:rPr lang="en-US" sz="900" dirty="0">
                <a:solidFill>
                  <a:srgbClr val="CBD5E1"/>
                </a:solidFill>
              </a:rPr>
              <a:t>Embabel / Spring AI orchestrate multi-step agentic workflows end-to-end</a:t>
            </a:r>
            <a:endParaRPr lang="en-US" sz="900" dirty="0"/>
          </a:p>
        </p:txBody>
      </p:sp>
      <p:sp>
        <p:nvSpPr>
          <p:cNvPr id="47" name="Shape 45"/>
          <p:cNvSpPr/>
          <p:nvPr/>
        </p:nvSpPr>
        <p:spPr>
          <a:xfrm>
            <a:off x="6035040" y="4023360"/>
            <a:ext cx="2651760" cy="1645920"/>
          </a:xfrm>
          <a:prstGeom prst="roundRect">
            <a:avLst>
              <a:gd name="adj" fmla="val 5556"/>
            </a:avLst>
          </a:prstGeom>
          <a:solidFill>
            <a:srgbClr val="243752"/>
          </a:solidFill>
          <a:ln w="12700">
            <a:solidFill>
              <a:srgbClr val="1A2F5A"/>
            </a:solidFill>
            <a:prstDash val="solid"/>
          </a:ln>
          <a:effectLst>
            <a:outerShdw blurRad="101600" dist="38100" dir="2700000" algn="bl" rotWithShape="0">
              <a:srgbClr val="000000">
                <a:alpha val="12000"/>
              </a:srgbClr>
            </a:outerShdw>
          </a:effectLst>
        </p:spPr>
        <p:txBody>
          <a:bodyPr/>
          <a:lstStyle/>
          <a:p>
            <a:endParaRPr lang="en-US"/>
          </a:p>
        </p:txBody>
      </p:sp>
      <p:sp>
        <p:nvSpPr>
          <p:cNvPr id="48" name="Text 46"/>
          <p:cNvSpPr/>
          <p:nvPr/>
        </p:nvSpPr>
        <p:spPr>
          <a:xfrm>
            <a:off x="6080760" y="4114800"/>
            <a:ext cx="2560320" cy="502920"/>
          </a:xfrm>
          <a:prstGeom prst="rect">
            <a:avLst/>
          </a:prstGeom>
          <a:noFill/>
          <a:ln/>
        </p:spPr>
        <p:txBody>
          <a:bodyPr wrap="square" lIns="0" tIns="0" rIns="0" bIns="0" rtlCol="0" anchor="ctr"/>
          <a:lstStyle/>
          <a:p>
            <a:pPr marL="0" indent="0">
              <a:buNone/>
            </a:pPr>
            <a:r>
              <a:rPr lang="en-US" sz="1000" b="1" dirty="0">
                <a:solidFill>
                  <a:srgbClr val="00D4FF"/>
                </a:solidFill>
              </a:rPr>
              <a:t>Feedback Loops</a:t>
            </a:r>
            <a:endParaRPr lang="en-US" sz="1000" dirty="0"/>
          </a:p>
        </p:txBody>
      </p:sp>
      <p:sp>
        <p:nvSpPr>
          <p:cNvPr id="49" name="Text 47"/>
          <p:cNvSpPr/>
          <p:nvPr/>
        </p:nvSpPr>
        <p:spPr>
          <a:xfrm>
            <a:off x="6080760" y="4626864"/>
            <a:ext cx="2560320" cy="914400"/>
          </a:xfrm>
          <a:prstGeom prst="rect">
            <a:avLst/>
          </a:prstGeom>
          <a:noFill/>
          <a:ln/>
        </p:spPr>
        <p:txBody>
          <a:bodyPr wrap="square" lIns="0" tIns="0" rIns="0" bIns="0" rtlCol="0" anchor="ctr"/>
          <a:lstStyle/>
          <a:p>
            <a:pPr marL="0" indent="0">
              <a:buNone/>
            </a:pPr>
            <a:r>
              <a:rPr lang="en-US" sz="900" dirty="0">
                <a:solidFill>
                  <a:srgbClr val="CBD5E1"/>
                </a:solidFill>
              </a:rPr>
              <a:t>Agents learn from human corrections, improving over each sprint cycle</a:t>
            </a:r>
            <a:endParaRPr lang="en-US" sz="900" dirty="0"/>
          </a:p>
        </p:txBody>
      </p:sp>
      <p:sp>
        <p:nvSpPr>
          <p:cNvPr id="50" name="Shape 48"/>
          <p:cNvSpPr/>
          <p:nvPr/>
        </p:nvSpPr>
        <p:spPr>
          <a:xfrm>
            <a:off x="8869680" y="4023360"/>
            <a:ext cx="2651760" cy="1645920"/>
          </a:xfrm>
          <a:prstGeom prst="roundRect">
            <a:avLst>
              <a:gd name="adj" fmla="val 5556"/>
            </a:avLst>
          </a:prstGeom>
          <a:solidFill>
            <a:srgbClr val="243752"/>
          </a:solidFill>
          <a:ln w="12700">
            <a:solidFill>
              <a:srgbClr val="1A2F5A"/>
            </a:solidFill>
            <a:prstDash val="solid"/>
          </a:ln>
          <a:effectLst>
            <a:outerShdw blurRad="101600" dist="38100" dir="2700000" algn="bl" rotWithShape="0">
              <a:srgbClr val="000000">
                <a:alpha val="12000"/>
              </a:srgbClr>
            </a:outerShdw>
          </a:effectLst>
        </p:spPr>
        <p:txBody>
          <a:bodyPr/>
          <a:lstStyle/>
          <a:p>
            <a:endParaRPr lang="en-US"/>
          </a:p>
        </p:txBody>
      </p:sp>
      <p:sp>
        <p:nvSpPr>
          <p:cNvPr id="51" name="Text 49"/>
          <p:cNvSpPr/>
          <p:nvPr/>
        </p:nvSpPr>
        <p:spPr>
          <a:xfrm>
            <a:off x="8915400" y="4114800"/>
            <a:ext cx="2560320" cy="502920"/>
          </a:xfrm>
          <a:prstGeom prst="rect">
            <a:avLst/>
          </a:prstGeom>
          <a:noFill/>
          <a:ln/>
        </p:spPr>
        <p:txBody>
          <a:bodyPr wrap="square" lIns="0" tIns="0" rIns="0" bIns="0" rtlCol="0" anchor="ctr"/>
          <a:lstStyle/>
          <a:p>
            <a:pPr marL="0" indent="0">
              <a:buNone/>
            </a:pPr>
            <a:r>
              <a:rPr lang="en-US" sz="1000" b="1" dirty="0">
                <a:solidFill>
                  <a:srgbClr val="00D4FF"/>
                </a:solidFill>
              </a:rPr>
              <a:t>Auditability</a:t>
            </a:r>
            <a:endParaRPr lang="en-US" sz="1000" dirty="0"/>
          </a:p>
        </p:txBody>
      </p:sp>
      <p:sp>
        <p:nvSpPr>
          <p:cNvPr id="52" name="Text 50"/>
          <p:cNvSpPr/>
          <p:nvPr/>
        </p:nvSpPr>
        <p:spPr>
          <a:xfrm>
            <a:off x="8915400" y="4626864"/>
            <a:ext cx="2560320" cy="914400"/>
          </a:xfrm>
          <a:prstGeom prst="rect">
            <a:avLst/>
          </a:prstGeom>
          <a:noFill/>
          <a:ln/>
        </p:spPr>
        <p:txBody>
          <a:bodyPr wrap="square" lIns="0" tIns="0" rIns="0" bIns="0" rtlCol="0" anchor="ctr"/>
          <a:lstStyle/>
          <a:p>
            <a:pPr marL="0" indent="0">
              <a:buNone/>
            </a:pPr>
            <a:r>
              <a:rPr lang="en-US" sz="900" dirty="0">
                <a:solidFill>
                  <a:srgbClr val="CBD5E1"/>
                </a:solidFill>
              </a:rPr>
              <a:t>Every agent action logged, explainable &amp; reversible for compliance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0"/>
            <a:ext cx="12191695" cy="36576"/>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73152"/>
            <a:ext cx="9144000" cy="502920"/>
          </a:xfrm>
          <a:prstGeom prst="rect">
            <a:avLst/>
          </a:prstGeom>
          <a:noFill/>
        </p:spPr>
        <p:txBody>
          <a:bodyPr wrap="square">
            <a:spAutoFit/>
          </a:bodyPr>
          <a:lstStyle/>
          <a:p>
            <a:pPr algn="l"/>
            <a:r>
              <a:rPr sz="2200" b="1" i="0">
                <a:solidFill>
                  <a:srgbClr val="FFFFFF"/>
                </a:solidFill>
                <a:latin typeface="Cambria"/>
              </a:rPr>
              <a:t>DEVELOPMENT AGENT LANDSCAPE</a:t>
            </a:r>
          </a:p>
        </p:txBody>
      </p:sp>
      <p:sp>
        <p:nvSpPr>
          <p:cNvPr id="5" name="TextBox 4"/>
          <p:cNvSpPr txBox="1"/>
          <p:nvPr/>
        </p:nvSpPr>
        <p:spPr>
          <a:xfrm>
            <a:off x="274320" y="548640"/>
            <a:ext cx="10972800" cy="320040"/>
          </a:xfrm>
          <a:prstGeom prst="rect">
            <a:avLst/>
          </a:prstGeom>
          <a:noFill/>
        </p:spPr>
        <p:txBody>
          <a:bodyPr wrap="square">
            <a:spAutoFit/>
          </a:bodyPr>
          <a:lstStyle/>
          <a:p>
            <a:pPr algn="l"/>
            <a:r>
              <a:rPr sz="1100" b="0" i="0">
                <a:solidFill>
                  <a:srgbClr val="A0C8FF"/>
                </a:solidFill>
                <a:latin typeface="Calibri"/>
              </a:rPr>
              <a:t>Consulting Portfolio View — 13 Assessed Agents | Effort · Impact · HITL · Phase</a:t>
            </a:r>
          </a:p>
        </p:txBody>
      </p:sp>
      <p:sp>
        <p:nvSpPr>
          <p:cNvPr id="6" name="Rectangle 5"/>
          <p:cNvSpPr/>
          <p:nvPr/>
        </p:nvSpPr>
        <p:spPr>
          <a:xfrm>
            <a:off x="0" y="6675120"/>
            <a:ext cx="12191695" cy="182880"/>
          </a:xfrm>
          <a:prstGeom prst="rect">
            <a:avLst/>
          </a:prstGeom>
          <a:solidFill>
            <a:srgbClr val="EC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84264"/>
            <a:ext cx="10972800" cy="164592"/>
          </a:xfrm>
          <a:prstGeom prst="rect">
            <a:avLst/>
          </a:prstGeom>
          <a:noFill/>
        </p:spPr>
        <p:txBody>
          <a:bodyPr wrap="square">
            <a:spAutoFit/>
          </a:bodyPr>
          <a:lstStyle/>
          <a:p>
            <a:pPr algn="l"/>
            <a:r>
              <a:rPr sz="700" b="0" i="0">
                <a:solidFill>
                  <a:srgbClr val="5D6D7E"/>
                </a:solidFill>
                <a:latin typeface="Calibri"/>
              </a:rPr>
              <a:t>CONFIDENTIAL  |  Technology Strategy Practice  |  Not for Distribution</a:t>
            </a:r>
          </a:p>
        </p:txBody>
      </p:sp>
      <p:sp>
        <p:nvSpPr>
          <p:cNvPr id="8" name="Rectangle 7"/>
          <p:cNvSpPr/>
          <p:nvPr/>
        </p:nvSpPr>
        <p:spPr>
          <a:xfrm>
            <a:off x="155448" y="896112"/>
            <a:ext cx="11887200" cy="347472"/>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 y="950976"/>
            <a:ext cx="4846320" cy="237744"/>
          </a:xfrm>
          <a:prstGeom prst="rect">
            <a:avLst/>
          </a:prstGeom>
          <a:noFill/>
        </p:spPr>
        <p:txBody>
          <a:bodyPr wrap="square">
            <a:spAutoFit/>
          </a:bodyPr>
          <a:lstStyle/>
          <a:p>
            <a:pPr algn="l"/>
            <a:r>
              <a:rPr sz="800" b="1" i="0">
                <a:solidFill>
                  <a:srgbClr val="A0C8FF"/>
                </a:solidFill>
                <a:latin typeface="Calibri"/>
              </a:rPr>
              <a:t>AGENT</a:t>
            </a:r>
          </a:p>
        </p:txBody>
      </p:sp>
      <p:sp>
        <p:nvSpPr>
          <p:cNvPr id="10" name="TextBox 9"/>
          <p:cNvSpPr txBox="1"/>
          <p:nvPr/>
        </p:nvSpPr>
        <p:spPr>
          <a:xfrm>
            <a:off x="5166359" y="950976"/>
            <a:ext cx="1280160" cy="237744"/>
          </a:xfrm>
          <a:prstGeom prst="rect">
            <a:avLst/>
          </a:prstGeom>
          <a:noFill/>
        </p:spPr>
        <p:txBody>
          <a:bodyPr wrap="square">
            <a:spAutoFit/>
          </a:bodyPr>
          <a:lstStyle/>
          <a:p>
            <a:pPr algn="l"/>
            <a:r>
              <a:rPr sz="800" b="1" i="0">
                <a:solidFill>
                  <a:srgbClr val="A0C8FF"/>
                </a:solidFill>
                <a:latin typeface="Calibri"/>
              </a:rPr>
              <a:t>EFFORT</a:t>
            </a:r>
          </a:p>
        </p:txBody>
      </p:sp>
      <p:sp>
        <p:nvSpPr>
          <p:cNvPr id="11" name="TextBox 10"/>
          <p:cNvSpPr txBox="1"/>
          <p:nvPr/>
        </p:nvSpPr>
        <p:spPr>
          <a:xfrm>
            <a:off x="6537959" y="950976"/>
            <a:ext cx="1371600" cy="237744"/>
          </a:xfrm>
          <a:prstGeom prst="rect">
            <a:avLst/>
          </a:prstGeom>
          <a:noFill/>
        </p:spPr>
        <p:txBody>
          <a:bodyPr wrap="square">
            <a:spAutoFit/>
          </a:bodyPr>
          <a:lstStyle/>
          <a:p>
            <a:pPr algn="l"/>
            <a:r>
              <a:rPr sz="800" b="1" i="0">
                <a:solidFill>
                  <a:srgbClr val="A0C8FF"/>
                </a:solidFill>
                <a:latin typeface="Calibri"/>
              </a:rPr>
              <a:t>IMPACT</a:t>
            </a:r>
          </a:p>
        </p:txBody>
      </p:sp>
      <p:sp>
        <p:nvSpPr>
          <p:cNvPr id="12" name="TextBox 11"/>
          <p:cNvSpPr txBox="1"/>
          <p:nvPr/>
        </p:nvSpPr>
        <p:spPr>
          <a:xfrm>
            <a:off x="8001000" y="950976"/>
            <a:ext cx="1463040" cy="237744"/>
          </a:xfrm>
          <a:prstGeom prst="rect">
            <a:avLst/>
          </a:prstGeom>
          <a:noFill/>
        </p:spPr>
        <p:txBody>
          <a:bodyPr wrap="square">
            <a:spAutoFit/>
          </a:bodyPr>
          <a:lstStyle/>
          <a:p>
            <a:pPr algn="l"/>
            <a:r>
              <a:rPr sz="800" b="1" i="0">
                <a:solidFill>
                  <a:srgbClr val="A0C8FF"/>
                </a:solidFill>
                <a:latin typeface="Calibri"/>
              </a:rPr>
              <a:t>HITL</a:t>
            </a:r>
          </a:p>
        </p:txBody>
      </p:sp>
      <p:sp>
        <p:nvSpPr>
          <p:cNvPr id="13" name="TextBox 12"/>
          <p:cNvSpPr txBox="1"/>
          <p:nvPr/>
        </p:nvSpPr>
        <p:spPr>
          <a:xfrm>
            <a:off x="9555480" y="950976"/>
            <a:ext cx="2468880" cy="237744"/>
          </a:xfrm>
          <a:prstGeom prst="rect">
            <a:avLst/>
          </a:prstGeom>
          <a:noFill/>
        </p:spPr>
        <p:txBody>
          <a:bodyPr wrap="square">
            <a:spAutoFit/>
          </a:bodyPr>
          <a:lstStyle/>
          <a:p>
            <a:pPr algn="l"/>
            <a:r>
              <a:rPr sz="800" b="1" i="0">
                <a:solidFill>
                  <a:srgbClr val="A0C8FF"/>
                </a:solidFill>
                <a:latin typeface="Calibri"/>
              </a:rPr>
              <a:t>PHASE</a:t>
            </a:r>
          </a:p>
        </p:txBody>
      </p:sp>
      <p:sp>
        <p:nvSpPr>
          <p:cNvPr id="14" name="Rectangle 13"/>
          <p:cNvSpPr/>
          <p:nvPr/>
        </p:nvSpPr>
        <p:spPr>
          <a:xfrm>
            <a:off x="155448" y="1243584"/>
            <a:ext cx="11887200" cy="22860"/>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55448" y="1271016"/>
            <a:ext cx="1188720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55448" y="1271016"/>
            <a:ext cx="36576" cy="36576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6032" y="1335024"/>
            <a:ext cx="4754880" cy="274320"/>
          </a:xfrm>
          <a:prstGeom prst="rect">
            <a:avLst/>
          </a:prstGeom>
          <a:noFill/>
        </p:spPr>
        <p:txBody>
          <a:bodyPr wrap="square">
            <a:spAutoFit/>
          </a:bodyPr>
          <a:lstStyle/>
          <a:p>
            <a:pPr algn="l"/>
            <a:r>
              <a:rPr sz="900" b="1" i="0">
                <a:solidFill>
                  <a:srgbClr val="0D1B3E"/>
                </a:solidFill>
                <a:latin typeface="Calibri"/>
              </a:rPr>
              <a:t>Requirements Elicitation Agent</a:t>
            </a:r>
          </a:p>
        </p:txBody>
      </p:sp>
      <p:sp>
        <p:nvSpPr>
          <p:cNvPr id="18" name="TextBox 17"/>
          <p:cNvSpPr txBox="1"/>
          <p:nvPr/>
        </p:nvSpPr>
        <p:spPr>
          <a:xfrm>
            <a:off x="256032" y="1499616"/>
            <a:ext cx="4754880" cy="137160"/>
          </a:xfrm>
          <a:prstGeom prst="rect">
            <a:avLst/>
          </a:prstGeom>
          <a:noFill/>
        </p:spPr>
        <p:txBody>
          <a:bodyPr wrap="square">
            <a:spAutoFit/>
          </a:bodyPr>
          <a:lstStyle/>
          <a:p>
            <a:pPr algn="l"/>
            <a:r>
              <a:rPr sz="650" b="0" i="0">
                <a:solidFill>
                  <a:srgbClr val="5D6D7E"/>
                </a:solidFill>
                <a:latin typeface="Calibri"/>
              </a:rPr>
              <a:t>Requirement Analysis</a:t>
            </a:r>
          </a:p>
        </p:txBody>
      </p:sp>
      <p:sp>
        <p:nvSpPr>
          <p:cNvPr id="19" name="Rounded Rectangle 18"/>
          <p:cNvSpPr/>
          <p:nvPr/>
        </p:nvSpPr>
        <p:spPr>
          <a:xfrm>
            <a:off x="5166359" y="1344168"/>
            <a:ext cx="1097280" cy="228600"/>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184648" y="1353312"/>
            <a:ext cx="1060704" cy="201168"/>
          </a:xfrm>
          <a:prstGeom prst="rect">
            <a:avLst/>
          </a:prstGeom>
          <a:noFill/>
        </p:spPr>
        <p:txBody>
          <a:bodyPr wrap="square">
            <a:spAutoFit/>
          </a:bodyPr>
          <a:lstStyle/>
          <a:p>
            <a:pPr algn="ctr"/>
            <a:r>
              <a:rPr sz="800" b="1" i="0">
                <a:solidFill>
                  <a:srgbClr val="FFFFFF"/>
                </a:solidFill>
                <a:latin typeface="Calibri"/>
              </a:rPr>
              <a:t>MEDIUM</a:t>
            </a:r>
          </a:p>
        </p:txBody>
      </p:sp>
      <p:sp>
        <p:nvSpPr>
          <p:cNvPr id="21" name="Rounded Rectangle 20"/>
          <p:cNvSpPr/>
          <p:nvPr/>
        </p:nvSpPr>
        <p:spPr>
          <a:xfrm>
            <a:off x="6537959" y="1344168"/>
            <a:ext cx="1097280" cy="228600"/>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56248" y="1353312"/>
            <a:ext cx="1060704" cy="201168"/>
          </a:xfrm>
          <a:prstGeom prst="rect">
            <a:avLst/>
          </a:prstGeom>
          <a:noFill/>
        </p:spPr>
        <p:txBody>
          <a:bodyPr wrap="square">
            <a:spAutoFit/>
          </a:bodyPr>
          <a:lstStyle/>
          <a:p>
            <a:pPr algn="ctr"/>
            <a:r>
              <a:rPr sz="800" b="1" i="0">
                <a:solidFill>
                  <a:srgbClr val="FFFFFF"/>
                </a:solidFill>
                <a:latin typeface="Calibri"/>
              </a:rPr>
              <a:t>HIGH</a:t>
            </a:r>
          </a:p>
        </p:txBody>
      </p:sp>
      <p:sp>
        <p:nvSpPr>
          <p:cNvPr id="23" name="Rounded Rectangle 22"/>
          <p:cNvSpPr/>
          <p:nvPr/>
        </p:nvSpPr>
        <p:spPr>
          <a:xfrm>
            <a:off x="8001000" y="1344168"/>
            <a:ext cx="1188720" cy="228600"/>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19288" y="1353312"/>
            <a:ext cx="1152144" cy="201168"/>
          </a:xfrm>
          <a:prstGeom prst="rect">
            <a:avLst/>
          </a:prstGeom>
          <a:noFill/>
        </p:spPr>
        <p:txBody>
          <a:bodyPr wrap="square">
            <a:spAutoFit/>
          </a:bodyPr>
          <a:lstStyle/>
          <a:p>
            <a:pPr algn="ctr"/>
            <a:r>
              <a:rPr sz="800" b="1" i="0">
                <a:solidFill>
                  <a:srgbClr val="FFFFFF"/>
                </a:solidFill>
                <a:latin typeface="Calibri"/>
              </a:rPr>
              <a:t>High</a:t>
            </a:r>
          </a:p>
        </p:txBody>
      </p:sp>
      <p:sp>
        <p:nvSpPr>
          <p:cNvPr id="25" name="Rounded Rectangle 24"/>
          <p:cNvSpPr/>
          <p:nvPr/>
        </p:nvSpPr>
        <p:spPr>
          <a:xfrm>
            <a:off x="9555480" y="1325880"/>
            <a:ext cx="914400" cy="256032"/>
          </a:xfrm>
          <a:prstGeom prst="roundRect">
            <a:avLst>
              <a:gd name="adj" fmla="val 15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573768" y="1344168"/>
            <a:ext cx="877824" cy="201168"/>
          </a:xfrm>
          <a:prstGeom prst="rect">
            <a:avLst/>
          </a:prstGeom>
          <a:noFill/>
        </p:spPr>
        <p:txBody>
          <a:bodyPr wrap="square">
            <a:spAutoFit/>
          </a:bodyPr>
          <a:lstStyle/>
          <a:p>
            <a:pPr algn="ctr"/>
            <a:r>
              <a:rPr sz="800" b="1" i="0">
                <a:solidFill>
                  <a:srgbClr val="FFFFFF"/>
                </a:solidFill>
                <a:latin typeface="Calibri"/>
              </a:rPr>
              <a:t>Phase 1</a:t>
            </a:r>
          </a:p>
        </p:txBody>
      </p:sp>
      <p:sp>
        <p:nvSpPr>
          <p:cNvPr id="27" name="TextBox 26"/>
          <p:cNvSpPr txBox="1"/>
          <p:nvPr/>
        </p:nvSpPr>
        <p:spPr>
          <a:xfrm>
            <a:off x="10515600" y="1362456"/>
            <a:ext cx="1371600" cy="201168"/>
          </a:xfrm>
          <a:prstGeom prst="rect">
            <a:avLst/>
          </a:prstGeom>
          <a:noFill/>
        </p:spPr>
        <p:txBody>
          <a:bodyPr wrap="square">
            <a:spAutoFit/>
          </a:bodyPr>
          <a:lstStyle/>
          <a:p>
            <a:pPr algn="l"/>
            <a:r>
              <a:rPr sz="700" b="0" i="0">
                <a:solidFill>
                  <a:srgbClr val="5D6D7E"/>
                </a:solidFill>
                <a:latin typeface="Calibri"/>
              </a:rPr>
              <a:t>0–3 Months</a:t>
            </a:r>
          </a:p>
        </p:txBody>
      </p:sp>
      <p:sp>
        <p:nvSpPr>
          <p:cNvPr id="28" name="Rectangle 27"/>
          <p:cNvSpPr/>
          <p:nvPr/>
        </p:nvSpPr>
        <p:spPr>
          <a:xfrm>
            <a:off x="155448" y="1664207"/>
            <a:ext cx="11887200" cy="365760"/>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55448" y="1664207"/>
            <a:ext cx="36576" cy="36576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6032" y="1728216"/>
            <a:ext cx="4754880" cy="274320"/>
          </a:xfrm>
          <a:prstGeom prst="rect">
            <a:avLst/>
          </a:prstGeom>
          <a:noFill/>
        </p:spPr>
        <p:txBody>
          <a:bodyPr wrap="square">
            <a:spAutoFit/>
          </a:bodyPr>
          <a:lstStyle/>
          <a:p>
            <a:pPr algn="l"/>
            <a:r>
              <a:rPr sz="900" b="1" i="0">
                <a:solidFill>
                  <a:srgbClr val="0D1B3E"/>
                </a:solidFill>
                <a:latin typeface="Calibri"/>
              </a:rPr>
              <a:t>User Story Generator Agent</a:t>
            </a:r>
          </a:p>
        </p:txBody>
      </p:sp>
      <p:sp>
        <p:nvSpPr>
          <p:cNvPr id="31" name="TextBox 30"/>
          <p:cNvSpPr txBox="1"/>
          <p:nvPr/>
        </p:nvSpPr>
        <p:spPr>
          <a:xfrm>
            <a:off x="256032" y="1892807"/>
            <a:ext cx="4754880" cy="137160"/>
          </a:xfrm>
          <a:prstGeom prst="rect">
            <a:avLst/>
          </a:prstGeom>
          <a:noFill/>
        </p:spPr>
        <p:txBody>
          <a:bodyPr wrap="square">
            <a:spAutoFit/>
          </a:bodyPr>
          <a:lstStyle/>
          <a:p>
            <a:pPr algn="l"/>
            <a:r>
              <a:rPr sz="650" b="0" i="0">
                <a:solidFill>
                  <a:srgbClr val="5D6D7E"/>
                </a:solidFill>
                <a:latin typeface="Calibri"/>
              </a:rPr>
              <a:t>Requirement Analysis</a:t>
            </a:r>
          </a:p>
        </p:txBody>
      </p:sp>
      <p:sp>
        <p:nvSpPr>
          <p:cNvPr id="32" name="Rounded Rectangle 31"/>
          <p:cNvSpPr/>
          <p:nvPr/>
        </p:nvSpPr>
        <p:spPr>
          <a:xfrm>
            <a:off x="5166359" y="1737360"/>
            <a:ext cx="1097280" cy="228600"/>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184648" y="1746504"/>
            <a:ext cx="1060704" cy="201168"/>
          </a:xfrm>
          <a:prstGeom prst="rect">
            <a:avLst/>
          </a:prstGeom>
          <a:noFill/>
        </p:spPr>
        <p:txBody>
          <a:bodyPr wrap="square">
            <a:spAutoFit/>
          </a:bodyPr>
          <a:lstStyle/>
          <a:p>
            <a:pPr algn="ctr"/>
            <a:r>
              <a:rPr sz="800" b="1" i="0">
                <a:solidFill>
                  <a:srgbClr val="FFFFFF"/>
                </a:solidFill>
                <a:latin typeface="Calibri"/>
              </a:rPr>
              <a:t>MEDIUM</a:t>
            </a:r>
          </a:p>
        </p:txBody>
      </p:sp>
      <p:sp>
        <p:nvSpPr>
          <p:cNvPr id="34" name="Rounded Rectangle 33"/>
          <p:cNvSpPr/>
          <p:nvPr/>
        </p:nvSpPr>
        <p:spPr>
          <a:xfrm>
            <a:off x="6537959" y="1737360"/>
            <a:ext cx="1097280" cy="228600"/>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556248" y="1746504"/>
            <a:ext cx="1060704" cy="201168"/>
          </a:xfrm>
          <a:prstGeom prst="rect">
            <a:avLst/>
          </a:prstGeom>
          <a:noFill/>
        </p:spPr>
        <p:txBody>
          <a:bodyPr wrap="square">
            <a:spAutoFit/>
          </a:bodyPr>
          <a:lstStyle/>
          <a:p>
            <a:pPr algn="ctr"/>
            <a:r>
              <a:rPr sz="800" b="1" i="0">
                <a:solidFill>
                  <a:srgbClr val="FFFFFF"/>
                </a:solidFill>
                <a:latin typeface="Calibri"/>
              </a:rPr>
              <a:t>HIGH</a:t>
            </a:r>
          </a:p>
        </p:txBody>
      </p:sp>
      <p:sp>
        <p:nvSpPr>
          <p:cNvPr id="36" name="Rounded Rectangle 35"/>
          <p:cNvSpPr/>
          <p:nvPr/>
        </p:nvSpPr>
        <p:spPr>
          <a:xfrm>
            <a:off x="8001000" y="1737360"/>
            <a:ext cx="1188720" cy="228600"/>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019288" y="1746504"/>
            <a:ext cx="1152144" cy="201168"/>
          </a:xfrm>
          <a:prstGeom prst="rect">
            <a:avLst/>
          </a:prstGeom>
          <a:noFill/>
        </p:spPr>
        <p:txBody>
          <a:bodyPr wrap="square">
            <a:spAutoFit/>
          </a:bodyPr>
          <a:lstStyle/>
          <a:p>
            <a:pPr algn="ctr"/>
            <a:r>
              <a:rPr sz="800" b="1" i="0">
                <a:solidFill>
                  <a:srgbClr val="FFFFFF"/>
                </a:solidFill>
                <a:latin typeface="Calibri"/>
              </a:rPr>
              <a:t>Medium</a:t>
            </a:r>
          </a:p>
        </p:txBody>
      </p:sp>
      <p:sp>
        <p:nvSpPr>
          <p:cNvPr id="38" name="Rounded Rectangle 37"/>
          <p:cNvSpPr/>
          <p:nvPr/>
        </p:nvSpPr>
        <p:spPr>
          <a:xfrm>
            <a:off x="9555480" y="1719072"/>
            <a:ext cx="914400" cy="256032"/>
          </a:xfrm>
          <a:prstGeom prst="roundRect">
            <a:avLst>
              <a:gd name="adj" fmla="val 15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573768" y="1737360"/>
            <a:ext cx="877824" cy="201168"/>
          </a:xfrm>
          <a:prstGeom prst="rect">
            <a:avLst/>
          </a:prstGeom>
          <a:noFill/>
        </p:spPr>
        <p:txBody>
          <a:bodyPr wrap="square">
            <a:spAutoFit/>
          </a:bodyPr>
          <a:lstStyle/>
          <a:p>
            <a:pPr algn="ctr"/>
            <a:r>
              <a:rPr sz="800" b="1" i="0">
                <a:solidFill>
                  <a:srgbClr val="FFFFFF"/>
                </a:solidFill>
                <a:latin typeface="Calibri"/>
              </a:rPr>
              <a:t>Phase 1</a:t>
            </a:r>
          </a:p>
        </p:txBody>
      </p:sp>
      <p:sp>
        <p:nvSpPr>
          <p:cNvPr id="40" name="TextBox 39"/>
          <p:cNvSpPr txBox="1"/>
          <p:nvPr/>
        </p:nvSpPr>
        <p:spPr>
          <a:xfrm>
            <a:off x="10515600" y="1755648"/>
            <a:ext cx="1371600" cy="201168"/>
          </a:xfrm>
          <a:prstGeom prst="rect">
            <a:avLst/>
          </a:prstGeom>
          <a:noFill/>
        </p:spPr>
        <p:txBody>
          <a:bodyPr wrap="square">
            <a:spAutoFit/>
          </a:bodyPr>
          <a:lstStyle/>
          <a:p>
            <a:pPr algn="l"/>
            <a:r>
              <a:rPr sz="700" b="0" i="0">
                <a:solidFill>
                  <a:srgbClr val="5D6D7E"/>
                </a:solidFill>
                <a:latin typeface="Calibri"/>
              </a:rPr>
              <a:t>0–3 Months</a:t>
            </a:r>
          </a:p>
        </p:txBody>
      </p:sp>
      <p:sp>
        <p:nvSpPr>
          <p:cNvPr id="41" name="Rectangle 40"/>
          <p:cNvSpPr/>
          <p:nvPr/>
        </p:nvSpPr>
        <p:spPr>
          <a:xfrm>
            <a:off x="155448" y="2057400"/>
            <a:ext cx="1188720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155448" y="2057400"/>
            <a:ext cx="36576" cy="36576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56032" y="2121408"/>
            <a:ext cx="4754880" cy="274320"/>
          </a:xfrm>
          <a:prstGeom prst="rect">
            <a:avLst/>
          </a:prstGeom>
          <a:noFill/>
        </p:spPr>
        <p:txBody>
          <a:bodyPr wrap="square">
            <a:spAutoFit/>
          </a:bodyPr>
          <a:lstStyle/>
          <a:p>
            <a:pPr algn="l"/>
            <a:r>
              <a:rPr sz="900" b="1" i="0">
                <a:solidFill>
                  <a:srgbClr val="0D1B3E"/>
                </a:solidFill>
                <a:latin typeface="Calibri"/>
              </a:rPr>
              <a:t>Architecture Advisor Agent</a:t>
            </a:r>
          </a:p>
        </p:txBody>
      </p:sp>
      <p:sp>
        <p:nvSpPr>
          <p:cNvPr id="44" name="TextBox 43"/>
          <p:cNvSpPr txBox="1"/>
          <p:nvPr/>
        </p:nvSpPr>
        <p:spPr>
          <a:xfrm>
            <a:off x="256032" y="2286000"/>
            <a:ext cx="4754880" cy="137160"/>
          </a:xfrm>
          <a:prstGeom prst="rect">
            <a:avLst/>
          </a:prstGeom>
          <a:noFill/>
        </p:spPr>
        <p:txBody>
          <a:bodyPr wrap="square">
            <a:spAutoFit/>
          </a:bodyPr>
          <a:lstStyle/>
          <a:p>
            <a:pPr algn="l"/>
            <a:r>
              <a:rPr sz="650" b="0" i="0">
                <a:solidFill>
                  <a:srgbClr val="5D6D7E"/>
                </a:solidFill>
                <a:latin typeface="Calibri"/>
              </a:rPr>
              <a:t>Architecture &amp; Design</a:t>
            </a:r>
          </a:p>
        </p:txBody>
      </p:sp>
      <p:sp>
        <p:nvSpPr>
          <p:cNvPr id="45" name="Rounded Rectangle 44"/>
          <p:cNvSpPr/>
          <p:nvPr/>
        </p:nvSpPr>
        <p:spPr>
          <a:xfrm>
            <a:off x="5166359" y="2130552"/>
            <a:ext cx="1097280" cy="228600"/>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184648" y="2139696"/>
            <a:ext cx="1060704" cy="201168"/>
          </a:xfrm>
          <a:prstGeom prst="rect">
            <a:avLst/>
          </a:prstGeom>
          <a:noFill/>
        </p:spPr>
        <p:txBody>
          <a:bodyPr wrap="square">
            <a:spAutoFit/>
          </a:bodyPr>
          <a:lstStyle/>
          <a:p>
            <a:pPr algn="ctr"/>
            <a:r>
              <a:rPr sz="800" b="1" i="0">
                <a:solidFill>
                  <a:srgbClr val="FFFFFF"/>
                </a:solidFill>
                <a:latin typeface="Calibri"/>
              </a:rPr>
              <a:t>HIGH</a:t>
            </a:r>
          </a:p>
        </p:txBody>
      </p:sp>
      <p:sp>
        <p:nvSpPr>
          <p:cNvPr id="47" name="Rounded Rectangle 46"/>
          <p:cNvSpPr/>
          <p:nvPr/>
        </p:nvSpPr>
        <p:spPr>
          <a:xfrm>
            <a:off x="6537959" y="2130552"/>
            <a:ext cx="1097280" cy="228600"/>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556248" y="2139696"/>
            <a:ext cx="1060704" cy="201168"/>
          </a:xfrm>
          <a:prstGeom prst="rect">
            <a:avLst/>
          </a:prstGeom>
          <a:noFill/>
        </p:spPr>
        <p:txBody>
          <a:bodyPr wrap="square">
            <a:spAutoFit/>
          </a:bodyPr>
          <a:lstStyle/>
          <a:p>
            <a:pPr algn="ctr"/>
            <a:r>
              <a:rPr sz="800" b="1" i="0">
                <a:solidFill>
                  <a:srgbClr val="FFFFFF"/>
                </a:solidFill>
                <a:latin typeface="Calibri"/>
              </a:rPr>
              <a:t>HIGH</a:t>
            </a:r>
          </a:p>
        </p:txBody>
      </p:sp>
      <p:sp>
        <p:nvSpPr>
          <p:cNvPr id="49" name="Rounded Rectangle 48"/>
          <p:cNvSpPr/>
          <p:nvPr/>
        </p:nvSpPr>
        <p:spPr>
          <a:xfrm>
            <a:off x="8001000" y="2130552"/>
            <a:ext cx="1188720" cy="228600"/>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019288" y="2139696"/>
            <a:ext cx="1152144" cy="201168"/>
          </a:xfrm>
          <a:prstGeom prst="rect">
            <a:avLst/>
          </a:prstGeom>
          <a:noFill/>
        </p:spPr>
        <p:txBody>
          <a:bodyPr wrap="square">
            <a:spAutoFit/>
          </a:bodyPr>
          <a:lstStyle/>
          <a:p>
            <a:pPr algn="ctr"/>
            <a:r>
              <a:rPr sz="800" b="1" i="0">
                <a:solidFill>
                  <a:srgbClr val="FFFFFF"/>
                </a:solidFill>
                <a:latin typeface="Calibri"/>
              </a:rPr>
              <a:t>High</a:t>
            </a:r>
          </a:p>
        </p:txBody>
      </p:sp>
      <p:sp>
        <p:nvSpPr>
          <p:cNvPr id="51" name="Rounded Rectangle 50"/>
          <p:cNvSpPr/>
          <p:nvPr/>
        </p:nvSpPr>
        <p:spPr>
          <a:xfrm>
            <a:off x="9555480" y="2112264"/>
            <a:ext cx="914400" cy="256032"/>
          </a:xfrm>
          <a:prstGeom prst="roundRect">
            <a:avLst>
              <a:gd name="adj" fmla="val 15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573768" y="2130552"/>
            <a:ext cx="877824" cy="201168"/>
          </a:xfrm>
          <a:prstGeom prst="rect">
            <a:avLst/>
          </a:prstGeom>
          <a:noFill/>
        </p:spPr>
        <p:txBody>
          <a:bodyPr wrap="square">
            <a:spAutoFit/>
          </a:bodyPr>
          <a:lstStyle/>
          <a:p>
            <a:pPr algn="ctr"/>
            <a:r>
              <a:rPr sz="800" b="1" i="0">
                <a:solidFill>
                  <a:srgbClr val="FFFFFF"/>
                </a:solidFill>
                <a:latin typeface="Calibri"/>
              </a:rPr>
              <a:t>Phase 3</a:t>
            </a:r>
          </a:p>
        </p:txBody>
      </p:sp>
      <p:sp>
        <p:nvSpPr>
          <p:cNvPr id="53" name="TextBox 52"/>
          <p:cNvSpPr txBox="1"/>
          <p:nvPr/>
        </p:nvSpPr>
        <p:spPr>
          <a:xfrm>
            <a:off x="10515600" y="2148840"/>
            <a:ext cx="1371600" cy="201168"/>
          </a:xfrm>
          <a:prstGeom prst="rect">
            <a:avLst/>
          </a:prstGeom>
          <a:noFill/>
        </p:spPr>
        <p:txBody>
          <a:bodyPr wrap="square">
            <a:spAutoFit/>
          </a:bodyPr>
          <a:lstStyle/>
          <a:p>
            <a:pPr algn="l"/>
            <a:r>
              <a:rPr sz="700" b="0" i="0">
                <a:solidFill>
                  <a:srgbClr val="5D6D7E"/>
                </a:solidFill>
                <a:latin typeface="Calibri"/>
              </a:rPr>
              <a:t>6–12 Months</a:t>
            </a:r>
          </a:p>
        </p:txBody>
      </p:sp>
      <p:sp>
        <p:nvSpPr>
          <p:cNvPr id="54" name="Rectangle 53"/>
          <p:cNvSpPr/>
          <p:nvPr/>
        </p:nvSpPr>
        <p:spPr>
          <a:xfrm>
            <a:off x="155448" y="2450591"/>
            <a:ext cx="11887200" cy="365760"/>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55448" y="2450591"/>
            <a:ext cx="36576" cy="36576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56032" y="2514599"/>
            <a:ext cx="4754880" cy="274320"/>
          </a:xfrm>
          <a:prstGeom prst="rect">
            <a:avLst/>
          </a:prstGeom>
          <a:noFill/>
        </p:spPr>
        <p:txBody>
          <a:bodyPr wrap="square">
            <a:spAutoFit/>
          </a:bodyPr>
          <a:lstStyle/>
          <a:p>
            <a:pPr algn="l"/>
            <a:r>
              <a:rPr sz="900" b="1" i="0">
                <a:solidFill>
                  <a:srgbClr val="0D1B3E"/>
                </a:solidFill>
                <a:latin typeface="Calibri"/>
              </a:rPr>
              <a:t>API Design Agent</a:t>
            </a:r>
          </a:p>
        </p:txBody>
      </p:sp>
      <p:sp>
        <p:nvSpPr>
          <p:cNvPr id="57" name="TextBox 56"/>
          <p:cNvSpPr txBox="1"/>
          <p:nvPr/>
        </p:nvSpPr>
        <p:spPr>
          <a:xfrm>
            <a:off x="256032" y="2679191"/>
            <a:ext cx="4754880" cy="137160"/>
          </a:xfrm>
          <a:prstGeom prst="rect">
            <a:avLst/>
          </a:prstGeom>
          <a:noFill/>
        </p:spPr>
        <p:txBody>
          <a:bodyPr wrap="square">
            <a:spAutoFit/>
          </a:bodyPr>
          <a:lstStyle/>
          <a:p>
            <a:pPr algn="l"/>
            <a:r>
              <a:rPr sz="650" b="0" i="0">
                <a:solidFill>
                  <a:srgbClr val="5D6D7E"/>
                </a:solidFill>
                <a:latin typeface="Calibri"/>
              </a:rPr>
              <a:t>Architecture &amp; Design</a:t>
            </a:r>
          </a:p>
        </p:txBody>
      </p:sp>
      <p:sp>
        <p:nvSpPr>
          <p:cNvPr id="58" name="Rounded Rectangle 57"/>
          <p:cNvSpPr/>
          <p:nvPr/>
        </p:nvSpPr>
        <p:spPr>
          <a:xfrm>
            <a:off x="5166359" y="2523744"/>
            <a:ext cx="1097280" cy="228600"/>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2532887"/>
            <a:ext cx="1060704" cy="201168"/>
          </a:xfrm>
          <a:prstGeom prst="rect">
            <a:avLst/>
          </a:prstGeom>
          <a:noFill/>
        </p:spPr>
        <p:txBody>
          <a:bodyPr wrap="square">
            <a:spAutoFit/>
          </a:bodyPr>
          <a:lstStyle/>
          <a:p>
            <a:pPr algn="ctr"/>
            <a:r>
              <a:rPr sz="800" b="1" i="0">
                <a:solidFill>
                  <a:srgbClr val="FFFFFF"/>
                </a:solidFill>
                <a:latin typeface="Calibri"/>
              </a:rPr>
              <a:t>MEDIUM</a:t>
            </a:r>
          </a:p>
        </p:txBody>
      </p:sp>
      <p:sp>
        <p:nvSpPr>
          <p:cNvPr id="60" name="Rounded Rectangle 59"/>
          <p:cNvSpPr/>
          <p:nvPr/>
        </p:nvSpPr>
        <p:spPr>
          <a:xfrm>
            <a:off x="6537959" y="2523744"/>
            <a:ext cx="1097280" cy="228600"/>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556248" y="2532887"/>
            <a:ext cx="1060704" cy="201168"/>
          </a:xfrm>
          <a:prstGeom prst="rect">
            <a:avLst/>
          </a:prstGeom>
          <a:noFill/>
        </p:spPr>
        <p:txBody>
          <a:bodyPr wrap="square">
            <a:spAutoFit/>
          </a:bodyPr>
          <a:lstStyle/>
          <a:p>
            <a:pPr algn="ctr"/>
            <a:r>
              <a:rPr sz="800" b="1" i="0">
                <a:solidFill>
                  <a:srgbClr val="FFFFFF"/>
                </a:solidFill>
                <a:latin typeface="Calibri"/>
              </a:rPr>
              <a:t>HIGH</a:t>
            </a:r>
          </a:p>
        </p:txBody>
      </p:sp>
      <p:sp>
        <p:nvSpPr>
          <p:cNvPr id="62" name="Rounded Rectangle 61"/>
          <p:cNvSpPr/>
          <p:nvPr/>
        </p:nvSpPr>
        <p:spPr>
          <a:xfrm>
            <a:off x="8001000" y="2523744"/>
            <a:ext cx="1188720" cy="228600"/>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019288" y="2532887"/>
            <a:ext cx="1152144" cy="201168"/>
          </a:xfrm>
          <a:prstGeom prst="rect">
            <a:avLst/>
          </a:prstGeom>
          <a:noFill/>
        </p:spPr>
        <p:txBody>
          <a:bodyPr wrap="square">
            <a:spAutoFit/>
          </a:bodyPr>
          <a:lstStyle/>
          <a:p>
            <a:pPr algn="ctr"/>
            <a:r>
              <a:rPr sz="800" b="1" i="0">
                <a:solidFill>
                  <a:srgbClr val="FFFFFF"/>
                </a:solidFill>
                <a:latin typeface="Calibri"/>
              </a:rPr>
              <a:t>Medium</a:t>
            </a:r>
          </a:p>
        </p:txBody>
      </p:sp>
      <p:sp>
        <p:nvSpPr>
          <p:cNvPr id="64" name="Rounded Rectangle 63"/>
          <p:cNvSpPr/>
          <p:nvPr/>
        </p:nvSpPr>
        <p:spPr>
          <a:xfrm>
            <a:off x="9555480" y="2505456"/>
            <a:ext cx="914400" cy="25603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573768" y="2523744"/>
            <a:ext cx="877824" cy="201168"/>
          </a:xfrm>
          <a:prstGeom prst="rect">
            <a:avLst/>
          </a:prstGeom>
          <a:noFill/>
        </p:spPr>
        <p:txBody>
          <a:bodyPr wrap="square">
            <a:spAutoFit/>
          </a:bodyPr>
          <a:lstStyle/>
          <a:p>
            <a:pPr algn="ctr"/>
            <a:r>
              <a:rPr sz="800" b="1" i="0">
                <a:solidFill>
                  <a:srgbClr val="FFFFFF"/>
                </a:solidFill>
                <a:latin typeface="Calibri"/>
              </a:rPr>
              <a:t>Phase 2</a:t>
            </a:r>
          </a:p>
        </p:txBody>
      </p:sp>
      <p:sp>
        <p:nvSpPr>
          <p:cNvPr id="66" name="TextBox 65"/>
          <p:cNvSpPr txBox="1"/>
          <p:nvPr/>
        </p:nvSpPr>
        <p:spPr>
          <a:xfrm>
            <a:off x="10515600" y="2542032"/>
            <a:ext cx="1371600" cy="201168"/>
          </a:xfrm>
          <a:prstGeom prst="rect">
            <a:avLst/>
          </a:prstGeom>
          <a:noFill/>
        </p:spPr>
        <p:txBody>
          <a:bodyPr wrap="square">
            <a:spAutoFit/>
          </a:bodyPr>
          <a:lstStyle/>
          <a:p>
            <a:pPr algn="l"/>
            <a:r>
              <a:rPr sz="700" b="0" i="0">
                <a:solidFill>
                  <a:srgbClr val="5D6D7E"/>
                </a:solidFill>
                <a:latin typeface="Calibri"/>
              </a:rPr>
              <a:t>3–6 Months</a:t>
            </a:r>
          </a:p>
        </p:txBody>
      </p:sp>
      <p:sp>
        <p:nvSpPr>
          <p:cNvPr id="67" name="Rectangle 66"/>
          <p:cNvSpPr/>
          <p:nvPr/>
        </p:nvSpPr>
        <p:spPr>
          <a:xfrm>
            <a:off x="155448" y="2843784"/>
            <a:ext cx="1188720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55448" y="2843784"/>
            <a:ext cx="36576" cy="36576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256032" y="2907791"/>
            <a:ext cx="4754880" cy="274320"/>
          </a:xfrm>
          <a:prstGeom prst="rect">
            <a:avLst/>
          </a:prstGeom>
          <a:noFill/>
        </p:spPr>
        <p:txBody>
          <a:bodyPr wrap="square">
            <a:spAutoFit/>
          </a:bodyPr>
          <a:lstStyle/>
          <a:p>
            <a:pPr algn="l"/>
            <a:r>
              <a:rPr sz="900" b="1" i="0">
                <a:solidFill>
                  <a:srgbClr val="0D1B3E"/>
                </a:solidFill>
                <a:latin typeface="Calibri"/>
              </a:rPr>
              <a:t>Data Modelling Agent</a:t>
            </a:r>
          </a:p>
        </p:txBody>
      </p:sp>
      <p:sp>
        <p:nvSpPr>
          <p:cNvPr id="70" name="TextBox 69"/>
          <p:cNvSpPr txBox="1"/>
          <p:nvPr/>
        </p:nvSpPr>
        <p:spPr>
          <a:xfrm>
            <a:off x="256032" y="3072384"/>
            <a:ext cx="4754880" cy="137160"/>
          </a:xfrm>
          <a:prstGeom prst="rect">
            <a:avLst/>
          </a:prstGeom>
          <a:noFill/>
        </p:spPr>
        <p:txBody>
          <a:bodyPr wrap="square">
            <a:spAutoFit/>
          </a:bodyPr>
          <a:lstStyle/>
          <a:p>
            <a:pPr algn="l"/>
            <a:r>
              <a:rPr sz="650" b="0" i="0">
                <a:solidFill>
                  <a:srgbClr val="5D6D7E"/>
                </a:solidFill>
                <a:latin typeface="Calibri"/>
              </a:rPr>
              <a:t>Architecture &amp; Design</a:t>
            </a:r>
          </a:p>
        </p:txBody>
      </p:sp>
      <p:sp>
        <p:nvSpPr>
          <p:cNvPr id="71" name="Rounded Rectangle 70"/>
          <p:cNvSpPr/>
          <p:nvPr/>
        </p:nvSpPr>
        <p:spPr>
          <a:xfrm>
            <a:off x="5166359" y="2916936"/>
            <a:ext cx="1097280" cy="228600"/>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5184648" y="2926079"/>
            <a:ext cx="1060704" cy="201168"/>
          </a:xfrm>
          <a:prstGeom prst="rect">
            <a:avLst/>
          </a:prstGeom>
          <a:noFill/>
        </p:spPr>
        <p:txBody>
          <a:bodyPr wrap="square">
            <a:spAutoFit/>
          </a:bodyPr>
          <a:lstStyle/>
          <a:p>
            <a:pPr algn="ctr"/>
            <a:r>
              <a:rPr sz="800" b="1" i="0">
                <a:solidFill>
                  <a:srgbClr val="FFFFFF"/>
                </a:solidFill>
                <a:latin typeface="Calibri"/>
              </a:rPr>
              <a:t>MEDIUM</a:t>
            </a:r>
          </a:p>
        </p:txBody>
      </p:sp>
      <p:sp>
        <p:nvSpPr>
          <p:cNvPr id="73" name="Rounded Rectangle 72"/>
          <p:cNvSpPr/>
          <p:nvPr/>
        </p:nvSpPr>
        <p:spPr>
          <a:xfrm>
            <a:off x="6537959" y="2916936"/>
            <a:ext cx="1097280" cy="228600"/>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556248" y="2926079"/>
            <a:ext cx="1060704" cy="201168"/>
          </a:xfrm>
          <a:prstGeom prst="rect">
            <a:avLst/>
          </a:prstGeom>
          <a:noFill/>
        </p:spPr>
        <p:txBody>
          <a:bodyPr wrap="square">
            <a:spAutoFit/>
          </a:bodyPr>
          <a:lstStyle/>
          <a:p>
            <a:pPr algn="ctr"/>
            <a:r>
              <a:rPr sz="800" b="1" i="0">
                <a:solidFill>
                  <a:srgbClr val="FFFFFF"/>
                </a:solidFill>
                <a:latin typeface="Calibri"/>
              </a:rPr>
              <a:t>HIGH</a:t>
            </a:r>
          </a:p>
        </p:txBody>
      </p:sp>
      <p:sp>
        <p:nvSpPr>
          <p:cNvPr id="75" name="Rounded Rectangle 74"/>
          <p:cNvSpPr/>
          <p:nvPr/>
        </p:nvSpPr>
        <p:spPr>
          <a:xfrm>
            <a:off x="8001000" y="2916936"/>
            <a:ext cx="1188720" cy="228600"/>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019288" y="2926079"/>
            <a:ext cx="1152144" cy="201168"/>
          </a:xfrm>
          <a:prstGeom prst="rect">
            <a:avLst/>
          </a:prstGeom>
          <a:noFill/>
        </p:spPr>
        <p:txBody>
          <a:bodyPr wrap="square">
            <a:spAutoFit/>
          </a:bodyPr>
          <a:lstStyle/>
          <a:p>
            <a:pPr algn="ctr"/>
            <a:r>
              <a:rPr sz="800" b="1" i="0">
                <a:solidFill>
                  <a:srgbClr val="FFFFFF"/>
                </a:solidFill>
                <a:latin typeface="Calibri"/>
              </a:rPr>
              <a:t>Medium</a:t>
            </a:r>
          </a:p>
        </p:txBody>
      </p:sp>
      <p:sp>
        <p:nvSpPr>
          <p:cNvPr id="77" name="Rounded Rectangle 76"/>
          <p:cNvSpPr/>
          <p:nvPr/>
        </p:nvSpPr>
        <p:spPr>
          <a:xfrm>
            <a:off x="9555480" y="2898648"/>
            <a:ext cx="914400" cy="25603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9573768" y="2916936"/>
            <a:ext cx="877824" cy="201168"/>
          </a:xfrm>
          <a:prstGeom prst="rect">
            <a:avLst/>
          </a:prstGeom>
          <a:noFill/>
        </p:spPr>
        <p:txBody>
          <a:bodyPr wrap="square">
            <a:spAutoFit/>
          </a:bodyPr>
          <a:lstStyle/>
          <a:p>
            <a:pPr algn="ctr"/>
            <a:r>
              <a:rPr sz="800" b="1" i="0">
                <a:solidFill>
                  <a:srgbClr val="FFFFFF"/>
                </a:solidFill>
                <a:latin typeface="Calibri"/>
              </a:rPr>
              <a:t>Phase 2</a:t>
            </a:r>
          </a:p>
        </p:txBody>
      </p:sp>
      <p:sp>
        <p:nvSpPr>
          <p:cNvPr id="79" name="TextBox 78"/>
          <p:cNvSpPr txBox="1"/>
          <p:nvPr/>
        </p:nvSpPr>
        <p:spPr>
          <a:xfrm>
            <a:off x="10515600" y="2935224"/>
            <a:ext cx="1371600" cy="201168"/>
          </a:xfrm>
          <a:prstGeom prst="rect">
            <a:avLst/>
          </a:prstGeom>
          <a:noFill/>
        </p:spPr>
        <p:txBody>
          <a:bodyPr wrap="square">
            <a:spAutoFit/>
          </a:bodyPr>
          <a:lstStyle/>
          <a:p>
            <a:pPr algn="l"/>
            <a:r>
              <a:rPr sz="700" b="0" i="0">
                <a:solidFill>
                  <a:srgbClr val="5D6D7E"/>
                </a:solidFill>
                <a:latin typeface="Calibri"/>
              </a:rPr>
              <a:t>3–6 Months</a:t>
            </a:r>
          </a:p>
        </p:txBody>
      </p:sp>
      <p:sp>
        <p:nvSpPr>
          <p:cNvPr id="80" name="Rectangle 79"/>
          <p:cNvSpPr/>
          <p:nvPr/>
        </p:nvSpPr>
        <p:spPr>
          <a:xfrm>
            <a:off x="155448" y="3236976"/>
            <a:ext cx="11887200" cy="365760"/>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155448" y="3236976"/>
            <a:ext cx="36576" cy="365760"/>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256032" y="3300984"/>
            <a:ext cx="4754880" cy="274320"/>
          </a:xfrm>
          <a:prstGeom prst="rect">
            <a:avLst/>
          </a:prstGeom>
          <a:noFill/>
        </p:spPr>
        <p:txBody>
          <a:bodyPr wrap="square">
            <a:spAutoFit/>
          </a:bodyPr>
          <a:lstStyle/>
          <a:p>
            <a:pPr algn="l"/>
            <a:r>
              <a:rPr sz="900" b="1" i="0">
                <a:solidFill>
                  <a:srgbClr val="0D1B3E"/>
                </a:solidFill>
                <a:latin typeface="Calibri"/>
              </a:rPr>
              <a:t>Sprint Planner Agent</a:t>
            </a:r>
          </a:p>
        </p:txBody>
      </p:sp>
      <p:sp>
        <p:nvSpPr>
          <p:cNvPr id="83" name="TextBox 82"/>
          <p:cNvSpPr txBox="1"/>
          <p:nvPr/>
        </p:nvSpPr>
        <p:spPr>
          <a:xfrm>
            <a:off x="256032" y="3465576"/>
            <a:ext cx="4754880" cy="137160"/>
          </a:xfrm>
          <a:prstGeom prst="rect">
            <a:avLst/>
          </a:prstGeom>
          <a:noFill/>
        </p:spPr>
        <p:txBody>
          <a:bodyPr wrap="square">
            <a:spAutoFit/>
          </a:bodyPr>
          <a:lstStyle/>
          <a:p>
            <a:pPr algn="l"/>
            <a:r>
              <a:rPr sz="650" b="0" i="0">
                <a:solidFill>
                  <a:srgbClr val="5D6D7E"/>
                </a:solidFill>
                <a:latin typeface="Calibri"/>
              </a:rPr>
              <a:t>Estimation &amp; Planning</a:t>
            </a:r>
          </a:p>
        </p:txBody>
      </p:sp>
      <p:sp>
        <p:nvSpPr>
          <p:cNvPr id="84" name="Rounded Rectangle 83"/>
          <p:cNvSpPr/>
          <p:nvPr/>
        </p:nvSpPr>
        <p:spPr>
          <a:xfrm>
            <a:off x="5166359" y="3310128"/>
            <a:ext cx="1097280" cy="228600"/>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5184648" y="3319272"/>
            <a:ext cx="1060704" cy="201168"/>
          </a:xfrm>
          <a:prstGeom prst="rect">
            <a:avLst/>
          </a:prstGeom>
          <a:noFill/>
        </p:spPr>
        <p:txBody>
          <a:bodyPr wrap="square">
            <a:spAutoFit/>
          </a:bodyPr>
          <a:lstStyle/>
          <a:p>
            <a:pPr algn="ctr"/>
            <a:r>
              <a:rPr sz="800" b="1" i="0">
                <a:solidFill>
                  <a:srgbClr val="FFFFFF"/>
                </a:solidFill>
                <a:latin typeface="Calibri"/>
              </a:rPr>
              <a:t>MEDIUM</a:t>
            </a:r>
          </a:p>
        </p:txBody>
      </p:sp>
      <p:sp>
        <p:nvSpPr>
          <p:cNvPr id="86" name="Rounded Rectangle 85"/>
          <p:cNvSpPr/>
          <p:nvPr/>
        </p:nvSpPr>
        <p:spPr>
          <a:xfrm>
            <a:off x="6537959" y="3310128"/>
            <a:ext cx="1097280" cy="228600"/>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556248" y="3319272"/>
            <a:ext cx="1060704" cy="201168"/>
          </a:xfrm>
          <a:prstGeom prst="rect">
            <a:avLst/>
          </a:prstGeom>
          <a:noFill/>
        </p:spPr>
        <p:txBody>
          <a:bodyPr wrap="square">
            <a:spAutoFit/>
          </a:bodyPr>
          <a:lstStyle/>
          <a:p>
            <a:pPr algn="ctr"/>
            <a:r>
              <a:rPr sz="800" b="1" i="0">
                <a:solidFill>
                  <a:srgbClr val="FFFFFF"/>
                </a:solidFill>
                <a:latin typeface="Calibri"/>
              </a:rPr>
              <a:t>MEDIUM</a:t>
            </a:r>
          </a:p>
        </p:txBody>
      </p:sp>
      <p:sp>
        <p:nvSpPr>
          <p:cNvPr id="88" name="Rounded Rectangle 87"/>
          <p:cNvSpPr/>
          <p:nvPr/>
        </p:nvSpPr>
        <p:spPr>
          <a:xfrm>
            <a:off x="8001000" y="3310128"/>
            <a:ext cx="1188720" cy="228600"/>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8019288" y="3319272"/>
            <a:ext cx="1152144" cy="201168"/>
          </a:xfrm>
          <a:prstGeom prst="rect">
            <a:avLst/>
          </a:prstGeom>
          <a:noFill/>
        </p:spPr>
        <p:txBody>
          <a:bodyPr wrap="square">
            <a:spAutoFit/>
          </a:bodyPr>
          <a:lstStyle/>
          <a:p>
            <a:pPr algn="ctr"/>
            <a:r>
              <a:rPr sz="800" b="1" i="0">
                <a:solidFill>
                  <a:srgbClr val="FFFFFF"/>
                </a:solidFill>
                <a:latin typeface="Calibri"/>
              </a:rPr>
              <a:t>High</a:t>
            </a:r>
          </a:p>
        </p:txBody>
      </p:sp>
      <p:sp>
        <p:nvSpPr>
          <p:cNvPr id="90" name="Rounded Rectangle 89"/>
          <p:cNvSpPr/>
          <p:nvPr/>
        </p:nvSpPr>
        <p:spPr>
          <a:xfrm>
            <a:off x="9555480" y="3291840"/>
            <a:ext cx="914400" cy="25603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9573768" y="3310128"/>
            <a:ext cx="877824" cy="201168"/>
          </a:xfrm>
          <a:prstGeom prst="rect">
            <a:avLst/>
          </a:prstGeom>
          <a:noFill/>
        </p:spPr>
        <p:txBody>
          <a:bodyPr wrap="square">
            <a:spAutoFit/>
          </a:bodyPr>
          <a:lstStyle/>
          <a:p>
            <a:pPr algn="ctr"/>
            <a:r>
              <a:rPr sz="800" b="1" i="0">
                <a:solidFill>
                  <a:srgbClr val="FFFFFF"/>
                </a:solidFill>
                <a:latin typeface="Calibri"/>
              </a:rPr>
              <a:t>Phase 2</a:t>
            </a:r>
          </a:p>
        </p:txBody>
      </p:sp>
      <p:sp>
        <p:nvSpPr>
          <p:cNvPr id="92" name="TextBox 91"/>
          <p:cNvSpPr txBox="1"/>
          <p:nvPr/>
        </p:nvSpPr>
        <p:spPr>
          <a:xfrm>
            <a:off x="10515600" y="3328416"/>
            <a:ext cx="1371600" cy="201168"/>
          </a:xfrm>
          <a:prstGeom prst="rect">
            <a:avLst/>
          </a:prstGeom>
          <a:noFill/>
        </p:spPr>
        <p:txBody>
          <a:bodyPr wrap="square">
            <a:spAutoFit/>
          </a:bodyPr>
          <a:lstStyle/>
          <a:p>
            <a:pPr algn="l"/>
            <a:r>
              <a:rPr sz="700" b="0" i="0">
                <a:solidFill>
                  <a:srgbClr val="5D6D7E"/>
                </a:solidFill>
                <a:latin typeface="Calibri"/>
              </a:rPr>
              <a:t>3–6 Months</a:t>
            </a:r>
          </a:p>
        </p:txBody>
      </p:sp>
      <p:sp>
        <p:nvSpPr>
          <p:cNvPr id="93" name="Rectangle 92"/>
          <p:cNvSpPr/>
          <p:nvPr/>
        </p:nvSpPr>
        <p:spPr>
          <a:xfrm>
            <a:off x="155448" y="3630168"/>
            <a:ext cx="1188720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155448" y="3630168"/>
            <a:ext cx="36576" cy="365760"/>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256032" y="3694176"/>
            <a:ext cx="4754880" cy="274320"/>
          </a:xfrm>
          <a:prstGeom prst="rect">
            <a:avLst/>
          </a:prstGeom>
          <a:noFill/>
        </p:spPr>
        <p:txBody>
          <a:bodyPr wrap="square">
            <a:spAutoFit/>
          </a:bodyPr>
          <a:lstStyle/>
          <a:p>
            <a:pPr algn="l"/>
            <a:r>
              <a:rPr sz="900" b="1" i="0">
                <a:solidFill>
                  <a:srgbClr val="0D1B3E"/>
                </a:solidFill>
                <a:latin typeface="Calibri"/>
              </a:rPr>
              <a:t>Story Sizing Agent</a:t>
            </a:r>
          </a:p>
        </p:txBody>
      </p:sp>
      <p:sp>
        <p:nvSpPr>
          <p:cNvPr id="96" name="TextBox 95"/>
          <p:cNvSpPr txBox="1"/>
          <p:nvPr/>
        </p:nvSpPr>
        <p:spPr>
          <a:xfrm>
            <a:off x="256032" y="3858768"/>
            <a:ext cx="4754880" cy="137160"/>
          </a:xfrm>
          <a:prstGeom prst="rect">
            <a:avLst/>
          </a:prstGeom>
          <a:noFill/>
        </p:spPr>
        <p:txBody>
          <a:bodyPr wrap="square">
            <a:spAutoFit/>
          </a:bodyPr>
          <a:lstStyle/>
          <a:p>
            <a:pPr algn="l"/>
            <a:r>
              <a:rPr sz="650" b="0" i="0">
                <a:solidFill>
                  <a:srgbClr val="5D6D7E"/>
                </a:solidFill>
                <a:latin typeface="Calibri"/>
              </a:rPr>
              <a:t>Estimation &amp; Planning</a:t>
            </a:r>
          </a:p>
        </p:txBody>
      </p:sp>
      <p:sp>
        <p:nvSpPr>
          <p:cNvPr id="97" name="Rounded Rectangle 96"/>
          <p:cNvSpPr/>
          <p:nvPr/>
        </p:nvSpPr>
        <p:spPr>
          <a:xfrm>
            <a:off x="5166359" y="3703320"/>
            <a:ext cx="1097280" cy="228600"/>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5184648" y="3712463"/>
            <a:ext cx="1060704" cy="201168"/>
          </a:xfrm>
          <a:prstGeom prst="rect">
            <a:avLst/>
          </a:prstGeom>
          <a:noFill/>
        </p:spPr>
        <p:txBody>
          <a:bodyPr wrap="square">
            <a:spAutoFit/>
          </a:bodyPr>
          <a:lstStyle/>
          <a:p>
            <a:pPr algn="ctr"/>
            <a:r>
              <a:rPr sz="800" b="1" i="0">
                <a:solidFill>
                  <a:srgbClr val="FFFFFF"/>
                </a:solidFill>
                <a:latin typeface="Calibri"/>
              </a:rPr>
              <a:t>LOW</a:t>
            </a:r>
          </a:p>
        </p:txBody>
      </p:sp>
      <p:sp>
        <p:nvSpPr>
          <p:cNvPr id="99" name="Rounded Rectangle 98"/>
          <p:cNvSpPr/>
          <p:nvPr/>
        </p:nvSpPr>
        <p:spPr>
          <a:xfrm>
            <a:off x="6537959" y="3703320"/>
            <a:ext cx="1097280" cy="228600"/>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6556248" y="3712463"/>
            <a:ext cx="1060704" cy="201168"/>
          </a:xfrm>
          <a:prstGeom prst="rect">
            <a:avLst/>
          </a:prstGeom>
          <a:noFill/>
        </p:spPr>
        <p:txBody>
          <a:bodyPr wrap="square">
            <a:spAutoFit/>
          </a:bodyPr>
          <a:lstStyle/>
          <a:p>
            <a:pPr algn="ctr"/>
            <a:r>
              <a:rPr sz="800" b="1" i="0">
                <a:solidFill>
                  <a:srgbClr val="FFFFFF"/>
                </a:solidFill>
                <a:latin typeface="Calibri"/>
              </a:rPr>
              <a:t>MEDIUM</a:t>
            </a:r>
          </a:p>
        </p:txBody>
      </p:sp>
      <p:sp>
        <p:nvSpPr>
          <p:cNvPr id="101" name="Rounded Rectangle 100"/>
          <p:cNvSpPr/>
          <p:nvPr/>
        </p:nvSpPr>
        <p:spPr>
          <a:xfrm>
            <a:off x="8001000" y="3703320"/>
            <a:ext cx="1188720" cy="228600"/>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8019288" y="3712463"/>
            <a:ext cx="1152144" cy="201168"/>
          </a:xfrm>
          <a:prstGeom prst="rect">
            <a:avLst/>
          </a:prstGeom>
          <a:noFill/>
        </p:spPr>
        <p:txBody>
          <a:bodyPr wrap="square">
            <a:spAutoFit/>
          </a:bodyPr>
          <a:lstStyle/>
          <a:p>
            <a:pPr algn="ctr"/>
            <a:r>
              <a:rPr sz="800" b="1" i="0">
                <a:solidFill>
                  <a:srgbClr val="FFFFFF"/>
                </a:solidFill>
                <a:latin typeface="Calibri"/>
              </a:rPr>
              <a:t>Medium</a:t>
            </a:r>
          </a:p>
        </p:txBody>
      </p:sp>
      <p:sp>
        <p:nvSpPr>
          <p:cNvPr id="103" name="Rounded Rectangle 102"/>
          <p:cNvSpPr/>
          <p:nvPr/>
        </p:nvSpPr>
        <p:spPr>
          <a:xfrm>
            <a:off x="9555480" y="3685031"/>
            <a:ext cx="914400" cy="25603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9573768" y="3703320"/>
            <a:ext cx="877824" cy="201168"/>
          </a:xfrm>
          <a:prstGeom prst="rect">
            <a:avLst/>
          </a:prstGeom>
          <a:noFill/>
        </p:spPr>
        <p:txBody>
          <a:bodyPr wrap="square">
            <a:spAutoFit/>
          </a:bodyPr>
          <a:lstStyle/>
          <a:p>
            <a:pPr algn="ctr"/>
            <a:r>
              <a:rPr sz="800" b="1" i="0">
                <a:solidFill>
                  <a:srgbClr val="FFFFFF"/>
                </a:solidFill>
                <a:latin typeface="Calibri"/>
              </a:rPr>
              <a:t>Phase 2</a:t>
            </a:r>
          </a:p>
        </p:txBody>
      </p:sp>
      <p:sp>
        <p:nvSpPr>
          <p:cNvPr id="105" name="TextBox 104"/>
          <p:cNvSpPr txBox="1"/>
          <p:nvPr/>
        </p:nvSpPr>
        <p:spPr>
          <a:xfrm>
            <a:off x="10515600" y="3721607"/>
            <a:ext cx="1371600" cy="201168"/>
          </a:xfrm>
          <a:prstGeom prst="rect">
            <a:avLst/>
          </a:prstGeom>
          <a:noFill/>
        </p:spPr>
        <p:txBody>
          <a:bodyPr wrap="square">
            <a:spAutoFit/>
          </a:bodyPr>
          <a:lstStyle/>
          <a:p>
            <a:pPr algn="l"/>
            <a:r>
              <a:rPr sz="700" b="0" i="0">
                <a:solidFill>
                  <a:srgbClr val="5D6D7E"/>
                </a:solidFill>
                <a:latin typeface="Calibri"/>
              </a:rPr>
              <a:t>3–6 Months</a:t>
            </a:r>
          </a:p>
        </p:txBody>
      </p:sp>
      <p:sp>
        <p:nvSpPr>
          <p:cNvPr id="106" name="Rectangle 105"/>
          <p:cNvSpPr/>
          <p:nvPr/>
        </p:nvSpPr>
        <p:spPr>
          <a:xfrm>
            <a:off x="155448" y="4023359"/>
            <a:ext cx="11887200" cy="365760"/>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155448" y="4023359"/>
            <a:ext cx="36576" cy="36576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256032" y="4087368"/>
            <a:ext cx="4754880" cy="274320"/>
          </a:xfrm>
          <a:prstGeom prst="rect">
            <a:avLst/>
          </a:prstGeom>
          <a:noFill/>
        </p:spPr>
        <p:txBody>
          <a:bodyPr wrap="square">
            <a:spAutoFit/>
          </a:bodyPr>
          <a:lstStyle/>
          <a:p>
            <a:pPr algn="l"/>
            <a:r>
              <a:rPr sz="900" b="1" i="0">
                <a:solidFill>
                  <a:srgbClr val="0D1B3E"/>
                </a:solidFill>
                <a:latin typeface="Calibri"/>
              </a:rPr>
              <a:t>Code Generation Agent</a:t>
            </a:r>
          </a:p>
        </p:txBody>
      </p:sp>
      <p:sp>
        <p:nvSpPr>
          <p:cNvPr id="109" name="TextBox 108"/>
          <p:cNvSpPr txBox="1"/>
          <p:nvPr/>
        </p:nvSpPr>
        <p:spPr>
          <a:xfrm>
            <a:off x="256032" y="4251959"/>
            <a:ext cx="4754880" cy="137160"/>
          </a:xfrm>
          <a:prstGeom prst="rect">
            <a:avLst/>
          </a:prstGeom>
          <a:noFill/>
        </p:spPr>
        <p:txBody>
          <a:bodyPr wrap="square">
            <a:spAutoFit/>
          </a:bodyPr>
          <a:lstStyle/>
          <a:p>
            <a:pPr algn="l"/>
            <a:r>
              <a:rPr sz="650" b="0" i="0">
                <a:solidFill>
                  <a:srgbClr val="5D6D7E"/>
                </a:solidFill>
                <a:latin typeface="Calibri"/>
              </a:rPr>
              <a:t>Development &amp; Coding</a:t>
            </a:r>
          </a:p>
        </p:txBody>
      </p:sp>
      <p:sp>
        <p:nvSpPr>
          <p:cNvPr id="110" name="Rounded Rectangle 109"/>
          <p:cNvSpPr/>
          <p:nvPr/>
        </p:nvSpPr>
        <p:spPr>
          <a:xfrm>
            <a:off x="5166359" y="4096511"/>
            <a:ext cx="1097280" cy="228600"/>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5184648" y="4105655"/>
            <a:ext cx="1060704" cy="201168"/>
          </a:xfrm>
          <a:prstGeom prst="rect">
            <a:avLst/>
          </a:prstGeom>
          <a:noFill/>
        </p:spPr>
        <p:txBody>
          <a:bodyPr wrap="square">
            <a:spAutoFit/>
          </a:bodyPr>
          <a:lstStyle/>
          <a:p>
            <a:pPr algn="ctr"/>
            <a:r>
              <a:rPr sz="800" b="1" i="0">
                <a:solidFill>
                  <a:srgbClr val="FFFFFF"/>
                </a:solidFill>
                <a:latin typeface="Calibri"/>
              </a:rPr>
              <a:t>HIGH</a:t>
            </a:r>
          </a:p>
        </p:txBody>
      </p:sp>
      <p:sp>
        <p:nvSpPr>
          <p:cNvPr id="112" name="Rounded Rectangle 111"/>
          <p:cNvSpPr/>
          <p:nvPr/>
        </p:nvSpPr>
        <p:spPr>
          <a:xfrm>
            <a:off x="6537959" y="4096511"/>
            <a:ext cx="1097280" cy="228600"/>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6556248" y="4105655"/>
            <a:ext cx="1060704" cy="201168"/>
          </a:xfrm>
          <a:prstGeom prst="rect">
            <a:avLst/>
          </a:prstGeom>
          <a:noFill/>
        </p:spPr>
        <p:txBody>
          <a:bodyPr wrap="square">
            <a:spAutoFit/>
          </a:bodyPr>
          <a:lstStyle/>
          <a:p>
            <a:pPr algn="ctr"/>
            <a:r>
              <a:rPr sz="800" b="1" i="0">
                <a:solidFill>
                  <a:srgbClr val="FFFFFF"/>
                </a:solidFill>
                <a:latin typeface="Calibri"/>
              </a:rPr>
              <a:t>HIGH</a:t>
            </a:r>
          </a:p>
        </p:txBody>
      </p:sp>
      <p:sp>
        <p:nvSpPr>
          <p:cNvPr id="114" name="Rounded Rectangle 113"/>
          <p:cNvSpPr/>
          <p:nvPr/>
        </p:nvSpPr>
        <p:spPr>
          <a:xfrm>
            <a:off x="8001000" y="4096511"/>
            <a:ext cx="1188720" cy="228600"/>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8019288" y="4105655"/>
            <a:ext cx="1152144" cy="201168"/>
          </a:xfrm>
          <a:prstGeom prst="rect">
            <a:avLst/>
          </a:prstGeom>
          <a:noFill/>
        </p:spPr>
        <p:txBody>
          <a:bodyPr wrap="square">
            <a:spAutoFit/>
          </a:bodyPr>
          <a:lstStyle/>
          <a:p>
            <a:pPr algn="ctr"/>
            <a:r>
              <a:rPr sz="800" b="1" i="0">
                <a:solidFill>
                  <a:srgbClr val="FFFFFF"/>
                </a:solidFill>
                <a:latin typeface="Calibri"/>
              </a:rPr>
              <a:t>High</a:t>
            </a:r>
          </a:p>
        </p:txBody>
      </p:sp>
      <p:sp>
        <p:nvSpPr>
          <p:cNvPr id="116" name="Rounded Rectangle 115"/>
          <p:cNvSpPr/>
          <p:nvPr/>
        </p:nvSpPr>
        <p:spPr>
          <a:xfrm>
            <a:off x="9555480" y="4078223"/>
            <a:ext cx="914400" cy="256032"/>
          </a:xfrm>
          <a:prstGeom prst="roundRect">
            <a:avLst>
              <a:gd name="adj" fmla="val 15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9573768" y="4096511"/>
            <a:ext cx="877824" cy="201168"/>
          </a:xfrm>
          <a:prstGeom prst="rect">
            <a:avLst/>
          </a:prstGeom>
          <a:noFill/>
        </p:spPr>
        <p:txBody>
          <a:bodyPr wrap="square">
            <a:spAutoFit/>
          </a:bodyPr>
          <a:lstStyle/>
          <a:p>
            <a:pPr algn="ctr"/>
            <a:r>
              <a:rPr sz="800" b="1" i="0">
                <a:solidFill>
                  <a:srgbClr val="FFFFFF"/>
                </a:solidFill>
                <a:latin typeface="Calibri"/>
              </a:rPr>
              <a:t>Phase 3</a:t>
            </a:r>
          </a:p>
        </p:txBody>
      </p:sp>
      <p:sp>
        <p:nvSpPr>
          <p:cNvPr id="118" name="TextBox 117"/>
          <p:cNvSpPr txBox="1"/>
          <p:nvPr/>
        </p:nvSpPr>
        <p:spPr>
          <a:xfrm>
            <a:off x="10515600" y="4114799"/>
            <a:ext cx="1371600" cy="201168"/>
          </a:xfrm>
          <a:prstGeom prst="rect">
            <a:avLst/>
          </a:prstGeom>
          <a:noFill/>
        </p:spPr>
        <p:txBody>
          <a:bodyPr wrap="square">
            <a:spAutoFit/>
          </a:bodyPr>
          <a:lstStyle/>
          <a:p>
            <a:pPr algn="l"/>
            <a:r>
              <a:rPr sz="700" b="0" i="0">
                <a:solidFill>
                  <a:srgbClr val="5D6D7E"/>
                </a:solidFill>
                <a:latin typeface="Calibri"/>
              </a:rPr>
              <a:t>6–12 Months</a:t>
            </a:r>
          </a:p>
        </p:txBody>
      </p:sp>
      <p:sp>
        <p:nvSpPr>
          <p:cNvPr id="119" name="Rectangle 118"/>
          <p:cNvSpPr/>
          <p:nvPr/>
        </p:nvSpPr>
        <p:spPr>
          <a:xfrm>
            <a:off x="155448" y="4416552"/>
            <a:ext cx="1188720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155448" y="4416552"/>
            <a:ext cx="36576" cy="365760"/>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256032" y="4480560"/>
            <a:ext cx="4754880" cy="274320"/>
          </a:xfrm>
          <a:prstGeom prst="rect">
            <a:avLst/>
          </a:prstGeom>
          <a:noFill/>
        </p:spPr>
        <p:txBody>
          <a:bodyPr wrap="square">
            <a:spAutoFit/>
          </a:bodyPr>
          <a:lstStyle/>
          <a:p>
            <a:pPr algn="l"/>
            <a:r>
              <a:rPr sz="900" b="1" i="0">
                <a:solidFill>
                  <a:srgbClr val="0D1B3E"/>
                </a:solidFill>
                <a:latin typeface="Calibri"/>
              </a:rPr>
              <a:t>Pair Programming Agent</a:t>
            </a:r>
          </a:p>
        </p:txBody>
      </p:sp>
      <p:sp>
        <p:nvSpPr>
          <p:cNvPr id="122" name="TextBox 121"/>
          <p:cNvSpPr txBox="1"/>
          <p:nvPr/>
        </p:nvSpPr>
        <p:spPr>
          <a:xfrm>
            <a:off x="256032" y="4645152"/>
            <a:ext cx="4754880" cy="137160"/>
          </a:xfrm>
          <a:prstGeom prst="rect">
            <a:avLst/>
          </a:prstGeom>
          <a:noFill/>
        </p:spPr>
        <p:txBody>
          <a:bodyPr wrap="square">
            <a:spAutoFit/>
          </a:bodyPr>
          <a:lstStyle/>
          <a:p>
            <a:pPr algn="l"/>
            <a:r>
              <a:rPr sz="650" b="0" i="0">
                <a:solidFill>
                  <a:srgbClr val="5D6D7E"/>
                </a:solidFill>
                <a:latin typeface="Calibri"/>
              </a:rPr>
              <a:t>Development &amp; Coding</a:t>
            </a:r>
          </a:p>
        </p:txBody>
      </p:sp>
      <p:sp>
        <p:nvSpPr>
          <p:cNvPr id="123" name="Rounded Rectangle 122"/>
          <p:cNvSpPr/>
          <p:nvPr/>
        </p:nvSpPr>
        <p:spPr>
          <a:xfrm>
            <a:off x="5166359" y="4489704"/>
            <a:ext cx="1097280" cy="228600"/>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5184648" y="4498848"/>
            <a:ext cx="1060704" cy="201168"/>
          </a:xfrm>
          <a:prstGeom prst="rect">
            <a:avLst/>
          </a:prstGeom>
          <a:noFill/>
        </p:spPr>
        <p:txBody>
          <a:bodyPr wrap="square">
            <a:spAutoFit/>
          </a:bodyPr>
          <a:lstStyle/>
          <a:p>
            <a:pPr algn="ctr"/>
            <a:r>
              <a:rPr sz="800" b="1" i="0">
                <a:solidFill>
                  <a:srgbClr val="FFFFFF"/>
                </a:solidFill>
                <a:latin typeface="Calibri"/>
              </a:rPr>
              <a:t>HIGH</a:t>
            </a:r>
          </a:p>
        </p:txBody>
      </p:sp>
      <p:sp>
        <p:nvSpPr>
          <p:cNvPr id="125" name="Rounded Rectangle 124"/>
          <p:cNvSpPr/>
          <p:nvPr/>
        </p:nvSpPr>
        <p:spPr>
          <a:xfrm>
            <a:off x="6537959" y="4489704"/>
            <a:ext cx="1097280" cy="228600"/>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6556248" y="4498848"/>
            <a:ext cx="1060704" cy="201168"/>
          </a:xfrm>
          <a:prstGeom prst="rect">
            <a:avLst/>
          </a:prstGeom>
          <a:noFill/>
        </p:spPr>
        <p:txBody>
          <a:bodyPr wrap="square">
            <a:spAutoFit/>
          </a:bodyPr>
          <a:lstStyle/>
          <a:p>
            <a:pPr algn="ctr"/>
            <a:r>
              <a:rPr sz="800" b="1" i="0">
                <a:solidFill>
                  <a:srgbClr val="FFFFFF"/>
                </a:solidFill>
                <a:latin typeface="Calibri"/>
              </a:rPr>
              <a:t>MEDIUM</a:t>
            </a:r>
          </a:p>
        </p:txBody>
      </p:sp>
      <p:sp>
        <p:nvSpPr>
          <p:cNvPr id="127" name="Rounded Rectangle 126"/>
          <p:cNvSpPr/>
          <p:nvPr/>
        </p:nvSpPr>
        <p:spPr>
          <a:xfrm>
            <a:off x="8001000" y="4489704"/>
            <a:ext cx="1188720" cy="228600"/>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8019288" y="4498848"/>
            <a:ext cx="1152144" cy="201168"/>
          </a:xfrm>
          <a:prstGeom prst="rect">
            <a:avLst/>
          </a:prstGeom>
          <a:noFill/>
        </p:spPr>
        <p:txBody>
          <a:bodyPr wrap="square">
            <a:spAutoFit/>
          </a:bodyPr>
          <a:lstStyle/>
          <a:p>
            <a:pPr algn="ctr"/>
            <a:r>
              <a:rPr sz="800" b="1" i="0">
                <a:solidFill>
                  <a:srgbClr val="FFFFFF"/>
                </a:solidFill>
                <a:latin typeface="Calibri"/>
              </a:rPr>
              <a:t>Medium</a:t>
            </a:r>
          </a:p>
        </p:txBody>
      </p:sp>
      <p:sp>
        <p:nvSpPr>
          <p:cNvPr id="129" name="Rounded Rectangle 128"/>
          <p:cNvSpPr/>
          <p:nvPr/>
        </p:nvSpPr>
        <p:spPr>
          <a:xfrm>
            <a:off x="9555480" y="4471416"/>
            <a:ext cx="914400" cy="256032"/>
          </a:xfrm>
          <a:prstGeom prst="roundRect">
            <a:avLst>
              <a:gd name="adj" fmla="val 15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9573768" y="4489704"/>
            <a:ext cx="877824" cy="201168"/>
          </a:xfrm>
          <a:prstGeom prst="rect">
            <a:avLst/>
          </a:prstGeom>
          <a:noFill/>
        </p:spPr>
        <p:txBody>
          <a:bodyPr wrap="square">
            <a:spAutoFit/>
          </a:bodyPr>
          <a:lstStyle/>
          <a:p>
            <a:pPr algn="ctr"/>
            <a:r>
              <a:rPr sz="800" b="1" i="0">
                <a:solidFill>
                  <a:srgbClr val="FFFFFF"/>
                </a:solidFill>
                <a:latin typeface="Calibri"/>
              </a:rPr>
              <a:t>Phase 3</a:t>
            </a:r>
          </a:p>
        </p:txBody>
      </p:sp>
      <p:sp>
        <p:nvSpPr>
          <p:cNvPr id="131" name="TextBox 130"/>
          <p:cNvSpPr txBox="1"/>
          <p:nvPr/>
        </p:nvSpPr>
        <p:spPr>
          <a:xfrm>
            <a:off x="10515600" y="4507992"/>
            <a:ext cx="1371600" cy="201168"/>
          </a:xfrm>
          <a:prstGeom prst="rect">
            <a:avLst/>
          </a:prstGeom>
          <a:noFill/>
        </p:spPr>
        <p:txBody>
          <a:bodyPr wrap="square">
            <a:spAutoFit/>
          </a:bodyPr>
          <a:lstStyle/>
          <a:p>
            <a:pPr algn="l"/>
            <a:r>
              <a:rPr sz="700" b="0" i="0">
                <a:solidFill>
                  <a:srgbClr val="5D6D7E"/>
                </a:solidFill>
                <a:latin typeface="Calibri"/>
              </a:rPr>
              <a:t>6–12 Months</a:t>
            </a:r>
          </a:p>
        </p:txBody>
      </p:sp>
      <p:sp>
        <p:nvSpPr>
          <p:cNvPr id="132" name="Rectangle 131"/>
          <p:cNvSpPr/>
          <p:nvPr/>
        </p:nvSpPr>
        <p:spPr>
          <a:xfrm>
            <a:off x="155448" y="4809744"/>
            <a:ext cx="11887200" cy="365760"/>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p:cNvSpPr/>
          <p:nvPr/>
        </p:nvSpPr>
        <p:spPr>
          <a:xfrm>
            <a:off x="155448" y="4809744"/>
            <a:ext cx="36576" cy="36576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256032" y="4873752"/>
            <a:ext cx="4754880" cy="274320"/>
          </a:xfrm>
          <a:prstGeom prst="rect">
            <a:avLst/>
          </a:prstGeom>
          <a:noFill/>
        </p:spPr>
        <p:txBody>
          <a:bodyPr wrap="square">
            <a:spAutoFit/>
          </a:bodyPr>
          <a:lstStyle/>
          <a:p>
            <a:pPr algn="l"/>
            <a:r>
              <a:rPr sz="900" b="1" i="0">
                <a:solidFill>
                  <a:srgbClr val="0D1B3E"/>
                </a:solidFill>
                <a:latin typeface="Calibri"/>
              </a:rPr>
              <a:t>Peer Review Agent</a:t>
            </a:r>
          </a:p>
        </p:txBody>
      </p:sp>
      <p:sp>
        <p:nvSpPr>
          <p:cNvPr id="135" name="TextBox 134"/>
          <p:cNvSpPr txBox="1"/>
          <p:nvPr/>
        </p:nvSpPr>
        <p:spPr>
          <a:xfrm>
            <a:off x="256032" y="5038344"/>
            <a:ext cx="4754880" cy="137160"/>
          </a:xfrm>
          <a:prstGeom prst="rect">
            <a:avLst/>
          </a:prstGeom>
          <a:noFill/>
        </p:spPr>
        <p:txBody>
          <a:bodyPr wrap="square">
            <a:spAutoFit/>
          </a:bodyPr>
          <a:lstStyle/>
          <a:p>
            <a:pPr algn="l"/>
            <a:r>
              <a:rPr sz="650" b="0" i="0">
                <a:solidFill>
                  <a:srgbClr val="5D6D7E"/>
                </a:solidFill>
                <a:latin typeface="Calibri"/>
              </a:rPr>
              <a:t>Code Review</a:t>
            </a:r>
          </a:p>
        </p:txBody>
      </p:sp>
      <p:sp>
        <p:nvSpPr>
          <p:cNvPr id="136" name="Rounded Rectangle 135"/>
          <p:cNvSpPr/>
          <p:nvPr/>
        </p:nvSpPr>
        <p:spPr>
          <a:xfrm>
            <a:off x="5166359" y="4882896"/>
            <a:ext cx="1097280" cy="228600"/>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5184648" y="4892040"/>
            <a:ext cx="1060704" cy="201168"/>
          </a:xfrm>
          <a:prstGeom prst="rect">
            <a:avLst/>
          </a:prstGeom>
          <a:noFill/>
        </p:spPr>
        <p:txBody>
          <a:bodyPr wrap="square">
            <a:spAutoFit/>
          </a:bodyPr>
          <a:lstStyle/>
          <a:p>
            <a:pPr algn="ctr"/>
            <a:r>
              <a:rPr sz="800" b="1" i="0">
                <a:solidFill>
                  <a:srgbClr val="FFFFFF"/>
                </a:solidFill>
                <a:latin typeface="Calibri"/>
              </a:rPr>
              <a:t>MEDIUM</a:t>
            </a:r>
          </a:p>
        </p:txBody>
      </p:sp>
      <p:sp>
        <p:nvSpPr>
          <p:cNvPr id="138" name="Rounded Rectangle 137"/>
          <p:cNvSpPr/>
          <p:nvPr/>
        </p:nvSpPr>
        <p:spPr>
          <a:xfrm>
            <a:off x="6537959" y="4882896"/>
            <a:ext cx="1097280" cy="228600"/>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6556248" y="4892040"/>
            <a:ext cx="1060704" cy="201168"/>
          </a:xfrm>
          <a:prstGeom prst="rect">
            <a:avLst/>
          </a:prstGeom>
          <a:noFill/>
        </p:spPr>
        <p:txBody>
          <a:bodyPr wrap="square">
            <a:spAutoFit/>
          </a:bodyPr>
          <a:lstStyle/>
          <a:p>
            <a:pPr algn="ctr"/>
            <a:r>
              <a:rPr sz="800" b="1" i="0">
                <a:solidFill>
                  <a:srgbClr val="FFFFFF"/>
                </a:solidFill>
                <a:latin typeface="Calibri"/>
              </a:rPr>
              <a:t>HIGH</a:t>
            </a:r>
          </a:p>
        </p:txBody>
      </p:sp>
      <p:sp>
        <p:nvSpPr>
          <p:cNvPr id="140" name="Rounded Rectangle 139"/>
          <p:cNvSpPr/>
          <p:nvPr/>
        </p:nvSpPr>
        <p:spPr>
          <a:xfrm>
            <a:off x="8001000" y="4882896"/>
            <a:ext cx="1188720" cy="228600"/>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8019288" y="4892040"/>
            <a:ext cx="1152144" cy="201168"/>
          </a:xfrm>
          <a:prstGeom prst="rect">
            <a:avLst/>
          </a:prstGeom>
          <a:noFill/>
        </p:spPr>
        <p:txBody>
          <a:bodyPr wrap="square">
            <a:spAutoFit/>
          </a:bodyPr>
          <a:lstStyle/>
          <a:p>
            <a:pPr algn="ctr"/>
            <a:r>
              <a:rPr sz="800" b="1" i="0">
                <a:solidFill>
                  <a:srgbClr val="FFFFFF"/>
                </a:solidFill>
                <a:latin typeface="Calibri"/>
              </a:rPr>
              <a:t>Medium</a:t>
            </a:r>
          </a:p>
        </p:txBody>
      </p:sp>
      <p:sp>
        <p:nvSpPr>
          <p:cNvPr id="142" name="Rounded Rectangle 141"/>
          <p:cNvSpPr/>
          <p:nvPr/>
        </p:nvSpPr>
        <p:spPr>
          <a:xfrm>
            <a:off x="9555480" y="4864607"/>
            <a:ext cx="914400" cy="256032"/>
          </a:xfrm>
          <a:prstGeom prst="roundRect">
            <a:avLst>
              <a:gd name="adj" fmla="val 15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9573768" y="4882896"/>
            <a:ext cx="877824" cy="201168"/>
          </a:xfrm>
          <a:prstGeom prst="rect">
            <a:avLst/>
          </a:prstGeom>
          <a:noFill/>
        </p:spPr>
        <p:txBody>
          <a:bodyPr wrap="square">
            <a:spAutoFit/>
          </a:bodyPr>
          <a:lstStyle/>
          <a:p>
            <a:pPr algn="ctr"/>
            <a:r>
              <a:rPr sz="800" b="1" i="0">
                <a:solidFill>
                  <a:srgbClr val="FFFFFF"/>
                </a:solidFill>
                <a:latin typeface="Calibri"/>
              </a:rPr>
              <a:t>Phase 1</a:t>
            </a:r>
          </a:p>
        </p:txBody>
      </p:sp>
      <p:sp>
        <p:nvSpPr>
          <p:cNvPr id="144" name="TextBox 143"/>
          <p:cNvSpPr txBox="1"/>
          <p:nvPr/>
        </p:nvSpPr>
        <p:spPr>
          <a:xfrm>
            <a:off x="10515600" y="4901183"/>
            <a:ext cx="1371600" cy="201168"/>
          </a:xfrm>
          <a:prstGeom prst="rect">
            <a:avLst/>
          </a:prstGeom>
          <a:noFill/>
        </p:spPr>
        <p:txBody>
          <a:bodyPr wrap="square">
            <a:spAutoFit/>
          </a:bodyPr>
          <a:lstStyle/>
          <a:p>
            <a:pPr algn="l"/>
            <a:r>
              <a:rPr sz="700" b="0" i="0">
                <a:solidFill>
                  <a:srgbClr val="5D6D7E"/>
                </a:solidFill>
                <a:latin typeface="Calibri"/>
              </a:rPr>
              <a:t>0–3 Months</a:t>
            </a:r>
          </a:p>
        </p:txBody>
      </p:sp>
      <p:sp>
        <p:nvSpPr>
          <p:cNvPr id="145" name="Rectangle 144"/>
          <p:cNvSpPr/>
          <p:nvPr/>
        </p:nvSpPr>
        <p:spPr>
          <a:xfrm>
            <a:off x="155448" y="5202936"/>
            <a:ext cx="1188720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ectangle 145"/>
          <p:cNvSpPr/>
          <p:nvPr/>
        </p:nvSpPr>
        <p:spPr>
          <a:xfrm>
            <a:off x="155448" y="5202936"/>
            <a:ext cx="36576" cy="36576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256032" y="5266944"/>
            <a:ext cx="4754880" cy="274320"/>
          </a:xfrm>
          <a:prstGeom prst="rect">
            <a:avLst/>
          </a:prstGeom>
          <a:noFill/>
        </p:spPr>
        <p:txBody>
          <a:bodyPr wrap="square">
            <a:spAutoFit/>
          </a:bodyPr>
          <a:lstStyle/>
          <a:p>
            <a:pPr algn="l"/>
            <a:r>
              <a:rPr sz="900" b="1" i="0">
                <a:solidFill>
                  <a:srgbClr val="0D1B3E"/>
                </a:solidFill>
                <a:latin typeface="Calibri"/>
              </a:rPr>
              <a:t>Documentation Agent</a:t>
            </a:r>
          </a:p>
        </p:txBody>
      </p:sp>
      <p:sp>
        <p:nvSpPr>
          <p:cNvPr id="148" name="TextBox 147"/>
          <p:cNvSpPr txBox="1"/>
          <p:nvPr/>
        </p:nvSpPr>
        <p:spPr>
          <a:xfrm>
            <a:off x="256032" y="5431536"/>
            <a:ext cx="4754880" cy="137160"/>
          </a:xfrm>
          <a:prstGeom prst="rect">
            <a:avLst/>
          </a:prstGeom>
          <a:noFill/>
        </p:spPr>
        <p:txBody>
          <a:bodyPr wrap="square">
            <a:spAutoFit/>
          </a:bodyPr>
          <a:lstStyle/>
          <a:p>
            <a:pPr algn="l"/>
            <a:r>
              <a:rPr sz="650" b="0" i="0">
                <a:solidFill>
                  <a:srgbClr val="5D6D7E"/>
                </a:solidFill>
                <a:latin typeface="Calibri"/>
              </a:rPr>
              <a:t>Development &amp; Coding</a:t>
            </a:r>
          </a:p>
        </p:txBody>
      </p:sp>
      <p:sp>
        <p:nvSpPr>
          <p:cNvPr id="149" name="Rounded Rectangle 148"/>
          <p:cNvSpPr/>
          <p:nvPr/>
        </p:nvSpPr>
        <p:spPr>
          <a:xfrm>
            <a:off x="5166359" y="5276088"/>
            <a:ext cx="1097280" cy="228600"/>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5184648" y="5285231"/>
            <a:ext cx="1060704" cy="201168"/>
          </a:xfrm>
          <a:prstGeom prst="rect">
            <a:avLst/>
          </a:prstGeom>
          <a:noFill/>
        </p:spPr>
        <p:txBody>
          <a:bodyPr wrap="square">
            <a:spAutoFit/>
          </a:bodyPr>
          <a:lstStyle/>
          <a:p>
            <a:pPr algn="ctr"/>
            <a:r>
              <a:rPr sz="800" b="1" i="0">
                <a:solidFill>
                  <a:srgbClr val="FFFFFF"/>
                </a:solidFill>
                <a:latin typeface="Calibri"/>
              </a:rPr>
              <a:t>LOW</a:t>
            </a:r>
          </a:p>
        </p:txBody>
      </p:sp>
      <p:sp>
        <p:nvSpPr>
          <p:cNvPr id="151" name="Rounded Rectangle 150"/>
          <p:cNvSpPr/>
          <p:nvPr/>
        </p:nvSpPr>
        <p:spPr>
          <a:xfrm>
            <a:off x="6537959" y="5276088"/>
            <a:ext cx="1097280" cy="228600"/>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6556248" y="5285231"/>
            <a:ext cx="1060704" cy="201168"/>
          </a:xfrm>
          <a:prstGeom prst="rect">
            <a:avLst/>
          </a:prstGeom>
          <a:noFill/>
        </p:spPr>
        <p:txBody>
          <a:bodyPr wrap="square">
            <a:spAutoFit/>
          </a:bodyPr>
          <a:lstStyle/>
          <a:p>
            <a:pPr algn="ctr"/>
            <a:r>
              <a:rPr sz="800" b="1" i="0">
                <a:solidFill>
                  <a:srgbClr val="FFFFFF"/>
                </a:solidFill>
                <a:latin typeface="Calibri"/>
              </a:rPr>
              <a:t>HIGH</a:t>
            </a:r>
          </a:p>
        </p:txBody>
      </p:sp>
      <p:sp>
        <p:nvSpPr>
          <p:cNvPr id="153" name="Rounded Rectangle 152"/>
          <p:cNvSpPr/>
          <p:nvPr/>
        </p:nvSpPr>
        <p:spPr>
          <a:xfrm>
            <a:off x="8001000" y="5276088"/>
            <a:ext cx="1188720" cy="228600"/>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8019288" y="5285231"/>
            <a:ext cx="1152144" cy="201168"/>
          </a:xfrm>
          <a:prstGeom prst="rect">
            <a:avLst/>
          </a:prstGeom>
          <a:noFill/>
        </p:spPr>
        <p:txBody>
          <a:bodyPr wrap="square">
            <a:spAutoFit/>
          </a:bodyPr>
          <a:lstStyle/>
          <a:p>
            <a:pPr algn="ctr"/>
            <a:r>
              <a:rPr sz="800" b="1" i="0">
                <a:solidFill>
                  <a:srgbClr val="FFFFFF"/>
                </a:solidFill>
                <a:latin typeface="Calibri"/>
              </a:rPr>
              <a:t>Low</a:t>
            </a:r>
          </a:p>
        </p:txBody>
      </p:sp>
      <p:sp>
        <p:nvSpPr>
          <p:cNvPr id="155" name="Rounded Rectangle 154"/>
          <p:cNvSpPr/>
          <p:nvPr/>
        </p:nvSpPr>
        <p:spPr>
          <a:xfrm>
            <a:off x="9555480" y="5257799"/>
            <a:ext cx="914400" cy="256032"/>
          </a:xfrm>
          <a:prstGeom prst="roundRect">
            <a:avLst>
              <a:gd name="adj" fmla="val 15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9573768" y="5276088"/>
            <a:ext cx="877824" cy="201168"/>
          </a:xfrm>
          <a:prstGeom prst="rect">
            <a:avLst/>
          </a:prstGeom>
          <a:noFill/>
        </p:spPr>
        <p:txBody>
          <a:bodyPr wrap="square">
            <a:spAutoFit/>
          </a:bodyPr>
          <a:lstStyle/>
          <a:p>
            <a:pPr algn="ctr"/>
            <a:r>
              <a:rPr sz="800" b="1" i="0">
                <a:solidFill>
                  <a:srgbClr val="FFFFFF"/>
                </a:solidFill>
                <a:latin typeface="Calibri"/>
              </a:rPr>
              <a:t>Phase 1</a:t>
            </a:r>
          </a:p>
        </p:txBody>
      </p:sp>
      <p:sp>
        <p:nvSpPr>
          <p:cNvPr id="157" name="TextBox 156"/>
          <p:cNvSpPr txBox="1"/>
          <p:nvPr/>
        </p:nvSpPr>
        <p:spPr>
          <a:xfrm>
            <a:off x="10515600" y="5294375"/>
            <a:ext cx="1371600" cy="201168"/>
          </a:xfrm>
          <a:prstGeom prst="rect">
            <a:avLst/>
          </a:prstGeom>
          <a:noFill/>
        </p:spPr>
        <p:txBody>
          <a:bodyPr wrap="square">
            <a:spAutoFit/>
          </a:bodyPr>
          <a:lstStyle/>
          <a:p>
            <a:pPr algn="l"/>
            <a:r>
              <a:rPr sz="700" b="0" i="0">
                <a:solidFill>
                  <a:srgbClr val="5D6D7E"/>
                </a:solidFill>
                <a:latin typeface="Calibri"/>
              </a:rPr>
              <a:t>0–3 Months</a:t>
            </a:r>
          </a:p>
        </p:txBody>
      </p:sp>
      <p:sp>
        <p:nvSpPr>
          <p:cNvPr id="158" name="Rectangle 157"/>
          <p:cNvSpPr/>
          <p:nvPr/>
        </p:nvSpPr>
        <p:spPr>
          <a:xfrm>
            <a:off x="155448" y="5596127"/>
            <a:ext cx="11887200" cy="365760"/>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Rectangle 158"/>
          <p:cNvSpPr/>
          <p:nvPr/>
        </p:nvSpPr>
        <p:spPr>
          <a:xfrm>
            <a:off x="155448" y="5596127"/>
            <a:ext cx="36576" cy="36576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256032" y="5660136"/>
            <a:ext cx="4754880" cy="274320"/>
          </a:xfrm>
          <a:prstGeom prst="rect">
            <a:avLst/>
          </a:prstGeom>
          <a:noFill/>
        </p:spPr>
        <p:txBody>
          <a:bodyPr wrap="square">
            <a:spAutoFit/>
          </a:bodyPr>
          <a:lstStyle/>
          <a:p>
            <a:pPr algn="l"/>
            <a:r>
              <a:rPr sz="900" b="1" i="0">
                <a:solidFill>
                  <a:srgbClr val="0D1B3E"/>
                </a:solidFill>
                <a:latin typeface="Calibri"/>
              </a:rPr>
              <a:t>Test Generation Agent</a:t>
            </a:r>
          </a:p>
        </p:txBody>
      </p:sp>
      <p:sp>
        <p:nvSpPr>
          <p:cNvPr id="161" name="TextBox 160"/>
          <p:cNvSpPr txBox="1"/>
          <p:nvPr/>
        </p:nvSpPr>
        <p:spPr>
          <a:xfrm>
            <a:off x="256032" y="5824727"/>
            <a:ext cx="4754880" cy="137160"/>
          </a:xfrm>
          <a:prstGeom prst="rect">
            <a:avLst/>
          </a:prstGeom>
          <a:noFill/>
        </p:spPr>
        <p:txBody>
          <a:bodyPr wrap="square">
            <a:spAutoFit/>
          </a:bodyPr>
          <a:lstStyle/>
          <a:p>
            <a:pPr algn="l"/>
            <a:r>
              <a:rPr sz="650" b="0" i="0">
                <a:solidFill>
                  <a:srgbClr val="5D6D7E"/>
                </a:solidFill>
                <a:latin typeface="Calibri"/>
              </a:rPr>
              <a:t>Testing &amp; Validation</a:t>
            </a:r>
          </a:p>
        </p:txBody>
      </p:sp>
      <p:sp>
        <p:nvSpPr>
          <p:cNvPr id="162" name="Rounded Rectangle 161"/>
          <p:cNvSpPr/>
          <p:nvPr/>
        </p:nvSpPr>
        <p:spPr>
          <a:xfrm>
            <a:off x="5166359" y="5669279"/>
            <a:ext cx="1097280" cy="228600"/>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TextBox 162"/>
          <p:cNvSpPr txBox="1"/>
          <p:nvPr/>
        </p:nvSpPr>
        <p:spPr>
          <a:xfrm>
            <a:off x="5184648" y="5678423"/>
            <a:ext cx="1060704" cy="201168"/>
          </a:xfrm>
          <a:prstGeom prst="rect">
            <a:avLst/>
          </a:prstGeom>
          <a:noFill/>
        </p:spPr>
        <p:txBody>
          <a:bodyPr wrap="square">
            <a:spAutoFit/>
          </a:bodyPr>
          <a:lstStyle/>
          <a:p>
            <a:pPr algn="ctr"/>
            <a:r>
              <a:rPr sz="800" b="1" i="0">
                <a:solidFill>
                  <a:srgbClr val="FFFFFF"/>
                </a:solidFill>
                <a:latin typeface="Calibri"/>
              </a:rPr>
              <a:t>MEDIUM</a:t>
            </a:r>
          </a:p>
        </p:txBody>
      </p:sp>
      <p:sp>
        <p:nvSpPr>
          <p:cNvPr id="164" name="Rounded Rectangle 163"/>
          <p:cNvSpPr/>
          <p:nvPr/>
        </p:nvSpPr>
        <p:spPr>
          <a:xfrm>
            <a:off x="6537959" y="5669279"/>
            <a:ext cx="1097280" cy="228600"/>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TextBox 164"/>
          <p:cNvSpPr txBox="1"/>
          <p:nvPr/>
        </p:nvSpPr>
        <p:spPr>
          <a:xfrm>
            <a:off x="6556248" y="5678423"/>
            <a:ext cx="1060704" cy="201168"/>
          </a:xfrm>
          <a:prstGeom prst="rect">
            <a:avLst/>
          </a:prstGeom>
          <a:noFill/>
        </p:spPr>
        <p:txBody>
          <a:bodyPr wrap="square">
            <a:spAutoFit/>
          </a:bodyPr>
          <a:lstStyle/>
          <a:p>
            <a:pPr algn="ctr"/>
            <a:r>
              <a:rPr sz="800" b="1" i="0">
                <a:solidFill>
                  <a:srgbClr val="FFFFFF"/>
                </a:solidFill>
                <a:latin typeface="Calibri"/>
              </a:rPr>
              <a:t>HIGH</a:t>
            </a:r>
          </a:p>
        </p:txBody>
      </p:sp>
      <p:sp>
        <p:nvSpPr>
          <p:cNvPr id="166" name="Rounded Rectangle 165"/>
          <p:cNvSpPr/>
          <p:nvPr/>
        </p:nvSpPr>
        <p:spPr>
          <a:xfrm>
            <a:off x="8001000" y="5669279"/>
            <a:ext cx="1188720" cy="228600"/>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TextBox 166"/>
          <p:cNvSpPr txBox="1"/>
          <p:nvPr/>
        </p:nvSpPr>
        <p:spPr>
          <a:xfrm>
            <a:off x="8019288" y="5678423"/>
            <a:ext cx="1152144" cy="201168"/>
          </a:xfrm>
          <a:prstGeom prst="rect">
            <a:avLst/>
          </a:prstGeom>
          <a:noFill/>
        </p:spPr>
        <p:txBody>
          <a:bodyPr wrap="square">
            <a:spAutoFit/>
          </a:bodyPr>
          <a:lstStyle/>
          <a:p>
            <a:pPr algn="ctr"/>
            <a:r>
              <a:rPr sz="800" b="1" i="0">
                <a:solidFill>
                  <a:srgbClr val="FFFFFF"/>
                </a:solidFill>
                <a:latin typeface="Calibri"/>
              </a:rPr>
              <a:t>Medium</a:t>
            </a:r>
          </a:p>
        </p:txBody>
      </p:sp>
      <p:sp>
        <p:nvSpPr>
          <p:cNvPr id="168" name="Rounded Rectangle 167"/>
          <p:cNvSpPr/>
          <p:nvPr/>
        </p:nvSpPr>
        <p:spPr>
          <a:xfrm>
            <a:off x="9555480" y="5650991"/>
            <a:ext cx="914400" cy="256032"/>
          </a:xfrm>
          <a:prstGeom prst="roundRect">
            <a:avLst>
              <a:gd name="adj" fmla="val 15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TextBox 168"/>
          <p:cNvSpPr txBox="1"/>
          <p:nvPr/>
        </p:nvSpPr>
        <p:spPr>
          <a:xfrm>
            <a:off x="9573768" y="5669279"/>
            <a:ext cx="877824" cy="201168"/>
          </a:xfrm>
          <a:prstGeom prst="rect">
            <a:avLst/>
          </a:prstGeom>
          <a:noFill/>
        </p:spPr>
        <p:txBody>
          <a:bodyPr wrap="square">
            <a:spAutoFit/>
          </a:bodyPr>
          <a:lstStyle/>
          <a:p>
            <a:pPr algn="ctr"/>
            <a:r>
              <a:rPr sz="800" b="1" i="0">
                <a:solidFill>
                  <a:srgbClr val="FFFFFF"/>
                </a:solidFill>
                <a:latin typeface="Calibri"/>
              </a:rPr>
              <a:t>Phase 1</a:t>
            </a:r>
          </a:p>
        </p:txBody>
      </p:sp>
      <p:sp>
        <p:nvSpPr>
          <p:cNvPr id="170" name="TextBox 169"/>
          <p:cNvSpPr txBox="1"/>
          <p:nvPr/>
        </p:nvSpPr>
        <p:spPr>
          <a:xfrm>
            <a:off x="10515600" y="5687567"/>
            <a:ext cx="1371600" cy="201168"/>
          </a:xfrm>
          <a:prstGeom prst="rect">
            <a:avLst/>
          </a:prstGeom>
          <a:noFill/>
        </p:spPr>
        <p:txBody>
          <a:bodyPr wrap="square">
            <a:spAutoFit/>
          </a:bodyPr>
          <a:lstStyle/>
          <a:p>
            <a:pPr algn="l"/>
            <a:r>
              <a:rPr sz="700" b="0" i="0">
                <a:solidFill>
                  <a:srgbClr val="5D6D7E"/>
                </a:solidFill>
                <a:latin typeface="Calibri"/>
              </a:rPr>
              <a:t>0–3 Months</a:t>
            </a:r>
          </a:p>
        </p:txBody>
      </p:sp>
      <p:sp>
        <p:nvSpPr>
          <p:cNvPr id="171" name="Rectangle 170"/>
          <p:cNvSpPr/>
          <p:nvPr/>
        </p:nvSpPr>
        <p:spPr>
          <a:xfrm>
            <a:off x="155448" y="5989320"/>
            <a:ext cx="1188720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Rectangle 171"/>
          <p:cNvSpPr/>
          <p:nvPr/>
        </p:nvSpPr>
        <p:spPr>
          <a:xfrm>
            <a:off x="155448" y="5989320"/>
            <a:ext cx="36576" cy="36576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TextBox 172"/>
          <p:cNvSpPr txBox="1"/>
          <p:nvPr/>
        </p:nvSpPr>
        <p:spPr>
          <a:xfrm>
            <a:off x="256032" y="6053328"/>
            <a:ext cx="4754880" cy="274320"/>
          </a:xfrm>
          <a:prstGeom prst="rect">
            <a:avLst/>
          </a:prstGeom>
          <a:noFill/>
        </p:spPr>
        <p:txBody>
          <a:bodyPr wrap="square">
            <a:spAutoFit/>
          </a:bodyPr>
          <a:lstStyle/>
          <a:p>
            <a:pPr algn="l"/>
            <a:r>
              <a:rPr sz="900" b="1" i="0">
                <a:solidFill>
                  <a:srgbClr val="0D1B3E"/>
                </a:solidFill>
                <a:latin typeface="Calibri"/>
              </a:rPr>
              <a:t>Codebase Navigator Agent</a:t>
            </a:r>
          </a:p>
        </p:txBody>
      </p:sp>
      <p:sp>
        <p:nvSpPr>
          <p:cNvPr id="174" name="TextBox 173"/>
          <p:cNvSpPr txBox="1"/>
          <p:nvPr/>
        </p:nvSpPr>
        <p:spPr>
          <a:xfrm>
            <a:off x="256032" y="6217920"/>
            <a:ext cx="4754880" cy="137160"/>
          </a:xfrm>
          <a:prstGeom prst="rect">
            <a:avLst/>
          </a:prstGeom>
          <a:noFill/>
        </p:spPr>
        <p:txBody>
          <a:bodyPr wrap="square">
            <a:spAutoFit/>
          </a:bodyPr>
          <a:lstStyle/>
          <a:p>
            <a:pPr algn="l"/>
            <a:r>
              <a:rPr sz="650" b="0" i="0">
                <a:solidFill>
                  <a:srgbClr val="5D6D7E"/>
                </a:solidFill>
                <a:latin typeface="Calibri"/>
              </a:rPr>
              <a:t>Team On-boarding</a:t>
            </a:r>
          </a:p>
        </p:txBody>
      </p:sp>
      <p:sp>
        <p:nvSpPr>
          <p:cNvPr id="175" name="Rounded Rectangle 174"/>
          <p:cNvSpPr/>
          <p:nvPr/>
        </p:nvSpPr>
        <p:spPr>
          <a:xfrm>
            <a:off x="5166359" y="6062472"/>
            <a:ext cx="1097280" cy="228600"/>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p:cNvSpPr txBox="1"/>
          <p:nvPr/>
        </p:nvSpPr>
        <p:spPr>
          <a:xfrm>
            <a:off x="5184648" y="6071616"/>
            <a:ext cx="1060704" cy="201168"/>
          </a:xfrm>
          <a:prstGeom prst="rect">
            <a:avLst/>
          </a:prstGeom>
          <a:noFill/>
        </p:spPr>
        <p:txBody>
          <a:bodyPr wrap="square">
            <a:spAutoFit/>
          </a:bodyPr>
          <a:lstStyle/>
          <a:p>
            <a:pPr algn="ctr"/>
            <a:r>
              <a:rPr sz="800" b="1" i="0">
                <a:solidFill>
                  <a:srgbClr val="FFFFFF"/>
                </a:solidFill>
                <a:latin typeface="Calibri"/>
              </a:rPr>
              <a:t>HIGH</a:t>
            </a:r>
          </a:p>
        </p:txBody>
      </p:sp>
      <p:sp>
        <p:nvSpPr>
          <p:cNvPr id="177" name="Rounded Rectangle 176"/>
          <p:cNvSpPr/>
          <p:nvPr/>
        </p:nvSpPr>
        <p:spPr>
          <a:xfrm>
            <a:off x="6537959" y="6062472"/>
            <a:ext cx="1097280" cy="228600"/>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6556248" y="6071616"/>
            <a:ext cx="1060704" cy="201168"/>
          </a:xfrm>
          <a:prstGeom prst="rect">
            <a:avLst/>
          </a:prstGeom>
          <a:noFill/>
        </p:spPr>
        <p:txBody>
          <a:bodyPr wrap="square">
            <a:spAutoFit/>
          </a:bodyPr>
          <a:lstStyle/>
          <a:p>
            <a:pPr algn="ctr"/>
            <a:r>
              <a:rPr sz="800" b="1" i="0">
                <a:solidFill>
                  <a:srgbClr val="FFFFFF"/>
                </a:solidFill>
                <a:latin typeface="Calibri"/>
              </a:rPr>
              <a:t>HIGH</a:t>
            </a:r>
          </a:p>
        </p:txBody>
      </p:sp>
      <p:sp>
        <p:nvSpPr>
          <p:cNvPr id="179" name="Rounded Rectangle 178"/>
          <p:cNvSpPr/>
          <p:nvPr/>
        </p:nvSpPr>
        <p:spPr>
          <a:xfrm>
            <a:off x="8001000" y="6062472"/>
            <a:ext cx="1188720" cy="228600"/>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8019288" y="6071616"/>
            <a:ext cx="1152144" cy="201168"/>
          </a:xfrm>
          <a:prstGeom prst="rect">
            <a:avLst/>
          </a:prstGeom>
          <a:noFill/>
        </p:spPr>
        <p:txBody>
          <a:bodyPr wrap="square">
            <a:spAutoFit/>
          </a:bodyPr>
          <a:lstStyle/>
          <a:p>
            <a:pPr algn="ctr"/>
            <a:r>
              <a:rPr sz="800" b="1" i="0">
                <a:solidFill>
                  <a:srgbClr val="FFFFFF"/>
                </a:solidFill>
                <a:latin typeface="Calibri"/>
              </a:rPr>
              <a:t>Low</a:t>
            </a:r>
          </a:p>
        </p:txBody>
      </p:sp>
      <p:sp>
        <p:nvSpPr>
          <p:cNvPr id="181" name="Rounded Rectangle 180"/>
          <p:cNvSpPr/>
          <p:nvPr/>
        </p:nvSpPr>
        <p:spPr>
          <a:xfrm>
            <a:off x="9555480" y="6044183"/>
            <a:ext cx="914400" cy="256032"/>
          </a:xfrm>
          <a:prstGeom prst="roundRect">
            <a:avLst>
              <a:gd name="adj" fmla="val 15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9573768" y="6062472"/>
            <a:ext cx="877824" cy="201168"/>
          </a:xfrm>
          <a:prstGeom prst="rect">
            <a:avLst/>
          </a:prstGeom>
          <a:noFill/>
        </p:spPr>
        <p:txBody>
          <a:bodyPr wrap="square">
            <a:spAutoFit/>
          </a:bodyPr>
          <a:lstStyle/>
          <a:p>
            <a:pPr algn="ctr"/>
            <a:r>
              <a:rPr sz="800" b="1" i="0">
                <a:solidFill>
                  <a:srgbClr val="FFFFFF"/>
                </a:solidFill>
                <a:latin typeface="Calibri"/>
              </a:rPr>
              <a:t>Phase 3</a:t>
            </a:r>
          </a:p>
        </p:txBody>
      </p:sp>
      <p:sp>
        <p:nvSpPr>
          <p:cNvPr id="183" name="TextBox 182"/>
          <p:cNvSpPr txBox="1"/>
          <p:nvPr/>
        </p:nvSpPr>
        <p:spPr>
          <a:xfrm>
            <a:off x="10515600" y="6080759"/>
            <a:ext cx="1371600" cy="201168"/>
          </a:xfrm>
          <a:prstGeom prst="rect">
            <a:avLst/>
          </a:prstGeom>
          <a:noFill/>
        </p:spPr>
        <p:txBody>
          <a:bodyPr wrap="square">
            <a:spAutoFit/>
          </a:bodyPr>
          <a:lstStyle/>
          <a:p>
            <a:pPr algn="l"/>
            <a:r>
              <a:rPr sz="700" b="0" i="0">
                <a:solidFill>
                  <a:srgbClr val="5D6D7E"/>
                </a:solidFill>
                <a:latin typeface="Calibri"/>
              </a:rPr>
              <a:t>6–12 Months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0"/>
            <a:ext cx="12191695" cy="36576"/>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73152"/>
            <a:ext cx="9144000" cy="502920"/>
          </a:xfrm>
          <a:prstGeom prst="rect">
            <a:avLst/>
          </a:prstGeom>
          <a:noFill/>
        </p:spPr>
        <p:txBody>
          <a:bodyPr wrap="square">
            <a:spAutoFit/>
          </a:bodyPr>
          <a:lstStyle/>
          <a:p>
            <a:pPr algn="l"/>
            <a:r>
              <a:rPr sz="2200" b="1" i="0">
                <a:solidFill>
                  <a:srgbClr val="FFFFFF"/>
                </a:solidFill>
                <a:latin typeface="Cambria"/>
              </a:rPr>
              <a:t>OPERATIONS AGENT LANDSCAPE</a:t>
            </a:r>
          </a:p>
        </p:txBody>
      </p:sp>
      <p:sp>
        <p:nvSpPr>
          <p:cNvPr id="5" name="TextBox 4"/>
          <p:cNvSpPr txBox="1"/>
          <p:nvPr/>
        </p:nvSpPr>
        <p:spPr>
          <a:xfrm>
            <a:off x="274320" y="548640"/>
            <a:ext cx="10972800" cy="320040"/>
          </a:xfrm>
          <a:prstGeom prst="rect">
            <a:avLst/>
          </a:prstGeom>
          <a:noFill/>
        </p:spPr>
        <p:txBody>
          <a:bodyPr wrap="square">
            <a:spAutoFit/>
          </a:bodyPr>
          <a:lstStyle/>
          <a:p>
            <a:pPr algn="l"/>
            <a:r>
              <a:rPr sz="1100" b="0" i="0">
                <a:solidFill>
                  <a:srgbClr val="A0C8FF"/>
                </a:solidFill>
                <a:latin typeface="Calibri"/>
              </a:rPr>
              <a:t>Autonomous Ops Portfolio — Effort · Impact · HITL · Deployment Phase</a:t>
            </a:r>
          </a:p>
        </p:txBody>
      </p:sp>
      <p:sp>
        <p:nvSpPr>
          <p:cNvPr id="6" name="Rectangle 5"/>
          <p:cNvSpPr/>
          <p:nvPr/>
        </p:nvSpPr>
        <p:spPr>
          <a:xfrm>
            <a:off x="0" y="6675120"/>
            <a:ext cx="12191695" cy="182880"/>
          </a:xfrm>
          <a:prstGeom prst="rect">
            <a:avLst/>
          </a:prstGeom>
          <a:solidFill>
            <a:srgbClr val="EC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84264"/>
            <a:ext cx="10972800" cy="164592"/>
          </a:xfrm>
          <a:prstGeom prst="rect">
            <a:avLst/>
          </a:prstGeom>
          <a:noFill/>
        </p:spPr>
        <p:txBody>
          <a:bodyPr wrap="square">
            <a:spAutoFit/>
          </a:bodyPr>
          <a:lstStyle/>
          <a:p>
            <a:pPr algn="l"/>
            <a:r>
              <a:rPr sz="700" b="0" i="0">
                <a:solidFill>
                  <a:srgbClr val="5D6D7E"/>
                </a:solidFill>
                <a:latin typeface="Calibri"/>
              </a:rPr>
              <a:t>CONFIDENTIAL  |  Technology Strategy Practice  |  Not for Distribution</a:t>
            </a:r>
          </a:p>
        </p:txBody>
      </p:sp>
      <p:sp>
        <p:nvSpPr>
          <p:cNvPr id="8" name="Rounded Rectangle 7"/>
          <p:cNvSpPr/>
          <p:nvPr/>
        </p:nvSpPr>
        <p:spPr>
          <a:xfrm>
            <a:off x="201168" y="987552"/>
            <a:ext cx="1575380" cy="5394960"/>
          </a:xfrm>
          <a:prstGeom prst="roundRect">
            <a:avLst>
              <a:gd name="adj" fmla="val 6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987552"/>
            <a:ext cx="1575380" cy="73152"/>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6888" y="1124712"/>
            <a:ext cx="1483940" cy="365760"/>
          </a:xfrm>
          <a:prstGeom prst="rect">
            <a:avLst/>
          </a:prstGeom>
          <a:noFill/>
        </p:spPr>
        <p:txBody>
          <a:bodyPr wrap="square">
            <a:spAutoFit/>
          </a:bodyPr>
          <a:lstStyle/>
          <a:p>
            <a:pPr algn="ctr"/>
            <a:r>
              <a:rPr sz="2000" b="0" i="0">
                <a:solidFill>
                  <a:srgbClr val="0D1B3E"/>
                </a:solidFill>
                <a:latin typeface="Calibri"/>
              </a:rPr>
              <a:t>🚀</a:t>
            </a:r>
          </a:p>
        </p:txBody>
      </p:sp>
      <p:sp>
        <p:nvSpPr>
          <p:cNvPr id="11" name="TextBox 10"/>
          <p:cNvSpPr txBox="1"/>
          <p:nvPr/>
        </p:nvSpPr>
        <p:spPr>
          <a:xfrm>
            <a:off x="246888" y="1554480"/>
            <a:ext cx="1483940" cy="411480"/>
          </a:xfrm>
          <a:prstGeom prst="rect">
            <a:avLst/>
          </a:prstGeom>
          <a:noFill/>
        </p:spPr>
        <p:txBody>
          <a:bodyPr wrap="square">
            <a:spAutoFit/>
          </a:bodyPr>
          <a:lstStyle/>
          <a:p>
            <a:pPr algn="ctr"/>
            <a:r>
              <a:rPr sz="800" b="1" i="0">
                <a:solidFill>
                  <a:srgbClr val="0D1B3E"/>
                </a:solidFill>
                <a:latin typeface="Calibri"/>
              </a:rPr>
              <a:t>Release</a:t>
            </a:r>
          </a:p>
        </p:txBody>
      </p:sp>
      <p:sp>
        <p:nvSpPr>
          <p:cNvPr id="12" name="TextBox 11"/>
          <p:cNvSpPr txBox="1"/>
          <p:nvPr/>
        </p:nvSpPr>
        <p:spPr>
          <a:xfrm>
            <a:off x="256032" y="1993392"/>
            <a:ext cx="1465652" cy="594360"/>
          </a:xfrm>
          <a:prstGeom prst="rect">
            <a:avLst/>
          </a:prstGeom>
          <a:noFill/>
        </p:spPr>
        <p:txBody>
          <a:bodyPr wrap="square">
            <a:spAutoFit/>
          </a:bodyPr>
          <a:lstStyle/>
          <a:p>
            <a:pPr algn="ctr"/>
            <a:r>
              <a:rPr sz="650" b="0" i="0">
                <a:solidFill>
                  <a:srgbClr val="2C3E50"/>
                </a:solidFill>
                <a:latin typeface="Calibri"/>
              </a:rPr>
              <a:t>Automates release pipelines, CAB prep &amp; rollback</a:t>
            </a:r>
          </a:p>
        </p:txBody>
      </p:sp>
      <p:sp>
        <p:nvSpPr>
          <p:cNvPr id="13" name="Rectangle 12"/>
          <p:cNvSpPr/>
          <p:nvPr/>
        </p:nvSpPr>
        <p:spPr>
          <a:xfrm>
            <a:off x="274320" y="2651760"/>
            <a:ext cx="1429076" cy="1828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6032" y="2743200"/>
            <a:ext cx="1465652" cy="201168"/>
          </a:xfrm>
          <a:prstGeom prst="rect">
            <a:avLst/>
          </a:prstGeom>
          <a:noFill/>
        </p:spPr>
        <p:txBody>
          <a:bodyPr wrap="square">
            <a:spAutoFit/>
          </a:bodyPr>
          <a:lstStyle/>
          <a:p>
            <a:pPr algn="ctr"/>
            <a:r>
              <a:rPr sz="600" b="1" i="0">
                <a:solidFill>
                  <a:srgbClr val="5D6D7E"/>
                </a:solidFill>
                <a:latin typeface="Calibri"/>
              </a:rPr>
              <a:t>EFFORT</a:t>
            </a:r>
          </a:p>
        </p:txBody>
      </p:sp>
      <p:sp>
        <p:nvSpPr>
          <p:cNvPr id="15" name="Rounded Rectangle 14"/>
          <p:cNvSpPr/>
          <p:nvPr/>
        </p:nvSpPr>
        <p:spPr>
          <a:xfrm>
            <a:off x="292608" y="2944368"/>
            <a:ext cx="1392500" cy="292608"/>
          </a:xfrm>
          <a:prstGeom prst="roundRect">
            <a:avLst>
              <a:gd name="adj" fmla="val 18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4320" y="2962656"/>
            <a:ext cx="1429076" cy="256032"/>
          </a:xfrm>
          <a:prstGeom prst="rect">
            <a:avLst/>
          </a:prstGeom>
          <a:noFill/>
        </p:spPr>
        <p:txBody>
          <a:bodyPr wrap="square">
            <a:spAutoFit/>
          </a:bodyPr>
          <a:lstStyle/>
          <a:p>
            <a:pPr algn="ctr"/>
            <a:r>
              <a:rPr sz="800" b="1" i="0">
                <a:solidFill>
                  <a:srgbClr val="FFFFFF"/>
                </a:solidFill>
                <a:latin typeface="Calibri"/>
              </a:rPr>
              <a:t>MEDIUM</a:t>
            </a:r>
          </a:p>
        </p:txBody>
      </p:sp>
      <p:sp>
        <p:nvSpPr>
          <p:cNvPr id="17" name="TextBox 16"/>
          <p:cNvSpPr txBox="1"/>
          <p:nvPr/>
        </p:nvSpPr>
        <p:spPr>
          <a:xfrm>
            <a:off x="256032" y="3429000"/>
            <a:ext cx="1465652" cy="201168"/>
          </a:xfrm>
          <a:prstGeom prst="rect">
            <a:avLst/>
          </a:prstGeom>
          <a:noFill/>
        </p:spPr>
        <p:txBody>
          <a:bodyPr wrap="square">
            <a:spAutoFit/>
          </a:bodyPr>
          <a:lstStyle/>
          <a:p>
            <a:pPr algn="ctr"/>
            <a:r>
              <a:rPr sz="600" b="1" i="0">
                <a:solidFill>
                  <a:srgbClr val="5D6D7E"/>
                </a:solidFill>
                <a:latin typeface="Calibri"/>
              </a:rPr>
              <a:t>IMPACT</a:t>
            </a:r>
          </a:p>
        </p:txBody>
      </p:sp>
      <p:sp>
        <p:nvSpPr>
          <p:cNvPr id="18" name="Rounded Rectangle 17"/>
          <p:cNvSpPr/>
          <p:nvPr/>
        </p:nvSpPr>
        <p:spPr>
          <a:xfrm>
            <a:off x="292608" y="3630168"/>
            <a:ext cx="1392500" cy="292608"/>
          </a:xfrm>
          <a:prstGeom prst="roundRect">
            <a:avLst>
              <a:gd name="adj" fmla="val 18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4320" y="3648456"/>
            <a:ext cx="1429076" cy="256032"/>
          </a:xfrm>
          <a:prstGeom prst="rect">
            <a:avLst/>
          </a:prstGeom>
          <a:noFill/>
        </p:spPr>
        <p:txBody>
          <a:bodyPr wrap="square">
            <a:spAutoFit/>
          </a:bodyPr>
          <a:lstStyle/>
          <a:p>
            <a:pPr algn="ctr"/>
            <a:r>
              <a:rPr sz="800" b="1" i="0">
                <a:solidFill>
                  <a:srgbClr val="FFFFFF"/>
                </a:solidFill>
                <a:latin typeface="Calibri"/>
              </a:rPr>
              <a:t>HIGH</a:t>
            </a:r>
          </a:p>
        </p:txBody>
      </p:sp>
      <p:sp>
        <p:nvSpPr>
          <p:cNvPr id="20" name="TextBox 19"/>
          <p:cNvSpPr txBox="1"/>
          <p:nvPr/>
        </p:nvSpPr>
        <p:spPr>
          <a:xfrm>
            <a:off x="256032" y="4114800"/>
            <a:ext cx="1465652" cy="201168"/>
          </a:xfrm>
          <a:prstGeom prst="rect">
            <a:avLst/>
          </a:prstGeom>
          <a:noFill/>
        </p:spPr>
        <p:txBody>
          <a:bodyPr wrap="square">
            <a:spAutoFit/>
          </a:bodyPr>
          <a:lstStyle/>
          <a:p>
            <a:pPr algn="ctr"/>
            <a:r>
              <a:rPr sz="600" b="1" i="0">
                <a:solidFill>
                  <a:srgbClr val="5D6D7E"/>
                </a:solidFill>
                <a:latin typeface="Calibri"/>
              </a:rPr>
              <a:t>HITL</a:t>
            </a:r>
          </a:p>
        </p:txBody>
      </p:sp>
      <p:sp>
        <p:nvSpPr>
          <p:cNvPr id="21" name="Rounded Rectangle 20"/>
          <p:cNvSpPr/>
          <p:nvPr/>
        </p:nvSpPr>
        <p:spPr>
          <a:xfrm>
            <a:off x="292608" y="4315968"/>
            <a:ext cx="1392500" cy="292608"/>
          </a:xfrm>
          <a:prstGeom prst="roundRect">
            <a:avLst>
              <a:gd name="adj" fmla="val 18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4320" y="4334256"/>
            <a:ext cx="1429076" cy="256032"/>
          </a:xfrm>
          <a:prstGeom prst="rect">
            <a:avLst/>
          </a:prstGeom>
          <a:noFill/>
        </p:spPr>
        <p:txBody>
          <a:bodyPr wrap="square">
            <a:spAutoFit/>
          </a:bodyPr>
          <a:lstStyle/>
          <a:p>
            <a:pPr algn="ctr"/>
            <a:r>
              <a:rPr sz="800" b="1" i="0">
                <a:solidFill>
                  <a:srgbClr val="FFFFFF"/>
                </a:solidFill>
                <a:latin typeface="Calibri"/>
              </a:rPr>
              <a:t>Medium</a:t>
            </a:r>
          </a:p>
        </p:txBody>
      </p:sp>
      <p:sp>
        <p:nvSpPr>
          <p:cNvPr id="23" name="Rounded Rectangle 22"/>
          <p:cNvSpPr/>
          <p:nvPr/>
        </p:nvSpPr>
        <p:spPr>
          <a:xfrm>
            <a:off x="292608" y="5833872"/>
            <a:ext cx="1392500" cy="274320"/>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74320" y="5870448"/>
            <a:ext cx="1429076" cy="201168"/>
          </a:xfrm>
          <a:prstGeom prst="rect">
            <a:avLst/>
          </a:prstGeom>
          <a:noFill/>
        </p:spPr>
        <p:txBody>
          <a:bodyPr wrap="square">
            <a:spAutoFit/>
          </a:bodyPr>
          <a:lstStyle/>
          <a:p>
            <a:pPr algn="ctr"/>
            <a:r>
              <a:rPr sz="650" b="1" i="0">
                <a:solidFill>
                  <a:srgbClr val="FFFFFF"/>
                </a:solidFill>
                <a:latin typeface="Calibri"/>
              </a:rPr>
              <a:t>Phase 2 · 3-6M</a:t>
            </a:r>
          </a:p>
        </p:txBody>
      </p:sp>
      <p:sp>
        <p:nvSpPr>
          <p:cNvPr id="25" name="Rounded Rectangle 24"/>
          <p:cNvSpPr/>
          <p:nvPr/>
        </p:nvSpPr>
        <p:spPr>
          <a:xfrm>
            <a:off x="1886276" y="987552"/>
            <a:ext cx="1575380" cy="5394960"/>
          </a:xfrm>
          <a:prstGeom prst="roundRect">
            <a:avLst>
              <a:gd name="adj" fmla="val 6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886276" y="987552"/>
            <a:ext cx="1575380" cy="73152"/>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931996" y="1124712"/>
            <a:ext cx="1483940" cy="365760"/>
          </a:xfrm>
          <a:prstGeom prst="rect">
            <a:avLst/>
          </a:prstGeom>
          <a:noFill/>
        </p:spPr>
        <p:txBody>
          <a:bodyPr wrap="square">
            <a:spAutoFit/>
          </a:bodyPr>
          <a:lstStyle/>
          <a:p>
            <a:pPr algn="ctr"/>
            <a:r>
              <a:rPr sz="2000" b="0" i="0">
                <a:solidFill>
                  <a:srgbClr val="0D1B3E"/>
                </a:solidFill>
                <a:latin typeface="Calibri"/>
              </a:rPr>
              <a:t>🔔</a:t>
            </a:r>
          </a:p>
        </p:txBody>
      </p:sp>
      <p:sp>
        <p:nvSpPr>
          <p:cNvPr id="28" name="TextBox 27"/>
          <p:cNvSpPr txBox="1"/>
          <p:nvPr/>
        </p:nvSpPr>
        <p:spPr>
          <a:xfrm>
            <a:off x="1931996" y="1554480"/>
            <a:ext cx="1483940" cy="411480"/>
          </a:xfrm>
          <a:prstGeom prst="rect">
            <a:avLst/>
          </a:prstGeom>
          <a:noFill/>
        </p:spPr>
        <p:txBody>
          <a:bodyPr wrap="square">
            <a:spAutoFit/>
          </a:bodyPr>
          <a:lstStyle/>
          <a:p>
            <a:pPr algn="ctr"/>
            <a:r>
              <a:rPr sz="800" b="1" i="0">
                <a:solidFill>
                  <a:srgbClr val="0D1B3E"/>
                </a:solidFill>
                <a:latin typeface="Calibri"/>
              </a:rPr>
              <a:t>Triaging</a:t>
            </a:r>
          </a:p>
        </p:txBody>
      </p:sp>
      <p:sp>
        <p:nvSpPr>
          <p:cNvPr id="29" name="TextBox 28"/>
          <p:cNvSpPr txBox="1"/>
          <p:nvPr/>
        </p:nvSpPr>
        <p:spPr>
          <a:xfrm>
            <a:off x="1941140" y="1993392"/>
            <a:ext cx="1465652" cy="594360"/>
          </a:xfrm>
          <a:prstGeom prst="rect">
            <a:avLst/>
          </a:prstGeom>
          <a:noFill/>
        </p:spPr>
        <p:txBody>
          <a:bodyPr wrap="square">
            <a:spAutoFit/>
          </a:bodyPr>
          <a:lstStyle/>
          <a:p>
            <a:pPr algn="ctr"/>
            <a:r>
              <a:rPr sz="650" b="0" i="0">
                <a:solidFill>
                  <a:srgbClr val="2C3E50"/>
                </a:solidFill>
                <a:latin typeface="Calibri"/>
              </a:rPr>
              <a:t>First responder: classifies &amp; routes incidents intelligently</a:t>
            </a:r>
          </a:p>
        </p:txBody>
      </p:sp>
      <p:sp>
        <p:nvSpPr>
          <p:cNvPr id="30" name="Rectangle 29"/>
          <p:cNvSpPr/>
          <p:nvPr/>
        </p:nvSpPr>
        <p:spPr>
          <a:xfrm>
            <a:off x="1959428" y="2651760"/>
            <a:ext cx="1429076" cy="1828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941140" y="2743200"/>
            <a:ext cx="1465652" cy="201168"/>
          </a:xfrm>
          <a:prstGeom prst="rect">
            <a:avLst/>
          </a:prstGeom>
          <a:noFill/>
        </p:spPr>
        <p:txBody>
          <a:bodyPr wrap="square">
            <a:spAutoFit/>
          </a:bodyPr>
          <a:lstStyle/>
          <a:p>
            <a:pPr algn="ctr"/>
            <a:r>
              <a:rPr sz="600" b="1" i="0">
                <a:solidFill>
                  <a:srgbClr val="5D6D7E"/>
                </a:solidFill>
                <a:latin typeface="Calibri"/>
              </a:rPr>
              <a:t>EFFORT</a:t>
            </a:r>
          </a:p>
        </p:txBody>
      </p:sp>
      <p:sp>
        <p:nvSpPr>
          <p:cNvPr id="32" name="Rounded Rectangle 31"/>
          <p:cNvSpPr/>
          <p:nvPr/>
        </p:nvSpPr>
        <p:spPr>
          <a:xfrm>
            <a:off x="1977716" y="2944368"/>
            <a:ext cx="1392500" cy="292608"/>
          </a:xfrm>
          <a:prstGeom prst="roundRect">
            <a:avLst>
              <a:gd name="adj" fmla="val 18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959428" y="2962656"/>
            <a:ext cx="1429076" cy="256032"/>
          </a:xfrm>
          <a:prstGeom prst="rect">
            <a:avLst/>
          </a:prstGeom>
          <a:noFill/>
        </p:spPr>
        <p:txBody>
          <a:bodyPr wrap="square">
            <a:spAutoFit/>
          </a:bodyPr>
          <a:lstStyle/>
          <a:p>
            <a:pPr algn="ctr"/>
            <a:r>
              <a:rPr sz="800" b="1" i="0">
                <a:solidFill>
                  <a:srgbClr val="FFFFFF"/>
                </a:solidFill>
                <a:latin typeface="Calibri"/>
              </a:rPr>
              <a:t>MEDIUM</a:t>
            </a:r>
          </a:p>
        </p:txBody>
      </p:sp>
      <p:sp>
        <p:nvSpPr>
          <p:cNvPr id="34" name="TextBox 33"/>
          <p:cNvSpPr txBox="1"/>
          <p:nvPr/>
        </p:nvSpPr>
        <p:spPr>
          <a:xfrm>
            <a:off x="1941140" y="3429000"/>
            <a:ext cx="1465652" cy="201168"/>
          </a:xfrm>
          <a:prstGeom prst="rect">
            <a:avLst/>
          </a:prstGeom>
          <a:noFill/>
        </p:spPr>
        <p:txBody>
          <a:bodyPr wrap="square">
            <a:spAutoFit/>
          </a:bodyPr>
          <a:lstStyle/>
          <a:p>
            <a:pPr algn="ctr"/>
            <a:r>
              <a:rPr sz="600" b="1" i="0">
                <a:solidFill>
                  <a:srgbClr val="5D6D7E"/>
                </a:solidFill>
                <a:latin typeface="Calibri"/>
              </a:rPr>
              <a:t>IMPACT</a:t>
            </a:r>
          </a:p>
        </p:txBody>
      </p:sp>
      <p:sp>
        <p:nvSpPr>
          <p:cNvPr id="35" name="Rounded Rectangle 34"/>
          <p:cNvSpPr/>
          <p:nvPr/>
        </p:nvSpPr>
        <p:spPr>
          <a:xfrm>
            <a:off x="1977716" y="3630168"/>
            <a:ext cx="1392500" cy="292608"/>
          </a:xfrm>
          <a:prstGeom prst="roundRect">
            <a:avLst>
              <a:gd name="adj" fmla="val 18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959428" y="3648456"/>
            <a:ext cx="1429076" cy="256032"/>
          </a:xfrm>
          <a:prstGeom prst="rect">
            <a:avLst/>
          </a:prstGeom>
          <a:noFill/>
        </p:spPr>
        <p:txBody>
          <a:bodyPr wrap="square">
            <a:spAutoFit/>
          </a:bodyPr>
          <a:lstStyle/>
          <a:p>
            <a:pPr algn="ctr"/>
            <a:r>
              <a:rPr sz="800" b="1" i="0">
                <a:solidFill>
                  <a:srgbClr val="FFFFFF"/>
                </a:solidFill>
                <a:latin typeface="Calibri"/>
              </a:rPr>
              <a:t>HIGH</a:t>
            </a:r>
          </a:p>
        </p:txBody>
      </p:sp>
      <p:sp>
        <p:nvSpPr>
          <p:cNvPr id="37" name="TextBox 36"/>
          <p:cNvSpPr txBox="1"/>
          <p:nvPr/>
        </p:nvSpPr>
        <p:spPr>
          <a:xfrm>
            <a:off x="1941140" y="4114800"/>
            <a:ext cx="1465652" cy="201168"/>
          </a:xfrm>
          <a:prstGeom prst="rect">
            <a:avLst/>
          </a:prstGeom>
          <a:noFill/>
        </p:spPr>
        <p:txBody>
          <a:bodyPr wrap="square">
            <a:spAutoFit/>
          </a:bodyPr>
          <a:lstStyle/>
          <a:p>
            <a:pPr algn="ctr"/>
            <a:r>
              <a:rPr sz="600" b="1" i="0">
                <a:solidFill>
                  <a:srgbClr val="5D6D7E"/>
                </a:solidFill>
                <a:latin typeface="Calibri"/>
              </a:rPr>
              <a:t>HITL</a:t>
            </a:r>
          </a:p>
        </p:txBody>
      </p:sp>
      <p:sp>
        <p:nvSpPr>
          <p:cNvPr id="38" name="Rounded Rectangle 37"/>
          <p:cNvSpPr/>
          <p:nvPr/>
        </p:nvSpPr>
        <p:spPr>
          <a:xfrm>
            <a:off x="1977716" y="4315968"/>
            <a:ext cx="1392500" cy="292608"/>
          </a:xfrm>
          <a:prstGeom prst="roundRect">
            <a:avLst>
              <a:gd name="adj" fmla="val 18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959428" y="4334256"/>
            <a:ext cx="1429076" cy="256032"/>
          </a:xfrm>
          <a:prstGeom prst="rect">
            <a:avLst/>
          </a:prstGeom>
          <a:noFill/>
        </p:spPr>
        <p:txBody>
          <a:bodyPr wrap="square">
            <a:spAutoFit/>
          </a:bodyPr>
          <a:lstStyle/>
          <a:p>
            <a:pPr algn="ctr"/>
            <a:r>
              <a:rPr sz="800" b="1" i="0">
                <a:solidFill>
                  <a:srgbClr val="FFFFFF"/>
                </a:solidFill>
                <a:latin typeface="Calibri"/>
              </a:rPr>
              <a:t>Medium</a:t>
            </a:r>
          </a:p>
        </p:txBody>
      </p:sp>
      <p:sp>
        <p:nvSpPr>
          <p:cNvPr id="40" name="Rounded Rectangle 39"/>
          <p:cNvSpPr/>
          <p:nvPr/>
        </p:nvSpPr>
        <p:spPr>
          <a:xfrm>
            <a:off x="1977716" y="5833872"/>
            <a:ext cx="1392500" cy="274320"/>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959428" y="5870448"/>
            <a:ext cx="1429076" cy="201168"/>
          </a:xfrm>
          <a:prstGeom prst="rect">
            <a:avLst/>
          </a:prstGeom>
          <a:noFill/>
        </p:spPr>
        <p:txBody>
          <a:bodyPr wrap="square">
            <a:spAutoFit/>
          </a:bodyPr>
          <a:lstStyle/>
          <a:p>
            <a:pPr algn="ctr"/>
            <a:r>
              <a:rPr sz="650" b="1" i="0">
                <a:solidFill>
                  <a:srgbClr val="FFFFFF"/>
                </a:solidFill>
                <a:latin typeface="Calibri"/>
              </a:rPr>
              <a:t>Phase 2 · 3-6M</a:t>
            </a:r>
          </a:p>
        </p:txBody>
      </p:sp>
      <p:sp>
        <p:nvSpPr>
          <p:cNvPr id="42" name="Rounded Rectangle 41"/>
          <p:cNvSpPr/>
          <p:nvPr/>
        </p:nvSpPr>
        <p:spPr>
          <a:xfrm>
            <a:off x="3571385" y="987552"/>
            <a:ext cx="1575380" cy="5394960"/>
          </a:xfrm>
          <a:prstGeom prst="roundRect">
            <a:avLst>
              <a:gd name="adj" fmla="val 6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3571385" y="987552"/>
            <a:ext cx="1575380" cy="73152"/>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617105" y="1124712"/>
            <a:ext cx="1483940" cy="365760"/>
          </a:xfrm>
          <a:prstGeom prst="rect">
            <a:avLst/>
          </a:prstGeom>
          <a:noFill/>
        </p:spPr>
        <p:txBody>
          <a:bodyPr wrap="square">
            <a:spAutoFit/>
          </a:bodyPr>
          <a:lstStyle/>
          <a:p>
            <a:pPr algn="ctr"/>
            <a:r>
              <a:rPr sz="2000" b="0" i="0">
                <a:solidFill>
                  <a:srgbClr val="0D1B3E"/>
                </a:solidFill>
                <a:latin typeface="Calibri"/>
              </a:rPr>
              <a:t>🔍</a:t>
            </a:r>
          </a:p>
        </p:txBody>
      </p:sp>
      <p:sp>
        <p:nvSpPr>
          <p:cNvPr id="45" name="TextBox 44"/>
          <p:cNvSpPr txBox="1"/>
          <p:nvPr/>
        </p:nvSpPr>
        <p:spPr>
          <a:xfrm>
            <a:off x="3617105" y="1554480"/>
            <a:ext cx="1483940" cy="411480"/>
          </a:xfrm>
          <a:prstGeom prst="rect">
            <a:avLst/>
          </a:prstGeom>
          <a:noFill/>
        </p:spPr>
        <p:txBody>
          <a:bodyPr wrap="square">
            <a:spAutoFit/>
          </a:bodyPr>
          <a:lstStyle/>
          <a:p>
            <a:pPr algn="ctr"/>
            <a:r>
              <a:rPr sz="800" b="1" i="0">
                <a:solidFill>
                  <a:srgbClr val="0D1B3E"/>
                </a:solidFill>
                <a:latin typeface="Calibri"/>
              </a:rPr>
              <a:t>Root Cause Analysis</a:t>
            </a:r>
          </a:p>
        </p:txBody>
      </p:sp>
      <p:sp>
        <p:nvSpPr>
          <p:cNvPr id="46" name="TextBox 45"/>
          <p:cNvSpPr txBox="1"/>
          <p:nvPr/>
        </p:nvSpPr>
        <p:spPr>
          <a:xfrm>
            <a:off x="3626249" y="1993392"/>
            <a:ext cx="1465652" cy="594360"/>
          </a:xfrm>
          <a:prstGeom prst="rect">
            <a:avLst/>
          </a:prstGeom>
          <a:noFill/>
        </p:spPr>
        <p:txBody>
          <a:bodyPr wrap="square">
            <a:spAutoFit/>
          </a:bodyPr>
          <a:lstStyle/>
          <a:p>
            <a:pPr algn="ctr"/>
            <a:r>
              <a:rPr sz="650" b="0" i="0">
                <a:solidFill>
                  <a:srgbClr val="2C3E50"/>
                </a:solidFill>
                <a:latin typeface="Calibri"/>
              </a:rPr>
              <a:t>Correlates logs, metrics &amp; traces to identify failures</a:t>
            </a:r>
          </a:p>
        </p:txBody>
      </p:sp>
      <p:sp>
        <p:nvSpPr>
          <p:cNvPr id="47" name="Rectangle 46"/>
          <p:cNvSpPr/>
          <p:nvPr/>
        </p:nvSpPr>
        <p:spPr>
          <a:xfrm>
            <a:off x="3644537" y="2651760"/>
            <a:ext cx="1429076" cy="1828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626249" y="2743200"/>
            <a:ext cx="1465652" cy="201168"/>
          </a:xfrm>
          <a:prstGeom prst="rect">
            <a:avLst/>
          </a:prstGeom>
          <a:noFill/>
        </p:spPr>
        <p:txBody>
          <a:bodyPr wrap="square">
            <a:spAutoFit/>
          </a:bodyPr>
          <a:lstStyle/>
          <a:p>
            <a:pPr algn="ctr"/>
            <a:r>
              <a:rPr sz="600" b="1" i="0">
                <a:solidFill>
                  <a:srgbClr val="5D6D7E"/>
                </a:solidFill>
                <a:latin typeface="Calibri"/>
              </a:rPr>
              <a:t>EFFORT</a:t>
            </a:r>
          </a:p>
        </p:txBody>
      </p:sp>
      <p:sp>
        <p:nvSpPr>
          <p:cNvPr id="49" name="Rounded Rectangle 48"/>
          <p:cNvSpPr/>
          <p:nvPr/>
        </p:nvSpPr>
        <p:spPr>
          <a:xfrm>
            <a:off x="3662825" y="2944368"/>
            <a:ext cx="1392500" cy="292608"/>
          </a:xfrm>
          <a:prstGeom prst="roundRect">
            <a:avLst>
              <a:gd name="adj" fmla="val 18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644537" y="2962656"/>
            <a:ext cx="1429076" cy="256032"/>
          </a:xfrm>
          <a:prstGeom prst="rect">
            <a:avLst/>
          </a:prstGeom>
          <a:noFill/>
        </p:spPr>
        <p:txBody>
          <a:bodyPr wrap="square">
            <a:spAutoFit/>
          </a:bodyPr>
          <a:lstStyle/>
          <a:p>
            <a:pPr algn="ctr"/>
            <a:r>
              <a:rPr sz="800" b="1" i="0">
                <a:solidFill>
                  <a:srgbClr val="FFFFFF"/>
                </a:solidFill>
                <a:latin typeface="Calibri"/>
              </a:rPr>
              <a:t>HIGH</a:t>
            </a:r>
          </a:p>
        </p:txBody>
      </p:sp>
      <p:sp>
        <p:nvSpPr>
          <p:cNvPr id="51" name="TextBox 50"/>
          <p:cNvSpPr txBox="1"/>
          <p:nvPr/>
        </p:nvSpPr>
        <p:spPr>
          <a:xfrm>
            <a:off x="3626249" y="3429000"/>
            <a:ext cx="1465652" cy="201168"/>
          </a:xfrm>
          <a:prstGeom prst="rect">
            <a:avLst/>
          </a:prstGeom>
          <a:noFill/>
        </p:spPr>
        <p:txBody>
          <a:bodyPr wrap="square">
            <a:spAutoFit/>
          </a:bodyPr>
          <a:lstStyle/>
          <a:p>
            <a:pPr algn="ctr"/>
            <a:r>
              <a:rPr sz="600" b="1" i="0">
                <a:solidFill>
                  <a:srgbClr val="5D6D7E"/>
                </a:solidFill>
                <a:latin typeface="Calibri"/>
              </a:rPr>
              <a:t>IMPACT</a:t>
            </a:r>
          </a:p>
        </p:txBody>
      </p:sp>
      <p:sp>
        <p:nvSpPr>
          <p:cNvPr id="52" name="Rounded Rectangle 51"/>
          <p:cNvSpPr/>
          <p:nvPr/>
        </p:nvSpPr>
        <p:spPr>
          <a:xfrm>
            <a:off x="3662825" y="3630168"/>
            <a:ext cx="1392500" cy="292608"/>
          </a:xfrm>
          <a:prstGeom prst="roundRect">
            <a:avLst>
              <a:gd name="adj" fmla="val 18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644537" y="3648456"/>
            <a:ext cx="1429076" cy="256032"/>
          </a:xfrm>
          <a:prstGeom prst="rect">
            <a:avLst/>
          </a:prstGeom>
          <a:noFill/>
        </p:spPr>
        <p:txBody>
          <a:bodyPr wrap="square">
            <a:spAutoFit/>
          </a:bodyPr>
          <a:lstStyle/>
          <a:p>
            <a:pPr algn="ctr"/>
            <a:r>
              <a:rPr sz="800" b="1" i="0">
                <a:solidFill>
                  <a:srgbClr val="FFFFFF"/>
                </a:solidFill>
                <a:latin typeface="Calibri"/>
              </a:rPr>
              <a:t>HIGH</a:t>
            </a:r>
          </a:p>
        </p:txBody>
      </p:sp>
      <p:sp>
        <p:nvSpPr>
          <p:cNvPr id="54" name="TextBox 53"/>
          <p:cNvSpPr txBox="1"/>
          <p:nvPr/>
        </p:nvSpPr>
        <p:spPr>
          <a:xfrm>
            <a:off x="3626249" y="4114800"/>
            <a:ext cx="1465652" cy="201168"/>
          </a:xfrm>
          <a:prstGeom prst="rect">
            <a:avLst/>
          </a:prstGeom>
          <a:noFill/>
        </p:spPr>
        <p:txBody>
          <a:bodyPr wrap="square">
            <a:spAutoFit/>
          </a:bodyPr>
          <a:lstStyle/>
          <a:p>
            <a:pPr algn="ctr"/>
            <a:r>
              <a:rPr sz="600" b="1" i="0">
                <a:solidFill>
                  <a:srgbClr val="5D6D7E"/>
                </a:solidFill>
                <a:latin typeface="Calibri"/>
              </a:rPr>
              <a:t>HITL</a:t>
            </a:r>
          </a:p>
        </p:txBody>
      </p:sp>
      <p:sp>
        <p:nvSpPr>
          <p:cNvPr id="55" name="Rounded Rectangle 54"/>
          <p:cNvSpPr/>
          <p:nvPr/>
        </p:nvSpPr>
        <p:spPr>
          <a:xfrm>
            <a:off x="3662825" y="4315968"/>
            <a:ext cx="1392500" cy="292608"/>
          </a:xfrm>
          <a:prstGeom prst="roundRect">
            <a:avLst>
              <a:gd name="adj" fmla="val 18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644537" y="4334256"/>
            <a:ext cx="1429076" cy="256032"/>
          </a:xfrm>
          <a:prstGeom prst="rect">
            <a:avLst/>
          </a:prstGeom>
          <a:noFill/>
        </p:spPr>
        <p:txBody>
          <a:bodyPr wrap="square">
            <a:spAutoFit/>
          </a:bodyPr>
          <a:lstStyle/>
          <a:p>
            <a:pPr algn="ctr"/>
            <a:r>
              <a:rPr sz="800" b="1" i="0">
                <a:solidFill>
                  <a:srgbClr val="FFFFFF"/>
                </a:solidFill>
                <a:latin typeface="Calibri"/>
              </a:rPr>
              <a:t>Medium</a:t>
            </a:r>
          </a:p>
        </p:txBody>
      </p:sp>
      <p:sp>
        <p:nvSpPr>
          <p:cNvPr id="57" name="Rounded Rectangle 56"/>
          <p:cNvSpPr/>
          <p:nvPr/>
        </p:nvSpPr>
        <p:spPr>
          <a:xfrm>
            <a:off x="3662825" y="5833872"/>
            <a:ext cx="1392500" cy="274320"/>
          </a:xfrm>
          <a:prstGeom prst="roundRect">
            <a:avLst>
              <a:gd name="adj" fmla="val 15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644537" y="5870448"/>
            <a:ext cx="1429076" cy="201168"/>
          </a:xfrm>
          <a:prstGeom prst="rect">
            <a:avLst/>
          </a:prstGeom>
          <a:noFill/>
        </p:spPr>
        <p:txBody>
          <a:bodyPr wrap="square">
            <a:spAutoFit/>
          </a:bodyPr>
          <a:lstStyle/>
          <a:p>
            <a:pPr algn="ctr"/>
            <a:r>
              <a:rPr sz="650" b="1" i="0">
                <a:solidFill>
                  <a:srgbClr val="FFFFFF"/>
                </a:solidFill>
                <a:latin typeface="Calibri"/>
              </a:rPr>
              <a:t>Phase 3 · 6-12M</a:t>
            </a:r>
          </a:p>
        </p:txBody>
      </p:sp>
      <p:sp>
        <p:nvSpPr>
          <p:cNvPr id="59" name="Rounded Rectangle 58"/>
          <p:cNvSpPr/>
          <p:nvPr/>
        </p:nvSpPr>
        <p:spPr>
          <a:xfrm>
            <a:off x="5256493" y="987552"/>
            <a:ext cx="1575380" cy="5394960"/>
          </a:xfrm>
          <a:prstGeom prst="roundRect">
            <a:avLst>
              <a:gd name="adj" fmla="val 6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5256493" y="987552"/>
            <a:ext cx="1575380" cy="73152"/>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302213" y="1124712"/>
            <a:ext cx="1483940" cy="365760"/>
          </a:xfrm>
          <a:prstGeom prst="rect">
            <a:avLst/>
          </a:prstGeom>
          <a:noFill/>
        </p:spPr>
        <p:txBody>
          <a:bodyPr wrap="square">
            <a:spAutoFit/>
          </a:bodyPr>
          <a:lstStyle/>
          <a:p>
            <a:pPr algn="ctr"/>
            <a:r>
              <a:rPr sz="2000" b="0" i="0">
                <a:solidFill>
                  <a:srgbClr val="0D1B3E"/>
                </a:solidFill>
                <a:latin typeface="Calibri"/>
              </a:rPr>
              <a:t>⚡</a:t>
            </a:r>
          </a:p>
        </p:txBody>
      </p:sp>
      <p:sp>
        <p:nvSpPr>
          <p:cNvPr id="62" name="TextBox 61"/>
          <p:cNvSpPr txBox="1"/>
          <p:nvPr/>
        </p:nvSpPr>
        <p:spPr>
          <a:xfrm>
            <a:off x="5302213" y="1554480"/>
            <a:ext cx="1483940" cy="411480"/>
          </a:xfrm>
          <a:prstGeom prst="rect">
            <a:avLst/>
          </a:prstGeom>
          <a:noFill/>
        </p:spPr>
        <p:txBody>
          <a:bodyPr wrap="square">
            <a:spAutoFit/>
          </a:bodyPr>
          <a:lstStyle/>
          <a:p>
            <a:pPr algn="ctr"/>
            <a:r>
              <a:rPr sz="800" b="1" i="0">
                <a:solidFill>
                  <a:srgbClr val="0D1B3E"/>
                </a:solidFill>
                <a:latin typeface="Calibri"/>
              </a:rPr>
              <a:t>Auto-Remediation</a:t>
            </a:r>
          </a:p>
        </p:txBody>
      </p:sp>
      <p:sp>
        <p:nvSpPr>
          <p:cNvPr id="63" name="TextBox 62"/>
          <p:cNvSpPr txBox="1"/>
          <p:nvPr/>
        </p:nvSpPr>
        <p:spPr>
          <a:xfrm>
            <a:off x="5311357" y="1993392"/>
            <a:ext cx="1465652" cy="594360"/>
          </a:xfrm>
          <a:prstGeom prst="rect">
            <a:avLst/>
          </a:prstGeom>
          <a:noFill/>
        </p:spPr>
        <p:txBody>
          <a:bodyPr wrap="square">
            <a:spAutoFit/>
          </a:bodyPr>
          <a:lstStyle/>
          <a:p>
            <a:pPr algn="ctr"/>
            <a:r>
              <a:rPr sz="650" b="0" i="0">
                <a:solidFill>
                  <a:srgbClr val="2C3E50"/>
                </a:solidFill>
                <a:latin typeface="Calibri"/>
              </a:rPr>
              <a:t>Self-healing: executes corrective actions autonomously</a:t>
            </a:r>
          </a:p>
        </p:txBody>
      </p:sp>
      <p:sp>
        <p:nvSpPr>
          <p:cNvPr id="64" name="Rectangle 63"/>
          <p:cNvSpPr/>
          <p:nvPr/>
        </p:nvSpPr>
        <p:spPr>
          <a:xfrm>
            <a:off x="5329645" y="2651760"/>
            <a:ext cx="1429076" cy="1828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311357" y="2743200"/>
            <a:ext cx="1465652" cy="201168"/>
          </a:xfrm>
          <a:prstGeom prst="rect">
            <a:avLst/>
          </a:prstGeom>
          <a:noFill/>
        </p:spPr>
        <p:txBody>
          <a:bodyPr wrap="square">
            <a:spAutoFit/>
          </a:bodyPr>
          <a:lstStyle/>
          <a:p>
            <a:pPr algn="ctr"/>
            <a:r>
              <a:rPr sz="600" b="1" i="0">
                <a:solidFill>
                  <a:srgbClr val="5D6D7E"/>
                </a:solidFill>
                <a:latin typeface="Calibri"/>
              </a:rPr>
              <a:t>EFFORT</a:t>
            </a:r>
          </a:p>
        </p:txBody>
      </p:sp>
      <p:sp>
        <p:nvSpPr>
          <p:cNvPr id="66" name="Rounded Rectangle 65"/>
          <p:cNvSpPr/>
          <p:nvPr/>
        </p:nvSpPr>
        <p:spPr>
          <a:xfrm>
            <a:off x="5347933" y="2944368"/>
            <a:ext cx="1392500" cy="292608"/>
          </a:xfrm>
          <a:prstGeom prst="roundRect">
            <a:avLst>
              <a:gd name="adj" fmla="val 18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329645" y="2962656"/>
            <a:ext cx="1429076" cy="256032"/>
          </a:xfrm>
          <a:prstGeom prst="rect">
            <a:avLst/>
          </a:prstGeom>
          <a:noFill/>
        </p:spPr>
        <p:txBody>
          <a:bodyPr wrap="square">
            <a:spAutoFit/>
          </a:bodyPr>
          <a:lstStyle/>
          <a:p>
            <a:pPr algn="ctr"/>
            <a:r>
              <a:rPr sz="800" b="1" i="0">
                <a:solidFill>
                  <a:srgbClr val="FFFFFF"/>
                </a:solidFill>
                <a:latin typeface="Calibri"/>
              </a:rPr>
              <a:t>HIGH</a:t>
            </a:r>
          </a:p>
        </p:txBody>
      </p:sp>
      <p:sp>
        <p:nvSpPr>
          <p:cNvPr id="68" name="TextBox 67"/>
          <p:cNvSpPr txBox="1"/>
          <p:nvPr/>
        </p:nvSpPr>
        <p:spPr>
          <a:xfrm>
            <a:off x="5311357" y="3429000"/>
            <a:ext cx="1465652" cy="201168"/>
          </a:xfrm>
          <a:prstGeom prst="rect">
            <a:avLst/>
          </a:prstGeom>
          <a:noFill/>
        </p:spPr>
        <p:txBody>
          <a:bodyPr wrap="square">
            <a:spAutoFit/>
          </a:bodyPr>
          <a:lstStyle/>
          <a:p>
            <a:pPr algn="ctr"/>
            <a:r>
              <a:rPr sz="600" b="1" i="0">
                <a:solidFill>
                  <a:srgbClr val="5D6D7E"/>
                </a:solidFill>
                <a:latin typeface="Calibri"/>
              </a:rPr>
              <a:t>IMPACT</a:t>
            </a:r>
          </a:p>
        </p:txBody>
      </p:sp>
      <p:sp>
        <p:nvSpPr>
          <p:cNvPr id="69" name="Rounded Rectangle 68"/>
          <p:cNvSpPr/>
          <p:nvPr/>
        </p:nvSpPr>
        <p:spPr>
          <a:xfrm>
            <a:off x="5347933" y="3630168"/>
            <a:ext cx="1392500" cy="292608"/>
          </a:xfrm>
          <a:prstGeom prst="roundRect">
            <a:avLst>
              <a:gd name="adj" fmla="val 18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329645" y="3648456"/>
            <a:ext cx="1429076" cy="256032"/>
          </a:xfrm>
          <a:prstGeom prst="rect">
            <a:avLst/>
          </a:prstGeom>
          <a:noFill/>
        </p:spPr>
        <p:txBody>
          <a:bodyPr wrap="square">
            <a:spAutoFit/>
          </a:bodyPr>
          <a:lstStyle/>
          <a:p>
            <a:pPr algn="ctr"/>
            <a:r>
              <a:rPr sz="800" b="1" i="0">
                <a:solidFill>
                  <a:srgbClr val="FFFFFF"/>
                </a:solidFill>
                <a:latin typeface="Calibri"/>
              </a:rPr>
              <a:t>HIGH</a:t>
            </a:r>
          </a:p>
        </p:txBody>
      </p:sp>
      <p:sp>
        <p:nvSpPr>
          <p:cNvPr id="71" name="TextBox 70"/>
          <p:cNvSpPr txBox="1"/>
          <p:nvPr/>
        </p:nvSpPr>
        <p:spPr>
          <a:xfrm>
            <a:off x="5311357" y="4114800"/>
            <a:ext cx="1465652" cy="201168"/>
          </a:xfrm>
          <a:prstGeom prst="rect">
            <a:avLst/>
          </a:prstGeom>
          <a:noFill/>
        </p:spPr>
        <p:txBody>
          <a:bodyPr wrap="square">
            <a:spAutoFit/>
          </a:bodyPr>
          <a:lstStyle/>
          <a:p>
            <a:pPr algn="ctr"/>
            <a:r>
              <a:rPr sz="600" b="1" i="0">
                <a:solidFill>
                  <a:srgbClr val="5D6D7E"/>
                </a:solidFill>
                <a:latin typeface="Calibri"/>
              </a:rPr>
              <a:t>HITL</a:t>
            </a:r>
          </a:p>
        </p:txBody>
      </p:sp>
      <p:sp>
        <p:nvSpPr>
          <p:cNvPr id="72" name="Rounded Rectangle 71"/>
          <p:cNvSpPr/>
          <p:nvPr/>
        </p:nvSpPr>
        <p:spPr>
          <a:xfrm>
            <a:off x="5347933" y="4315968"/>
            <a:ext cx="1392500" cy="292608"/>
          </a:xfrm>
          <a:prstGeom prst="roundRect">
            <a:avLst>
              <a:gd name="adj" fmla="val 18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329645" y="4334256"/>
            <a:ext cx="1429076" cy="256032"/>
          </a:xfrm>
          <a:prstGeom prst="rect">
            <a:avLst/>
          </a:prstGeom>
          <a:noFill/>
        </p:spPr>
        <p:txBody>
          <a:bodyPr wrap="square">
            <a:spAutoFit/>
          </a:bodyPr>
          <a:lstStyle/>
          <a:p>
            <a:pPr algn="ctr"/>
            <a:r>
              <a:rPr sz="800" b="1" i="0">
                <a:solidFill>
                  <a:srgbClr val="FFFFFF"/>
                </a:solidFill>
                <a:latin typeface="Calibri"/>
              </a:rPr>
              <a:t>High</a:t>
            </a:r>
          </a:p>
        </p:txBody>
      </p:sp>
      <p:sp>
        <p:nvSpPr>
          <p:cNvPr id="74" name="Rounded Rectangle 73"/>
          <p:cNvSpPr/>
          <p:nvPr/>
        </p:nvSpPr>
        <p:spPr>
          <a:xfrm>
            <a:off x="5347933" y="5833872"/>
            <a:ext cx="1392500" cy="274320"/>
          </a:xfrm>
          <a:prstGeom prst="roundRect">
            <a:avLst>
              <a:gd name="adj" fmla="val 15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329645" y="5870448"/>
            <a:ext cx="1429076" cy="201168"/>
          </a:xfrm>
          <a:prstGeom prst="rect">
            <a:avLst/>
          </a:prstGeom>
          <a:noFill/>
        </p:spPr>
        <p:txBody>
          <a:bodyPr wrap="square">
            <a:spAutoFit/>
          </a:bodyPr>
          <a:lstStyle/>
          <a:p>
            <a:pPr algn="ctr"/>
            <a:r>
              <a:rPr sz="650" b="1" i="0">
                <a:solidFill>
                  <a:srgbClr val="FFFFFF"/>
                </a:solidFill>
                <a:latin typeface="Calibri"/>
              </a:rPr>
              <a:t>Phase 3 · 6-12M</a:t>
            </a:r>
          </a:p>
        </p:txBody>
      </p:sp>
      <p:sp>
        <p:nvSpPr>
          <p:cNvPr id="76" name="Rounded Rectangle 75"/>
          <p:cNvSpPr/>
          <p:nvPr/>
        </p:nvSpPr>
        <p:spPr>
          <a:xfrm>
            <a:off x="6941602" y="987552"/>
            <a:ext cx="1575380" cy="5394960"/>
          </a:xfrm>
          <a:prstGeom prst="roundRect">
            <a:avLst>
              <a:gd name="adj" fmla="val 6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6941602" y="987552"/>
            <a:ext cx="1575380" cy="73152"/>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987322" y="1124712"/>
            <a:ext cx="1483940" cy="365760"/>
          </a:xfrm>
          <a:prstGeom prst="rect">
            <a:avLst/>
          </a:prstGeom>
          <a:noFill/>
        </p:spPr>
        <p:txBody>
          <a:bodyPr wrap="square">
            <a:spAutoFit/>
          </a:bodyPr>
          <a:lstStyle/>
          <a:p>
            <a:pPr algn="ctr"/>
            <a:r>
              <a:rPr sz="2000" b="0" i="0">
                <a:solidFill>
                  <a:srgbClr val="0D1B3E"/>
                </a:solidFill>
                <a:latin typeface="Calibri"/>
              </a:rPr>
              <a:t>🔐</a:t>
            </a:r>
          </a:p>
        </p:txBody>
      </p:sp>
      <p:sp>
        <p:nvSpPr>
          <p:cNvPr id="79" name="TextBox 78"/>
          <p:cNvSpPr txBox="1"/>
          <p:nvPr/>
        </p:nvSpPr>
        <p:spPr>
          <a:xfrm>
            <a:off x="6987322" y="1554480"/>
            <a:ext cx="1483940" cy="411480"/>
          </a:xfrm>
          <a:prstGeom prst="rect">
            <a:avLst/>
          </a:prstGeom>
          <a:noFill/>
        </p:spPr>
        <p:txBody>
          <a:bodyPr wrap="square">
            <a:spAutoFit/>
          </a:bodyPr>
          <a:lstStyle/>
          <a:p>
            <a:pPr algn="ctr"/>
            <a:r>
              <a:rPr sz="800" b="1" i="0">
                <a:solidFill>
                  <a:srgbClr val="0D1B3E"/>
                </a:solidFill>
                <a:latin typeface="Calibri"/>
              </a:rPr>
              <a:t>Access Provisioner</a:t>
            </a:r>
          </a:p>
        </p:txBody>
      </p:sp>
      <p:sp>
        <p:nvSpPr>
          <p:cNvPr id="80" name="TextBox 79"/>
          <p:cNvSpPr txBox="1"/>
          <p:nvPr/>
        </p:nvSpPr>
        <p:spPr>
          <a:xfrm>
            <a:off x="6996466" y="1993392"/>
            <a:ext cx="1465652" cy="594360"/>
          </a:xfrm>
          <a:prstGeom prst="rect">
            <a:avLst/>
          </a:prstGeom>
          <a:noFill/>
        </p:spPr>
        <p:txBody>
          <a:bodyPr wrap="square">
            <a:spAutoFit/>
          </a:bodyPr>
          <a:lstStyle/>
          <a:p>
            <a:pPr algn="ctr"/>
            <a:r>
              <a:rPr sz="650" b="0" i="0">
                <a:solidFill>
                  <a:srgbClr val="2C3E50"/>
                </a:solidFill>
                <a:latin typeface="Calibri"/>
              </a:rPr>
              <a:t>Secure, policy-driven access management &amp; provisioning</a:t>
            </a:r>
          </a:p>
        </p:txBody>
      </p:sp>
      <p:sp>
        <p:nvSpPr>
          <p:cNvPr id="81" name="Rectangle 80"/>
          <p:cNvSpPr/>
          <p:nvPr/>
        </p:nvSpPr>
        <p:spPr>
          <a:xfrm>
            <a:off x="7014754" y="2651760"/>
            <a:ext cx="1429076" cy="1828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996466" y="2743200"/>
            <a:ext cx="1465652" cy="201168"/>
          </a:xfrm>
          <a:prstGeom prst="rect">
            <a:avLst/>
          </a:prstGeom>
          <a:noFill/>
        </p:spPr>
        <p:txBody>
          <a:bodyPr wrap="square">
            <a:spAutoFit/>
          </a:bodyPr>
          <a:lstStyle/>
          <a:p>
            <a:pPr algn="ctr"/>
            <a:r>
              <a:rPr sz="600" b="1" i="0">
                <a:solidFill>
                  <a:srgbClr val="5D6D7E"/>
                </a:solidFill>
                <a:latin typeface="Calibri"/>
              </a:rPr>
              <a:t>EFFORT</a:t>
            </a:r>
          </a:p>
        </p:txBody>
      </p:sp>
      <p:sp>
        <p:nvSpPr>
          <p:cNvPr id="83" name="Rounded Rectangle 82"/>
          <p:cNvSpPr/>
          <p:nvPr/>
        </p:nvSpPr>
        <p:spPr>
          <a:xfrm>
            <a:off x="7033042" y="2944368"/>
            <a:ext cx="1392500" cy="292608"/>
          </a:xfrm>
          <a:prstGeom prst="roundRect">
            <a:avLst>
              <a:gd name="adj" fmla="val 18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7014754" y="2962656"/>
            <a:ext cx="1429076" cy="256032"/>
          </a:xfrm>
          <a:prstGeom prst="rect">
            <a:avLst/>
          </a:prstGeom>
          <a:noFill/>
        </p:spPr>
        <p:txBody>
          <a:bodyPr wrap="square">
            <a:spAutoFit/>
          </a:bodyPr>
          <a:lstStyle/>
          <a:p>
            <a:pPr algn="ctr"/>
            <a:r>
              <a:rPr sz="800" b="1" i="0">
                <a:solidFill>
                  <a:srgbClr val="FFFFFF"/>
                </a:solidFill>
                <a:latin typeface="Calibri"/>
              </a:rPr>
              <a:t>HIGH</a:t>
            </a:r>
          </a:p>
        </p:txBody>
      </p:sp>
      <p:sp>
        <p:nvSpPr>
          <p:cNvPr id="85" name="TextBox 84"/>
          <p:cNvSpPr txBox="1"/>
          <p:nvPr/>
        </p:nvSpPr>
        <p:spPr>
          <a:xfrm>
            <a:off x="6996466" y="3429000"/>
            <a:ext cx="1465652" cy="201168"/>
          </a:xfrm>
          <a:prstGeom prst="rect">
            <a:avLst/>
          </a:prstGeom>
          <a:noFill/>
        </p:spPr>
        <p:txBody>
          <a:bodyPr wrap="square">
            <a:spAutoFit/>
          </a:bodyPr>
          <a:lstStyle/>
          <a:p>
            <a:pPr algn="ctr"/>
            <a:r>
              <a:rPr sz="600" b="1" i="0">
                <a:solidFill>
                  <a:srgbClr val="5D6D7E"/>
                </a:solidFill>
                <a:latin typeface="Calibri"/>
              </a:rPr>
              <a:t>IMPACT</a:t>
            </a:r>
          </a:p>
        </p:txBody>
      </p:sp>
      <p:sp>
        <p:nvSpPr>
          <p:cNvPr id="86" name="Rounded Rectangle 85"/>
          <p:cNvSpPr/>
          <p:nvPr/>
        </p:nvSpPr>
        <p:spPr>
          <a:xfrm>
            <a:off x="7033042" y="3630168"/>
            <a:ext cx="1392500" cy="292608"/>
          </a:xfrm>
          <a:prstGeom prst="roundRect">
            <a:avLst>
              <a:gd name="adj" fmla="val 18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7014754" y="3648456"/>
            <a:ext cx="1429076" cy="256032"/>
          </a:xfrm>
          <a:prstGeom prst="rect">
            <a:avLst/>
          </a:prstGeom>
          <a:noFill/>
        </p:spPr>
        <p:txBody>
          <a:bodyPr wrap="square">
            <a:spAutoFit/>
          </a:bodyPr>
          <a:lstStyle/>
          <a:p>
            <a:pPr algn="ctr"/>
            <a:r>
              <a:rPr sz="800" b="1" i="0">
                <a:solidFill>
                  <a:srgbClr val="FFFFFF"/>
                </a:solidFill>
                <a:latin typeface="Calibri"/>
              </a:rPr>
              <a:t>HIGH</a:t>
            </a:r>
          </a:p>
        </p:txBody>
      </p:sp>
      <p:sp>
        <p:nvSpPr>
          <p:cNvPr id="88" name="TextBox 87"/>
          <p:cNvSpPr txBox="1"/>
          <p:nvPr/>
        </p:nvSpPr>
        <p:spPr>
          <a:xfrm>
            <a:off x="6996466" y="4114800"/>
            <a:ext cx="1465652" cy="201168"/>
          </a:xfrm>
          <a:prstGeom prst="rect">
            <a:avLst/>
          </a:prstGeom>
          <a:noFill/>
        </p:spPr>
        <p:txBody>
          <a:bodyPr wrap="square">
            <a:spAutoFit/>
          </a:bodyPr>
          <a:lstStyle/>
          <a:p>
            <a:pPr algn="ctr"/>
            <a:r>
              <a:rPr sz="600" b="1" i="0">
                <a:solidFill>
                  <a:srgbClr val="5D6D7E"/>
                </a:solidFill>
                <a:latin typeface="Calibri"/>
              </a:rPr>
              <a:t>HITL</a:t>
            </a:r>
          </a:p>
        </p:txBody>
      </p:sp>
      <p:sp>
        <p:nvSpPr>
          <p:cNvPr id="89" name="Rounded Rectangle 88"/>
          <p:cNvSpPr/>
          <p:nvPr/>
        </p:nvSpPr>
        <p:spPr>
          <a:xfrm>
            <a:off x="7033042" y="4315968"/>
            <a:ext cx="1392500" cy="292608"/>
          </a:xfrm>
          <a:prstGeom prst="roundRect">
            <a:avLst>
              <a:gd name="adj" fmla="val 18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7014754" y="4334256"/>
            <a:ext cx="1429076" cy="256032"/>
          </a:xfrm>
          <a:prstGeom prst="rect">
            <a:avLst/>
          </a:prstGeom>
          <a:noFill/>
        </p:spPr>
        <p:txBody>
          <a:bodyPr wrap="square">
            <a:spAutoFit/>
          </a:bodyPr>
          <a:lstStyle/>
          <a:p>
            <a:pPr algn="ctr"/>
            <a:r>
              <a:rPr sz="800" b="1" i="0">
                <a:solidFill>
                  <a:srgbClr val="FFFFFF"/>
                </a:solidFill>
                <a:latin typeface="Calibri"/>
              </a:rPr>
              <a:t>High</a:t>
            </a:r>
          </a:p>
        </p:txBody>
      </p:sp>
      <p:sp>
        <p:nvSpPr>
          <p:cNvPr id="91" name="Rounded Rectangle 90"/>
          <p:cNvSpPr/>
          <p:nvPr/>
        </p:nvSpPr>
        <p:spPr>
          <a:xfrm>
            <a:off x="7033042" y="5833872"/>
            <a:ext cx="1392500" cy="274320"/>
          </a:xfrm>
          <a:prstGeom prst="roundRect">
            <a:avLst>
              <a:gd name="adj" fmla="val 15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7014754" y="5870448"/>
            <a:ext cx="1429076" cy="201168"/>
          </a:xfrm>
          <a:prstGeom prst="rect">
            <a:avLst/>
          </a:prstGeom>
          <a:noFill/>
        </p:spPr>
        <p:txBody>
          <a:bodyPr wrap="square">
            <a:spAutoFit/>
          </a:bodyPr>
          <a:lstStyle/>
          <a:p>
            <a:pPr algn="ctr"/>
            <a:r>
              <a:rPr sz="650" b="1" i="0">
                <a:solidFill>
                  <a:srgbClr val="FFFFFF"/>
                </a:solidFill>
                <a:latin typeface="Calibri"/>
              </a:rPr>
              <a:t>Phase 3 · 6-12M</a:t>
            </a:r>
          </a:p>
        </p:txBody>
      </p:sp>
      <p:sp>
        <p:nvSpPr>
          <p:cNvPr id="93" name="Rounded Rectangle 92"/>
          <p:cNvSpPr/>
          <p:nvPr/>
        </p:nvSpPr>
        <p:spPr>
          <a:xfrm>
            <a:off x="8626710" y="987552"/>
            <a:ext cx="1575380" cy="5394960"/>
          </a:xfrm>
          <a:prstGeom prst="roundRect">
            <a:avLst>
              <a:gd name="adj" fmla="val 6000"/>
            </a:avLst>
          </a:prstGeom>
          <a:solidFill>
            <a:srgbClr val="F4F6F9"/>
          </a:solidFill>
          <a:ln w="1905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8626710" y="987552"/>
            <a:ext cx="1575380" cy="73152"/>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8672430" y="1124712"/>
            <a:ext cx="1483940" cy="365760"/>
          </a:xfrm>
          <a:prstGeom prst="rect">
            <a:avLst/>
          </a:prstGeom>
          <a:noFill/>
        </p:spPr>
        <p:txBody>
          <a:bodyPr wrap="square">
            <a:spAutoFit/>
          </a:bodyPr>
          <a:lstStyle/>
          <a:p>
            <a:pPr algn="ctr"/>
            <a:r>
              <a:rPr sz="2000" b="0" i="0">
                <a:solidFill>
                  <a:srgbClr val="0D1B3E"/>
                </a:solidFill>
                <a:latin typeface="Calibri"/>
              </a:rPr>
              <a:t>📖</a:t>
            </a:r>
          </a:p>
        </p:txBody>
      </p:sp>
      <p:sp>
        <p:nvSpPr>
          <p:cNvPr id="96" name="TextBox 95"/>
          <p:cNvSpPr txBox="1"/>
          <p:nvPr/>
        </p:nvSpPr>
        <p:spPr>
          <a:xfrm>
            <a:off x="8672430" y="1554480"/>
            <a:ext cx="1483940" cy="411480"/>
          </a:xfrm>
          <a:prstGeom prst="rect">
            <a:avLst/>
          </a:prstGeom>
          <a:noFill/>
        </p:spPr>
        <p:txBody>
          <a:bodyPr wrap="square">
            <a:spAutoFit/>
          </a:bodyPr>
          <a:lstStyle/>
          <a:p>
            <a:pPr algn="ctr"/>
            <a:r>
              <a:rPr sz="800" b="1" i="0">
                <a:solidFill>
                  <a:srgbClr val="0D1B3E"/>
                </a:solidFill>
                <a:latin typeface="Calibri"/>
              </a:rPr>
              <a:t>Runbook Tutor</a:t>
            </a:r>
          </a:p>
        </p:txBody>
      </p:sp>
      <p:sp>
        <p:nvSpPr>
          <p:cNvPr id="97" name="TextBox 96"/>
          <p:cNvSpPr txBox="1"/>
          <p:nvPr/>
        </p:nvSpPr>
        <p:spPr>
          <a:xfrm>
            <a:off x="8681574" y="1993392"/>
            <a:ext cx="1465652" cy="594360"/>
          </a:xfrm>
          <a:prstGeom prst="rect">
            <a:avLst/>
          </a:prstGeom>
          <a:noFill/>
        </p:spPr>
        <p:txBody>
          <a:bodyPr wrap="square">
            <a:spAutoFit/>
          </a:bodyPr>
          <a:lstStyle/>
          <a:p>
            <a:pPr algn="ctr"/>
            <a:r>
              <a:rPr sz="650" b="0" i="0">
                <a:solidFill>
                  <a:srgbClr val="2C3E50"/>
                </a:solidFill>
                <a:latin typeface="Calibri"/>
              </a:rPr>
              <a:t>Interactive guided execution of operational runbooks</a:t>
            </a:r>
          </a:p>
        </p:txBody>
      </p:sp>
      <p:sp>
        <p:nvSpPr>
          <p:cNvPr id="98" name="Rectangle 97"/>
          <p:cNvSpPr/>
          <p:nvPr/>
        </p:nvSpPr>
        <p:spPr>
          <a:xfrm>
            <a:off x="8699862" y="2651760"/>
            <a:ext cx="1429076" cy="1828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8681574" y="2743200"/>
            <a:ext cx="1465652" cy="201168"/>
          </a:xfrm>
          <a:prstGeom prst="rect">
            <a:avLst/>
          </a:prstGeom>
          <a:noFill/>
        </p:spPr>
        <p:txBody>
          <a:bodyPr wrap="square">
            <a:spAutoFit/>
          </a:bodyPr>
          <a:lstStyle/>
          <a:p>
            <a:pPr algn="ctr"/>
            <a:r>
              <a:rPr sz="600" b="1" i="0">
                <a:solidFill>
                  <a:srgbClr val="5D6D7E"/>
                </a:solidFill>
                <a:latin typeface="Calibri"/>
              </a:rPr>
              <a:t>EFFORT</a:t>
            </a:r>
          </a:p>
        </p:txBody>
      </p:sp>
      <p:sp>
        <p:nvSpPr>
          <p:cNvPr id="100" name="Rounded Rectangle 99"/>
          <p:cNvSpPr/>
          <p:nvPr/>
        </p:nvSpPr>
        <p:spPr>
          <a:xfrm>
            <a:off x="8718150" y="2944368"/>
            <a:ext cx="1392500" cy="292608"/>
          </a:xfrm>
          <a:prstGeom prst="roundRect">
            <a:avLst>
              <a:gd name="adj" fmla="val 18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8699862" y="2962656"/>
            <a:ext cx="1429076" cy="256032"/>
          </a:xfrm>
          <a:prstGeom prst="rect">
            <a:avLst/>
          </a:prstGeom>
          <a:noFill/>
        </p:spPr>
        <p:txBody>
          <a:bodyPr wrap="square">
            <a:spAutoFit/>
          </a:bodyPr>
          <a:lstStyle/>
          <a:p>
            <a:pPr algn="ctr"/>
            <a:r>
              <a:rPr sz="800" b="1" i="0">
                <a:solidFill>
                  <a:srgbClr val="FFFFFF"/>
                </a:solidFill>
                <a:latin typeface="Calibri"/>
              </a:rPr>
              <a:t>LOW</a:t>
            </a:r>
          </a:p>
        </p:txBody>
      </p:sp>
      <p:sp>
        <p:nvSpPr>
          <p:cNvPr id="102" name="TextBox 101"/>
          <p:cNvSpPr txBox="1"/>
          <p:nvPr/>
        </p:nvSpPr>
        <p:spPr>
          <a:xfrm>
            <a:off x="8681574" y="3429000"/>
            <a:ext cx="1465652" cy="201168"/>
          </a:xfrm>
          <a:prstGeom prst="rect">
            <a:avLst/>
          </a:prstGeom>
          <a:noFill/>
        </p:spPr>
        <p:txBody>
          <a:bodyPr wrap="square">
            <a:spAutoFit/>
          </a:bodyPr>
          <a:lstStyle/>
          <a:p>
            <a:pPr algn="ctr"/>
            <a:r>
              <a:rPr sz="600" b="1" i="0">
                <a:solidFill>
                  <a:srgbClr val="5D6D7E"/>
                </a:solidFill>
                <a:latin typeface="Calibri"/>
              </a:rPr>
              <a:t>IMPACT</a:t>
            </a:r>
          </a:p>
        </p:txBody>
      </p:sp>
      <p:sp>
        <p:nvSpPr>
          <p:cNvPr id="103" name="Rounded Rectangle 102"/>
          <p:cNvSpPr/>
          <p:nvPr/>
        </p:nvSpPr>
        <p:spPr>
          <a:xfrm>
            <a:off x="8718150" y="3630168"/>
            <a:ext cx="1392500" cy="292608"/>
          </a:xfrm>
          <a:prstGeom prst="roundRect">
            <a:avLst>
              <a:gd name="adj" fmla="val 18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8699862" y="3648456"/>
            <a:ext cx="1429076" cy="256032"/>
          </a:xfrm>
          <a:prstGeom prst="rect">
            <a:avLst/>
          </a:prstGeom>
          <a:noFill/>
        </p:spPr>
        <p:txBody>
          <a:bodyPr wrap="square">
            <a:spAutoFit/>
          </a:bodyPr>
          <a:lstStyle/>
          <a:p>
            <a:pPr algn="ctr"/>
            <a:r>
              <a:rPr sz="800" b="1" i="0">
                <a:solidFill>
                  <a:srgbClr val="FFFFFF"/>
                </a:solidFill>
                <a:latin typeface="Calibri"/>
              </a:rPr>
              <a:t>MEDIUM</a:t>
            </a:r>
          </a:p>
        </p:txBody>
      </p:sp>
      <p:sp>
        <p:nvSpPr>
          <p:cNvPr id="105" name="TextBox 104"/>
          <p:cNvSpPr txBox="1"/>
          <p:nvPr/>
        </p:nvSpPr>
        <p:spPr>
          <a:xfrm>
            <a:off x="8681574" y="4114800"/>
            <a:ext cx="1465652" cy="201168"/>
          </a:xfrm>
          <a:prstGeom prst="rect">
            <a:avLst/>
          </a:prstGeom>
          <a:noFill/>
        </p:spPr>
        <p:txBody>
          <a:bodyPr wrap="square">
            <a:spAutoFit/>
          </a:bodyPr>
          <a:lstStyle/>
          <a:p>
            <a:pPr algn="ctr"/>
            <a:r>
              <a:rPr sz="600" b="1" i="0">
                <a:solidFill>
                  <a:srgbClr val="5D6D7E"/>
                </a:solidFill>
                <a:latin typeface="Calibri"/>
              </a:rPr>
              <a:t>HITL</a:t>
            </a:r>
          </a:p>
        </p:txBody>
      </p:sp>
      <p:sp>
        <p:nvSpPr>
          <p:cNvPr id="106" name="Rounded Rectangle 105"/>
          <p:cNvSpPr/>
          <p:nvPr/>
        </p:nvSpPr>
        <p:spPr>
          <a:xfrm>
            <a:off x="8718150" y="4315968"/>
            <a:ext cx="1392500" cy="292608"/>
          </a:xfrm>
          <a:prstGeom prst="roundRect">
            <a:avLst>
              <a:gd name="adj" fmla="val 18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8699862" y="4334256"/>
            <a:ext cx="1429076" cy="256032"/>
          </a:xfrm>
          <a:prstGeom prst="rect">
            <a:avLst/>
          </a:prstGeom>
          <a:noFill/>
        </p:spPr>
        <p:txBody>
          <a:bodyPr wrap="square">
            <a:spAutoFit/>
          </a:bodyPr>
          <a:lstStyle/>
          <a:p>
            <a:pPr algn="ctr"/>
            <a:r>
              <a:rPr sz="800" b="1" i="0">
                <a:solidFill>
                  <a:srgbClr val="FFFFFF"/>
                </a:solidFill>
                <a:latin typeface="Calibri"/>
              </a:rPr>
              <a:t>Low</a:t>
            </a:r>
          </a:p>
        </p:txBody>
      </p:sp>
      <p:sp>
        <p:nvSpPr>
          <p:cNvPr id="108" name="Rounded Rectangle 107"/>
          <p:cNvSpPr/>
          <p:nvPr/>
        </p:nvSpPr>
        <p:spPr>
          <a:xfrm>
            <a:off x="8718150" y="5833872"/>
            <a:ext cx="1392500" cy="274320"/>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8699862" y="5870448"/>
            <a:ext cx="1429076" cy="201168"/>
          </a:xfrm>
          <a:prstGeom prst="rect">
            <a:avLst/>
          </a:prstGeom>
          <a:noFill/>
        </p:spPr>
        <p:txBody>
          <a:bodyPr wrap="square">
            <a:spAutoFit/>
          </a:bodyPr>
          <a:lstStyle/>
          <a:p>
            <a:pPr algn="ctr"/>
            <a:r>
              <a:rPr sz="650" b="1" i="0">
                <a:solidFill>
                  <a:srgbClr val="FFFFFF"/>
                </a:solidFill>
                <a:latin typeface="Calibri"/>
              </a:rPr>
              <a:t>Phase 2 · 3-6M</a:t>
            </a:r>
          </a:p>
        </p:txBody>
      </p:sp>
      <p:sp>
        <p:nvSpPr>
          <p:cNvPr id="110" name="Rounded Rectangle 109"/>
          <p:cNvSpPr/>
          <p:nvPr/>
        </p:nvSpPr>
        <p:spPr>
          <a:xfrm>
            <a:off x="10311819" y="987552"/>
            <a:ext cx="1575380" cy="5394960"/>
          </a:xfrm>
          <a:prstGeom prst="roundRect">
            <a:avLst>
              <a:gd name="adj" fmla="val 6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0311819" y="987552"/>
            <a:ext cx="1575380" cy="73152"/>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10357539" y="1124712"/>
            <a:ext cx="1483940" cy="365760"/>
          </a:xfrm>
          <a:prstGeom prst="rect">
            <a:avLst/>
          </a:prstGeom>
          <a:noFill/>
        </p:spPr>
        <p:txBody>
          <a:bodyPr wrap="square">
            <a:spAutoFit/>
          </a:bodyPr>
          <a:lstStyle/>
          <a:p>
            <a:pPr algn="ctr"/>
            <a:r>
              <a:rPr sz="2000" b="0" i="0">
                <a:solidFill>
                  <a:srgbClr val="0D1B3E"/>
                </a:solidFill>
                <a:latin typeface="Calibri"/>
              </a:rPr>
              <a:t>🛡</a:t>
            </a:r>
          </a:p>
        </p:txBody>
      </p:sp>
      <p:sp>
        <p:nvSpPr>
          <p:cNvPr id="113" name="TextBox 112"/>
          <p:cNvSpPr txBox="1"/>
          <p:nvPr/>
        </p:nvSpPr>
        <p:spPr>
          <a:xfrm>
            <a:off x="10357539" y="1554480"/>
            <a:ext cx="1483940" cy="411480"/>
          </a:xfrm>
          <a:prstGeom prst="rect">
            <a:avLst/>
          </a:prstGeom>
          <a:noFill/>
        </p:spPr>
        <p:txBody>
          <a:bodyPr wrap="square">
            <a:spAutoFit/>
          </a:bodyPr>
          <a:lstStyle/>
          <a:p>
            <a:pPr algn="ctr"/>
            <a:r>
              <a:rPr sz="800" b="1" i="0">
                <a:solidFill>
                  <a:srgbClr val="0D1B3E"/>
                </a:solidFill>
                <a:latin typeface="Calibri"/>
              </a:rPr>
              <a:t>PII Leak Detection</a:t>
            </a:r>
          </a:p>
        </p:txBody>
      </p:sp>
      <p:sp>
        <p:nvSpPr>
          <p:cNvPr id="114" name="TextBox 113"/>
          <p:cNvSpPr txBox="1"/>
          <p:nvPr/>
        </p:nvSpPr>
        <p:spPr>
          <a:xfrm>
            <a:off x="10366683" y="1993392"/>
            <a:ext cx="1465652" cy="594360"/>
          </a:xfrm>
          <a:prstGeom prst="rect">
            <a:avLst/>
          </a:prstGeom>
          <a:noFill/>
        </p:spPr>
        <p:txBody>
          <a:bodyPr wrap="square">
            <a:spAutoFit/>
          </a:bodyPr>
          <a:lstStyle/>
          <a:p>
            <a:pPr algn="ctr"/>
            <a:r>
              <a:rPr sz="650" b="0" i="0">
                <a:solidFill>
                  <a:srgbClr val="2C3E50"/>
                </a:solidFill>
                <a:latin typeface="Calibri"/>
              </a:rPr>
              <a:t>Detects, classifies &amp; prevents PII data exposure</a:t>
            </a:r>
          </a:p>
        </p:txBody>
      </p:sp>
      <p:sp>
        <p:nvSpPr>
          <p:cNvPr id="115" name="Rectangle 114"/>
          <p:cNvSpPr/>
          <p:nvPr/>
        </p:nvSpPr>
        <p:spPr>
          <a:xfrm>
            <a:off x="10384971" y="2651760"/>
            <a:ext cx="1429076" cy="1828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10366683" y="2743200"/>
            <a:ext cx="1465652" cy="201168"/>
          </a:xfrm>
          <a:prstGeom prst="rect">
            <a:avLst/>
          </a:prstGeom>
          <a:noFill/>
        </p:spPr>
        <p:txBody>
          <a:bodyPr wrap="square">
            <a:spAutoFit/>
          </a:bodyPr>
          <a:lstStyle/>
          <a:p>
            <a:pPr algn="ctr"/>
            <a:r>
              <a:rPr sz="600" b="1" i="0">
                <a:solidFill>
                  <a:srgbClr val="5D6D7E"/>
                </a:solidFill>
                <a:latin typeface="Calibri"/>
              </a:rPr>
              <a:t>EFFORT</a:t>
            </a:r>
          </a:p>
        </p:txBody>
      </p:sp>
      <p:sp>
        <p:nvSpPr>
          <p:cNvPr id="117" name="Rounded Rectangle 116"/>
          <p:cNvSpPr/>
          <p:nvPr/>
        </p:nvSpPr>
        <p:spPr>
          <a:xfrm>
            <a:off x="10403259" y="2944368"/>
            <a:ext cx="1392500" cy="292608"/>
          </a:xfrm>
          <a:prstGeom prst="roundRect">
            <a:avLst>
              <a:gd name="adj" fmla="val 18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10384971" y="2962656"/>
            <a:ext cx="1429076" cy="256032"/>
          </a:xfrm>
          <a:prstGeom prst="rect">
            <a:avLst/>
          </a:prstGeom>
          <a:noFill/>
        </p:spPr>
        <p:txBody>
          <a:bodyPr wrap="square">
            <a:spAutoFit/>
          </a:bodyPr>
          <a:lstStyle/>
          <a:p>
            <a:pPr algn="ctr"/>
            <a:r>
              <a:rPr sz="800" b="1" i="0">
                <a:solidFill>
                  <a:srgbClr val="FFFFFF"/>
                </a:solidFill>
                <a:latin typeface="Calibri"/>
              </a:rPr>
              <a:t>LOW</a:t>
            </a:r>
          </a:p>
        </p:txBody>
      </p:sp>
      <p:sp>
        <p:nvSpPr>
          <p:cNvPr id="119" name="TextBox 118"/>
          <p:cNvSpPr txBox="1"/>
          <p:nvPr/>
        </p:nvSpPr>
        <p:spPr>
          <a:xfrm>
            <a:off x="10366683" y="3429000"/>
            <a:ext cx="1465652" cy="201168"/>
          </a:xfrm>
          <a:prstGeom prst="rect">
            <a:avLst/>
          </a:prstGeom>
          <a:noFill/>
        </p:spPr>
        <p:txBody>
          <a:bodyPr wrap="square">
            <a:spAutoFit/>
          </a:bodyPr>
          <a:lstStyle/>
          <a:p>
            <a:pPr algn="ctr"/>
            <a:r>
              <a:rPr sz="600" b="1" i="0">
                <a:solidFill>
                  <a:srgbClr val="5D6D7E"/>
                </a:solidFill>
                <a:latin typeface="Calibri"/>
              </a:rPr>
              <a:t>IMPACT</a:t>
            </a:r>
          </a:p>
        </p:txBody>
      </p:sp>
      <p:sp>
        <p:nvSpPr>
          <p:cNvPr id="120" name="Rounded Rectangle 119"/>
          <p:cNvSpPr/>
          <p:nvPr/>
        </p:nvSpPr>
        <p:spPr>
          <a:xfrm>
            <a:off x="10403259" y="3630168"/>
            <a:ext cx="1392500" cy="292608"/>
          </a:xfrm>
          <a:prstGeom prst="roundRect">
            <a:avLst>
              <a:gd name="adj" fmla="val 18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10384971" y="3648456"/>
            <a:ext cx="1429076" cy="256032"/>
          </a:xfrm>
          <a:prstGeom prst="rect">
            <a:avLst/>
          </a:prstGeom>
          <a:noFill/>
        </p:spPr>
        <p:txBody>
          <a:bodyPr wrap="square">
            <a:spAutoFit/>
          </a:bodyPr>
          <a:lstStyle/>
          <a:p>
            <a:pPr algn="ctr"/>
            <a:r>
              <a:rPr sz="800" b="1" i="0">
                <a:solidFill>
                  <a:srgbClr val="FFFFFF"/>
                </a:solidFill>
                <a:latin typeface="Calibri"/>
              </a:rPr>
              <a:t>HIGH</a:t>
            </a:r>
          </a:p>
        </p:txBody>
      </p:sp>
      <p:sp>
        <p:nvSpPr>
          <p:cNvPr id="122" name="TextBox 121"/>
          <p:cNvSpPr txBox="1"/>
          <p:nvPr/>
        </p:nvSpPr>
        <p:spPr>
          <a:xfrm>
            <a:off x="10366683" y="4114800"/>
            <a:ext cx="1465652" cy="201168"/>
          </a:xfrm>
          <a:prstGeom prst="rect">
            <a:avLst/>
          </a:prstGeom>
          <a:noFill/>
        </p:spPr>
        <p:txBody>
          <a:bodyPr wrap="square">
            <a:spAutoFit/>
          </a:bodyPr>
          <a:lstStyle/>
          <a:p>
            <a:pPr algn="ctr"/>
            <a:r>
              <a:rPr sz="600" b="1" i="0">
                <a:solidFill>
                  <a:srgbClr val="5D6D7E"/>
                </a:solidFill>
                <a:latin typeface="Calibri"/>
              </a:rPr>
              <a:t>HITL</a:t>
            </a:r>
          </a:p>
        </p:txBody>
      </p:sp>
      <p:sp>
        <p:nvSpPr>
          <p:cNvPr id="123" name="Rounded Rectangle 122"/>
          <p:cNvSpPr/>
          <p:nvPr/>
        </p:nvSpPr>
        <p:spPr>
          <a:xfrm>
            <a:off x="10403259" y="4315968"/>
            <a:ext cx="1392500" cy="292608"/>
          </a:xfrm>
          <a:prstGeom prst="roundRect">
            <a:avLst>
              <a:gd name="adj" fmla="val 18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10384971" y="4334256"/>
            <a:ext cx="1429076" cy="256032"/>
          </a:xfrm>
          <a:prstGeom prst="rect">
            <a:avLst/>
          </a:prstGeom>
          <a:noFill/>
        </p:spPr>
        <p:txBody>
          <a:bodyPr wrap="square">
            <a:spAutoFit/>
          </a:bodyPr>
          <a:lstStyle/>
          <a:p>
            <a:pPr algn="ctr"/>
            <a:r>
              <a:rPr sz="800" b="1" i="0">
                <a:solidFill>
                  <a:srgbClr val="FFFFFF"/>
                </a:solidFill>
                <a:latin typeface="Calibri"/>
              </a:rPr>
              <a:t>Low</a:t>
            </a:r>
          </a:p>
        </p:txBody>
      </p:sp>
      <p:sp>
        <p:nvSpPr>
          <p:cNvPr id="125" name="Rounded Rectangle 124"/>
          <p:cNvSpPr/>
          <p:nvPr/>
        </p:nvSpPr>
        <p:spPr>
          <a:xfrm>
            <a:off x="10403259" y="5833872"/>
            <a:ext cx="1392500" cy="274320"/>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10384971" y="5870448"/>
            <a:ext cx="1429076" cy="201168"/>
          </a:xfrm>
          <a:prstGeom prst="rect">
            <a:avLst/>
          </a:prstGeom>
          <a:noFill/>
        </p:spPr>
        <p:txBody>
          <a:bodyPr wrap="square">
            <a:spAutoFit/>
          </a:bodyPr>
          <a:lstStyle/>
          <a:p>
            <a:pPr algn="ctr"/>
            <a:r>
              <a:rPr sz="650" b="1" i="0">
                <a:solidFill>
                  <a:srgbClr val="FFFFFF"/>
                </a:solidFill>
                <a:latin typeface="Calibri"/>
              </a:rPr>
              <a:t>Phase 2 · 3-6M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0"/>
            <a:ext cx="12191695" cy="36576"/>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73152"/>
            <a:ext cx="9144000" cy="502920"/>
          </a:xfrm>
          <a:prstGeom prst="rect">
            <a:avLst/>
          </a:prstGeom>
          <a:noFill/>
        </p:spPr>
        <p:txBody>
          <a:bodyPr wrap="square">
            <a:spAutoFit/>
          </a:bodyPr>
          <a:lstStyle/>
          <a:p>
            <a:pPr algn="l"/>
            <a:r>
              <a:rPr sz="2200" b="1" i="0">
                <a:solidFill>
                  <a:srgbClr val="FFFFFF"/>
                </a:solidFill>
                <a:latin typeface="Cambria"/>
              </a:rPr>
              <a:t>HORIZONTAL AGENT LANDSCAPE</a:t>
            </a:r>
          </a:p>
        </p:txBody>
      </p:sp>
      <p:sp>
        <p:nvSpPr>
          <p:cNvPr id="5" name="TextBox 4"/>
          <p:cNvSpPr txBox="1"/>
          <p:nvPr/>
        </p:nvSpPr>
        <p:spPr>
          <a:xfrm>
            <a:off x="274320" y="548640"/>
            <a:ext cx="10972800" cy="320040"/>
          </a:xfrm>
          <a:prstGeom prst="rect">
            <a:avLst/>
          </a:prstGeom>
          <a:noFill/>
        </p:spPr>
        <p:txBody>
          <a:bodyPr wrap="square">
            <a:spAutoFit/>
          </a:bodyPr>
          <a:lstStyle/>
          <a:p>
            <a:pPr algn="l"/>
            <a:r>
              <a:rPr sz="1100" b="0" i="0">
                <a:solidFill>
                  <a:srgbClr val="A0C8FF"/>
                </a:solidFill>
                <a:latin typeface="Calibri"/>
              </a:rPr>
              <a:t>Cross-Cutting Enterprise Capabilities — New: Meeting Intelligence · Learning Path</a:t>
            </a:r>
          </a:p>
        </p:txBody>
      </p:sp>
      <p:sp>
        <p:nvSpPr>
          <p:cNvPr id="6" name="Rectangle 5"/>
          <p:cNvSpPr/>
          <p:nvPr/>
        </p:nvSpPr>
        <p:spPr>
          <a:xfrm>
            <a:off x="0" y="6675120"/>
            <a:ext cx="12191695" cy="182880"/>
          </a:xfrm>
          <a:prstGeom prst="rect">
            <a:avLst/>
          </a:prstGeom>
          <a:solidFill>
            <a:srgbClr val="EC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84264"/>
            <a:ext cx="10972800" cy="164592"/>
          </a:xfrm>
          <a:prstGeom prst="rect">
            <a:avLst/>
          </a:prstGeom>
          <a:noFill/>
        </p:spPr>
        <p:txBody>
          <a:bodyPr wrap="square">
            <a:spAutoFit/>
          </a:bodyPr>
          <a:lstStyle/>
          <a:p>
            <a:pPr algn="l"/>
            <a:r>
              <a:rPr sz="700" b="0" i="0">
                <a:solidFill>
                  <a:srgbClr val="5D6D7E"/>
                </a:solidFill>
                <a:latin typeface="Calibri"/>
              </a:rPr>
              <a:t>CONFIDENTIAL  |  Technology Strategy Practice  |  Not for Distribution</a:t>
            </a:r>
          </a:p>
        </p:txBody>
      </p:sp>
      <p:sp>
        <p:nvSpPr>
          <p:cNvPr id="8" name="Rounded Rectangle 7"/>
          <p:cNvSpPr/>
          <p:nvPr/>
        </p:nvSpPr>
        <p:spPr>
          <a:xfrm>
            <a:off x="182880" y="1005840"/>
            <a:ext cx="2286000" cy="2194560"/>
          </a:xfrm>
          <a:prstGeom prst="roundRect">
            <a:avLst>
              <a:gd name="adj" fmla="val 8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82880" y="1005840"/>
            <a:ext cx="2286000" cy="54864"/>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28600" y="1115568"/>
            <a:ext cx="2194560" cy="365760"/>
          </a:xfrm>
          <a:prstGeom prst="rect">
            <a:avLst/>
          </a:prstGeom>
          <a:noFill/>
        </p:spPr>
        <p:txBody>
          <a:bodyPr wrap="square">
            <a:spAutoFit/>
          </a:bodyPr>
          <a:lstStyle/>
          <a:p>
            <a:pPr algn="ctr"/>
            <a:r>
              <a:rPr sz="2000" b="0" i="0">
                <a:solidFill>
                  <a:srgbClr val="0D1B3E"/>
                </a:solidFill>
                <a:latin typeface="Calibri"/>
              </a:rPr>
              <a:t>🧠</a:t>
            </a:r>
          </a:p>
        </p:txBody>
      </p:sp>
      <p:sp>
        <p:nvSpPr>
          <p:cNvPr id="11" name="TextBox 10"/>
          <p:cNvSpPr txBox="1"/>
          <p:nvPr/>
        </p:nvSpPr>
        <p:spPr>
          <a:xfrm>
            <a:off x="228600" y="1508760"/>
            <a:ext cx="2194560" cy="320040"/>
          </a:xfrm>
          <a:prstGeom prst="rect">
            <a:avLst/>
          </a:prstGeom>
          <a:noFill/>
        </p:spPr>
        <p:txBody>
          <a:bodyPr wrap="square">
            <a:spAutoFit/>
          </a:bodyPr>
          <a:lstStyle/>
          <a:p>
            <a:pPr algn="ctr"/>
            <a:r>
              <a:rPr sz="900" b="1" i="0">
                <a:solidFill>
                  <a:srgbClr val="0D1B3E"/>
                </a:solidFill>
                <a:latin typeface="Calibri"/>
              </a:rPr>
              <a:t>Knowledge Agent</a:t>
            </a:r>
          </a:p>
        </p:txBody>
      </p:sp>
      <p:sp>
        <p:nvSpPr>
          <p:cNvPr id="12" name="TextBox 11"/>
          <p:cNvSpPr txBox="1"/>
          <p:nvPr/>
        </p:nvSpPr>
        <p:spPr>
          <a:xfrm>
            <a:off x="274320" y="1874519"/>
            <a:ext cx="2103120" cy="822960"/>
          </a:xfrm>
          <a:prstGeom prst="rect">
            <a:avLst/>
          </a:prstGeom>
          <a:noFill/>
        </p:spPr>
        <p:txBody>
          <a:bodyPr wrap="square">
            <a:spAutoFit/>
          </a:bodyPr>
          <a:lstStyle/>
          <a:p>
            <a:pPr algn="ctr"/>
            <a:r>
              <a:rPr sz="650" b="0" i="0">
                <a:solidFill>
                  <a:srgbClr val="2C3E50"/>
                </a:solidFill>
                <a:latin typeface="Calibri"/>
              </a:rPr>
              <a:t>Unified enterprise knowledge retrieval across Confluence, wikis &amp; code. Surfaces relevant context to any agent or developer.</a:t>
            </a:r>
          </a:p>
        </p:txBody>
      </p:sp>
      <p:sp>
        <p:nvSpPr>
          <p:cNvPr id="13" name="TextBox 12"/>
          <p:cNvSpPr txBox="1"/>
          <p:nvPr/>
        </p:nvSpPr>
        <p:spPr>
          <a:xfrm>
            <a:off x="228600" y="2788920"/>
            <a:ext cx="2194560" cy="228600"/>
          </a:xfrm>
          <a:prstGeom prst="rect">
            <a:avLst/>
          </a:prstGeom>
          <a:noFill/>
        </p:spPr>
        <p:txBody>
          <a:bodyPr wrap="square">
            <a:spAutoFit/>
          </a:bodyPr>
          <a:lstStyle/>
          <a:p>
            <a:pPr algn="ctr"/>
            <a:r>
              <a:rPr sz="700" b="1" i="0">
                <a:solidFill>
                  <a:srgbClr val="007ABF"/>
                </a:solidFill>
                <a:latin typeface="Calibri"/>
              </a:rPr>
              <a:t>Impact: HIGH · Adoption: LOW</a:t>
            </a:r>
          </a:p>
        </p:txBody>
      </p:sp>
      <p:sp>
        <p:nvSpPr>
          <p:cNvPr id="14" name="Rounded Rectangle 13"/>
          <p:cNvSpPr/>
          <p:nvPr/>
        </p:nvSpPr>
        <p:spPr>
          <a:xfrm>
            <a:off x="2542032" y="1005840"/>
            <a:ext cx="2286000" cy="2194560"/>
          </a:xfrm>
          <a:prstGeom prst="roundRect">
            <a:avLst>
              <a:gd name="adj" fmla="val 8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42032" y="1005840"/>
            <a:ext cx="2286000" cy="54864"/>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87752" y="1115568"/>
            <a:ext cx="2194560" cy="365760"/>
          </a:xfrm>
          <a:prstGeom prst="rect">
            <a:avLst/>
          </a:prstGeom>
          <a:noFill/>
        </p:spPr>
        <p:txBody>
          <a:bodyPr wrap="square">
            <a:spAutoFit/>
          </a:bodyPr>
          <a:lstStyle/>
          <a:p>
            <a:pPr algn="ctr"/>
            <a:r>
              <a:rPr sz="2000" b="0" i="0">
                <a:solidFill>
                  <a:srgbClr val="0D1B3E"/>
                </a:solidFill>
                <a:latin typeface="Calibri"/>
              </a:rPr>
              <a:t>⚖</a:t>
            </a:r>
          </a:p>
        </p:txBody>
      </p:sp>
      <p:sp>
        <p:nvSpPr>
          <p:cNvPr id="17" name="TextBox 16"/>
          <p:cNvSpPr txBox="1"/>
          <p:nvPr/>
        </p:nvSpPr>
        <p:spPr>
          <a:xfrm>
            <a:off x="2587752" y="1508760"/>
            <a:ext cx="2194560" cy="320040"/>
          </a:xfrm>
          <a:prstGeom prst="rect">
            <a:avLst/>
          </a:prstGeom>
          <a:noFill/>
        </p:spPr>
        <p:txBody>
          <a:bodyPr wrap="square">
            <a:spAutoFit/>
          </a:bodyPr>
          <a:lstStyle/>
          <a:p>
            <a:pPr algn="ctr"/>
            <a:r>
              <a:rPr sz="900" b="1" i="0">
                <a:solidFill>
                  <a:srgbClr val="0D1B3E"/>
                </a:solidFill>
                <a:latin typeface="Calibri"/>
              </a:rPr>
              <a:t>Governance Agent</a:t>
            </a:r>
          </a:p>
        </p:txBody>
      </p:sp>
      <p:sp>
        <p:nvSpPr>
          <p:cNvPr id="18" name="TextBox 17"/>
          <p:cNvSpPr txBox="1"/>
          <p:nvPr/>
        </p:nvSpPr>
        <p:spPr>
          <a:xfrm>
            <a:off x="2633472" y="1874519"/>
            <a:ext cx="2103120" cy="822960"/>
          </a:xfrm>
          <a:prstGeom prst="rect">
            <a:avLst/>
          </a:prstGeom>
          <a:noFill/>
        </p:spPr>
        <p:txBody>
          <a:bodyPr wrap="square">
            <a:spAutoFit/>
          </a:bodyPr>
          <a:lstStyle/>
          <a:p>
            <a:pPr algn="ctr"/>
            <a:r>
              <a:rPr sz="650" b="0" i="0">
                <a:solidFill>
                  <a:srgbClr val="2C3E50"/>
                </a:solidFill>
                <a:latin typeface="Calibri"/>
              </a:rPr>
              <a:t>Enforces engineering standards, branching policies &amp; process compliance. Real-time guardrails on all agent actions.</a:t>
            </a:r>
          </a:p>
        </p:txBody>
      </p:sp>
      <p:sp>
        <p:nvSpPr>
          <p:cNvPr id="19" name="TextBox 18"/>
          <p:cNvSpPr txBox="1"/>
          <p:nvPr/>
        </p:nvSpPr>
        <p:spPr>
          <a:xfrm>
            <a:off x="2587752" y="2788920"/>
            <a:ext cx="2194560" cy="228600"/>
          </a:xfrm>
          <a:prstGeom prst="rect">
            <a:avLst/>
          </a:prstGeom>
          <a:noFill/>
        </p:spPr>
        <p:txBody>
          <a:bodyPr wrap="square">
            <a:spAutoFit/>
          </a:bodyPr>
          <a:lstStyle/>
          <a:p>
            <a:pPr algn="ctr"/>
            <a:r>
              <a:rPr sz="700" b="1" i="0">
                <a:solidFill>
                  <a:srgbClr val="007ABF"/>
                </a:solidFill>
                <a:latin typeface="Calibri"/>
              </a:rPr>
              <a:t>Impact: HIGH · Adoption: LOW</a:t>
            </a:r>
          </a:p>
        </p:txBody>
      </p:sp>
      <p:sp>
        <p:nvSpPr>
          <p:cNvPr id="20" name="Rounded Rectangle 19"/>
          <p:cNvSpPr/>
          <p:nvPr/>
        </p:nvSpPr>
        <p:spPr>
          <a:xfrm>
            <a:off x="4901184" y="1005840"/>
            <a:ext cx="2286000" cy="2194560"/>
          </a:xfrm>
          <a:prstGeom prst="roundRect">
            <a:avLst>
              <a:gd name="adj" fmla="val 8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901184" y="1005840"/>
            <a:ext cx="2286000" cy="54864"/>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946904" y="1115568"/>
            <a:ext cx="2194560" cy="365760"/>
          </a:xfrm>
          <a:prstGeom prst="rect">
            <a:avLst/>
          </a:prstGeom>
          <a:noFill/>
        </p:spPr>
        <p:txBody>
          <a:bodyPr wrap="square">
            <a:spAutoFit/>
          </a:bodyPr>
          <a:lstStyle/>
          <a:p>
            <a:pPr algn="ctr"/>
            <a:r>
              <a:rPr sz="2000" b="0" i="0">
                <a:solidFill>
                  <a:srgbClr val="0D1B3E"/>
                </a:solidFill>
                <a:latin typeface="Calibri"/>
              </a:rPr>
              <a:t>✅</a:t>
            </a:r>
          </a:p>
        </p:txBody>
      </p:sp>
      <p:sp>
        <p:nvSpPr>
          <p:cNvPr id="23" name="TextBox 22"/>
          <p:cNvSpPr txBox="1"/>
          <p:nvPr/>
        </p:nvSpPr>
        <p:spPr>
          <a:xfrm>
            <a:off x="4946904" y="1508760"/>
            <a:ext cx="2194560" cy="320040"/>
          </a:xfrm>
          <a:prstGeom prst="rect">
            <a:avLst/>
          </a:prstGeom>
          <a:noFill/>
        </p:spPr>
        <p:txBody>
          <a:bodyPr wrap="square">
            <a:spAutoFit/>
          </a:bodyPr>
          <a:lstStyle/>
          <a:p>
            <a:pPr algn="ctr"/>
            <a:r>
              <a:rPr sz="900" b="1" i="0">
                <a:solidFill>
                  <a:srgbClr val="0D1B3E"/>
                </a:solidFill>
                <a:latin typeface="Calibri"/>
              </a:rPr>
              <a:t>Compliance Agent</a:t>
            </a:r>
          </a:p>
        </p:txBody>
      </p:sp>
      <p:sp>
        <p:nvSpPr>
          <p:cNvPr id="24" name="TextBox 23"/>
          <p:cNvSpPr txBox="1"/>
          <p:nvPr/>
        </p:nvSpPr>
        <p:spPr>
          <a:xfrm>
            <a:off x="4992624" y="1874519"/>
            <a:ext cx="2103120" cy="822960"/>
          </a:xfrm>
          <a:prstGeom prst="rect">
            <a:avLst/>
          </a:prstGeom>
          <a:noFill/>
        </p:spPr>
        <p:txBody>
          <a:bodyPr wrap="square">
            <a:spAutoFit/>
          </a:bodyPr>
          <a:lstStyle/>
          <a:p>
            <a:pPr algn="ctr"/>
            <a:r>
              <a:rPr sz="650" b="0" i="0">
                <a:solidFill>
                  <a:srgbClr val="2C3E50"/>
                </a:solidFill>
                <a:latin typeface="Calibri"/>
              </a:rPr>
              <a:t>Maps changes to regulatory controls (SOX, PCI, HIPAA). Auto-generates audit evidence &amp; flags compliance gaps pre-deploy.</a:t>
            </a:r>
          </a:p>
        </p:txBody>
      </p:sp>
      <p:sp>
        <p:nvSpPr>
          <p:cNvPr id="25" name="TextBox 24"/>
          <p:cNvSpPr txBox="1"/>
          <p:nvPr/>
        </p:nvSpPr>
        <p:spPr>
          <a:xfrm>
            <a:off x="4946904" y="2788920"/>
            <a:ext cx="2194560" cy="228600"/>
          </a:xfrm>
          <a:prstGeom prst="rect">
            <a:avLst/>
          </a:prstGeom>
          <a:noFill/>
        </p:spPr>
        <p:txBody>
          <a:bodyPr wrap="square">
            <a:spAutoFit/>
          </a:bodyPr>
          <a:lstStyle/>
          <a:p>
            <a:pPr algn="ctr"/>
            <a:r>
              <a:rPr sz="700" b="1" i="0">
                <a:solidFill>
                  <a:srgbClr val="007ABF"/>
                </a:solidFill>
                <a:latin typeface="Calibri"/>
              </a:rPr>
              <a:t>Impact: HIGH · Adoption: MEDIUM</a:t>
            </a:r>
          </a:p>
        </p:txBody>
      </p:sp>
      <p:sp>
        <p:nvSpPr>
          <p:cNvPr id="26" name="Rounded Rectangle 25"/>
          <p:cNvSpPr/>
          <p:nvPr/>
        </p:nvSpPr>
        <p:spPr>
          <a:xfrm>
            <a:off x="7260336" y="1005840"/>
            <a:ext cx="2286000" cy="2194560"/>
          </a:xfrm>
          <a:prstGeom prst="roundRect">
            <a:avLst>
              <a:gd name="adj" fmla="val 8000"/>
            </a:avLst>
          </a:prstGeom>
          <a:solidFill>
            <a:srgbClr val="F4F6F9"/>
          </a:solidFill>
          <a:ln w="1905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260336" y="1005840"/>
            <a:ext cx="2286000" cy="54864"/>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06056" y="1115568"/>
            <a:ext cx="2194560" cy="365760"/>
          </a:xfrm>
          <a:prstGeom prst="rect">
            <a:avLst/>
          </a:prstGeom>
          <a:noFill/>
        </p:spPr>
        <p:txBody>
          <a:bodyPr wrap="square">
            <a:spAutoFit/>
          </a:bodyPr>
          <a:lstStyle/>
          <a:p>
            <a:pPr algn="ctr"/>
            <a:r>
              <a:rPr sz="2000" b="0" i="0">
                <a:solidFill>
                  <a:srgbClr val="0D1B3E"/>
                </a:solidFill>
                <a:latin typeface="Calibri"/>
              </a:rPr>
              <a:t>📈</a:t>
            </a:r>
          </a:p>
        </p:txBody>
      </p:sp>
      <p:sp>
        <p:nvSpPr>
          <p:cNvPr id="29" name="TextBox 28"/>
          <p:cNvSpPr txBox="1"/>
          <p:nvPr/>
        </p:nvSpPr>
        <p:spPr>
          <a:xfrm>
            <a:off x="7306056" y="1508760"/>
            <a:ext cx="2194560" cy="320040"/>
          </a:xfrm>
          <a:prstGeom prst="rect">
            <a:avLst/>
          </a:prstGeom>
          <a:noFill/>
        </p:spPr>
        <p:txBody>
          <a:bodyPr wrap="square">
            <a:spAutoFit/>
          </a:bodyPr>
          <a:lstStyle/>
          <a:p>
            <a:pPr algn="ctr"/>
            <a:r>
              <a:rPr sz="900" b="1" i="0">
                <a:solidFill>
                  <a:srgbClr val="0D1B3E"/>
                </a:solidFill>
                <a:latin typeface="Calibri"/>
              </a:rPr>
              <a:t>Portfolio Agent</a:t>
            </a:r>
          </a:p>
        </p:txBody>
      </p:sp>
      <p:sp>
        <p:nvSpPr>
          <p:cNvPr id="30" name="TextBox 29"/>
          <p:cNvSpPr txBox="1"/>
          <p:nvPr/>
        </p:nvSpPr>
        <p:spPr>
          <a:xfrm>
            <a:off x="7351776" y="1874519"/>
            <a:ext cx="2103120" cy="822960"/>
          </a:xfrm>
          <a:prstGeom prst="rect">
            <a:avLst/>
          </a:prstGeom>
          <a:noFill/>
        </p:spPr>
        <p:txBody>
          <a:bodyPr wrap="square">
            <a:spAutoFit/>
          </a:bodyPr>
          <a:lstStyle/>
          <a:p>
            <a:pPr algn="ctr"/>
            <a:r>
              <a:rPr sz="650" b="0" i="0">
                <a:solidFill>
                  <a:srgbClr val="2C3E50"/>
                </a:solidFill>
                <a:latin typeface="Calibri"/>
              </a:rPr>
              <a:t>Tracks value stream metrics across all teams. Identifies delivery bottlenecks &amp; surfaces investment optimisation.</a:t>
            </a:r>
          </a:p>
        </p:txBody>
      </p:sp>
      <p:sp>
        <p:nvSpPr>
          <p:cNvPr id="31" name="TextBox 30"/>
          <p:cNvSpPr txBox="1"/>
          <p:nvPr/>
        </p:nvSpPr>
        <p:spPr>
          <a:xfrm>
            <a:off x="7306056" y="2788920"/>
            <a:ext cx="2194560" cy="228600"/>
          </a:xfrm>
          <a:prstGeom prst="rect">
            <a:avLst/>
          </a:prstGeom>
          <a:noFill/>
        </p:spPr>
        <p:txBody>
          <a:bodyPr wrap="square">
            <a:spAutoFit/>
          </a:bodyPr>
          <a:lstStyle/>
          <a:p>
            <a:pPr algn="ctr"/>
            <a:r>
              <a:rPr sz="700" b="1" i="0">
                <a:solidFill>
                  <a:srgbClr val="007ABF"/>
                </a:solidFill>
                <a:latin typeface="Calibri"/>
              </a:rPr>
              <a:t>Impact: MEDIUM · Adoption: MEDIUM</a:t>
            </a:r>
          </a:p>
        </p:txBody>
      </p:sp>
      <p:sp>
        <p:nvSpPr>
          <p:cNvPr id="32" name="Rounded Rectangle 31"/>
          <p:cNvSpPr/>
          <p:nvPr/>
        </p:nvSpPr>
        <p:spPr>
          <a:xfrm>
            <a:off x="9619488" y="1005840"/>
            <a:ext cx="2286000" cy="2194560"/>
          </a:xfrm>
          <a:prstGeom prst="roundRect">
            <a:avLst>
              <a:gd name="adj" fmla="val 8000"/>
            </a:avLst>
          </a:prstGeom>
          <a:solidFill>
            <a:srgbClr val="F4F6F9"/>
          </a:solidFill>
          <a:ln w="1905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619488" y="1005840"/>
            <a:ext cx="2286000" cy="54864"/>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665208" y="1115568"/>
            <a:ext cx="2194560" cy="365760"/>
          </a:xfrm>
          <a:prstGeom prst="rect">
            <a:avLst/>
          </a:prstGeom>
          <a:noFill/>
        </p:spPr>
        <p:txBody>
          <a:bodyPr wrap="square">
            <a:spAutoFit/>
          </a:bodyPr>
          <a:lstStyle/>
          <a:p>
            <a:pPr algn="ctr"/>
            <a:r>
              <a:rPr sz="2000" b="0" i="0">
                <a:solidFill>
                  <a:srgbClr val="0D1B3E"/>
                </a:solidFill>
                <a:latin typeface="Calibri"/>
              </a:rPr>
              <a:t>🤝</a:t>
            </a:r>
          </a:p>
        </p:txBody>
      </p:sp>
      <p:sp>
        <p:nvSpPr>
          <p:cNvPr id="35" name="TextBox 34"/>
          <p:cNvSpPr txBox="1"/>
          <p:nvPr/>
        </p:nvSpPr>
        <p:spPr>
          <a:xfrm>
            <a:off x="9665208" y="1508760"/>
            <a:ext cx="2194560" cy="320040"/>
          </a:xfrm>
          <a:prstGeom prst="rect">
            <a:avLst/>
          </a:prstGeom>
          <a:noFill/>
        </p:spPr>
        <p:txBody>
          <a:bodyPr wrap="square">
            <a:spAutoFit/>
          </a:bodyPr>
          <a:lstStyle/>
          <a:p>
            <a:pPr algn="ctr"/>
            <a:r>
              <a:rPr sz="900" b="1" i="0">
                <a:solidFill>
                  <a:srgbClr val="0D1B3E"/>
                </a:solidFill>
                <a:latin typeface="Calibri"/>
              </a:rPr>
              <a:t>Collaboration Agent</a:t>
            </a:r>
          </a:p>
        </p:txBody>
      </p:sp>
      <p:sp>
        <p:nvSpPr>
          <p:cNvPr id="36" name="TextBox 35"/>
          <p:cNvSpPr txBox="1"/>
          <p:nvPr/>
        </p:nvSpPr>
        <p:spPr>
          <a:xfrm>
            <a:off x="9710928" y="1874519"/>
            <a:ext cx="2103120" cy="822960"/>
          </a:xfrm>
          <a:prstGeom prst="rect">
            <a:avLst/>
          </a:prstGeom>
          <a:noFill/>
        </p:spPr>
        <p:txBody>
          <a:bodyPr wrap="square">
            <a:spAutoFit/>
          </a:bodyPr>
          <a:lstStyle/>
          <a:p>
            <a:pPr algn="ctr"/>
            <a:r>
              <a:rPr sz="650" b="0" i="0">
                <a:solidFill>
                  <a:srgbClr val="2C3E50"/>
                </a:solidFill>
                <a:latin typeface="Calibri"/>
              </a:rPr>
              <a:t>Orchestrates stakeholder comms, meeting summaries, action items &amp; cross-team dependency alerts in Slack/Teams.</a:t>
            </a:r>
          </a:p>
        </p:txBody>
      </p:sp>
      <p:sp>
        <p:nvSpPr>
          <p:cNvPr id="37" name="TextBox 36"/>
          <p:cNvSpPr txBox="1"/>
          <p:nvPr/>
        </p:nvSpPr>
        <p:spPr>
          <a:xfrm>
            <a:off x="9665208" y="2788920"/>
            <a:ext cx="2194560" cy="228600"/>
          </a:xfrm>
          <a:prstGeom prst="rect">
            <a:avLst/>
          </a:prstGeom>
          <a:noFill/>
        </p:spPr>
        <p:txBody>
          <a:bodyPr wrap="square">
            <a:spAutoFit/>
          </a:bodyPr>
          <a:lstStyle/>
          <a:p>
            <a:pPr algn="ctr"/>
            <a:r>
              <a:rPr sz="700" b="1" i="0">
                <a:solidFill>
                  <a:srgbClr val="007ABF"/>
                </a:solidFill>
                <a:latin typeface="Calibri"/>
              </a:rPr>
              <a:t>Impact: MEDIUM · Adoption: LOW</a:t>
            </a:r>
          </a:p>
        </p:txBody>
      </p:sp>
      <p:sp>
        <p:nvSpPr>
          <p:cNvPr id="38" name="Rectangle 37"/>
          <p:cNvSpPr/>
          <p:nvPr/>
        </p:nvSpPr>
        <p:spPr>
          <a:xfrm>
            <a:off x="182880" y="3310128"/>
            <a:ext cx="11795760" cy="27432"/>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5394960" y="3218688"/>
            <a:ext cx="1371600" cy="201168"/>
          </a:xfrm>
          <a:prstGeom prst="roundRect">
            <a:avLst>
              <a:gd name="adj" fmla="val 2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394960" y="3227832"/>
            <a:ext cx="1371600" cy="182880"/>
          </a:xfrm>
          <a:prstGeom prst="rect">
            <a:avLst/>
          </a:prstGeom>
          <a:noFill/>
        </p:spPr>
        <p:txBody>
          <a:bodyPr wrap="square">
            <a:spAutoFit/>
          </a:bodyPr>
          <a:lstStyle/>
          <a:p>
            <a:pPr algn="ctr"/>
            <a:r>
              <a:rPr sz="700" b="1" i="0">
                <a:solidFill>
                  <a:srgbClr val="FFFFFF"/>
                </a:solidFill>
                <a:latin typeface="Calibri"/>
              </a:rPr>
              <a:t>NEW AGENTS</a:t>
            </a:r>
          </a:p>
        </p:txBody>
      </p:sp>
      <p:sp>
        <p:nvSpPr>
          <p:cNvPr id="41" name="Rounded Rectangle 40"/>
          <p:cNvSpPr/>
          <p:nvPr/>
        </p:nvSpPr>
        <p:spPr>
          <a:xfrm>
            <a:off x="201168" y="3456432"/>
            <a:ext cx="5623560" cy="3017520"/>
          </a:xfrm>
          <a:prstGeom prst="roundRect">
            <a:avLst>
              <a:gd name="adj" fmla="val 8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01168" y="3456432"/>
            <a:ext cx="5623560" cy="54864"/>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38328" y="3593591"/>
            <a:ext cx="548640" cy="502920"/>
          </a:xfrm>
          <a:prstGeom prst="rect">
            <a:avLst/>
          </a:prstGeom>
          <a:noFill/>
        </p:spPr>
        <p:txBody>
          <a:bodyPr wrap="square">
            <a:spAutoFit/>
          </a:bodyPr>
          <a:lstStyle/>
          <a:p>
            <a:pPr algn="l"/>
            <a:r>
              <a:rPr sz="2800" b="0" i="0">
                <a:solidFill>
                  <a:srgbClr val="0D1B3E"/>
                </a:solidFill>
                <a:latin typeface="Calibri"/>
              </a:rPr>
              <a:t>🎙</a:t>
            </a:r>
          </a:p>
        </p:txBody>
      </p:sp>
      <p:sp>
        <p:nvSpPr>
          <p:cNvPr id="44" name="TextBox 43"/>
          <p:cNvSpPr txBox="1"/>
          <p:nvPr/>
        </p:nvSpPr>
        <p:spPr>
          <a:xfrm>
            <a:off x="932688" y="3593591"/>
            <a:ext cx="4754880" cy="365760"/>
          </a:xfrm>
          <a:prstGeom prst="rect">
            <a:avLst/>
          </a:prstGeom>
          <a:noFill/>
        </p:spPr>
        <p:txBody>
          <a:bodyPr wrap="square">
            <a:spAutoFit/>
          </a:bodyPr>
          <a:lstStyle/>
          <a:p>
            <a:pPr algn="l"/>
            <a:r>
              <a:rPr sz="1200" b="1" i="0">
                <a:solidFill>
                  <a:srgbClr val="0D1B3E"/>
                </a:solidFill>
                <a:latin typeface="Calibri"/>
              </a:rPr>
              <a:t>Meeting Intelligence</a:t>
            </a:r>
          </a:p>
        </p:txBody>
      </p:sp>
      <p:sp>
        <p:nvSpPr>
          <p:cNvPr id="45" name="TextBox 44"/>
          <p:cNvSpPr txBox="1"/>
          <p:nvPr/>
        </p:nvSpPr>
        <p:spPr>
          <a:xfrm>
            <a:off x="932688" y="3931920"/>
            <a:ext cx="4754880" cy="182880"/>
          </a:xfrm>
          <a:prstGeom prst="rect">
            <a:avLst/>
          </a:prstGeom>
          <a:noFill/>
        </p:spPr>
        <p:txBody>
          <a:bodyPr wrap="square">
            <a:spAutoFit/>
          </a:bodyPr>
          <a:lstStyle/>
          <a:p>
            <a:pPr algn="l"/>
            <a:r>
              <a:rPr sz="700" b="1" i="0">
                <a:solidFill>
                  <a:srgbClr val="B88600"/>
                </a:solidFill>
                <a:latin typeface="Calibri"/>
              </a:rPr>
              <a:t>NEW ASSESSED AGENT</a:t>
            </a:r>
          </a:p>
        </p:txBody>
      </p:sp>
      <p:sp>
        <p:nvSpPr>
          <p:cNvPr id="46" name="TextBox 45"/>
          <p:cNvSpPr txBox="1"/>
          <p:nvPr/>
        </p:nvSpPr>
        <p:spPr>
          <a:xfrm>
            <a:off x="338328" y="4206240"/>
            <a:ext cx="5349240" cy="640080"/>
          </a:xfrm>
          <a:prstGeom prst="rect">
            <a:avLst/>
          </a:prstGeom>
          <a:noFill/>
        </p:spPr>
        <p:txBody>
          <a:bodyPr wrap="square">
            <a:spAutoFit/>
          </a:bodyPr>
          <a:lstStyle/>
          <a:p>
            <a:pPr algn="l"/>
            <a:r>
              <a:rPr sz="800" b="0" i="0">
                <a:solidFill>
                  <a:srgbClr val="2C3E50"/>
                </a:solidFill>
                <a:latin typeface="Calibri"/>
              </a:rPr>
              <a:t>Transforms conversations into actionable insights, structured summaries &amp; trackable outcomes. Auto-creates Jira tickets from action items.</a:t>
            </a:r>
          </a:p>
        </p:txBody>
      </p:sp>
      <p:sp>
        <p:nvSpPr>
          <p:cNvPr id="47" name="Rectangle 46"/>
          <p:cNvSpPr/>
          <p:nvPr/>
        </p:nvSpPr>
        <p:spPr>
          <a:xfrm>
            <a:off x="310896" y="4901183"/>
            <a:ext cx="5404104" cy="1828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38328" y="4965192"/>
            <a:ext cx="1291590" cy="182880"/>
          </a:xfrm>
          <a:prstGeom prst="rect">
            <a:avLst/>
          </a:prstGeom>
          <a:noFill/>
        </p:spPr>
        <p:txBody>
          <a:bodyPr wrap="square">
            <a:spAutoFit/>
          </a:bodyPr>
          <a:lstStyle/>
          <a:p>
            <a:pPr algn="ctr"/>
            <a:r>
              <a:rPr sz="650" b="1" i="0">
                <a:solidFill>
                  <a:srgbClr val="5D6D7E"/>
                </a:solidFill>
                <a:latin typeface="Calibri"/>
              </a:rPr>
              <a:t>IMPACT</a:t>
            </a:r>
          </a:p>
        </p:txBody>
      </p:sp>
      <p:sp>
        <p:nvSpPr>
          <p:cNvPr id="49" name="Rounded Rectangle 48"/>
          <p:cNvSpPr/>
          <p:nvPr/>
        </p:nvSpPr>
        <p:spPr>
          <a:xfrm>
            <a:off x="338328" y="5148072"/>
            <a:ext cx="1291590" cy="274320"/>
          </a:xfrm>
          <a:prstGeom prst="roundRect">
            <a:avLst>
              <a:gd name="adj" fmla="val 18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38328" y="5166360"/>
            <a:ext cx="1291590" cy="237744"/>
          </a:xfrm>
          <a:prstGeom prst="rect">
            <a:avLst/>
          </a:prstGeom>
          <a:noFill/>
        </p:spPr>
        <p:txBody>
          <a:bodyPr wrap="square">
            <a:spAutoFit/>
          </a:bodyPr>
          <a:lstStyle/>
          <a:p>
            <a:pPr algn="ctr"/>
            <a:r>
              <a:rPr sz="800" b="1" i="0">
                <a:solidFill>
                  <a:srgbClr val="FFFFFF"/>
                </a:solidFill>
                <a:latin typeface="Calibri"/>
              </a:rPr>
              <a:t>HIGH</a:t>
            </a:r>
          </a:p>
        </p:txBody>
      </p:sp>
      <p:sp>
        <p:nvSpPr>
          <p:cNvPr id="51" name="TextBox 50"/>
          <p:cNvSpPr txBox="1"/>
          <p:nvPr/>
        </p:nvSpPr>
        <p:spPr>
          <a:xfrm>
            <a:off x="1675638" y="4965192"/>
            <a:ext cx="1291590" cy="182880"/>
          </a:xfrm>
          <a:prstGeom prst="rect">
            <a:avLst/>
          </a:prstGeom>
          <a:noFill/>
        </p:spPr>
        <p:txBody>
          <a:bodyPr wrap="square">
            <a:spAutoFit/>
          </a:bodyPr>
          <a:lstStyle/>
          <a:p>
            <a:pPr algn="ctr"/>
            <a:r>
              <a:rPr sz="650" b="1" i="0">
                <a:solidFill>
                  <a:srgbClr val="5D6D7E"/>
                </a:solidFill>
                <a:latin typeface="Calibri"/>
              </a:rPr>
              <a:t>EFFORT</a:t>
            </a:r>
          </a:p>
        </p:txBody>
      </p:sp>
      <p:sp>
        <p:nvSpPr>
          <p:cNvPr id="52" name="Rounded Rectangle 51"/>
          <p:cNvSpPr/>
          <p:nvPr/>
        </p:nvSpPr>
        <p:spPr>
          <a:xfrm>
            <a:off x="1675638" y="5148072"/>
            <a:ext cx="1291590" cy="274320"/>
          </a:xfrm>
          <a:prstGeom prst="roundRect">
            <a:avLst>
              <a:gd name="adj" fmla="val 18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675638" y="5166360"/>
            <a:ext cx="1291590" cy="237744"/>
          </a:xfrm>
          <a:prstGeom prst="rect">
            <a:avLst/>
          </a:prstGeom>
          <a:noFill/>
        </p:spPr>
        <p:txBody>
          <a:bodyPr wrap="square">
            <a:spAutoFit/>
          </a:bodyPr>
          <a:lstStyle/>
          <a:p>
            <a:pPr algn="ctr"/>
            <a:r>
              <a:rPr sz="800" b="1" i="0">
                <a:solidFill>
                  <a:srgbClr val="FFFFFF"/>
                </a:solidFill>
                <a:latin typeface="Calibri"/>
              </a:rPr>
              <a:t>LOW</a:t>
            </a:r>
          </a:p>
        </p:txBody>
      </p:sp>
      <p:sp>
        <p:nvSpPr>
          <p:cNvPr id="54" name="TextBox 53"/>
          <p:cNvSpPr txBox="1"/>
          <p:nvPr/>
        </p:nvSpPr>
        <p:spPr>
          <a:xfrm>
            <a:off x="3012948" y="4965192"/>
            <a:ext cx="1291590" cy="182880"/>
          </a:xfrm>
          <a:prstGeom prst="rect">
            <a:avLst/>
          </a:prstGeom>
          <a:noFill/>
        </p:spPr>
        <p:txBody>
          <a:bodyPr wrap="square">
            <a:spAutoFit/>
          </a:bodyPr>
          <a:lstStyle/>
          <a:p>
            <a:pPr algn="ctr"/>
            <a:r>
              <a:rPr sz="650" b="1" i="0">
                <a:solidFill>
                  <a:srgbClr val="5D6D7E"/>
                </a:solidFill>
                <a:latin typeface="Calibri"/>
              </a:rPr>
              <a:t>HITL</a:t>
            </a:r>
          </a:p>
        </p:txBody>
      </p:sp>
      <p:sp>
        <p:nvSpPr>
          <p:cNvPr id="55" name="Rounded Rectangle 54"/>
          <p:cNvSpPr/>
          <p:nvPr/>
        </p:nvSpPr>
        <p:spPr>
          <a:xfrm>
            <a:off x="3012948" y="5148072"/>
            <a:ext cx="1291590" cy="274320"/>
          </a:xfrm>
          <a:prstGeom prst="roundRect">
            <a:avLst>
              <a:gd name="adj" fmla="val 18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012948" y="5166360"/>
            <a:ext cx="1291590" cy="237744"/>
          </a:xfrm>
          <a:prstGeom prst="rect">
            <a:avLst/>
          </a:prstGeom>
          <a:noFill/>
        </p:spPr>
        <p:txBody>
          <a:bodyPr wrap="square">
            <a:spAutoFit/>
          </a:bodyPr>
          <a:lstStyle/>
          <a:p>
            <a:pPr algn="ctr"/>
            <a:r>
              <a:rPr sz="800" b="1" i="0">
                <a:solidFill>
                  <a:srgbClr val="FFFFFF"/>
                </a:solidFill>
                <a:latin typeface="Calibri"/>
              </a:rPr>
              <a:t>Low</a:t>
            </a:r>
          </a:p>
        </p:txBody>
      </p:sp>
      <p:sp>
        <p:nvSpPr>
          <p:cNvPr id="57" name="TextBox 56"/>
          <p:cNvSpPr txBox="1"/>
          <p:nvPr/>
        </p:nvSpPr>
        <p:spPr>
          <a:xfrm>
            <a:off x="4350258" y="4965192"/>
            <a:ext cx="1291590" cy="182880"/>
          </a:xfrm>
          <a:prstGeom prst="rect">
            <a:avLst/>
          </a:prstGeom>
          <a:noFill/>
        </p:spPr>
        <p:txBody>
          <a:bodyPr wrap="square">
            <a:spAutoFit/>
          </a:bodyPr>
          <a:lstStyle/>
          <a:p>
            <a:pPr algn="ctr"/>
            <a:r>
              <a:rPr sz="650" b="1" i="0">
                <a:solidFill>
                  <a:srgbClr val="5D6D7E"/>
                </a:solidFill>
                <a:latin typeface="Calibri"/>
              </a:rPr>
              <a:t>ADOPTION</a:t>
            </a:r>
          </a:p>
        </p:txBody>
      </p:sp>
      <p:sp>
        <p:nvSpPr>
          <p:cNvPr id="58" name="Rounded Rectangle 57"/>
          <p:cNvSpPr/>
          <p:nvPr/>
        </p:nvSpPr>
        <p:spPr>
          <a:xfrm>
            <a:off x="4350258" y="5148072"/>
            <a:ext cx="1291590" cy="274320"/>
          </a:xfrm>
          <a:prstGeom prst="roundRect">
            <a:avLst>
              <a:gd name="adj" fmla="val 18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350258" y="5166360"/>
            <a:ext cx="1291590" cy="237744"/>
          </a:xfrm>
          <a:prstGeom prst="rect">
            <a:avLst/>
          </a:prstGeom>
          <a:noFill/>
        </p:spPr>
        <p:txBody>
          <a:bodyPr wrap="square">
            <a:spAutoFit/>
          </a:bodyPr>
          <a:lstStyle/>
          <a:p>
            <a:pPr algn="ctr"/>
            <a:r>
              <a:rPr sz="800" b="1" i="0">
                <a:solidFill>
                  <a:srgbClr val="FFFFFF"/>
                </a:solidFill>
                <a:latin typeface="Calibri"/>
              </a:rPr>
              <a:t>LOW</a:t>
            </a:r>
          </a:p>
        </p:txBody>
      </p:sp>
      <p:sp>
        <p:nvSpPr>
          <p:cNvPr id="60" name="Rectangle 59"/>
          <p:cNvSpPr/>
          <p:nvPr/>
        </p:nvSpPr>
        <p:spPr>
          <a:xfrm>
            <a:off x="310896" y="5513831"/>
            <a:ext cx="5404104" cy="1828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38328" y="5559552"/>
            <a:ext cx="5349240" cy="320040"/>
          </a:xfrm>
          <a:prstGeom prst="rect">
            <a:avLst/>
          </a:prstGeom>
          <a:noFill/>
        </p:spPr>
        <p:txBody>
          <a:bodyPr wrap="square">
            <a:spAutoFit/>
          </a:bodyPr>
          <a:lstStyle/>
          <a:p>
            <a:pPr algn="l"/>
            <a:r>
              <a:rPr sz="800" b="0" i="0">
                <a:solidFill>
                  <a:srgbClr val="1E8B4C"/>
                </a:solidFill>
                <a:latin typeface="Calibri"/>
              </a:rPr>
              <a:t>✓ 40–60% reduction in post-meeting admin. Zero missed action items.</a:t>
            </a:r>
          </a:p>
        </p:txBody>
      </p:sp>
      <p:sp>
        <p:nvSpPr>
          <p:cNvPr id="62" name="Rounded Rectangle 61"/>
          <p:cNvSpPr/>
          <p:nvPr/>
        </p:nvSpPr>
        <p:spPr>
          <a:xfrm>
            <a:off x="310896" y="5971031"/>
            <a:ext cx="1371600" cy="256032"/>
          </a:xfrm>
          <a:prstGeom prst="roundRect">
            <a:avLst>
              <a:gd name="adj" fmla="val 15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29184" y="6007607"/>
            <a:ext cx="1335024" cy="182880"/>
          </a:xfrm>
          <a:prstGeom prst="rect">
            <a:avLst/>
          </a:prstGeom>
          <a:noFill/>
        </p:spPr>
        <p:txBody>
          <a:bodyPr wrap="square">
            <a:spAutoFit/>
          </a:bodyPr>
          <a:lstStyle/>
          <a:p>
            <a:pPr algn="ctr"/>
            <a:r>
              <a:rPr sz="700" b="1" i="0">
                <a:solidFill>
                  <a:srgbClr val="FFFFFF"/>
                </a:solidFill>
                <a:latin typeface="Calibri"/>
              </a:rPr>
              <a:t>Phase 1 · 0-3M</a:t>
            </a:r>
          </a:p>
        </p:txBody>
      </p:sp>
      <p:sp>
        <p:nvSpPr>
          <p:cNvPr id="64" name="Rounded Rectangle 63"/>
          <p:cNvSpPr/>
          <p:nvPr/>
        </p:nvSpPr>
        <p:spPr>
          <a:xfrm>
            <a:off x="5961888" y="3456432"/>
            <a:ext cx="5623560" cy="3017520"/>
          </a:xfrm>
          <a:prstGeom prst="roundRect">
            <a:avLst>
              <a:gd name="adj" fmla="val 8000"/>
            </a:avLst>
          </a:prstGeom>
          <a:solidFill>
            <a:srgbClr val="F4F6F9"/>
          </a:solidFill>
          <a:ln w="1905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961888" y="3456432"/>
            <a:ext cx="5623560" cy="54864"/>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099048" y="3593591"/>
            <a:ext cx="548640" cy="502920"/>
          </a:xfrm>
          <a:prstGeom prst="rect">
            <a:avLst/>
          </a:prstGeom>
          <a:noFill/>
        </p:spPr>
        <p:txBody>
          <a:bodyPr wrap="square">
            <a:spAutoFit/>
          </a:bodyPr>
          <a:lstStyle/>
          <a:p>
            <a:pPr algn="l"/>
            <a:r>
              <a:rPr sz="2800" b="0" i="0">
                <a:solidFill>
                  <a:srgbClr val="0D1B3E"/>
                </a:solidFill>
                <a:latin typeface="Calibri"/>
              </a:rPr>
              <a:t>🎓</a:t>
            </a:r>
          </a:p>
        </p:txBody>
      </p:sp>
      <p:sp>
        <p:nvSpPr>
          <p:cNvPr id="67" name="TextBox 66"/>
          <p:cNvSpPr txBox="1"/>
          <p:nvPr/>
        </p:nvSpPr>
        <p:spPr>
          <a:xfrm>
            <a:off x="6693408" y="3593591"/>
            <a:ext cx="4754880" cy="365760"/>
          </a:xfrm>
          <a:prstGeom prst="rect">
            <a:avLst/>
          </a:prstGeom>
          <a:noFill/>
        </p:spPr>
        <p:txBody>
          <a:bodyPr wrap="square">
            <a:spAutoFit/>
          </a:bodyPr>
          <a:lstStyle/>
          <a:p>
            <a:pPr algn="l"/>
            <a:r>
              <a:rPr sz="1200" b="1" i="0">
                <a:solidFill>
                  <a:srgbClr val="0D1B3E"/>
                </a:solidFill>
                <a:latin typeface="Calibri"/>
              </a:rPr>
              <a:t>Learning Path</a:t>
            </a:r>
          </a:p>
        </p:txBody>
      </p:sp>
      <p:sp>
        <p:nvSpPr>
          <p:cNvPr id="68" name="TextBox 67"/>
          <p:cNvSpPr txBox="1"/>
          <p:nvPr/>
        </p:nvSpPr>
        <p:spPr>
          <a:xfrm>
            <a:off x="6693408" y="3931920"/>
            <a:ext cx="4754880" cy="182880"/>
          </a:xfrm>
          <a:prstGeom prst="rect">
            <a:avLst/>
          </a:prstGeom>
          <a:noFill/>
        </p:spPr>
        <p:txBody>
          <a:bodyPr wrap="square">
            <a:spAutoFit/>
          </a:bodyPr>
          <a:lstStyle/>
          <a:p>
            <a:pPr algn="l"/>
            <a:r>
              <a:rPr sz="700" b="1" i="0">
                <a:solidFill>
                  <a:srgbClr val="B88600"/>
                </a:solidFill>
                <a:latin typeface="Calibri"/>
              </a:rPr>
              <a:t>NEW ASSESSED AGENT</a:t>
            </a:r>
          </a:p>
        </p:txBody>
      </p:sp>
      <p:sp>
        <p:nvSpPr>
          <p:cNvPr id="69" name="TextBox 68"/>
          <p:cNvSpPr txBox="1"/>
          <p:nvPr/>
        </p:nvSpPr>
        <p:spPr>
          <a:xfrm>
            <a:off x="6099048" y="4206240"/>
            <a:ext cx="5349240" cy="640080"/>
          </a:xfrm>
          <a:prstGeom prst="rect">
            <a:avLst/>
          </a:prstGeom>
          <a:noFill/>
        </p:spPr>
        <p:txBody>
          <a:bodyPr wrap="square">
            <a:spAutoFit/>
          </a:bodyPr>
          <a:lstStyle/>
          <a:p>
            <a:pPr algn="l"/>
            <a:r>
              <a:rPr sz="800" b="0" i="0">
                <a:solidFill>
                  <a:srgbClr val="2C3E50"/>
                </a:solidFill>
                <a:latin typeface="Calibri"/>
              </a:rPr>
              <a:t>Personalized, goal-driven upskilling journeys by identifying skill gaps from user profile, project requirements &amp; team capability maps.</a:t>
            </a:r>
          </a:p>
        </p:txBody>
      </p:sp>
      <p:sp>
        <p:nvSpPr>
          <p:cNvPr id="70" name="Rectangle 69"/>
          <p:cNvSpPr/>
          <p:nvPr/>
        </p:nvSpPr>
        <p:spPr>
          <a:xfrm>
            <a:off x="6071616" y="4901183"/>
            <a:ext cx="5404104" cy="1828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099048" y="4965192"/>
            <a:ext cx="1291590" cy="182880"/>
          </a:xfrm>
          <a:prstGeom prst="rect">
            <a:avLst/>
          </a:prstGeom>
          <a:noFill/>
        </p:spPr>
        <p:txBody>
          <a:bodyPr wrap="square">
            <a:spAutoFit/>
          </a:bodyPr>
          <a:lstStyle/>
          <a:p>
            <a:pPr algn="ctr"/>
            <a:r>
              <a:rPr sz="650" b="1" i="0">
                <a:solidFill>
                  <a:srgbClr val="5D6D7E"/>
                </a:solidFill>
                <a:latin typeface="Calibri"/>
              </a:rPr>
              <a:t>IMPACT</a:t>
            </a:r>
          </a:p>
        </p:txBody>
      </p:sp>
      <p:sp>
        <p:nvSpPr>
          <p:cNvPr id="72" name="Rounded Rectangle 71"/>
          <p:cNvSpPr/>
          <p:nvPr/>
        </p:nvSpPr>
        <p:spPr>
          <a:xfrm>
            <a:off x="6099048" y="5148072"/>
            <a:ext cx="1291590" cy="274320"/>
          </a:xfrm>
          <a:prstGeom prst="roundRect">
            <a:avLst>
              <a:gd name="adj" fmla="val 18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099048" y="5166360"/>
            <a:ext cx="1291590" cy="237744"/>
          </a:xfrm>
          <a:prstGeom prst="rect">
            <a:avLst/>
          </a:prstGeom>
          <a:noFill/>
        </p:spPr>
        <p:txBody>
          <a:bodyPr wrap="square">
            <a:spAutoFit/>
          </a:bodyPr>
          <a:lstStyle/>
          <a:p>
            <a:pPr algn="ctr"/>
            <a:r>
              <a:rPr sz="800" b="1" i="0">
                <a:solidFill>
                  <a:srgbClr val="FFFFFF"/>
                </a:solidFill>
                <a:latin typeface="Calibri"/>
              </a:rPr>
              <a:t>MEDIUM</a:t>
            </a:r>
          </a:p>
        </p:txBody>
      </p:sp>
      <p:sp>
        <p:nvSpPr>
          <p:cNvPr id="74" name="TextBox 73"/>
          <p:cNvSpPr txBox="1"/>
          <p:nvPr/>
        </p:nvSpPr>
        <p:spPr>
          <a:xfrm>
            <a:off x="7436358" y="4965192"/>
            <a:ext cx="1291590" cy="182880"/>
          </a:xfrm>
          <a:prstGeom prst="rect">
            <a:avLst/>
          </a:prstGeom>
          <a:noFill/>
        </p:spPr>
        <p:txBody>
          <a:bodyPr wrap="square">
            <a:spAutoFit/>
          </a:bodyPr>
          <a:lstStyle/>
          <a:p>
            <a:pPr algn="ctr"/>
            <a:r>
              <a:rPr sz="650" b="1" i="0">
                <a:solidFill>
                  <a:srgbClr val="5D6D7E"/>
                </a:solidFill>
                <a:latin typeface="Calibri"/>
              </a:rPr>
              <a:t>EFFORT</a:t>
            </a:r>
          </a:p>
        </p:txBody>
      </p:sp>
      <p:sp>
        <p:nvSpPr>
          <p:cNvPr id="75" name="Rounded Rectangle 74"/>
          <p:cNvSpPr/>
          <p:nvPr/>
        </p:nvSpPr>
        <p:spPr>
          <a:xfrm>
            <a:off x="7436358" y="5148072"/>
            <a:ext cx="1291590" cy="274320"/>
          </a:xfrm>
          <a:prstGeom prst="roundRect">
            <a:avLst>
              <a:gd name="adj" fmla="val 18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7436358" y="5166360"/>
            <a:ext cx="1291590" cy="237744"/>
          </a:xfrm>
          <a:prstGeom prst="rect">
            <a:avLst/>
          </a:prstGeom>
          <a:noFill/>
        </p:spPr>
        <p:txBody>
          <a:bodyPr wrap="square">
            <a:spAutoFit/>
          </a:bodyPr>
          <a:lstStyle/>
          <a:p>
            <a:pPr algn="ctr"/>
            <a:r>
              <a:rPr sz="800" b="1" i="0">
                <a:solidFill>
                  <a:srgbClr val="FFFFFF"/>
                </a:solidFill>
                <a:latin typeface="Calibri"/>
              </a:rPr>
              <a:t>LOW</a:t>
            </a:r>
          </a:p>
        </p:txBody>
      </p:sp>
      <p:sp>
        <p:nvSpPr>
          <p:cNvPr id="77" name="TextBox 76"/>
          <p:cNvSpPr txBox="1"/>
          <p:nvPr/>
        </p:nvSpPr>
        <p:spPr>
          <a:xfrm>
            <a:off x="8773668" y="4965192"/>
            <a:ext cx="1291590" cy="182880"/>
          </a:xfrm>
          <a:prstGeom prst="rect">
            <a:avLst/>
          </a:prstGeom>
          <a:noFill/>
        </p:spPr>
        <p:txBody>
          <a:bodyPr wrap="square">
            <a:spAutoFit/>
          </a:bodyPr>
          <a:lstStyle/>
          <a:p>
            <a:pPr algn="ctr"/>
            <a:r>
              <a:rPr sz="650" b="1" i="0">
                <a:solidFill>
                  <a:srgbClr val="5D6D7E"/>
                </a:solidFill>
                <a:latin typeface="Calibri"/>
              </a:rPr>
              <a:t>HITL</a:t>
            </a:r>
          </a:p>
        </p:txBody>
      </p:sp>
      <p:sp>
        <p:nvSpPr>
          <p:cNvPr id="78" name="Rounded Rectangle 77"/>
          <p:cNvSpPr/>
          <p:nvPr/>
        </p:nvSpPr>
        <p:spPr>
          <a:xfrm>
            <a:off x="8773668" y="5148072"/>
            <a:ext cx="1291590" cy="274320"/>
          </a:xfrm>
          <a:prstGeom prst="roundRect">
            <a:avLst>
              <a:gd name="adj" fmla="val 18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8773668" y="5166360"/>
            <a:ext cx="1291590" cy="237744"/>
          </a:xfrm>
          <a:prstGeom prst="rect">
            <a:avLst/>
          </a:prstGeom>
          <a:noFill/>
        </p:spPr>
        <p:txBody>
          <a:bodyPr wrap="square">
            <a:spAutoFit/>
          </a:bodyPr>
          <a:lstStyle/>
          <a:p>
            <a:pPr algn="ctr"/>
            <a:r>
              <a:rPr sz="800" b="1" i="0">
                <a:solidFill>
                  <a:srgbClr val="FFFFFF"/>
                </a:solidFill>
                <a:latin typeface="Calibri"/>
              </a:rPr>
              <a:t>Low</a:t>
            </a:r>
          </a:p>
        </p:txBody>
      </p:sp>
      <p:sp>
        <p:nvSpPr>
          <p:cNvPr id="80" name="TextBox 79"/>
          <p:cNvSpPr txBox="1"/>
          <p:nvPr/>
        </p:nvSpPr>
        <p:spPr>
          <a:xfrm>
            <a:off x="10110978" y="4965192"/>
            <a:ext cx="1291590" cy="182880"/>
          </a:xfrm>
          <a:prstGeom prst="rect">
            <a:avLst/>
          </a:prstGeom>
          <a:noFill/>
        </p:spPr>
        <p:txBody>
          <a:bodyPr wrap="square">
            <a:spAutoFit/>
          </a:bodyPr>
          <a:lstStyle/>
          <a:p>
            <a:pPr algn="ctr"/>
            <a:r>
              <a:rPr sz="650" b="1" i="0">
                <a:solidFill>
                  <a:srgbClr val="5D6D7E"/>
                </a:solidFill>
                <a:latin typeface="Calibri"/>
              </a:rPr>
              <a:t>ADOPTION</a:t>
            </a:r>
          </a:p>
        </p:txBody>
      </p:sp>
      <p:sp>
        <p:nvSpPr>
          <p:cNvPr id="81" name="Rounded Rectangle 80"/>
          <p:cNvSpPr/>
          <p:nvPr/>
        </p:nvSpPr>
        <p:spPr>
          <a:xfrm>
            <a:off x="10110978" y="5148072"/>
            <a:ext cx="1291590" cy="274320"/>
          </a:xfrm>
          <a:prstGeom prst="roundRect">
            <a:avLst>
              <a:gd name="adj" fmla="val 18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0110978" y="5166360"/>
            <a:ext cx="1291590" cy="237744"/>
          </a:xfrm>
          <a:prstGeom prst="rect">
            <a:avLst/>
          </a:prstGeom>
          <a:noFill/>
        </p:spPr>
        <p:txBody>
          <a:bodyPr wrap="square">
            <a:spAutoFit/>
          </a:bodyPr>
          <a:lstStyle/>
          <a:p>
            <a:pPr algn="ctr"/>
            <a:r>
              <a:rPr sz="800" b="1" i="0">
                <a:solidFill>
                  <a:srgbClr val="FFFFFF"/>
                </a:solidFill>
                <a:latin typeface="Calibri"/>
              </a:rPr>
              <a:t>LOW</a:t>
            </a:r>
          </a:p>
        </p:txBody>
      </p:sp>
      <p:sp>
        <p:nvSpPr>
          <p:cNvPr id="83" name="Rectangle 82"/>
          <p:cNvSpPr/>
          <p:nvPr/>
        </p:nvSpPr>
        <p:spPr>
          <a:xfrm>
            <a:off x="6071616" y="5513831"/>
            <a:ext cx="5404104" cy="1828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6099048" y="5559552"/>
            <a:ext cx="5349240" cy="320040"/>
          </a:xfrm>
          <a:prstGeom prst="rect">
            <a:avLst/>
          </a:prstGeom>
          <a:noFill/>
        </p:spPr>
        <p:txBody>
          <a:bodyPr wrap="square">
            <a:spAutoFit/>
          </a:bodyPr>
          <a:lstStyle/>
          <a:p>
            <a:pPr algn="l"/>
            <a:r>
              <a:rPr sz="800" b="0" i="0">
                <a:solidFill>
                  <a:srgbClr val="1E8B4C"/>
                </a:solidFill>
                <a:latin typeface="Calibri"/>
              </a:rPr>
              <a:t>✓ 30% faster onboarding. Targeted reskilling aligned to roadmap.</a:t>
            </a:r>
          </a:p>
        </p:txBody>
      </p:sp>
      <p:sp>
        <p:nvSpPr>
          <p:cNvPr id="85" name="Rounded Rectangle 84"/>
          <p:cNvSpPr/>
          <p:nvPr/>
        </p:nvSpPr>
        <p:spPr>
          <a:xfrm>
            <a:off x="6071616" y="5971031"/>
            <a:ext cx="1371600" cy="25603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6089904" y="6007607"/>
            <a:ext cx="1335024" cy="182880"/>
          </a:xfrm>
          <a:prstGeom prst="rect">
            <a:avLst/>
          </a:prstGeom>
          <a:noFill/>
        </p:spPr>
        <p:txBody>
          <a:bodyPr wrap="square">
            <a:spAutoFit/>
          </a:bodyPr>
          <a:lstStyle/>
          <a:p>
            <a:pPr algn="ctr"/>
            <a:r>
              <a:rPr sz="700" b="1" i="0">
                <a:solidFill>
                  <a:srgbClr val="FFFFFF"/>
                </a:solidFill>
                <a:latin typeface="Calibri"/>
              </a:rPr>
              <a:t>Phase 2 · 3-6M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1A2F5A"/>
          </a:solidFill>
          <a:ln w="12700">
            <a:solidFill>
              <a:srgbClr val="1A2F5A"/>
            </a:solidFill>
            <a:prstDash val="solid"/>
          </a:ln>
        </p:spPr>
        <p:txBody>
          <a:bodyPr/>
          <a:lstStyle/>
          <a:p>
            <a:endParaRPr lang="en-US"/>
          </a:p>
        </p:txBody>
      </p:sp>
      <p:sp>
        <p:nvSpPr>
          <p:cNvPr id="3" name="Text 1"/>
          <p:cNvSpPr/>
          <p:nvPr/>
        </p:nvSpPr>
        <p:spPr>
          <a:xfrm>
            <a:off x="457200" y="73152"/>
            <a:ext cx="8229600" cy="347472"/>
          </a:xfrm>
          <a:prstGeom prst="rect">
            <a:avLst/>
          </a:prstGeom>
          <a:noFill/>
          <a:ln/>
        </p:spPr>
        <p:txBody>
          <a:bodyPr wrap="square" lIns="0" tIns="0" rIns="0" bIns="0" rtlCol="0" anchor="ctr"/>
          <a:lstStyle/>
          <a:p>
            <a:pPr marL="0" indent="0">
              <a:buNone/>
            </a:pPr>
            <a:r>
              <a:rPr lang="en-US" sz="1000" b="1" kern="0" spc="200" dirty="0">
                <a:solidFill>
                  <a:srgbClr val="00D4FF"/>
                </a:solidFill>
              </a:rPr>
              <a:t>MULTI-AGENT INTERACTION MODEL</a:t>
            </a:r>
            <a:endParaRPr lang="en-US" sz="1000" dirty="0"/>
          </a:p>
        </p:txBody>
      </p:sp>
      <p:sp>
        <p:nvSpPr>
          <p:cNvPr id="4" name="Text 2"/>
          <p:cNvSpPr/>
          <p:nvPr/>
        </p:nvSpPr>
        <p:spPr>
          <a:xfrm>
            <a:off x="457200" y="402336"/>
            <a:ext cx="914400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Embabel Orchestration Architecture</a:t>
            </a:r>
            <a:endParaRPr lang="en-US" sz="1800" dirty="0"/>
          </a:p>
        </p:txBody>
      </p:sp>
      <p:sp>
        <p:nvSpPr>
          <p:cNvPr id="5" name="Shape 3"/>
          <p:cNvSpPr/>
          <p:nvPr/>
        </p:nvSpPr>
        <p:spPr>
          <a:xfrm>
            <a:off x="4023360" y="1005840"/>
            <a:ext cx="4114800" cy="914400"/>
          </a:xfrm>
          <a:prstGeom prst="roundRect">
            <a:avLst>
              <a:gd name="adj" fmla="val 10000"/>
            </a:avLst>
          </a:prstGeom>
          <a:solidFill>
            <a:srgbClr val="00D4FF"/>
          </a:solidFill>
          <a:ln w="12700">
            <a:solidFill>
              <a:srgbClr val="00D4FF"/>
            </a:solidFill>
            <a:prstDash val="solid"/>
          </a:ln>
          <a:effectLst>
            <a:outerShdw blurRad="101600" dist="38100" dir="2700000" algn="bl" rotWithShape="0">
              <a:srgbClr val="000000">
                <a:alpha val="12000"/>
              </a:srgbClr>
            </a:outerShdw>
          </a:effectLst>
        </p:spPr>
        <p:txBody>
          <a:bodyPr/>
          <a:lstStyle/>
          <a:p>
            <a:endParaRPr lang="en-US"/>
          </a:p>
        </p:txBody>
      </p:sp>
      <p:sp>
        <p:nvSpPr>
          <p:cNvPr id="6" name="Text 4"/>
          <p:cNvSpPr/>
          <p:nvPr/>
        </p:nvSpPr>
        <p:spPr>
          <a:xfrm>
            <a:off x="4023360" y="1005840"/>
            <a:ext cx="4114800" cy="457200"/>
          </a:xfrm>
          <a:prstGeom prst="rect">
            <a:avLst/>
          </a:prstGeom>
          <a:noFill/>
          <a:ln/>
        </p:spPr>
        <p:txBody>
          <a:bodyPr wrap="square" lIns="0" tIns="0" rIns="0" bIns="0" rtlCol="0" anchor="ctr"/>
          <a:lstStyle/>
          <a:p>
            <a:pPr marL="0" indent="0" algn="ctr">
              <a:buNone/>
            </a:pPr>
            <a:r>
              <a:rPr lang="en-US" sz="1400" b="1" dirty="0">
                <a:solidFill>
                  <a:srgbClr val="0D1B3E"/>
                </a:solidFill>
              </a:rPr>
              <a:t>⚡  EMBABEL ORCHESTRATOR</a:t>
            </a:r>
            <a:endParaRPr lang="en-US" sz="1400" dirty="0"/>
          </a:p>
        </p:txBody>
      </p:sp>
      <p:sp>
        <p:nvSpPr>
          <p:cNvPr id="7" name="Text 5"/>
          <p:cNvSpPr/>
          <p:nvPr/>
        </p:nvSpPr>
        <p:spPr>
          <a:xfrm>
            <a:off x="4023360" y="1417320"/>
            <a:ext cx="4114800" cy="411480"/>
          </a:xfrm>
          <a:prstGeom prst="rect">
            <a:avLst/>
          </a:prstGeom>
          <a:noFill/>
          <a:ln/>
        </p:spPr>
        <p:txBody>
          <a:bodyPr wrap="square" lIns="0" tIns="0" rIns="0" bIns="0" rtlCol="0" anchor="ctr"/>
          <a:lstStyle/>
          <a:p>
            <a:pPr marL="0" indent="0" algn="ctr">
              <a:buNone/>
            </a:pPr>
            <a:r>
              <a:rPr lang="en-US" sz="850" dirty="0">
                <a:solidFill>
                  <a:srgbClr val="0D1B3E"/>
                </a:solidFill>
              </a:rPr>
              <a:t>Spring AI · Goal-directed planning · Agent lifecycle management</a:t>
            </a:r>
            <a:endParaRPr lang="en-US" sz="850" dirty="0"/>
          </a:p>
        </p:txBody>
      </p:sp>
      <p:sp>
        <p:nvSpPr>
          <p:cNvPr id="8" name="Shape 6"/>
          <p:cNvSpPr/>
          <p:nvPr/>
        </p:nvSpPr>
        <p:spPr>
          <a:xfrm>
            <a:off x="1325880" y="1920240"/>
            <a:ext cx="0" cy="548640"/>
          </a:xfrm>
          <a:prstGeom prst="line">
            <a:avLst/>
          </a:prstGeom>
          <a:noFill/>
          <a:ln w="19050">
            <a:solidFill>
              <a:srgbClr val="00D4FF"/>
            </a:solidFill>
            <a:prstDash val="dash"/>
          </a:ln>
        </p:spPr>
        <p:txBody>
          <a:bodyPr/>
          <a:lstStyle/>
          <a:p>
            <a:endParaRPr lang="en-US"/>
          </a:p>
        </p:txBody>
      </p:sp>
      <p:sp>
        <p:nvSpPr>
          <p:cNvPr id="9" name="Shape 7"/>
          <p:cNvSpPr/>
          <p:nvPr/>
        </p:nvSpPr>
        <p:spPr>
          <a:xfrm>
            <a:off x="365760" y="2468880"/>
            <a:ext cx="1920240" cy="1005840"/>
          </a:xfrm>
          <a:prstGeom prst="roundRect">
            <a:avLst>
              <a:gd name="adj" fmla="val 9091"/>
            </a:avLst>
          </a:prstGeom>
          <a:solidFill>
            <a:srgbClr val="243752"/>
          </a:solidFill>
          <a:ln w="25400">
            <a:solidFill>
              <a:srgbClr val="8B5CF6"/>
            </a:solidFill>
            <a:prstDash val="solid"/>
          </a:ln>
          <a:effectLst>
            <a:outerShdw blurRad="101600" dist="38100" dir="2700000" algn="bl" rotWithShape="0">
              <a:srgbClr val="000000">
                <a:alpha val="12000"/>
              </a:srgbClr>
            </a:outerShdw>
          </a:effectLst>
        </p:spPr>
        <p:txBody>
          <a:bodyPr/>
          <a:lstStyle/>
          <a:p>
            <a:endParaRPr lang="en-US"/>
          </a:p>
        </p:txBody>
      </p:sp>
      <p:sp>
        <p:nvSpPr>
          <p:cNvPr id="10" name="Text 8"/>
          <p:cNvSpPr/>
          <p:nvPr/>
        </p:nvSpPr>
        <p:spPr>
          <a:xfrm>
            <a:off x="365760" y="2468880"/>
            <a:ext cx="1920240" cy="1005840"/>
          </a:xfrm>
          <a:prstGeom prst="rect">
            <a:avLst/>
          </a:prstGeom>
          <a:noFill/>
          <a:ln/>
        </p:spPr>
        <p:txBody>
          <a:bodyPr wrap="square" lIns="0" tIns="0" rIns="0" bIns="0" rtlCol="0" anchor="ctr"/>
          <a:lstStyle/>
          <a:p>
            <a:pPr marL="0" indent="0" algn="ctr">
              <a:buNone/>
            </a:pPr>
            <a:r>
              <a:rPr lang="en-US" sz="1100" b="1" dirty="0">
                <a:solidFill>
                  <a:srgbClr val="FFFFFF"/>
                </a:solidFill>
              </a:rPr>
              <a:t>Requirements</a:t>
            </a:r>
            <a:endParaRPr lang="en-US" sz="1100" dirty="0"/>
          </a:p>
          <a:p>
            <a:pPr marL="0" indent="0" algn="ctr">
              <a:buNone/>
            </a:pPr>
            <a:r>
              <a:rPr lang="en-US" sz="1100" b="1" dirty="0">
                <a:solidFill>
                  <a:srgbClr val="FFFFFF"/>
                </a:solidFill>
              </a:rPr>
              <a:t>Agent</a:t>
            </a:r>
            <a:endParaRPr lang="en-US" sz="1100" dirty="0"/>
          </a:p>
        </p:txBody>
      </p:sp>
      <p:sp>
        <p:nvSpPr>
          <p:cNvPr id="11" name="Shape 9"/>
          <p:cNvSpPr/>
          <p:nvPr/>
        </p:nvSpPr>
        <p:spPr>
          <a:xfrm>
            <a:off x="3703320" y="1920240"/>
            <a:ext cx="0" cy="548640"/>
          </a:xfrm>
          <a:prstGeom prst="line">
            <a:avLst/>
          </a:prstGeom>
          <a:noFill/>
          <a:ln w="19050">
            <a:solidFill>
              <a:srgbClr val="00D4FF"/>
            </a:solidFill>
            <a:prstDash val="dash"/>
          </a:ln>
        </p:spPr>
        <p:txBody>
          <a:bodyPr/>
          <a:lstStyle/>
          <a:p>
            <a:endParaRPr lang="en-US"/>
          </a:p>
        </p:txBody>
      </p:sp>
      <p:sp>
        <p:nvSpPr>
          <p:cNvPr id="12" name="Shape 10"/>
          <p:cNvSpPr/>
          <p:nvPr/>
        </p:nvSpPr>
        <p:spPr>
          <a:xfrm>
            <a:off x="2743200" y="2468880"/>
            <a:ext cx="1920240" cy="1005840"/>
          </a:xfrm>
          <a:prstGeom prst="roundRect">
            <a:avLst>
              <a:gd name="adj" fmla="val 9091"/>
            </a:avLst>
          </a:prstGeom>
          <a:solidFill>
            <a:srgbClr val="243752"/>
          </a:solidFill>
          <a:ln w="25400">
            <a:solidFill>
              <a:srgbClr val="10B981"/>
            </a:solidFill>
            <a:prstDash val="solid"/>
          </a:ln>
          <a:effectLst>
            <a:outerShdw blurRad="101600" dist="38100" dir="2700000" algn="bl" rotWithShape="0">
              <a:srgbClr val="000000">
                <a:alpha val="12000"/>
              </a:srgbClr>
            </a:outerShdw>
          </a:effectLst>
        </p:spPr>
        <p:txBody>
          <a:bodyPr/>
          <a:lstStyle/>
          <a:p>
            <a:endParaRPr lang="en-US"/>
          </a:p>
        </p:txBody>
      </p:sp>
      <p:sp>
        <p:nvSpPr>
          <p:cNvPr id="13" name="Text 11"/>
          <p:cNvSpPr/>
          <p:nvPr/>
        </p:nvSpPr>
        <p:spPr>
          <a:xfrm>
            <a:off x="2743200" y="2468880"/>
            <a:ext cx="1920240" cy="1005840"/>
          </a:xfrm>
          <a:prstGeom prst="rect">
            <a:avLst/>
          </a:prstGeom>
          <a:noFill/>
          <a:ln/>
        </p:spPr>
        <p:txBody>
          <a:bodyPr wrap="square" lIns="0" tIns="0" rIns="0" bIns="0" rtlCol="0" anchor="ctr"/>
          <a:lstStyle/>
          <a:p>
            <a:pPr marL="0" indent="0" algn="ctr">
              <a:buNone/>
            </a:pPr>
            <a:r>
              <a:rPr lang="en-US" sz="1100" b="1" dirty="0">
                <a:solidFill>
                  <a:srgbClr val="FFFFFF"/>
                </a:solidFill>
              </a:rPr>
              <a:t>Developer</a:t>
            </a:r>
            <a:endParaRPr lang="en-US" sz="1100" dirty="0"/>
          </a:p>
          <a:p>
            <a:pPr marL="0" indent="0" algn="ctr">
              <a:buNone/>
            </a:pPr>
            <a:r>
              <a:rPr lang="en-US" sz="1100" b="1" dirty="0">
                <a:solidFill>
                  <a:srgbClr val="FFFFFF"/>
                </a:solidFill>
              </a:rPr>
              <a:t>Agent</a:t>
            </a:r>
            <a:endParaRPr lang="en-US" sz="1100" dirty="0"/>
          </a:p>
        </p:txBody>
      </p:sp>
      <p:sp>
        <p:nvSpPr>
          <p:cNvPr id="14" name="Shape 12"/>
          <p:cNvSpPr/>
          <p:nvPr/>
        </p:nvSpPr>
        <p:spPr>
          <a:xfrm>
            <a:off x="6080760" y="1920240"/>
            <a:ext cx="0" cy="548640"/>
          </a:xfrm>
          <a:prstGeom prst="line">
            <a:avLst/>
          </a:prstGeom>
          <a:noFill/>
          <a:ln w="19050">
            <a:solidFill>
              <a:srgbClr val="00D4FF"/>
            </a:solidFill>
            <a:prstDash val="dash"/>
          </a:ln>
        </p:spPr>
        <p:txBody>
          <a:bodyPr/>
          <a:lstStyle/>
          <a:p>
            <a:endParaRPr lang="en-US"/>
          </a:p>
        </p:txBody>
      </p:sp>
      <p:sp>
        <p:nvSpPr>
          <p:cNvPr id="15" name="Shape 13"/>
          <p:cNvSpPr/>
          <p:nvPr/>
        </p:nvSpPr>
        <p:spPr>
          <a:xfrm>
            <a:off x="5120640" y="2468880"/>
            <a:ext cx="1920240" cy="1005840"/>
          </a:xfrm>
          <a:prstGeom prst="roundRect">
            <a:avLst>
              <a:gd name="adj" fmla="val 9091"/>
            </a:avLst>
          </a:prstGeom>
          <a:solidFill>
            <a:srgbClr val="243752"/>
          </a:solidFill>
          <a:ln w="25400">
            <a:solidFill>
              <a:srgbClr val="F59E0B"/>
            </a:solidFill>
            <a:prstDash val="solid"/>
          </a:ln>
          <a:effectLst>
            <a:outerShdw blurRad="101600" dist="38100" dir="2700000" algn="bl" rotWithShape="0">
              <a:srgbClr val="000000">
                <a:alpha val="12000"/>
              </a:srgbClr>
            </a:outerShdw>
          </a:effectLst>
        </p:spPr>
        <p:txBody>
          <a:bodyPr/>
          <a:lstStyle/>
          <a:p>
            <a:endParaRPr lang="en-US"/>
          </a:p>
        </p:txBody>
      </p:sp>
      <p:sp>
        <p:nvSpPr>
          <p:cNvPr id="16" name="Text 14"/>
          <p:cNvSpPr/>
          <p:nvPr/>
        </p:nvSpPr>
        <p:spPr>
          <a:xfrm>
            <a:off x="5120640" y="2468880"/>
            <a:ext cx="1920240" cy="1005840"/>
          </a:xfrm>
          <a:prstGeom prst="rect">
            <a:avLst/>
          </a:prstGeom>
          <a:noFill/>
          <a:ln/>
        </p:spPr>
        <p:txBody>
          <a:bodyPr wrap="square" lIns="0" tIns="0" rIns="0" bIns="0" rtlCol="0" anchor="ctr"/>
          <a:lstStyle/>
          <a:p>
            <a:pPr marL="0" indent="0" algn="ctr">
              <a:buNone/>
            </a:pPr>
            <a:r>
              <a:rPr lang="en-US" sz="1100" b="1" dirty="0">
                <a:solidFill>
                  <a:srgbClr val="FFFFFF"/>
                </a:solidFill>
              </a:rPr>
              <a:t>QA Agent</a:t>
            </a:r>
            <a:endParaRPr lang="en-US" sz="1100" dirty="0"/>
          </a:p>
        </p:txBody>
      </p:sp>
      <p:sp>
        <p:nvSpPr>
          <p:cNvPr id="17" name="Shape 15"/>
          <p:cNvSpPr/>
          <p:nvPr/>
        </p:nvSpPr>
        <p:spPr>
          <a:xfrm>
            <a:off x="8458200" y="1920240"/>
            <a:ext cx="0" cy="548640"/>
          </a:xfrm>
          <a:prstGeom prst="line">
            <a:avLst/>
          </a:prstGeom>
          <a:noFill/>
          <a:ln w="19050">
            <a:solidFill>
              <a:srgbClr val="00D4FF"/>
            </a:solidFill>
            <a:prstDash val="dash"/>
          </a:ln>
        </p:spPr>
        <p:txBody>
          <a:bodyPr/>
          <a:lstStyle/>
          <a:p>
            <a:endParaRPr lang="en-US"/>
          </a:p>
        </p:txBody>
      </p:sp>
      <p:sp>
        <p:nvSpPr>
          <p:cNvPr id="18" name="Shape 16"/>
          <p:cNvSpPr/>
          <p:nvPr/>
        </p:nvSpPr>
        <p:spPr>
          <a:xfrm>
            <a:off x="7498080" y="2468880"/>
            <a:ext cx="1920240" cy="1005840"/>
          </a:xfrm>
          <a:prstGeom prst="roundRect">
            <a:avLst>
              <a:gd name="adj" fmla="val 9091"/>
            </a:avLst>
          </a:prstGeom>
          <a:solidFill>
            <a:srgbClr val="243752"/>
          </a:solidFill>
          <a:ln w="25400">
            <a:solidFill>
              <a:srgbClr val="0099BB"/>
            </a:solidFill>
            <a:prstDash val="solid"/>
          </a:ln>
          <a:effectLst>
            <a:outerShdw blurRad="101600" dist="38100" dir="2700000" algn="bl" rotWithShape="0">
              <a:srgbClr val="000000">
                <a:alpha val="12000"/>
              </a:srgbClr>
            </a:outerShdw>
          </a:effectLst>
        </p:spPr>
        <p:txBody>
          <a:bodyPr/>
          <a:lstStyle/>
          <a:p>
            <a:endParaRPr lang="en-US"/>
          </a:p>
        </p:txBody>
      </p:sp>
      <p:sp>
        <p:nvSpPr>
          <p:cNvPr id="19" name="Text 17"/>
          <p:cNvSpPr/>
          <p:nvPr/>
        </p:nvSpPr>
        <p:spPr>
          <a:xfrm>
            <a:off x="7498080" y="2468880"/>
            <a:ext cx="1920240" cy="1005840"/>
          </a:xfrm>
          <a:prstGeom prst="rect">
            <a:avLst/>
          </a:prstGeom>
          <a:noFill/>
          <a:ln/>
        </p:spPr>
        <p:txBody>
          <a:bodyPr wrap="square" lIns="0" tIns="0" rIns="0" bIns="0" rtlCol="0" anchor="ctr"/>
          <a:lstStyle/>
          <a:p>
            <a:pPr marL="0" indent="0" algn="ctr">
              <a:buNone/>
            </a:pPr>
            <a:r>
              <a:rPr lang="en-US" sz="1100" b="1" dirty="0">
                <a:solidFill>
                  <a:srgbClr val="FFFFFF"/>
                </a:solidFill>
              </a:rPr>
              <a:t>Operations</a:t>
            </a:r>
            <a:endParaRPr lang="en-US" sz="1100" dirty="0"/>
          </a:p>
          <a:p>
            <a:pPr marL="0" indent="0" algn="ctr">
              <a:buNone/>
            </a:pPr>
            <a:r>
              <a:rPr lang="en-US" sz="1100" b="1" dirty="0">
                <a:solidFill>
                  <a:srgbClr val="FFFFFF"/>
                </a:solidFill>
              </a:rPr>
              <a:t>Agent</a:t>
            </a:r>
            <a:endParaRPr lang="en-US" sz="1100" dirty="0"/>
          </a:p>
        </p:txBody>
      </p:sp>
      <p:sp>
        <p:nvSpPr>
          <p:cNvPr id="20" name="Shape 18"/>
          <p:cNvSpPr/>
          <p:nvPr/>
        </p:nvSpPr>
        <p:spPr>
          <a:xfrm>
            <a:off x="10835640" y="1920240"/>
            <a:ext cx="0" cy="548640"/>
          </a:xfrm>
          <a:prstGeom prst="line">
            <a:avLst/>
          </a:prstGeom>
          <a:noFill/>
          <a:ln w="19050">
            <a:solidFill>
              <a:srgbClr val="00D4FF"/>
            </a:solidFill>
            <a:prstDash val="dash"/>
          </a:ln>
        </p:spPr>
        <p:txBody>
          <a:bodyPr/>
          <a:lstStyle/>
          <a:p>
            <a:endParaRPr lang="en-US"/>
          </a:p>
        </p:txBody>
      </p:sp>
      <p:sp>
        <p:nvSpPr>
          <p:cNvPr id="21" name="Shape 19"/>
          <p:cNvSpPr/>
          <p:nvPr/>
        </p:nvSpPr>
        <p:spPr>
          <a:xfrm>
            <a:off x="9875520" y="2468880"/>
            <a:ext cx="1920240" cy="1005840"/>
          </a:xfrm>
          <a:prstGeom prst="roundRect">
            <a:avLst>
              <a:gd name="adj" fmla="val 9091"/>
            </a:avLst>
          </a:prstGeom>
          <a:solidFill>
            <a:srgbClr val="243752"/>
          </a:solidFill>
          <a:ln w="25400">
            <a:solidFill>
              <a:srgbClr val="EF4444"/>
            </a:solidFill>
            <a:prstDash val="solid"/>
          </a:ln>
          <a:effectLst>
            <a:outerShdw blurRad="101600" dist="38100" dir="2700000" algn="bl" rotWithShape="0">
              <a:srgbClr val="000000">
                <a:alpha val="12000"/>
              </a:srgbClr>
            </a:outerShdw>
          </a:effectLst>
        </p:spPr>
        <p:txBody>
          <a:bodyPr/>
          <a:lstStyle/>
          <a:p>
            <a:endParaRPr lang="en-US"/>
          </a:p>
        </p:txBody>
      </p:sp>
      <p:sp>
        <p:nvSpPr>
          <p:cNvPr id="22" name="Text 20"/>
          <p:cNvSpPr/>
          <p:nvPr/>
        </p:nvSpPr>
        <p:spPr>
          <a:xfrm>
            <a:off x="9875520" y="2468880"/>
            <a:ext cx="1920240" cy="1005840"/>
          </a:xfrm>
          <a:prstGeom prst="rect">
            <a:avLst/>
          </a:prstGeom>
          <a:noFill/>
          <a:ln/>
        </p:spPr>
        <p:txBody>
          <a:bodyPr wrap="square" lIns="0" tIns="0" rIns="0" bIns="0" rtlCol="0" anchor="ctr"/>
          <a:lstStyle/>
          <a:p>
            <a:pPr marL="0" indent="0" algn="ctr">
              <a:buNone/>
            </a:pPr>
            <a:r>
              <a:rPr lang="en-US" sz="1100" b="1" dirty="0">
                <a:solidFill>
                  <a:srgbClr val="FFFFFF"/>
                </a:solidFill>
              </a:rPr>
              <a:t>Governance</a:t>
            </a:r>
            <a:endParaRPr lang="en-US" sz="1100" dirty="0"/>
          </a:p>
          <a:p>
            <a:pPr marL="0" indent="0" algn="ctr">
              <a:buNone/>
            </a:pPr>
            <a:r>
              <a:rPr lang="en-US" sz="1100" b="1" dirty="0">
                <a:solidFill>
                  <a:srgbClr val="FFFFFF"/>
                </a:solidFill>
              </a:rPr>
              <a:t>Agent</a:t>
            </a:r>
            <a:endParaRPr lang="en-US" sz="1100" dirty="0"/>
          </a:p>
        </p:txBody>
      </p:sp>
      <p:sp>
        <p:nvSpPr>
          <p:cNvPr id="23" name="Shape 21"/>
          <p:cNvSpPr/>
          <p:nvPr/>
        </p:nvSpPr>
        <p:spPr>
          <a:xfrm>
            <a:off x="274320" y="3840480"/>
            <a:ext cx="11612880" cy="594360"/>
          </a:xfrm>
          <a:prstGeom prst="roundRect">
            <a:avLst>
              <a:gd name="adj" fmla="val 12308"/>
            </a:avLst>
          </a:prstGeom>
          <a:solidFill>
            <a:srgbClr val="1A2F5A"/>
          </a:solidFill>
          <a:ln w="12700">
            <a:solidFill>
              <a:srgbClr val="8B5CF6"/>
            </a:solidFill>
            <a:prstDash val="solid"/>
          </a:ln>
        </p:spPr>
        <p:txBody>
          <a:bodyPr/>
          <a:lstStyle/>
          <a:p>
            <a:endParaRPr lang="en-US"/>
          </a:p>
        </p:txBody>
      </p:sp>
      <p:sp>
        <p:nvSpPr>
          <p:cNvPr id="24" name="Text 22"/>
          <p:cNvSpPr/>
          <p:nvPr/>
        </p:nvSpPr>
        <p:spPr>
          <a:xfrm>
            <a:off x="365760" y="3840480"/>
            <a:ext cx="11430000" cy="594360"/>
          </a:xfrm>
          <a:prstGeom prst="rect">
            <a:avLst/>
          </a:prstGeom>
          <a:noFill/>
          <a:ln/>
        </p:spPr>
        <p:txBody>
          <a:bodyPr wrap="square" lIns="0" tIns="0" rIns="0" bIns="0" rtlCol="0" anchor="ctr"/>
          <a:lstStyle/>
          <a:p>
            <a:pPr marL="0" indent="0">
              <a:buNone/>
            </a:pPr>
            <a:r>
              <a:rPr lang="en-US" sz="1100" b="1" dirty="0">
                <a:solidFill>
                  <a:srgbClr val="8B5CF6"/>
                </a:solidFill>
              </a:rPr>
              <a:t>MCP INTEGRATION LAYER  (Model Context Protocol)</a:t>
            </a:r>
            <a:endParaRPr lang="en-US" sz="1100" dirty="0"/>
          </a:p>
        </p:txBody>
      </p:sp>
      <p:sp>
        <p:nvSpPr>
          <p:cNvPr id="25" name="Shape 23"/>
          <p:cNvSpPr/>
          <p:nvPr/>
        </p:nvSpPr>
        <p:spPr>
          <a:xfrm>
            <a:off x="365760" y="4663440"/>
            <a:ext cx="1783080" cy="502920"/>
          </a:xfrm>
          <a:prstGeom prst="roundRect">
            <a:avLst>
              <a:gd name="adj" fmla="val 12727"/>
            </a:avLst>
          </a:prstGeom>
          <a:solidFill>
            <a:srgbClr val="243752"/>
          </a:solidFill>
          <a:ln w="12700">
            <a:solidFill>
              <a:srgbClr val="8B5CF6"/>
            </a:solidFill>
            <a:prstDash val="solid"/>
          </a:ln>
        </p:spPr>
        <p:txBody>
          <a:bodyPr/>
          <a:lstStyle/>
          <a:p>
            <a:endParaRPr lang="en-US"/>
          </a:p>
        </p:txBody>
      </p:sp>
      <p:sp>
        <p:nvSpPr>
          <p:cNvPr id="26" name="Text 24"/>
          <p:cNvSpPr/>
          <p:nvPr/>
        </p:nvSpPr>
        <p:spPr>
          <a:xfrm>
            <a:off x="365760" y="4663440"/>
            <a:ext cx="1783080" cy="502920"/>
          </a:xfrm>
          <a:prstGeom prst="rect">
            <a:avLst/>
          </a:prstGeom>
          <a:noFill/>
          <a:ln/>
        </p:spPr>
        <p:txBody>
          <a:bodyPr wrap="square" lIns="0" tIns="0" rIns="0" bIns="0" rtlCol="0" anchor="ctr"/>
          <a:lstStyle/>
          <a:p>
            <a:pPr marL="0" indent="0" algn="ctr">
              <a:buNone/>
            </a:pPr>
            <a:r>
              <a:rPr lang="en-US" sz="900" dirty="0">
                <a:solidFill>
                  <a:srgbClr val="CBD5E1"/>
                </a:solidFill>
              </a:rPr>
              <a:t>Jira MCP</a:t>
            </a:r>
            <a:endParaRPr lang="en-US" sz="900" dirty="0"/>
          </a:p>
        </p:txBody>
      </p:sp>
      <p:sp>
        <p:nvSpPr>
          <p:cNvPr id="27" name="Shape 25"/>
          <p:cNvSpPr/>
          <p:nvPr/>
        </p:nvSpPr>
        <p:spPr>
          <a:xfrm>
            <a:off x="2286000" y="4663440"/>
            <a:ext cx="1783080" cy="502920"/>
          </a:xfrm>
          <a:prstGeom prst="roundRect">
            <a:avLst>
              <a:gd name="adj" fmla="val 12727"/>
            </a:avLst>
          </a:prstGeom>
          <a:solidFill>
            <a:srgbClr val="243752"/>
          </a:solidFill>
          <a:ln w="12700">
            <a:solidFill>
              <a:srgbClr val="8B5CF6"/>
            </a:solidFill>
            <a:prstDash val="solid"/>
          </a:ln>
        </p:spPr>
        <p:txBody>
          <a:bodyPr/>
          <a:lstStyle/>
          <a:p>
            <a:endParaRPr lang="en-US"/>
          </a:p>
        </p:txBody>
      </p:sp>
      <p:sp>
        <p:nvSpPr>
          <p:cNvPr id="28" name="Text 26"/>
          <p:cNvSpPr/>
          <p:nvPr/>
        </p:nvSpPr>
        <p:spPr>
          <a:xfrm>
            <a:off x="2286000" y="4663440"/>
            <a:ext cx="1783080" cy="502920"/>
          </a:xfrm>
          <a:prstGeom prst="rect">
            <a:avLst/>
          </a:prstGeom>
          <a:noFill/>
          <a:ln/>
        </p:spPr>
        <p:txBody>
          <a:bodyPr wrap="square" lIns="0" tIns="0" rIns="0" bIns="0" rtlCol="0" anchor="ctr"/>
          <a:lstStyle/>
          <a:p>
            <a:pPr marL="0" indent="0" algn="ctr">
              <a:buNone/>
            </a:pPr>
            <a:r>
              <a:rPr lang="en-US" sz="900" dirty="0">
                <a:solidFill>
                  <a:srgbClr val="CBD5E1"/>
                </a:solidFill>
              </a:rPr>
              <a:t>Confluence MCP</a:t>
            </a:r>
            <a:endParaRPr lang="en-US" sz="900" dirty="0"/>
          </a:p>
        </p:txBody>
      </p:sp>
      <p:sp>
        <p:nvSpPr>
          <p:cNvPr id="29" name="Shape 27"/>
          <p:cNvSpPr/>
          <p:nvPr/>
        </p:nvSpPr>
        <p:spPr>
          <a:xfrm>
            <a:off x="4206240" y="4663440"/>
            <a:ext cx="1783080" cy="502920"/>
          </a:xfrm>
          <a:prstGeom prst="roundRect">
            <a:avLst>
              <a:gd name="adj" fmla="val 12727"/>
            </a:avLst>
          </a:prstGeom>
          <a:solidFill>
            <a:srgbClr val="243752"/>
          </a:solidFill>
          <a:ln w="12700">
            <a:solidFill>
              <a:srgbClr val="8B5CF6"/>
            </a:solidFill>
            <a:prstDash val="solid"/>
          </a:ln>
        </p:spPr>
        <p:txBody>
          <a:bodyPr/>
          <a:lstStyle/>
          <a:p>
            <a:endParaRPr lang="en-US"/>
          </a:p>
        </p:txBody>
      </p:sp>
      <p:sp>
        <p:nvSpPr>
          <p:cNvPr id="30" name="Text 28"/>
          <p:cNvSpPr/>
          <p:nvPr/>
        </p:nvSpPr>
        <p:spPr>
          <a:xfrm>
            <a:off x="4206240" y="4663440"/>
            <a:ext cx="1783080" cy="502920"/>
          </a:xfrm>
          <a:prstGeom prst="rect">
            <a:avLst/>
          </a:prstGeom>
          <a:noFill/>
          <a:ln/>
        </p:spPr>
        <p:txBody>
          <a:bodyPr wrap="square" lIns="0" tIns="0" rIns="0" bIns="0" rtlCol="0" anchor="ctr"/>
          <a:lstStyle/>
          <a:p>
            <a:pPr marL="0" indent="0" algn="ctr">
              <a:buNone/>
            </a:pPr>
            <a:r>
              <a:rPr lang="en-US" sz="900" dirty="0">
                <a:solidFill>
                  <a:srgbClr val="CBD5E1"/>
                </a:solidFill>
              </a:rPr>
              <a:t>GitHub MCP</a:t>
            </a:r>
            <a:endParaRPr lang="en-US" sz="900" dirty="0"/>
          </a:p>
        </p:txBody>
      </p:sp>
      <p:sp>
        <p:nvSpPr>
          <p:cNvPr id="31" name="Shape 29"/>
          <p:cNvSpPr/>
          <p:nvPr/>
        </p:nvSpPr>
        <p:spPr>
          <a:xfrm>
            <a:off x="6126480" y="4663440"/>
            <a:ext cx="1783080" cy="502920"/>
          </a:xfrm>
          <a:prstGeom prst="roundRect">
            <a:avLst>
              <a:gd name="adj" fmla="val 12727"/>
            </a:avLst>
          </a:prstGeom>
          <a:solidFill>
            <a:srgbClr val="243752"/>
          </a:solidFill>
          <a:ln w="12700">
            <a:solidFill>
              <a:srgbClr val="8B5CF6"/>
            </a:solidFill>
            <a:prstDash val="solid"/>
          </a:ln>
        </p:spPr>
        <p:txBody>
          <a:bodyPr/>
          <a:lstStyle/>
          <a:p>
            <a:endParaRPr lang="en-US"/>
          </a:p>
        </p:txBody>
      </p:sp>
      <p:sp>
        <p:nvSpPr>
          <p:cNvPr id="32" name="Text 30"/>
          <p:cNvSpPr/>
          <p:nvPr/>
        </p:nvSpPr>
        <p:spPr>
          <a:xfrm>
            <a:off x="6126480" y="4663440"/>
            <a:ext cx="1783080" cy="502920"/>
          </a:xfrm>
          <a:prstGeom prst="rect">
            <a:avLst/>
          </a:prstGeom>
          <a:noFill/>
          <a:ln/>
        </p:spPr>
        <p:txBody>
          <a:bodyPr wrap="square" lIns="0" tIns="0" rIns="0" bIns="0" rtlCol="0" anchor="ctr"/>
          <a:lstStyle/>
          <a:p>
            <a:pPr marL="0" indent="0" algn="ctr">
              <a:buNone/>
            </a:pPr>
            <a:r>
              <a:rPr lang="en-US" sz="900" dirty="0">
                <a:solidFill>
                  <a:srgbClr val="CBD5E1"/>
                </a:solidFill>
              </a:rPr>
              <a:t>ServiceNow MCP</a:t>
            </a:r>
            <a:endParaRPr lang="en-US" sz="900" dirty="0"/>
          </a:p>
        </p:txBody>
      </p:sp>
      <p:sp>
        <p:nvSpPr>
          <p:cNvPr id="33" name="Shape 31"/>
          <p:cNvSpPr/>
          <p:nvPr/>
        </p:nvSpPr>
        <p:spPr>
          <a:xfrm>
            <a:off x="8046720" y="4663440"/>
            <a:ext cx="1783080" cy="502920"/>
          </a:xfrm>
          <a:prstGeom prst="roundRect">
            <a:avLst>
              <a:gd name="adj" fmla="val 12727"/>
            </a:avLst>
          </a:prstGeom>
          <a:solidFill>
            <a:srgbClr val="243752"/>
          </a:solidFill>
          <a:ln w="12700">
            <a:solidFill>
              <a:srgbClr val="8B5CF6"/>
            </a:solidFill>
            <a:prstDash val="solid"/>
          </a:ln>
        </p:spPr>
        <p:txBody>
          <a:bodyPr/>
          <a:lstStyle/>
          <a:p>
            <a:endParaRPr lang="en-US"/>
          </a:p>
        </p:txBody>
      </p:sp>
      <p:sp>
        <p:nvSpPr>
          <p:cNvPr id="34" name="Text 32"/>
          <p:cNvSpPr/>
          <p:nvPr/>
        </p:nvSpPr>
        <p:spPr>
          <a:xfrm>
            <a:off x="8046720" y="4663440"/>
            <a:ext cx="1783080" cy="502920"/>
          </a:xfrm>
          <a:prstGeom prst="rect">
            <a:avLst/>
          </a:prstGeom>
          <a:noFill/>
          <a:ln/>
        </p:spPr>
        <p:txBody>
          <a:bodyPr wrap="square" lIns="0" tIns="0" rIns="0" bIns="0" rtlCol="0" anchor="ctr"/>
          <a:lstStyle/>
          <a:p>
            <a:pPr marL="0" indent="0" algn="ctr">
              <a:buNone/>
            </a:pPr>
            <a:r>
              <a:rPr lang="en-US" sz="900" dirty="0">
                <a:solidFill>
                  <a:srgbClr val="CBD5E1"/>
                </a:solidFill>
              </a:rPr>
              <a:t>Datadog MCP</a:t>
            </a:r>
            <a:endParaRPr lang="en-US" sz="900" dirty="0"/>
          </a:p>
        </p:txBody>
      </p:sp>
      <p:sp>
        <p:nvSpPr>
          <p:cNvPr id="35" name="Shape 33"/>
          <p:cNvSpPr/>
          <p:nvPr/>
        </p:nvSpPr>
        <p:spPr>
          <a:xfrm>
            <a:off x="9966960" y="4663440"/>
            <a:ext cx="1783080" cy="502920"/>
          </a:xfrm>
          <a:prstGeom prst="roundRect">
            <a:avLst>
              <a:gd name="adj" fmla="val 12727"/>
            </a:avLst>
          </a:prstGeom>
          <a:solidFill>
            <a:srgbClr val="243752"/>
          </a:solidFill>
          <a:ln w="12700">
            <a:solidFill>
              <a:srgbClr val="8B5CF6"/>
            </a:solidFill>
            <a:prstDash val="solid"/>
          </a:ln>
        </p:spPr>
        <p:txBody>
          <a:bodyPr/>
          <a:lstStyle/>
          <a:p>
            <a:endParaRPr lang="en-US"/>
          </a:p>
        </p:txBody>
      </p:sp>
      <p:sp>
        <p:nvSpPr>
          <p:cNvPr id="36" name="Text 34"/>
          <p:cNvSpPr/>
          <p:nvPr/>
        </p:nvSpPr>
        <p:spPr>
          <a:xfrm>
            <a:off x="9966960" y="4663440"/>
            <a:ext cx="1783080" cy="502920"/>
          </a:xfrm>
          <a:prstGeom prst="rect">
            <a:avLst/>
          </a:prstGeom>
          <a:noFill/>
          <a:ln/>
        </p:spPr>
        <p:txBody>
          <a:bodyPr wrap="square" lIns="0" tIns="0" rIns="0" bIns="0" rtlCol="0" anchor="ctr"/>
          <a:lstStyle/>
          <a:p>
            <a:pPr marL="0" indent="0" algn="ctr">
              <a:buNone/>
            </a:pPr>
            <a:r>
              <a:rPr lang="en-US" sz="900" dirty="0">
                <a:solidFill>
                  <a:srgbClr val="CBD5E1"/>
                </a:solidFill>
              </a:rPr>
              <a:t>Vault MCP</a:t>
            </a:r>
            <a:endParaRPr lang="en-US" sz="900" dirty="0"/>
          </a:p>
        </p:txBody>
      </p:sp>
      <p:sp>
        <p:nvSpPr>
          <p:cNvPr id="37" name="Shape 35"/>
          <p:cNvSpPr/>
          <p:nvPr/>
        </p:nvSpPr>
        <p:spPr>
          <a:xfrm>
            <a:off x="274320" y="5394960"/>
            <a:ext cx="11612880" cy="548640"/>
          </a:xfrm>
          <a:prstGeom prst="roundRect">
            <a:avLst>
              <a:gd name="adj" fmla="val 13333"/>
            </a:avLst>
          </a:prstGeom>
          <a:solidFill>
            <a:srgbClr val="0A0F1E"/>
          </a:solidFill>
          <a:ln w="12700">
            <a:solidFill>
              <a:srgbClr val="0099BB"/>
            </a:solidFill>
            <a:prstDash val="solid"/>
          </a:ln>
        </p:spPr>
        <p:txBody>
          <a:bodyPr/>
          <a:lstStyle/>
          <a:p>
            <a:endParaRPr lang="en-US"/>
          </a:p>
        </p:txBody>
      </p:sp>
      <p:sp>
        <p:nvSpPr>
          <p:cNvPr id="38" name="Text 36"/>
          <p:cNvSpPr/>
          <p:nvPr/>
        </p:nvSpPr>
        <p:spPr>
          <a:xfrm>
            <a:off x="365760" y="5394960"/>
            <a:ext cx="11430000" cy="548640"/>
          </a:xfrm>
          <a:prstGeom prst="rect">
            <a:avLst/>
          </a:prstGeom>
          <a:noFill/>
          <a:ln/>
        </p:spPr>
        <p:txBody>
          <a:bodyPr wrap="square" lIns="0" tIns="0" rIns="0" bIns="0" rtlCol="0" anchor="ctr"/>
          <a:lstStyle/>
          <a:p>
            <a:pPr marL="0" indent="0">
              <a:buNone/>
            </a:pPr>
            <a:r>
              <a:rPr lang="en-US" sz="1000" dirty="0">
                <a:solidFill>
                  <a:srgbClr val="0099BB"/>
                </a:solidFill>
              </a:rPr>
              <a:t>ENTERPRISE SYSTEMS  ·  Vector DB  ·  LLM Gateway  ·  Enterprise IAM  ·  Audit Log  ·  CMDB</a:t>
            </a:r>
            <a:endParaRPr lang="en-US" sz="1000" dirty="0"/>
          </a:p>
        </p:txBody>
      </p:sp>
      <p:sp>
        <p:nvSpPr>
          <p:cNvPr id="39" name="Shape 37"/>
          <p:cNvSpPr/>
          <p:nvPr/>
        </p:nvSpPr>
        <p:spPr>
          <a:xfrm>
            <a:off x="1325880" y="3474720"/>
            <a:ext cx="0" cy="365760"/>
          </a:xfrm>
          <a:prstGeom prst="line">
            <a:avLst/>
          </a:prstGeom>
          <a:noFill/>
          <a:ln w="12700">
            <a:solidFill>
              <a:srgbClr val="64748B"/>
            </a:solidFill>
            <a:prstDash val="dot"/>
          </a:ln>
        </p:spPr>
        <p:txBody>
          <a:bodyPr/>
          <a:lstStyle/>
          <a:p>
            <a:endParaRPr lang="en-US"/>
          </a:p>
        </p:txBody>
      </p:sp>
      <p:sp>
        <p:nvSpPr>
          <p:cNvPr id="40" name="Shape 38"/>
          <p:cNvSpPr/>
          <p:nvPr/>
        </p:nvSpPr>
        <p:spPr>
          <a:xfrm>
            <a:off x="3703320" y="3474720"/>
            <a:ext cx="0" cy="365760"/>
          </a:xfrm>
          <a:prstGeom prst="line">
            <a:avLst/>
          </a:prstGeom>
          <a:noFill/>
          <a:ln w="12700">
            <a:solidFill>
              <a:srgbClr val="64748B"/>
            </a:solidFill>
            <a:prstDash val="dot"/>
          </a:ln>
        </p:spPr>
        <p:txBody>
          <a:bodyPr/>
          <a:lstStyle/>
          <a:p>
            <a:endParaRPr lang="en-US"/>
          </a:p>
        </p:txBody>
      </p:sp>
      <p:sp>
        <p:nvSpPr>
          <p:cNvPr id="41" name="Shape 39"/>
          <p:cNvSpPr/>
          <p:nvPr/>
        </p:nvSpPr>
        <p:spPr>
          <a:xfrm>
            <a:off x="6080760" y="3474720"/>
            <a:ext cx="0" cy="365760"/>
          </a:xfrm>
          <a:prstGeom prst="line">
            <a:avLst/>
          </a:prstGeom>
          <a:noFill/>
          <a:ln w="12700">
            <a:solidFill>
              <a:srgbClr val="64748B"/>
            </a:solidFill>
            <a:prstDash val="dot"/>
          </a:ln>
        </p:spPr>
        <p:txBody>
          <a:bodyPr/>
          <a:lstStyle/>
          <a:p>
            <a:endParaRPr lang="en-US"/>
          </a:p>
        </p:txBody>
      </p:sp>
      <p:sp>
        <p:nvSpPr>
          <p:cNvPr id="42" name="Shape 40"/>
          <p:cNvSpPr/>
          <p:nvPr/>
        </p:nvSpPr>
        <p:spPr>
          <a:xfrm>
            <a:off x="8458200" y="3474720"/>
            <a:ext cx="0" cy="365760"/>
          </a:xfrm>
          <a:prstGeom prst="line">
            <a:avLst/>
          </a:prstGeom>
          <a:noFill/>
          <a:ln w="12700">
            <a:solidFill>
              <a:srgbClr val="64748B"/>
            </a:solidFill>
            <a:prstDash val="dot"/>
          </a:ln>
        </p:spPr>
        <p:txBody>
          <a:bodyPr/>
          <a:lstStyle/>
          <a:p>
            <a:endParaRPr lang="en-US"/>
          </a:p>
        </p:txBody>
      </p:sp>
      <p:sp>
        <p:nvSpPr>
          <p:cNvPr id="43" name="Shape 41"/>
          <p:cNvSpPr/>
          <p:nvPr/>
        </p:nvSpPr>
        <p:spPr>
          <a:xfrm>
            <a:off x="10835640" y="3474720"/>
            <a:ext cx="0" cy="365760"/>
          </a:xfrm>
          <a:prstGeom prst="line">
            <a:avLst/>
          </a:prstGeom>
          <a:noFill/>
          <a:ln w="12700">
            <a:solidFill>
              <a:srgbClr val="64748B"/>
            </a:solidFill>
            <a:prstDash val="dot"/>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30352"/>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0352"/>
            <a:ext cx="12191695" cy="27432"/>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36576"/>
            <a:ext cx="9144000" cy="310896"/>
          </a:xfrm>
          <a:prstGeom prst="rect">
            <a:avLst/>
          </a:prstGeom>
          <a:noFill/>
        </p:spPr>
        <p:txBody>
          <a:bodyPr wrap="square">
            <a:spAutoFit/>
          </a:bodyPr>
          <a:lstStyle/>
          <a:p>
            <a:pPr algn="l"/>
            <a:r>
              <a:rPr sz="1700" b="1" i="0">
                <a:solidFill>
                  <a:srgbClr val="FFFFFF"/>
                </a:solidFill>
                <a:latin typeface="Cambria"/>
              </a:rPr>
              <a:t>ENTERPRISE AGENTIC AI REFERENCE ARCHITECTURE</a:t>
            </a:r>
          </a:p>
        </p:txBody>
      </p:sp>
      <p:sp>
        <p:nvSpPr>
          <p:cNvPr id="6" name="TextBox 5"/>
          <p:cNvSpPr txBox="1"/>
          <p:nvPr/>
        </p:nvSpPr>
        <p:spPr>
          <a:xfrm>
            <a:off x="182880" y="347472"/>
            <a:ext cx="9144000" cy="182880"/>
          </a:xfrm>
          <a:prstGeom prst="rect">
            <a:avLst/>
          </a:prstGeom>
          <a:noFill/>
        </p:spPr>
        <p:txBody>
          <a:bodyPr wrap="square">
            <a:spAutoFit/>
          </a:bodyPr>
          <a:lstStyle/>
          <a:p>
            <a:pPr algn="l"/>
            <a:r>
              <a:rPr sz="800" b="0" i="0">
                <a:solidFill>
                  <a:srgbClr val="A0C8FF"/>
                </a:solidFill>
                <a:latin typeface="Calibri"/>
              </a:rPr>
              <a:t>End-to-End Blueprint — Orchestration · Intelligence · RAG/Memory · Tool Execution · Governance</a:t>
            </a:r>
          </a:p>
        </p:txBody>
      </p:sp>
      <p:sp>
        <p:nvSpPr>
          <p:cNvPr id="7" name="Rounded Rectangle 6"/>
          <p:cNvSpPr/>
          <p:nvPr/>
        </p:nvSpPr>
        <p:spPr>
          <a:xfrm>
            <a:off x="36576" y="594360"/>
            <a:ext cx="1353312" cy="6053328"/>
          </a:xfrm>
          <a:prstGeom prst="roundRect">
            <a:avLst>
              <a:gd name="adj" fmla="val 6000"/>
            </a:avLst>
          </a:prstGeom>
          <a:solidFill>
            <a:srgbClr val="F4F6F9"/>
          </a:solidFill>
          <a:ln w="635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 y="649224"/>
            <a:ext cx="1353312" cy="182880"/>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 y="676656"/>
            <a:ext cx="1261872" cy="155448"/>
          </a:xfrm>
          <a:prstGeom prst="rect">
            <a:avLst/>
          </a:prstGeom>
          <a:noFill/>
        </p:spPr>
        <p:txBody>
          <a:bodyPr wrap="square">
            <a:spAutoFit/>
          </a:bodyPr>
          <a:lstStyle/>
          <a:p>
            <a:pPr algn="l"/>
            <a:r>
              <a:rPr sz="650" b="1" i="0">
                <a:solidFill>
                  <a:srgbClr val="FFFFFF"/>
                </a:solidFill>
                <a:latin typeface="Calibri"/>
              </a:rPr>
              <a:t>💬  CONVERSATION INTERFACE</a:t>
            </a:r>
          </a:p>
        </p:txBody>
      </p:sp>
      <p:sp>
        <p:nvSpPr>
          <p:cNvPr id="10" name="Rounded Rectangle 9"/>
          <p:cNvSpPr/>
          <p:nvPr/>
        </p:nvSpPr>
        <p:spPr>
          <a:xfrm>
            <a:off x="91440" y="850392"/>
            <a:ext cx="1243584" cy="210312"/>
          </a:xfrm>
          <a:prstGeom prst="roundRect">
            <a:avLst>
              <a:gd name="adj" fmla="val 5000"/>
            </a:avLst>
          </a:prstGeom>
          <a:solidFill>
            <a:srgbClr val="FFFFFF"/>
          </a:solidFill>
          <a:ln w="508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 y="877824"/>
            <a:ext cx="182880" cy="164592"/>
          </a:xfrm>
          <a:prstGeom prst="rect">
            <a:avLst/>
          </a:prstGeom>
          <a:noFill/>
        </p:spPr>
        <p:txBody>
          <a:bodyPr wrap="square">
            <a:spAutoFit/>
          </a:bodyPr>
          <a:lstStyle/>
          <a:p>
            <a:pPr algn="l"/>
            <a:r>
              <a:rPr sz="900" b="0" i="0">
                <a:solidFill>
                  <a:srgbClr val="0D1B3E"/>
                </a:solidFill>
                <a:latin typeface="Calibri"/>
              </a:rPr>
              <a:t>🎤</a:t>
            </a:r>
          </a:p>
        </p:txBody>
      </p:sp>
      <p:sp>
        <p:nvSpPr>
          <p:cNvPr id="12" name="TextBox 11"/>
          <p:cNvSpPr txBox="1"/>
          <p:nvPr/>
        </p:nvSpPr>
        <p:spPr>
          <a:xfrm>
            <a:off x="310896" y="896112"/>
            <a:ext cx="1005840" cy="146304"/>
          </a:xfrm>
          <a:prstGeom prst="rect">
            <a:avLst/>
          </a:prstGeom>
          <a:noFill/>
        </p:spPr>
        <p:txBody>
          <a:bodyPr wrap="square">
            <a:spAutoFit/>
          </a:bodyPr>
          <a:lstStyle/>
          <a:p>
            <a:pPr algn="l"/>
            <a:r>
              <a:rPr sz="650" b="1" i="0">
                <a:solidFill>
                  <a:srgbClr val="0D1B3E"/>
                </a:solidFill>
                <a:latin typeface="Calibri"/>
              </a:rPr>
              <a:t>Voice / IVR</a:t>
            </a:r>
          </a:p>
        </p:txBody>
      </p:sp>
      <p:sp>
        <p:nvSpPr>
          <p:cNvPr id="13" name="Rounded Rectangle 12"/>
          <p:cNvSpPr/>
          <p:nvPr/>
        </p:nvSpPr>
        <p:spPr>
          <a:xfrm>
            <a:off x="91440" y="1088136"/>
            <a:ext cx="1243584" cy="210312"/>
          </a:xfrm>
          <a:prstGeom prst="roundRect">
            <a:avLst>
              <a:gd name="adj" fmla="val 5000"/>
            </a:avLst>
          </a:prstGeom>
          <a:solidFill>
            <a:srgbClr val="FFFFFF"/>
          </a:solidFill>
          <a:ln w="508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 y="1115568"/>
            <a:ext cx="182880" cy="164592"/>
          </a:xfrm>
          <a:prstGeom prst="rect">
            <a:avLst/>
          </a:prstGeom>
          <a:noFill/>
        </p:spPr>
        <p:txBody>
          <a:bodyPr wrap="square">
            <a:spAutoFit/>
          </a:bodyPr>
          <a:lstStyle/>
          <a:p>
            <a:pPr algn="l"/>
            <a:r>
              <a:rPr sz="900" b="0" i="0">
                <a:solidFill>
                  <a:srgbClr val="0D1B3E"/>
                </a:solidFill>
                <a:latin typeface="Calibri"/>
              </a:rPr>
              <a:t>💬</a:t>
            </a:r>
          </a:p>
        </p:txBody>
      </p:sp>
      <p:sp>
        <p:nvSpPr>
          <p:cNvPr id="15" name="TextBox 14"/>
          <p:cNvSpPr txBox="1"/>
          <p:nvPr/>
        </p:nvSpPr>
        <p:spPr>
          <a:xfrm>
            <a:off x="310896" y="1133856"/>
            <a:ext cx="1005840" cy="146304"/>
          </a:xfrm>
          <a:prstGeom prst="rect">
            <a:avLst/>
          </a:prstGeom>
          <a:noFill/>
        </p:spPr>
        <p:txBody>
          <a:bodyPr wrap="square">
            <a:spAutoFit/>
          </a:bodyPr>
          <a:lstStyle/>
          <a:p>
            <a:pPr algn="l"/>
            <a:r>
              <a:rPr sz="650" b="1" i="0">
                <a:solidFill>
                  <a:srgbClr val="0D1B3E"/>
                </a:solidFill>
                <a:latin typeface="Calibri"/>
              </a:rPr>
              <a:t>Chat Interface</a:t>
            </a:r>
          </a:p>
        </p:txBody>
      </p:sp>
      <p:sp>
        <p:nvSpPr>
          <p:cNvPr id="16" name="Rounded Rectangle 15"/>
          <p:cNvSpPr/>
          <p:nvPr/>
        </p:nvSpPr>
        <p:spPr>
          <a:xfrm>
            <a:off x="91440" y="1325880"/>
            <a:ext cx="1243584" cy="210312"/>
          </a:xfrm>
          <a:prstGeom prst="roundRect">
            <a:avLst>
              <a:gd name="adj" fmla="val 5000"/>
            </a:avLst>
          </a:prstGeom>
          <a:solidFill>
            <a:srgbClr val="FFFFFF"/>
          </a:solidFill>
          <a:ln w="508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9728" y="1353312"/>
            <a:ext cx="182880" cy="164592"/>
          </a:xfrm>
          <a:prstGeom prst="rect">
            <a:avLst/>
          </a:prstGeom>
          <a:noFill/>
        </p:spPr>
        <p:txBody>
          <a:bodyPr wrap="square">
            <a:spAutoFit/>
          </a:bodyPr>
          <a:lstStyle/>
          <a:p>
            <a:pPr algn="l"/>
            <a:r>
              <a:rPr sz="900" b="0" i="0">
                <a:solidFill>
                  <a:srgbClr val="0D1B3E"/>
                </a:solidFill>
                <a:latin typeface="Calibri"/>
              </a:rPr>
              <a:t>📱</a:t>
            </a:r>
          </a:p>
        </p:txBody>
      </p:sp>
      <p:sp>
        <p:nvSpPr>
          <p:cNvPr id="18" name="TextBox 17"/>
          <p:cNvSpPr txBox="1"/>
          <p:nvPr/>
        </p:nvSpPr>
        <p:spPr>
          <a:xfrm>
            <a:off x="310896" y="1371600"/>
            <a:ext cx="1005840" cy="146304"/>
          </a:xfrm>
          <a:prstGeom prst="rect">
            <a:avLst/>
          </a:prstGeom>
          <a:noFill/>
        </p:spPr>
        <p:txBody>
          <a:bodyPr wrap="square">
            <a:spAutoFit/>
          </a:bodyPr>
          <a:lstStyle/>
          <a:p>
            <a:pPr algn="l"/>
            <a:r>
              <a:rPr sz="650" b="1" i="0">
                <a:solidFill>
                  <a:srgbClr val="0D1B3E"/>
                </a:solidFill>
                <a:latin typeface="Calibri"/>
              </a:rPr>
              <a:t>Mobile App</a:t>
            </a:r>
          </a:p>
        </p:txBody>
      </p:sp>
      <p:sp>
        <p:nvSpPr>
          <p:cNvPr id="19" name="Rounded Rectangle 18"/>
          <p:cNvSpPr/>
          <p:nvPr/>
        </p:nvSpPr>
        <p:spPr>
          <a:xfrm>
            <a:off x="91440" y="1563624"/>
            <a:ext cx="1243584" cy="210312"/>
          </a:xfrm>
          <a:prstGeom prst="roundRect">
            <a:avLst>
              <a:gd name="adj" fmla="val 5000"/>
            </a:avLst>
          </a:prstGeom>
          <a:solidFill>
            <a:srgbClr val="FFFFFF"/>
          </a:solidFill>
          <a:ln w="508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9728" y="1591056"/>
            <a:ext cx="182880" cy="164592"/>
          </a:xfrm>
          <a:prstGeom prst="rect">
            <a:avLst/>
          </a:prstGeom>
          <a:noFill/>
        </p:spPr>
        <p:txBody>
          <a:bodyPr wrap="square">
            <a:spAutoFit/>
          </a:bodyPr>
          <a:lstStyle/>
          <a:p>
            <a:pPr algn="l"/>
            <a:r>
              <a:rPr sz="900" b="0" i="0">
                <a:solidFill>
                  <a:srgbClr val="0D1B3E"/>
                </a:solidFill>
                <a:latin typeface="Calibri"/>
              </a:rPr>
              <a:t>🌐</a:t>
            </a:r>
          </a:p>
        </p:txBody>
      </p:sp>
      <p:sp>
        <p:nvSpPr>
          <p:cNvPr id="21" name="TextBox 20"/>
          <p:cNvSpPr txBox="1"/>
          <p:nvPr/>
        </p:nvSpPr>
        <p:spPr>
          <a:xfrm>
            <a:off x="310896" y="1609344"/>
            <a:ext cx="1005840" cy="146304"/>
          </a:xfrm>
          <a:prstGeom prst="rect">
            <a:avLst/>
          </a:prstGeom>
          <a:noFill/>
        </p:spPr>
        <p:txBody>
          <a:bodyPr wrap="square">
            <a:spAutoFit/>
          </a:bodyPr>
          <a:lstStyle/>
          <a:p>
            <a:pPr algn="l"/>
            <a:r>
              <a:rPr sz="650" b="1" i="0">
                <a:solidFill>
                  <a:srgbClr val="0D1B3E"/>
                </a:solidFill>
                <a:latin typeface="Calibri"/>
              </a:rPr>
              <a:t>Web Portal</a:t>
            </a:r>
          </a:p>
        </p:txBody>
      </p:sp>
      <p:sp>
        <p:nvSpPr>
          <p:cNvPr id="22" name="Rounded Rectangle 21"/>
          <p:cNvSpPr/>
          <p:nvPr/>
        </p:nvSpPr>
        <p:spPr>
          <a:xfrm>
            <a:off x="91440" y="1801368"/>
            <a:ext cx="1243584" cy="210312"/>
          </a:xfrm>
          <a:prstGeom prst="roundRect">
            <a:avLst>
              <a:gd name="adj" fmla="val 5000"/>
            </a:avLst>
          </a:prstGeom>
          <a:solidFill>
            <a:srgbClr val="FFFFFF"/>
          </a:solidFill>
          <a:ln w="508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9728" y="1828800"/>
            <a:ext cx="182880" cy="164592"/>
          </a:xfrm>
          <a:prstGeom prst="rect">
            <a:avLst/>
          </a:prstGeom>
          <a:noFill/>
        </p:spPr>
        <p:txBody>
          <a:bodyPr wrap="square">
            <a:spAutoFit/>
          </a:bodyPr>
          <a:lstStyle/>
          <a:p>
            <a:pPr algn="l"/>
            <a:r>
              <a:rPr sz="900" b="0" i="0">
                <a:solidFill>
                  <a:srgbClr val="0D1B3E"/>
                </a:solidFill>
                <a:latin typeface="Calibri"/>
              </a:rPr>
              <a:t>📧</a:t>
            </a:r>
          </a:p>
        </p:txBody>
      </p:sp>
      <p:sp>
        <p:nvSpPr>
          <p:cNvPr id="24" name="TextBox 23"/>
          <p:cNvSpPr txBox="1"/>
          <p:nvPr/>
        </p:nvSpPr>
        <p:spPr>
          <a:xfrm>
            <a:off x="310896" y="1847088"/>
            <a:ext cx="1005840" cy="146304"/>
          </a:xfrm>
          <a:prstGeom prst="rect">
            <a:avLst/>
          </a:prstGeom>
          <a:noFill/>
        </p:spPr>
        <p:txBody>
          <a:bodyPr wrap="square">
            <a:spAutoFit/>
          </a:bodyPr>
          <a:lstStyle/>
          <a:p>
            <a:pPr algn="l"/>
            <a:r>
              <a:rPr sz="650" b="1" i="0">
                <a:solidFill>
                  <a:srgbClr val="0D1B3E"/>
                </a:solidFill>
                <a:latin typeface="Calibri"/>
              </a:rPr>
              <a:t>Email Channel</a:t>
            </a:r>
          </a:p>
        </p:txBody>
      </p:sp>
      <p:sp>
        <p:nvSpPr>
          <p:cNvPr id="25" name="Rounded Rectangle 24"/>
          <p:cNvSpPr/>
          <p:nvPr/>
        </p:nvSpPr>
        <p:spPr>
          <a:xfrm>
            <a:off x="91440" y="2039112"/>
            <a:ext cx="1243584" cy="210312"/>
          </a:xfrm>
          <a:prstGeom prst="roundRect">
            <a:avLst>
              <a:gd name="adj" fmla="val 5000"/>
            </a:avLst>
          </a:prstGeom>
          <a:solidFill>
            <a:srgbClr val="FFFFFF"/>
          </a:solidFill>
          <a:ln w="508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9728" y="2066543"/>
            <a:ext cx="182880" cy="164592"/>
          </a:xfrm>
          <a:prstGeom prst="rect">
            <a:avLst/>
          </a:prstGeom>
          <a:noFill/>
        </p:spPr>
        <p:txBody>
          <a:bodyPr wrap="square">
            <a:spAutoFit/>
          </a:bodyPr>
          <a:lstStyle/>
          <a:p>
            <a:pPr algn="l"/>
            <a:r>
              <a:rPr sz="900" b="0" i="0">
                <a:solidFill>
                  <a:srgbClr val="0D1B3E"/>
                </a:solidFill>
                <a:latin typeface="Calibri"/>
              </a:rPr>
              <a:t>🔌</a:t>
            </a:r>
          </a:p>
        </p:txBody>
      </p:sp>
      <p:sp>
        <p:nvSpPr>
          <p:cNvPr id="27" name="TextBox 26"/>
          <p:cNvSpPr txBox="1"/>
          <p:nvPr/>
        </p:nvSpPr>
        <p:spPr>
          <a:xfrm>
            <a:off x="310896" y="2084831"/>
            <a:ext cx="1005840" cy="146304"/>
          </a:xfrm>
          <a:prstGeom prst="rect">
            <a:avLst/>
          </a:prstGeom>
          <a:noFill/>
        </p:spPr>
        <p:txBody>
          <a:bodyPr wrap="square">
            <a:spAutoFit/>
          </a:bodyPr>
          <a:lstStyle/>
          <a:p>
            <a:pPr algn="l"/>
            <a:r>
              <a:rPr sz="650" b="1" i="0">
                <a:solidFill>
                  <a:srgbClr val="0D1B3E"/>
                </a:solidFill>
                <a:latin typeface="Calibri"/>
              </a:rPr>
              <a:t>API Clients</a:t>
            </a:r>
          </a:p>
        </p:txBody>
      </p:sp>
      <p:sp>
        <p:nvSpPr>
          <p:cNvPr id="28" name="Rectangle 27"/>
          <p:cNvSpPr/>
          <p:nvPr/>
        </p:nvSpPr>
        <p:spPr>
          <a:xfrm>
            <a:off x="36576" y="2322576"/>
            <a:ext cx="1353312" cy="18288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 y="2350008"/>
            <a:ext cx="1261872" cy="155448"/>
          </a:xfrm>
          <a:prstGeom prst="rect">
            <a:avLst/>
          </a:prstGeom>
          <a:noFill/>
        </p:spPr>
        <p:txBody>
          <a:bodyPr wrap="square">
            <a:spAutoFit/>
          </a:bodyPr>
          <a:lstStyle/>
          <a:p>
            <a:pPr algn="l"/>
            <a:r>
              <a:rPr sz="650" b="1" i="0">
                <a:solidFill>
                  <a:srgbClr val="FFFFFF"/>
                </a:solidFill>
                <a:latin typeface="Calibri"/>
              </a:rPr>
              <a:t>📈  BUSINESS VALUE</a:t>
            </a:r>
          </a:p>
        </p:txBody>
      </p:sp>
      <p:sp>
        <p:nvSpPr>
          <p:cNvPr id="30" name="TextBox 29"/>
          <p:cNvSpPr txBox="1"/>
          <p:nvPr/>
        </p:nvSpPr>
        <p:spPr>
          <a:xfrm>
            <a:off x="100584" y="2523744"/>
            <a:ext cx="109728" cy="182880"/>
          </a:xfrm>
          <a:prstGeom prst="rect">
            <a:avLst/>
          </a:prstGeom>
          <a:noFill/>
        </p:spPr>
        <p:txBody>
          <a:bodyPr wrap="square">
            <a:spAutoFit/>
          </a:bodyPr>
          <a:lstStyle/>
          <a:p>
            <a:pPr algn="l"/>
            <a:r>
              <a:rPr sz="600" b="1" i="0">
                <a:solidFill>
                  <a:srgbClr val="1E8B4C"/>
                </a:solidFill>
                <a:latin typeface="Calibri"/>
              </a:rPr>
              <a:t>•</a:t>
            </a:r>
          </a:p>
        </p:txBody>
      </p:sp>
      <p:sp>
        <p:nvSpPr>
          <p:cNvPr id="31" name="TextBox 30"/>
          <p:cNvSpPr txBox="1"/>
          <p:nvPr/>
        </p:nvSpPr>
        <p:spPr>
          <a:xfrm>
            <a:off x="210312" y="2523744"/>
            <a:ext cx="1152143" cy="182880"/>
          </a:xfrm>
          <a:prstGeom prst="rect">
            <a:avLst/>
          </a:prstGeom>
          <a:noFill/>
        </p:spPr>
        <p:txBody>
          <a:bodyPr wrap="square">
            <a:spAutoFit/>
          </a:bodyPr>
          <a:lstStyle/>
          <a:p>
            <a:pPr algn="l"/>
            <a:r>
              <a:rPr sz="600" b="0" i="0">
                <a:solidFill>
                  <a:srgbClr val="2C3E50"/>
                </a:solidFill>
                <a:latin typeface="Calibri"/>
              </a:rPr>
              <a:t>60% Faster Incident Resolution</a:t>
            </a:r>
          </a:p>
        </p:txBody>
      </p:sp>
      <p:sp>
        <p:nvSpPr>
          <p:cNvPr id="32" name="TextBox 31"/>
          <p:cNvSpPr txBox="1"/>
          <p:nvPr/>
        </p:nvSpPr>
        <p:spPr>
          <a:xfrm>
            <a:off x="100584" y="2706624"/>
            <a:ext cx="109728" cy="182880"/>
          </a:xfrm>
          <a:prstGeom prst="rect">
            <a:avLst/>
          </a:prstGeom>
          <a:noFill/>
        </p:spPr>
        <p:txBody>
          <a:bodyPr wrap="square">
            <a:spAutoFit/>
          </a:bodyPr>
          <a:lstStyle/>
          <a:p>
            <a:pPr algn="l"/>
            <a:r>
              <a:rPr sz="600" b="1" i="0">
                <a:solidFill>
                  <a:srgbClr val="1E8B4C"/>
                </a:solidFill>
                <a:latin typeface="Calibri"/>
              </a:rPr>
              <a:t>•</a:t>
            </a:r>
          </a:p>
        </p:txBody>
      </p:sp>
      <p:sp>
        <p:nvSpPr>
          <p:cNvPr id="33" name="TextBox 32"/>
          <p:cNvSpPr txBox="1"/>
          <p:nvPr/>
        </p:nvSpPr>
        <p:spPr>
          <a:xfrm>
            <a:off x="210312" y="2706624"/>
            <a:ext cx="1152143" cy="182880"/>
          </a:xfrm>
          <a:prstGeom prst="rect">
            <a:avLst/>
          </a:prstGeom>
          <a:noFill/>
        </p:spPr>
        <p:txBody>
          <a:bodyPr wrap="square">
            <a:spAutoFit/>
          </a:bodyPr>
          <a:lstStyle/>
          <a:p>
            <a:pPr algn="l"/>
            <a:r>
              <a:rPr sz="600" b="0" i="0">
                <a:solidFill>
                  <a:srgbClr val="2C3E50"/>
                </a:solidFill>
                <a:latin typeface="Calibri"/>
              </a:rPr>
              <a:t>40% Reduction in Manual Tasks</a:t>
            </a:r>
          </a:p>
        </p:txBody>
      </p:sp>
      <p:sp>
        <p:nvSpPr>
          <p:cNvPr id="34" name="TextBox 33"/>
          <p:cNvSpPr txBox="1"/>
          <p:nvPr/>
        </p:nvSpPr>
        <p:spPr>
          <a:xfrm>
            <a:off x="100584" y="2889504"/>
            <a:ext cx="109728" cy="182880"/>
          </a:xfrm>
          <a:prstGeom prst="rect">
            <a:avLst/>
          </a:prstGeom>
          <a:noFill/>
        </p:spPr>
        <p:txBody>
          <a:bodyPr wrap="square">
            <a:spAutoFit/>
          </a:bodyPr>
          <a:lstStyle/>
          <a:p>
            <a:pPr algn="l"/>
            <a:r>
              <a:rPr sz="600" b="1" i="0">
                <a:solidFill>
                  <a:srgbClr val="1E8B4C"/>
                </a:solidFill>
                <a:latin typeface="Calibri"/>
              </a:rPr>
              <a:t>•</a:t>
            </a:r>
          </a:p>
        </p:txBody>
      </p:sp>
      <p:sp>
        <p:nvSpPr>
          <p:cNvPr id="35" name="TextBox 34"/>
          <p:cNvSpPr txBox="1"/>
          <p:nvPr/>
        </p:nvSpPr>
        <p:spPr>
          <a:xfrm>
            <a:off x="210312" y="2889504"/>
            <a:ext cx="1152143" cy="182880"/>
          </a:xfrm>
          <a:prstGeom prst="rect">
            <a:avLst/>
          </a:prstGeom>
          <a:noFill/>
        </p:spPr>
        <p:txBody>
          <a:bodyPr wrap="square">
            <a:spAutoFit/>
          </a:bodyPr>
          <a:lstStyle/>
          <a:p>
            <a:pPr algn="l"/>
            <a:r>
              <a:rPr sz="600" b="0" i="0">
                <a:solidFill>
                  <a:srgbClr val="2C3E50"/>
                </a:solidFill>
                <a:latin typeface="Calibri"/>
              </a:rPr>
              <a:t>24×7 Autonomous Operations</a:t>
            </a:r>
          </a:p>
        </p:txBody>
      </p:sp>
      <p:sp>
        <p:nvSpPr>
          <p:cNvPr id="36" name="TextBox 35"/>
          <p:cNvSpPr txBox="1"/>
          <p:nvPr/>
        </p:nvSpPr>
        <p:spPr>
          <a:xfrm>
            <a:off x="100584" y="3072384"/>
            <a:ext cx="109728" cy="182880"/>
          </a:xfrm>
          <a:prstGeom prst="rect">
            <a:avLst/>
          </a:prstGeom>
          <a:noFill/>
        </p:spPr>
        <p:txBody>
          <a:bodyPr wrap="square">
            <a:spAutoFit/>
          </a:bodyPr>
          <a:lstStyle/>
          <a:p>
            <a:pPr algn="l"/>
            <a:r>
              <a:rPr sz="600" b="1" i="0">
                <a:solidFill>
                  <a:srgbClr val="1E8B4C"/>
                </a:solidFill>
                <a:latin typeface="Calibri"/>
              </a:rPr>
              <a:t>•</a:t>
            </a:r>
          </a:p>
        </p:txBody>
      </p:sp>
      <p:sp>
        <p:nvSpPr>
          <p:cNvPr id="37" name="TextBox 36"/>
          <p:cNvSpPr txBox="1"/>
          <p:nvPr/>
        </p:nvSpPr>
        <p:spPr>
          <a:xfrm>
            <a:off x="210312" y="3072384"/>
            <a:ext cx="1152143" cy="182880"/>
          </a:xfrm>
          <a:prstGeom prst="rect">
            <a:avLst/>
          </a:prstGeom>
          <a:noFill/>
        </p:spPr>
        <p:txBody>
          <a:bodyPr wrap="square">
            <a:spAutoFit/>
          </a:bodyPr>
          <a:lstStyle/>
          <a:p>
            <a:pPr algn="l"/>
            <a:r>
              <a:rPr sz="600" b="0" i="0">
                <a:solidFill>
                  <a:srgbClr val="2C3E50"/>
                </a:solidFill>
                <a:latin typeface="Calibri"/>
              </a:rPr>
              <a:t>Improved SLA &amp; CSAT</a:t>
            </a:r>
          </a:p>
        </p:txBody>
      </p:sp>
      <p:sp>
        <p:nvSpPr>
          <p:cNvPr id="38" name="TextBox 37"/>
          <p:cNvSpPr txBox="1"/>
          <p:nvPr/>
        </p:nvSpPr>
        <p:spPr>
          <a:xfrm>
            <a:off x="100584" y="3255264"/>
            <a:ext cx="109728" cy="182880"/>
          </a:xfrm>
          <a:prstGeom prst="rect">
            <a:avLst/>
          </a:prstGeom>
          <a:noFill/>
        </p:spPr>
        <p:txBody>
          <a:bodyPr wrap="square">
            <a:spAutoFit/>
          </a:bodyPr>
          <a:lstStyle/>
          <a:p>
            <a:pPr algn="l"/>
            <a:r>
              <a:rPr sz="600" b="1" i="0">
                <a:solidFill>
                  <a:srgbClr val="1E8B4C"/>
                </a:solidFill>
                <a:latin typeface="Calibri"/>
              </a:rPr>
              <a:t>•</a:t>
            </a:r>
          </a:p>
        </p:txBody>
      </p:sp>
      <p:sp>
        <p:nvSpPr>
          <p:cNvPr id="39" name="TextBox 38"/>
          <p:cNvSpPr txBox="1"/>
          <p:nvPr/>
        </p:nvSpPr>
        <p:spPr>
          <a:xfrm>
            <a:off x="210312" y="3255264"/>
            <a:ext cx="1152143" cy="182880"/>
          </a:xfrm>
          <a:prstGeom prst="rect">
            <a:avLst/>
          </a:prstGeom>
          <a:noFill/>
        </p:spPr>
        <p:txBody>
          <a:bodyPr wrap="square">
            <a:spAutoFit/>
          </a:bodyPr>
          <a:lstStyle/>
          <a:p>
            <a:pPr algn="l"/>
            <a:r>
              <a:rPr sz="600" b="0" i="0">
                <a:solidFill>
                  <a:srgbClr val="2C3E50"/>
                </a:solidFill>
                <a:latin typeface="Calibri"/>
              </a:rPr>
              <a:t>Data-driven Decisions</a:t>
            </a:r>
          </a:p>
        </p:txBody>
      </p:sp>
      <p:sp>
        <p:nvSpPr>
          <p:cNvPr id="40" name="TextBox 39"/>
          <p:cNvSpPr txBox="1"/>
          <p:nvPr/>
        </p:nvSpPr>
        <p:spPr>
          <a:xfrm>
            <a:off x="100584" y="3438144"/>
            <a:ext cx="109728" cy="182880"/>
          </a:xfrm>
          <a:prstGeom prst="rect">
            <a:avLst/>
          </a:prstGeom>
          <a:noFill/>
        </p:spPr>
        <p:txBody>
          <a:bodyPr wrap="square">
            <a:spAutoFit/>
          </a:bodyPr>
          <a:lstStyle/>
          <a:p>
            <a:pPr algn="l"/>
            <a:r>
              <a:rPr sz="600" b="1" i="0">
                <a:solidFill>
                  <a:srgbClr val="1E8B4C"/>
                </a:solidFill>
                <a:latin typeface="Calibri"/>
              </a:rPr>
              <a:t>•</a:t>
            </a:r>
          </a:p>
        </p:txBody>
      </p:sp>
      <p:sp>
        <p:nvSpPr>
          <p:cNvPr id="41" name="TextBox 40"/>
          <p:cNvSpPr txBox="1"/>
          <p:nvPr/>
        </p:nvSpPr>
        <p:spPr>
          <a:xfrm>
            <a:off x="210312" y="3438144"/>
            <a:ext cx="1152143" cy="182880"/>
          </a:xfrm>
          <a:prstGeom prst="rect">
            <a:avLst/>
          </a:prstGeom>
          <a:noFill/>
        </p:spPr>
        <p:txBody>
          <a:bodyPr wrap="square">
            <a:spAutoFit/>
          </a:bodyPr>
          <a:lstStyle/>
          <a:p>
            <a:pPr algn="l"/>
            <a:r>
              <a:rPr sz="600" b="0" i="0">
                <a:solidFill>
                  <a:srgbClr val="2C3E50"/>
                </a:solidFill>
                <a:latin typeface="Calibri"/>
              </a:rPr>
              <a:t>Secure &amp; Compliant by Design</a:t>
            </a:r>
          </a:p>
        </p:txBody>
      </p:sp>
      <p:sp>
        <p:nvSpPr>
          <p:cNvPr id="42" name="Rectangle 41"/>
          <p:cNvSpPr/>
          <p:nvPr/>
        </p:nvSpPr>
        <p:spPr>
          <a:xfrm>
            <a:off x="36576" y="3694176"/>
            <a:ext cx="1353312" cy="182880"/>
          </a:xfrm>
          <a:prstGeom prst="rect">
            <a:avLst/>
          </a:prstGeom>
          <a:solidFill>
            <a:srgbClr val="5E35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96" y="3721608"/>
            <a:ext cx="1261872" cy="155448"/>
          </a:xfrm>
          <a:prstGeom prst="rect">
            <a:avLst/>
          </a:prstGeom>
          <a:noFill/>
        </p:spPr>
        <p:txBody>
          <a:bodyPr wrap="square">
            <a:spAutoFit/>
          </a:bodyPr>
          <a:lstStyle/>
          <a:p>
            <a:pPr algn="l"/>
            <a:r>
              <a:rPr sz="650" b="1" i="0">
                <a:solidFill>
                  <a:srgbClr val="FFFFFF"/>
                </a:solidFill>
                <a:latin typeface="Calibri"/>
              </a:rPr>
              <a:t>⚡  AGENT CAPABILITIES</a:t>
            </a:r>
          </a:p>
        </p:txBody>
      </p:sp>
      <p:sp>
        <p:nvSpPr>
          <p:cNvPr id="44" name="TextBox 43"/>
          <p:cNvSpPr txBox="1"/>
          <p:nvPr/>
        </p:nvSpPr>
        <p:spPr>
          <a:xfrm>
            <a:off x="100584" y="3895344"/>
            <a:ext cx="109728" cy="169164"/>
          </a:xfrm>
          <a:prstGeom prst="rect">
            <a:avLst/>
          </a:prstGeom>
          <a:noFill/>
        </p:spPr>
        <p:txBody>
          <a:bodyPr wrap="square">
            <a:spAutoFit/>
          </a:bodyPr>
          <a:lstStyle/>
          <a:p>
            <a:pPr algn="l"/>
            <a:r>
              <a:rPr sz="600" b="1" i="0">
                <a:solidFill>
                  <a:srgbClr val="5E35B1"/>
                </a:solidFill>
                <a:latin typeface="Calibri"/>
              </a:rPr>
              <a:t>•</a:t>
            </a:r>
          </a:p>
        </p:txBody>
      </p:sp>
      <p:sp>
        <p:nvSpPr>
          <p:cNvPr id="45" name="TextBox 44"/>
          <p:cNvSpPr txBox="1"/>
          <p:nvPr/>
        </p:nvSpPr>
        <p:spPr>
          <a:xfrm>
            <a:off x="210312" y="3895344"/>
            <a:ext cx="1152143" cy="169164"/>
          </a:xfrm>
          <a:prstGeom prst="rect">
            <a:avLst/>
          </a:prstGeom>
          <a:noFill/>
        </p:spPr>
        <p:txBody>
          <a:bodyPr wrap="square">
            <a:spAutoFit/>
          </a:bodyPr>
          <a:lstStyle/>
          <a:p>
            <a:pPr algn="l"/>
            <a:r>
              <a:rPr sz="600" b="0" i="0">
                <a:solidFill>
                  <a:srgbClr val="2C3E50"/>
                </a:solidFill>
                <a:latin typeface="Calibri"/>
              </a:rPr>
              <a:t>Natural Language Understanding</a:t>
            </a:r>
          </a:p>
        </p:txBody>
      </p:sp>
      <p:sp>
        <p:nvSpPr>
          <p:cNvPr id="46" name="TextBox 45"/>
          <p:cNvSpPr txBox="1"/>
          <p:nvPr/>
        </p:nvSpPr>
        <p:spPr>
          <a:xfrm>
            <a:off x="100584" y="4064508"/>
            <a:ext cx="109728" cy="169164"/>
          </a:xfrm>
          <a:prstGeom prst="rect">
            <a:avLst/>
          </a:prstGeom>
          <a:noFill/>
        </p:spPr>
        <p:txBody>
          <a:bodyPr wrap="square">
            <a:spAutoFit/>
          </a:bodyPr>
          <a:lstStyle/>
          <a:p>
            <a:pPr algn="l"/>
            <a:r>
              <a:rPr sz="600" b="1" i="0">
                <a:solidFill>
                  <a:srgbClr val="5E35B1"/>
                </a:solidFill>
                <a:latin typeface="Calibri"/>
              </a:rPr>
              <a:t>•</a:t>
            </a:r>
          </a:p>
        </p:txBody>
      </p:sp>
      <p:sp>
        <p:nvSpPr>
          <p:cNvPr id="47" name="TextBox 46"/>
          <p:cNvSpPr txBox="1"/>
          <p:nvPr/>
        </p:nvSpPr>
        <p:spPr>
          <a:xfrm>
            <a:off x="210312" y="4064508"/>
            <a:ext cx="1152143" cy="169164"/>
          </a:xfrm>
          <a:prstGeom prst="rect">
            <a:avLst/>
          </a:prstGeom>
          <a:noFill/>
        </p:spPr>
        <p:txBody>
          <a:bodyPr wrap="square">
            <a:spAutoFit/>
          </a:bodyPr>
          <a:lstStyle/>
          <a:p>
            <a:pPr algn="l"/>
            <a:r>
              <a:rPr sz="600" b="0" i="0">
                <a:solidFill>
                  <a:srgbClr val="2C3E50"/>
                </a:solidFill>
                <a:latin typeface="Calibri"/>
              </a:rPr>
              <a:t>Multi-Agent Collaboration</a:t>
            </a:r>
          </a:p>
        </p:txBody>
      </p:sp>
      <p:sp>
        <p:nvSpPr>
          <p:cNvPr id="48" name="TextBox 47"/>
          <p:cNvSpPr txBox="1"/>
          <p:nvPr/>
        </p:nvSpPr>
        <p:spPr>
          <a:xfrm>
            <a:off x="100584" y="4233672"/>
            <a:ext cx="109728" cy="169164"/>
          </a:xfrm>
          <a:prstGeom prst="rect">
            <a:avLst/>
          </a:prstGeom>
          <a:noFill/>
        </p:spPr>
        <p:txBody>
          <a:bodyPr wrap="square">
            <a:spAutoFit/>
          </a:bodyPr>
          <a:lstStyle/>
          <a:p>
            <a:pPr algn="l"/>
            <a:r>
              <a:rPr sz="600" b="1" i="0">
                <a:solidFill>
                  <a:srgbClr val="5E35B1"/>
                </a:solidFill>
                <a:latin typeface="Calibri"/>
              </a:rPr>
              <a:t>•</a:t>
            </a:r>
          </a:p>
        </p:txBody>
      </p:sp>
      <p:sp>
        <p:nvSpPr>
          <p:cNvPr id="49" name="TextBox 48"/>
          <p:cNvSpPr txBox="1"/>
          <p:nvPr/>
        </p:nvSpPr>
        <p:spPr>
          <a:xfrm>
            <a:off x="210312" y="4233672"/>
            <a:ext cx="1152143" cy="169164"/>
          </a:xfrm>
          <a:prstGeom prst="rect">
            <a:avLst/>
          </a:prstGeom>
          <a:noFill/>
        </p:spPr>
        <p:txBody>
          <a:bodyPr wrap="square">
            <a:spAutoFit/>
          </a:bodyPr>
          <a:lstStyle/>
          <a:p>
            <a:pPr algn="l"/>
            <a:r>
              <a:rPr sz="600" b="0" i="0">
                <a:solidFill>
                  <a:srgbClr val="2C3E50"/>
                </a:solidFill>
                <a:latin typeface="Calibri"/>
              </a:rPr>
              <a:t>RAG + Knowledge Retrieval</a:t>
            </a:r>
          </a:p>
        </p:txBody>
      </p:sp>
      <p:sp>
        <p:nvSpPr>
          <p:cNvPr id="50" name="TextBox 49"/>
          <p:cNvSpPr txBox="1"/>
          <p:nvPr/>
        </p:nvSpPr>
        <p:spPr>
          <a:xfrm>
            <a:off x="100584" y="4402836"/>
            <a:ext cx="109728" cy="169164"/>
          </a:xfrm>
          <a:prstGeom prst="rect">
            <a:avLst/>
          </a:prstGeom>
          <a:noFill/>
        </p:spPr>
        <p:txBody>
          <a:bodyPr wrap="square">
            <a:spAutoFit/>
          </a:bodyPr>
          <a:lstStyle/>
          <a:p>
            <a:pPr algn="l"/>
            <a:r>
              <a:rPr sz="600" b="1" i="0">
                <a:solidFill>
                  <a:srgbClr val="5E35B1"/>
                </a:solidFill>
                <a:latin typeface="Calibri"/>
              </a:rPr>
              <a:t>•</a:t>
            </a:r>
          </a:p>
        </p:txBody>
      </p:sp>
      <p:sp>
        <p:nvSpPr>
          <p:cNvPr id="51" name="TextBox 50"/>
          <p:cNvSpPr txBox="1"/>
          <p:nvPr/>
        </p:nvSpPr>
        <p:spPr>
          <a:xfrm>
            <a:off x="210312" y="4402836"/>
            <a:ext cx="1152143" cy="169164"/>
          </a:xfrm>
          <a:prstGeom prst="rect">
            <a:avLst/>
          </a:prstGeom>
          <a:noFill/>
        </p:spPr>
        <p:txBody>
          <a:bodyPr wrap="square">
            <a:spAutoFit/>
          </a:bodyPr>
          <a:lstStyle/>
          <a:p>
            <a:pPr algn="l"/>
            <a:r>
              <a:rPr sz="600" b="0" i="0">
                <a:solidFill>
                  <a:srgbClr val="2C3E50"/>
                </a:solidFill>
                <a:latin typeface="Calibri"/>
              </a:rPr>
              <a:t>Memory &amp; Context Awareness</a:t>
            </a:r>
          </a:p>
        </p:txBody>
      </p:sp>
      <p:sp>
        <p:nvSpPr>
          <p:cNvPr id="52" name="TextBox 51"/>
          <p:cNvSpPr txBox="1"/>
          <p:nvPr/>
        </p:nvSpPr>
        <p:spPr>
          <a:xfrm>
            <a:off x="100584" y="4572000"/>
            <a:ext cx="109728" cy="169164"/>
          </a:xfrm>
          <a:prstGeom prst="rect">
            <a:avLst/>
          </a:prstGeom>
          <a:noFill/>
        </p:spPr>
        <p:txBody>
          <a:bodyPr wrap="square">
            <a:spAutoFit/>
          </a:bodyPr>
          <a:lstStyle/>
          <a:p>
            <a:pPr algn="l"/>
            <a:r>
              <a:rPr sz="600" b="1" i="0">
                <a:solidFill>
                  <a:srgbClr val="5E35B1"/>
                </a:solidFill>
                <a:latin typeface="Calibri"/>
              </a:rPr>
              <a:t>•</a:t>
            </a:r>
          </a:p>
        </p:txBody>
      </p:sp>
      <p:sp>
        <p:nvSpPr>
          <p:cNvPr id="53" name="TextBox 52"/>
          <p:cNvSpPr txBox="1"/>
          <p:nvPr/>
        </p:nvSpPr>
        <p:spPr>
          <a:xfrm>
            <a:off x="210312" y="4572000"/>
            <a:ext cx="1152143" cy="169164"/>
          </a:xfrm>
          <a:prstGeom prst="rect">
            <a:avLst/>
          </a:prstGeom>
          <a:noFill/>
        </p:spPr>
        <p:txBody>
          <a:bodyPr wrap="square">
            <a:spAutoFit/>
          </a:bodyPr>
          <a:lstStyle/>
          <a:p>
            <a:pPr algn="l"/>
            <a:r>
              <a:rPr sz="600" b="0" i="0">
                <a:solidFill>
                  <a:srgbClr val="2C3E50"/>
                </a:solidFill>
                <a:latin typeface="Calibri"/>
              </a:rPr>
              <a:t>Tool Use &amp; Automation</a:t>
            </a:r>
          </a:p>
        </p:txBody>
      </p:sp>
      <p:sp>
        <p:nvSpPr>
          <p:cNvPr id="54" name="TextBox 53"/>
          <p:cNvSpPr txBox="1"/>
          <p:nvPr/>
        </p:nvSpPr>
        <p:spPr>
          <a:xfrm>
            <a:off x="100584" y="4741164"/>
            <a:ext cx="109728" cy="169164"/>
          </a:xfrm>
          <a:prstGeom prst="rect">
            <a:avLst/>
          </a:prstGeom>
          <a:noFill/>
        </p:spPr>
        <p:txBody>
          <a:bodyPr wrap="square">
            <a:spAutoFit/>
          </a:bodyPr>
          <a:lstStyle/>
          <a:p>
            <a:pPr algn="l"/>
            <a:r>
              <a:rPr sz="600" b="1" i="0">
                <a:solidFill>
                  <a:srgbClr val="5E35B1"/>
                </a:solidFill>
                <a:latin typeface="Calibri"/>
              </a:rPr>
              <a:t>•</a:t>
            </a:r>
          </a:p>
        </p:txBody>
      </p:sp>
      <p:sp>
        <p:nvSpPr>
          <p:cNvPr id="55" name="TextBox 54"/>
          <p:cNvSpPr txBox="1"/>
          <p:nvPr/>
        </p:nvSpPr>
        <p:spPr>
          <a:xfrm>
            <a:off x="210312" y="4741164"/>
            <a:ext cx="1152143" cy="169164"/>
          </a:xfrm>
          <a:prstGeom prst="rect">
            <a:avLst/>
          </a:prstGeom>
          <a:noFill/>
        </p:spPr>
        <p:txBody>
          <a:bodyPr wrap="square">
            <a:spAutoFit/>
          </a:bodyPr>
          <a:lstStyle/>
          <a:p>
            <a:pPr algn="l"/>
            <a:r>
              <a:rPr sz="600" b="0" i="0">
                <a:solidFill>
                  <a:srgbClr val="2C3E50"/>
                </a:solidFill>
                <a:latin typeface="Calibri"/>
              </a:rPr>
              <a:t>Planning &amp; Reasoning</a:t>
            </a:r>
          </a:p>
        </p:txBody>
      </p:sp>
      <p:sp>
        <p:nvSpPr>
          <p:cNvPr id="56" name="TextBox 55"/>
          <p:cNvSpPr txBox="1"/>
          <p:nvPr/>
        </p:nvSpPr>
        <p:spPr>
          <a:xfrm>
            <a:off x="100584" y="4910328"/>
            <a:ext cx="109728" cy="169164"/>
          </a:xfrm>
          <a:prstGeom prst="rect">
            <a:avLst/>
          </a:prstGeom>
          <a:noFill/>
        </p:spPr>
        <p:txBody>
          <a:bodyPr wrap="square">
            <a:spAutoFit/>
          </a:bodyPr>
          <a:lstStyle/>
          <a:p>
            <a:pPr algn="l"/>
            <a:r>
              <a:rPr sz="600" b="1" i="0">
                <a:solidFill>
                  <a:srgbClr val="5E35B1"/>
                </a:solidFill>
                <a:latin typeface="Calibri"/>
              </a:rPr>
              <a:t>•</a:t>
            </a:r>
          </a:p>
        </p:txBody>
      </p:sp>
      <p:sp>
        <p:nvSpPr>
          <p:cNvPr id="57" name="TextBox 56"/>
          <p:cNvSpPr txBox="1"/>
          <p:nvPr/>
        </p:nvSpPr>
        <p:spPr>
          <a:xfrm>
            <a:off x="210312" y="4910328"/>
            <a:ext cx="1152143" cy="169164"/>
          </a:xfrm>
          <a:prstGeom prst="rect">
            <a:avLst/>
          </a:prstGeom>
          <a:noFill/>
        </p:spPr>
        <p:txBody>
          <a:bodyPr wrap="square">
            <a:spAutoFit/>
          </a:bodyPr>
          <a:lstStyle/>
          <a:p>
            <a:pPr algn="l"/>
            <a:r>
              <a:rPr sz="600" b="0" i="0">
                <a:solidFill>
                  <a:srgbClr val="2C3E50"/>
                </a:solidFill>
                <a:latin typeface="Calibri"/>
              </a:rPr>
              <a:t>Human-in-the-Loop</a:t>
            </a:r>
          </a:p>
        </p:txBody>
      </p:sp>
      <p:sp>
        <p:nvSpPr>
          <p:cNvPr id="58" name="TextBox 57"/>
          <p:cNvSpPr txBox="1"/>
          <p:nvPr/>
        </p:nvSpPr>
        <p:spPr>
          <a:xfrm>
            <a:off x="100584" y="5079492"/>
            <a:ext cx="109728" cy="169164"/>
          </a:xfrm>
          <a:prstGeom prst="rect">
            <a:avLst/>
          </a:prstGeom>
          <a:noFill/>
        </p:spPr>
        <p:txBody>
          <a:bodyPr wrap="square">
            <a:spAutoFit/>
          </a:bodyPr>
          <a:lstStyle/>
          <a:p>
            <a:pPr algn="l"/>
            <a:r>
              <a:rPr sz="600" b="1" i="0">
                <a:solidFill>
                  <a:srgbClr val="5E35B1"/>
                </a:solidFill>
                <a:latin typeface="Calibri"/>
              </a:rPr>
              <a:t>•</a:t>
            </a:r>
          </a:p>
        </p:txBody>
      </p:sp>
      <p:sp>
        <p:nvSpPr>
          <p:cNvPr id="59" name="TextBox 58"/>
          <p:cNvSpPr txBox="1"/>
          <p:nvPr/>
        </p:nvSpPr>
        <p:spPr>
          <a:xfrm>
            <a:off x="210312" y="5079492"/>
            <a:ext cx="1152143" cy="169164"/>
          </a:xfrm>
          <a:prstGeom prst="rect">
            <a:avLst/>
          </a:prstGeom>
          <a:noFill/>
        </p:spPr>
        <p:txBody>
          <a:bodyPr wrap="square">
            <a:spAutoFit/>
          </a:bodyPr>
          <a:lstStyle/>
          <a:p>
            <a:pPr algn="l"/>
            <a:r>
              <a:rPr sz="600" b="0" i="0">
                <a:solidFill>
                  <a:srgbClr val="2C3E50"/>
                </a:solidFill>
                <a:latin typeface="Calibri"/>
              </a:rPr>
              <a:t>Continuous Learning</a:t>
            </a:r>
          </a:p>
        </p:txBody>
      </p:sp>
      <p:sp>
        <p:nvSpPr>
          <p:cNvPr id="60" name="Rounded Rectangle 59"/>
          <p:cNvSpPr/>
          <p:nvPr/>
        </p:nvSpPr>
        <p:spPr>
          <a:xfrm>
            <a:off x="10671048" y="594360"/>
            <a:ext cx="1484071" cy="6053328"/>
          </a:xfrm>
          <a:prstGeom prst="roundRect">
            <a:avLst>
              <a:gd name="adj" fmla="val 6000"/>
            </a:avLst>
          </a:prstGeom>
          <a:solidFill>
            <a:srgbClr val="F4F6F9"/>
          </a:solidFill>
          <a:ln w="635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10671048" y="649224"/>
            <a:ext cx="1484071" cy="182880"/>
          </a:xfrm>
          <a:prstGeom prst="rect">
            <a:avLst/>
          </a:prstGeom>
          <a:solidFill>
            <a:srgbClr val="1A5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0707624" y="676656"/>
            <a:ext cx="1410919" cy="155448"/>
          </a:xfrm>
          <a:prstGeom prst="rect">
            <a:avLst/>
          </a:prstGeom>
          <a:noFill/>
        </p:spPr>
        <p:txBody>
          <a:bodyPr wrap="square">
            <a:spAutoFit/>
          </a:bodyPr>
          <a:lstStyle/>
          <a:p>
            <a:pPr algn="l"/>
            <a:r>
              <a:rPr sz="650" b="1" i="0">
                <a:solidFill>
                  <a:srgbClr val="FFFFFF"/>
                </a:solidFill>
                <a:latin typeface="Calibri"/>
              </a:rPr>
              <a:t>🏢  ENTERPRISE SYSTEMS</a:t>
            </a:r>
          </a:p>
        </p:txBody>
      </p:sp>
      <p:sp>
        <p:nvSpPr>
          <p:cNvPr id="63" name="Rounded Rectangle 62"/>
          <p:cNvSpPr/>
          <p:nvPr/>
        </p:nvSpPr>
        <p:spPr>
          <a:xfrm>
            <a:off x="10707624" y="850392"/>
            <a:ext cx="1410919" cy="201168"/>
          </a:xfrm>
          <a:prstGeom prst="roundRect">
            <a:avLst>
              <a:gd name="adj" fmla="val 5000"/>
            </a:avLst>
          </a:prstGeom>
          <a:solidFill>
            <a:srgbClr val="FFFFFF"/>
          </a:solidFill>
          <a:ln w="508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0725912" y="877824"/>
            <a:ext cx="164592" cy="146304"/>
          </a:xfrm>
          <a:prstGeom prst="rect">
            <a:avLst/>
          </a:prstGeom>
          <a:noFill/>
        </p:spPr>
        <p:txBody>
          <a:bodyPr wrap="square">
            <a:spAutoFit/>
          </a:bodyPr>
          <a:lstStyle/>
          <a:p>
            <a:pPr algn="l"/>
            <a:r>
              <a:rPr sz="800" b="0" i="0">
                <a:solidFill>
                  <a:srgbClr val="0D1B3E"/>
                </a:solidFill>
                <a:latin typeface="Calibri"/>
              </a:rPr>
              <a:t>🔧</a:t>
            </a:r>
          </a:p>
        </p:txBody>
      </p:sp>
      <p:sp>
        <p:nvSpPr>
          <p:cNvPr id="65" name="TextBox 64"/>
          <p:cNvSpPr txBox="1"/>
          <p:nvPr/>
        </p:nvSpPr>
        <p:spPr>
          <a:xfrm>
            <a:off x="10908792" y="886968"/>
            <a:ext cx="1191463" cy="137160"/>
          </a:xfrm>
          <a:prstGeom prst="rect">
            <a:avLst/>
          </a:prstGeom>
          <a:noFill/>
        </p:spPr>
        <p:txBody>
          <a:bodyPr wrap="square">
            <a:spAutoFit/>
          </a:bodyPr>
          <a:lstStyle/>
          <a:p>
            <a:pPr algn="l"/>
            <a:r>
              <a:rPr sz="600" b="1" i="0">
                <a:solidFill>
                  <a:srgbClr val="0D1B3E"/>
                </a:solidFill>
                <a:latin typeface="Calibri"/>
              </a:rPr>
              <a:t>ITSM Platform</a:t>
            </a:r>
          </a:p>
        </p:txBody>
      </p:sp>
      <p:sp>
        <p:nvSpPr>
          <p:cNvPr id="66" name="Rounded Rectangle 65"/>
          <p:cNvSpPr/>
          <p:nvPr/>
        </p:nvSpPr>
        <p:spPr>
          <a:xfrm>
            <a:off x="10707624" y="1078992"/>
            <a:ext cx="1410919" cy="201168"/>
          </a:xfrm>
          <a:prstGeom prst="roundRect">
            <a:avLst>
              <a:gd name="adj" fmla="val 5000"/>
            </a:avLst>
          </a:prstGeom>
          <a:solidFill>
            <a:srgbClr val="FFFFFF"/>
          </a:solidFill>
          <a:ln w="508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725912" y="1106424"/>
            <a:ext cx="164592" cy="146304"/>
          </a:xfrm>
          <a:prstGeom prst="rect">
            <a:avLst/>
          </a:prstGeom>
          <a:noFill/>
        </p:spPr>
        <p:txBody>
          <a:bodyPr wrap="square">
            <a:spAutoFit/>
          </a:bodyPr>
          <a:lstStyle/>
          <a:p>
            <a:pPr algn="l"/>
            <a:r>
              <a:rPr sz="800" b="0" i="0">
                <a:solidFill>
                  <a:srgbClr val="0D1B3E"/>
                </a:solidFill>
                <a:latin typeface="Calibri"/>
              </a:rPr>
              <a:t>📋</a:t>
            </a:r>
          </a:p>
        </p:txBody>
      </p:sp>
      <p:sp>
        <p:nvSpPr>
          <p:cNvPr id="68" name="TextBox 67"/>
          <p:cNvSpPr txBox="1"/>
          <p:nvPr/>
        </p:nvSpPr>
        <p:spPr>
          <a:xfrm>
            <a:off x="10908792" y="1115568"/>
            <a:ext cx="1191463" cy="137160"/>
          </a:xfrm>
          <a:prstGeom prst="rect">
            <a:avLst/>
          </a:prstGeom>
          <a:noFill/>
        </p:spPr>
        <p:txBody>
          <a:bodyPr wrap="square">
            <a:spAutoFit/>
          </a:bodyPr>
          <a:lstStyle/>
          <a:p>
            <a:pPr algn="l"/>
            <a:r>
              <a:rPr sz="600" b="1" i="0">
                <a:solidFill>
                  <a:srgbClr val="0D1B3E"/>
                </a:solidFill>
                <a:latin typeface="Calibri"/>
              </a:rPr>
              <a:t>ALM / Jira</a:t>
            </a:r>
          </a:p>
        </p:txBody>
      </p:sp>
      <p:sp>
        <p:nvSpPr>
          <p:cNvPr id="69" name="Rounded Rectangle 68"/>
          <p:cNvSpPr/>
          <p:nvPr/>
        </p:nvSpPr>
        <p:spPr>
          <a:xfrm>
            <a:off x="10707624" y="1307592"/>
            <a:ext cx="1410919" cy="201168"/>
          </a:xfrm>
          <a:prstGeom prst="roundRect">
            <a:avLst>
              <a:gd name="adj" fmla="val 5000"/>
            </a:avLst>
          </a:prstGeom>
          <a:solidFill>
            <a:srgbClr val="FFFFFF"/>
          </a:solidFill>
          <a:ln w="508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0725912" y="1335024"/>
            <a:ext cx="164592" cy="146304"/>
          </a:xfrm>
          <a:prstGeom prst="rect">
            <a:avLst/>
          </a:prstGeom>
          <a:noFill/>
        </p:spPr>
        <p:txBody>
          <a:bodyPr wrap="square">
            <a:spAutoFit/>
          </a:bodyPr>
          <a:lstStyle/>
          <a:p>
            <a:pPr algn="l"/>
            <a:r>
              <a:rPr sz="800" b="0" i="0">
                <a:solidFill>
                  <a:srgbClr val="0D1B3E"/>
                </a:solidFill>
                <a:latin typeface="Calibri"/>
              </a:rPr>
              <a:t>📊</a:t>
            </a:r>
          </a:p>
        </p:txBody>
      </p:sp>
      <p:sp>
        <p:nvSpPr>
          <p:cNvPr id="71" name="TextBox 70"/>
          <p:cNvSpPr txBox="1"/>
          <p:nvPr/>
        </p:nvSpPr>
        <p:spPr>
          <a:xfrm>
            <a:off x="10908792" y="1344168"/>
            <a:ext cx="1191463" cy="137160"/>
          </a:xfrm>
          <a:prstGeom prst="rect">
            <a:avLst/>
          </a:prstGeom>
          <a:noFill/>
        </p:spPr>
        <p:txBody>
          <a:bodyPr wrap="square">
            <a:spAutoFit/>
          </a:bodyPr>
          <a:lstStyle/>
          <a:p>
            <a:pPr algn="l"/>
            <a:r>
              <a:rPr sz="600" b="1" i="0">
                <a:solidFill>
                  <a:srgbClr val="0D1B3E"/>
                </a:solidFill>
                <a:latin typeface="Calibri"/>
              </a:rPr>
              <a:t>ERP / SAP</a:t>
            </a:r>
          </a:p>
        </p:txBody>
      </p:sp>
      <p:sp>
        <p:nvSpPr>
          <p:cNvPr id="72" name="Rounded Rectangle 71"/>
          <p:cNvSpPr/>
          <p:nvPr/>
        </p:nvSpPr>
        <p:spPr>
          <a:xfrm>
            <a:off x="10707624" y="1536192"/>
            <a:ext cx="1410919" cy="201168"/>
          </a:xfrm>
          <a:prstGeom prst="roundRect">
            <a:avLst>
              <a:gd name="adj" fmla="val 5000"/>
            </a:avLst>
          </a:prstGeom>
          <a:solidFill>
            <a:srgbClr val="FFFFFF"/>
          </a:solidFill>
          <a:ln w="508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0725912" y="1563624"/>
            <a:ext cx="164592" cy="146304"/>
          </a:xfrm>
          <a:prstGeom prst="rect">
            <a:avLst/>
          </a:prstGeom>
          <a:noFill/>
        </p:spPr>
        <p:txBody>
          <a:bodyPr wrap="square">
            <a:spAutoFit/>
          </a:bodyPr>
          <a:lstStyle/>
          <a:p>
            <a:pPr algn="l"/>
            <a:r>
              <a:rPr sz="800" b="0" i="0">
                <a:solidFill>
                  <a:srgbClr val="0D1B3E"/>
                </a:solidFill>
                <a:latin typeface="Calibri"/>
              </a:rPr>
              <a:t>👥</a:t>
            </a:r>
          </a:p>
        </p:txBody>
      </p:sp>
      <p:sp>
        <p:nvSpPr>
          <p:cNvPr id="74" name="TextBox 73"/>
          <p:cNvSpPr txBox="1"/>
          <p:nvPr/>
        </p:nvSpPr>
        <p:spPr>
          <a:xfrm>
            <a:off x="10908792" y="1572768"/>
            <a:ext cx="1191463" cy="137160"/>
          </a:xfrm>
          <a:prstGeom prst="rect">
            <a:avLst/>
          </a:prstGeom>
          <a:noFill/>
        </p:spPr>
        <p:txBody>
          <a:bodyPr wrap="square">
            <a:spAutoFit/>
          </a:bodyPr>
          <a:lstStyle/>
          <a:p>
            <a:pPr algn="l"/>
            <a:r>
              <a:rPr sz="600" b="1" i="0">
                <a:solidFill>
                  <a:srgbClr val="0D1B3E"/>
                </a:solidFill>
                <a:latin typeface="Calibri"/>
              </a:rPr>
              <a:t>CRM System</a:t>
            </a:r>
          </a:p>
        </p:txBody>
      </p:sp>
      <p:sp>
        <p:nvSpPr>
          <p:cNvPr id="75" name="Rounded Rectangle 74"/>
          <p:cNvSpPr/>
          <p:nvPr/>
        </p:nvSpPr>
        <p:spPr>
          <a:xfrm>
            <a:off x="10707624" y="1764792"/>
            <a:ext cx="1410919" cy="201168"/>
          </a:xfrm>
          <a:prstGeom prst="roundRect">
            <a:avLst>
              <a:gd name="adj" fmla="val 5000"/>
            </a:avLst>
          </a:prstGeom>
          <a:solidFill>
            <a:srgbClr val="FFFFFF"/>
          </a:solidFill>
          <a:ln w="508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10725912" y="1792224"/>
            <a:ext cx="164592" cy="146304"/>
          </a:xfrm>
          <a:prstGeom prst="rect">
            <a:avLst/>
          </a:prstGeom>
          <a:noFill/>
        </p:spPr>
        <p:txBody>
          <a:bodyPr wrap="square">
            <a:spAutoFit/>
          </a:bodyPr>
          <a:lstStyle/>
          <a:p>
            <a:pPr algn="l"/>
            <a:r>
              <a:rPr sz="800" b="0" i="0">
                <a:solidFill>
                  <a:srgbClr val="0D1B3E"/>
                </a:solidFill>
                <a:latin typeface="Calibri"/>
              </a:rPr>
              <a:t>🗄</a:t>
            </a:r>
          </a:p>
        </p:txBody>
      </p:sp>
      <p:sp>
        <p:nvSpPr>
          <p:cNvPr id="77" name="TextBox 76"/>
          <p:cNvSpPr txBox="1"/>
          <p:nvPr/>
        </p:nvSpPr>
        <p:spPr>
          <a:xfrm>
            <a:off x="10908792" y="1801368"/>
            <a:ext cx="1191463" cy="137160"/>
          </a:xfrm>
          <a:prstGeom prst="rect">
            <a:avLst/>
          </a:prstGeom>
          <a:noFill/>
        </p:spPr>
        <p:txBody>
          <a:bodyPr wrap="square">
            <a:spAutoFit/>
          </a:bodyPr>
          <a:lstStyle/>
          <a:p>
            <a:pPr algn="l"/>
            <a:r>
              <a:rPr sz="600" b="1" i="0">
                <a:solidFill>
                  <a:srgbClr val="0D1B3E"/>
                </a:solidFill>
                <a:latin typeface="Calibri"/>
              </a:rPr>
              <a:t>Data Warehouse</a:t>
            </a:r>
          </a:p>
        </p:txBody>
      </p:sp>
      <p:sp>
        <p:nvSpPr>
          <p:cNvPr id="78" name="Rounded Rectangle 77"/>
          <p:cNvSpPr/>
          <p:nvPr/>
        </p:nvSpPr>
        <p:spPr>
          <a:xfrm>
            <a:off x="10707624" y="1993391"/>
            <a:ext cx="1410919" cy="201168"/>
          </a:xfrm>
          <a:prstGeom prst="roundRect">
            <a:avLst>
              <a:gd name="adj" fmla="val 5000"/>
            </a:avLst>
          </a:prstGeom>
          <a:solidFill>
            <a:srgbClr val="FFFFFF"/>
          </a:solidFill>
          <a:ln w="5080">
            <a:solidFill>
              <a:srgbClr val="CE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0725912" y="2020823"/>
            <a:ext cx="164592" cy="146304"/>
          </a:xfrm>
          <a:prstGeom prst="rect">
            <a:avLst/>
          </a:prstGeom>
          <a:noFill/>
        </p:spPr>
        <p:txBody>
          <a:bodyPr wrap="square">
            <a:spAutoFit/>
          </a:bodyPr>
          <a:lstStyle/>
          <a:p>
            <a:pPr algn="l"/>
            <a:r>
              <a:rPr sz="800" b="0" i="0">
                <a:solidFill>
                  <a:srgbClr val="0D1B3E"/>
                </a:solidFill>
                <a:latin typeface="Calibri"/>
              </a:rPr>
              <a:t>🔗</a:t>
            </a:r>
          </a:p>
        </p:txBody>
      </p:sp>
      <p:sp>
        <p:nvSpPr>
          <p:cNvPr id="80" name="TextBox 79"/>
          <p:cNvSpPr txBox="1"/>
          <p:nvPr/>
        </p:nvSpPr>
        <p:spPr>
          <a:xfrm>
            <a:off x="10908792" y="2029967"/>
            <a:ext cx="1191463" cy="137160"/>
          </a:xfrm>
          <a:prstGeom prst="rect">
            <a:avLst/>
          </a:prstGeom>
          <a:noFill/>
        </p:spPr>
        <p:txBody>
          <a:bodyPr wrap="square">
            <a:spAutoFit/>
          </a:bodyPr>
          <a:lstStyle/>
          <a:p>
            <a:pPr algn="l"/>
            <a:r>
              <a:rPr sz="600" b="1" i="0">
                <a:solidFill>
                  <a:srgbClr val="0D1B3E"/>
                </a:solidFill>
                <a:latin typeface="Calibri"/>
              </a:rPr>
              <a:t>REST / GraphQL</a:t>
            </a:r>
          </a:p>
        </p:txBody>
      </p:sp>
      <p:sp>
        <p:nvSpPr>
          <p:cNvPr id="81" name="Rectangle 80"/>
          <p:cNvSpPr/>
          <p:nvPr/>
        </p:nvSpPr>
        <p:spPr>
          <a:xfrm>
            <a:off x="10671048" y="2258568"/>
            <a:ext cx="1484071" cy="18288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0707624" y="2285999"/>
            <a:ext cx="1410919" cy="155448"/>
          </a:xfrm>
          <a:prstGeom prst="rect">
            <a:avLst/>
          </a:prstGeom>
          <a:noFill/>
        </p:spPr>
        <p:txBody>
          <a:bodyPr wrap="square">
            <a:spAutoFit/>
          </a:bodyPr>
          <a:lstStyle/>
          <a:p>
            <a:pPr algn="l"/>
            <a:r>
              <a:rPr sz="650" b="1" i="0">
                <a:solidFill>
                  <a:srgbClr val="FFFFFF"/>
                </a:solidFill>
                <a:latin typeface="Calibri"/>
              </a:rPr>
              <a:t>📡  OBSERVABILITY</a:t>
            </a:r>
          </a:p>
        </p:txBody>
      </p:sp>
      <p:sp>
        <p:nvSpPr>
          <p:cNvPr id="83" name="TextBox 82"/>
          <p:cNvSpPr txBox="1"/>
          <p:nvPr/>
        </p:nvSpPr>
        <p:spPr>
          <a:xfrm>
            <a:off x="10725912" y="2459736"/>
            <a:ext cx="109728" cy="164592"/>
          </a:xfrm>
          <a:prstGeom prst="rect">
            <a:avLst/>
          </a:prstGeom>
          <a:noFill/>
        </p:spPr>
        <p:txBody>
          <a:bodyPr wrap="square">
            <a:spAutoFit/>
          </a:bodyPr>
          <a:lstStyle/>
          <a:p>
            <a:pPr algn="l"/>
            <a:r>
              <a:rPr sz="600" b="1" i="0">
                <a:solidFill>
                  <a:srgbClr val="008E8E"/>
                </a:solidFill>
                <a:latin typeface="Calibri"/>
              </a:rPr>
              <a:t>•</a:t>
            </a:r>
          </a:p>
        </p:txBody>
      </p:sp>
      <p:sp>
        <p:nvSpPr>
          <p:cNvPr id="84" name="TextBox 83"/>
          <p:cNvSpPr txBox="1"/>
          <p:nvPr/>
        </p:nvSpPr>
        <p:spPr>
          <a:xfrm>
            <a:off x="10835640" y="2459736"/>
            <a:ext cx="1301191" cy="164592"/>
          </a:xfrm>
          <a:prstGeom prst="rect">
            <a:avLst/>
          </a:prstGeom>
          <a:noFill/>
        </p:spPr>
        <p:txBody>
          <a:bodyPr wrap="square">
            <a:spAutoFit/>
          </a:bodyPr>
          <a:lstStyle/>
          <a:p>
            <a:pPr algn="l"/>
            <a:r>
              <a:rPr sz="600" b="0" i="0">
                <a:solidFill>
                  <a:srgbClr val="2C3E50"/>
                </a:solidFill>
                <a:latin typeface="Calibri"/>
              </a:rPr>
              <a:t>Metrics &amp; Logs</a:t>
            </a:r>
          </a:p>
        </p:txBody>
      </p:sp>
      <p:sp>
        <p:nvSpPr>
          <p:cNvPr id="85" name="TextBox 84"/>
          <p:cNvSpPr txBox="1"/>
          <p:nvPr/>
        </p:nvSpPr>
        <p:spPr>
          <a:xfrm>
            <a:off x="10725912" y="2624328"/>
            <a:ext cx="109728" cy="164592"/>
          </a:xfrm>
          <a:prstGeom prst="rect">
            <a:avLst/>
          </a:prstGeom>
          <a:noFill/>
        </p:spPr>
        <p:txBody>
          <a:bodyPr wrap="square">
            <a:spAutoFit/>
          </a:bodyPr>
          <a:lstStyle/>
          <a:p>
            <a:pPr algn="l"/>
            <a:r>
              <a:rPr sz="600" b="1" i="0">
                <a:solidFill>
                  <a:srgbClr val="008E8E"/>
                </a:solidFill>
                <a:latin typeface="Calibri"/>
              </a:rPr>
              <a:t>•</a:t>
            </a:r>
          </a:p>
        </p:txBody>
      </p:sp>
      <p:sp>
        <p:nvSpPr>
          <p:cNvPr id="86" name="TextBox 85"/>
          <p:cNvSpPr txBox="1"/>
          <p:nvPr/>
        </p:nvSpPr>
        <p:spPr>
          <a:xfrm>
            <a:off x="10835640" y="2624328"/>
            <a:ext cx="1301191" cy="164592"/>
          </a:xfrm>
          <a:prstGeom prst="rect">
            <a:avLst/>
          </a:prstGeom>
          <a:noFill/>
        </p:spPr>
        <p:txBody>
          <a:bodyPr wrap="square">
            <a:spAutoFit/>
          </a:bodyPr>
          <a:lstStyle/>
          <a:p>
            <a:pPr algn="l"/>
            <a:r>
              <a:rPr sz="600" b="0" i="0">
                <a:solidFill>
                  <a:srgbClr val="2C3E50"/>
                </a:solidFill>
                <a:latin typeface="Calibri"/>
              </a:rPr>
              <a:t>Distributed Tracing</a:t>
            </a:r>
          </a:p>
        </p:txBody>
      </p:sp>
      <p:sp>
        <p:nvSpPr>
          <p:cNvPr id="87" name="TextBox 86"/>
          <p:cNvSpPr txBox="1"/>
          <p:nvPr/>
        </p:nvSpPr>
        <p:spPr>
          <a:xfrm>
            <a:off x="10725912" y="2788920"/>
            <a:ext cx="109728" cy="164592"/>
          </a:xfrm>
          <a:prstGeom prst="rect">
            <a:avLst/>
          </a:prstGeom>
          <a:noFill/>
        </p:spPr>
        <p:txBody>
          <a:bodyPr wrap="square">
            <a:spAutoFit/>
          </a:bodyPr>
          <a:lstStyle/>
          <a:p>
            <a:pPr algn="l"/>
            <a:r>
              <a:rPr sz="600" b="1" i="0">
                <a:solidFill>
                  <a:srgbClr val="008E8E"/>
                </a:solidFill>
                <a:latin typeface="Calibri"/>
              </a:rPr>
              <a:t>•</a:t>
            </a:r>
          </a:p>
        </p:txBody>
      </p:sp>
      <p:sp>
        <p:nvSpPr>
          <p:cNvPr id="88" name="TextBox 87"/>
          <p:cNvSpPr txBox="1"/>
          <p:nvPr/>
        </p:nvSpPr>
        <p:spPr>
          <a:xfrm>
            <a:off x="10835640" y="2788920"/>
            <a:ext cx="1301191" cy="164592"/>
          </a:xfrm>
          <a:prstGeom prst="rect">
            <a:avLst/>
          </a:prstGeom>
          <a:noFill/>
        </p:spPr>
        <p:txBody>
          <a:bodyPr wrap="square">
            <a:spAutoFit/>
          </a:bodyPr>
          <a:lstStyle/>
          <a:p>
            <a:pPr algn="l"/>
            <a:r>
              <a:rPr sz="600" b="0" i="0">
                <a:solidFill>
                  <a:srgbClr val="2C3E50"/>
                </a:solidFill>
                <a:latin typeface="Calibri"/>
              </a:rPr>
              <a:t>Audit Trail</a:t>
            </a:r>
          </a:p>
        </p:txBody>
      </p:sp>
      <p:sp>
        <p:nvSpPr>
          <p:cNvPr id="89" name="TextBox 88"/>
          <p:cNvSpPr txBox="1"/>
          <p:nvPr/>
        </p:nvSpPr>
        <p:spPr>
          <a:xfrm>
            <a:off x="10725912" y="2953512"/>
            <a:ext cx="109728" cy="164592"/>
          </a:xfrm>
          <a:prstGeom prst="rect">
            <a:avLst/>
          </a:prstGeom>
          <a:noFill/>
        </p:spPr>
        <p:txBody>
          <a:bodyPr wrap="square">
            <a:spAutoFit/>
          </a:bodyPr>
          <a:lstStyle/>
          <a:p>
            <a:pPr algn="l"/>
            <a:r>
              <a:rPr sz="600" b="1" i="0">
                <a:solidFill>
                  <a:srgbClr val="008E8E"/>
                </a:solidFill>
                <a:latin typeface="Calibri"/>
              </a:rPr>
              <a:t>•</a:t>
            </a:r>
          </a:p>
        </p:txBody>
      </p:sp>
      <p:sp>
        <p:nvSpPr>
          <p:cNvPr id="90" name="TextBox 89"/>
          <p:cNvSpPr txBox="1"/>
          <p:nvPr/>
        </p:nvSpPr>
        <p:spPr>
          <a:xfrm>
            <a:off x="10835640" y="2953512"/>
            <a:ext cx="1301191" cy="164592"/>
          </a:xfrm>
          <a:prstGeom prst="rect">
            <a:avLst/>
          </a:prstGeom>
          <a:noFill/>
        </p:spPr>
        <p:txBody>
          <a:bodyPr wrap="square">
            <a:spAutoFit/>
          </a:bodyPr>
          <a:lstStyle/>
          <a:p>
            <a:pPr algn="l"/>
            <a:r>
              <a:rPr sz="600" b="0" i="0">
                <a:solidFill>
                  <a:srgbClr val="2C3E50"/>
                </a:solidFill>
                <a:latin typeface="Calibri"/>
              </a:rPr>
              <a:t>Health Dashboard</a:t>
            </a:r>
          </a:p>
        </p:txBody>
      </p:sp>
      <p:sp>
        <p:nvSpPr>
          <p:cNvPr id="91" name="TextBox 90"/>
          <p:cNvSpPr txBox="1"/>
          <p:nvPr/>
        </p:nvSpPr>
        <p:spPr>
          <a:xfrm>
            <a:off x="10725912" y="3118104"/>
            <a:ext cx="109728" cy="164592"/>
          </a:xfrm>
          <a:prstGeom prst="rect">
            <a:avLst/>
          </a:prstGeom>
          <a:noFill/>
        </p:spPr>
        <p:txBody>
          <a:bodyPr wrap="square">
            <a:spAutoFit/>
          </a:bodyPr>
          <a:lstStyle/>
          <a:p>
            <a:pPr algn="l"/>
            <a:r>
              <a:rPr sz="600" b="1" i="0">
                <a:solidFill>
                  <a:srgbClr val="008E8E"/>
                </a:solidFill>
                <a:latin typeface="Calibri"/>
              </a:rPr>
              <a:t>•</a:t>
            </a:r>
          </a:p>
        </p:txBody>
      </p:sp>
      <p:sp>
        <p:nvSpPr>
          <p:cNvPr id="92" name="TextBox 91"/>
          <p:cNvSpPr txBox="1"/>
          <p:nvPr/>
        </p:nvSpPr>
        <p:spPr>
          <a:xfrm>
            <a:off x="10835640" y="3118104"/>
            <a:ext cx="1301191" cy="164592"/>
          </a:xfrm>
          <a:prstGeom prst="rect">
            <a:avLst/>
          </a:prstGeom>
          <a:noFill/>
        </p:spPr>
        <p:txBody>
          <a:bodyPr wrap="square">
            <a:spAutoFit/>
          </a:bodyPr>
          <a:lstStyle/>
          <a:p>
            <a:pPr algn="l"/>
            <a:r>
              <a:rPr sz="600" b="0" i="0">
                <a:solidFill>
                  <a:srgbClr val="2C3E50"/>
                </a:solidFill>
                <a:latin typeface="Calibri"/>
              </a:rPr>
              <a:t>Alerts &amp; Notifications</a:t>
            </a:r>
          </a:p>
        </p:txBody>
      </p:sp>
      <p:sp>
        <p:nvSpPr>
          <p:cNvPr id="93" name="Rectangle 92"/>
          <p:cNvSpPr/>
          <p:nvPr/>
        </p:nvSpPr>
        <p:spPr>
          <a:xfrm>
            <a:off x="10671048" y="3337560"/>
            <a:ext cx="1484071" cy="1828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10707624" y="3364991"/>
            <a:ext cx="1410919" cy="155448"/>
          </a:xfrm>
          <a:prstGeom prst="rect">
            <a:avLst/>
          </a:prstGeom>
          <a:noFill/>
        </p:spPr>
        <p:txBody>
          <a:bodyPr wrap="square">
            <a:spAutoFit/>
          </a:bodyPr>
          <a:lstStyle/>
          <a:p>
            <a:pPr algn="l"/>
            <a:r>
              <a:rPr sz="650" b="1" i="0">
                <a:solidFill>
                  <a:srgbClr val="FFFFFF"/>
                </a:solidFill>
                <a:latin typeface="Calibri"/>
              </a:rPr>
              <a:t>🔒  SECURITY</a:t>
            </a:r>
          </a:p>
        </p:txBody>
      </p:sp>
      <p:sp>
        <p:nvSpPr>
          <p:cNvPr id="95" name="TextBox 94"/>
          <p:cNvSpPr txBox="1"/>
          <p:nvPr/>
        </p:nvSpPr>
        <p:spPr>
          <a:xfrm>
            <a:off x="10725912" y="3538728"/>
            <a:ext cx="109728" cy="164592"/>
          </a:xfrm>
          <a:prstGeom prst="rect">
            <a:avLst/>
          </a:prstGeom>
          <a:noFill/>
        </p:spPr>
        <p:txBody>
          <a:bodyPr wrap="square">
            <a:spAutoFit/>
          </a:bodyPr>
          <a:lstStyle/>
          <a:p>
            <a:pPr algn="l"/>
            <a:r>
              <a:rPr sz="600" b="1" i="0">
                <a:solidFill>
                  <a:srgbClr val="C0392B"/>
                </a:solidFill>
                <a:latin typeface="Calibri"/>
              </a:rPr>
              <a:t>•</a:t>
            </a:r>
          </a:p>
        </p:txBody>
      </p:sp>
      <p:sp>
        <p:nvSpPr>
          <p:cNvPr id="96" name="TextBox 95"/>
          <p:cNvSpPr txBox="1"/>
          <p:nvPr/>
        </p:nvSpPr>
        <p:spPr>
          <a:xfrm>
            <a:off x="10835640" y="3538728"/>
            <a:ext cx="1301191" cy="164592"/>
          </a:xfrm>
          <a:prstGeom prst="rect">
            <a:avLst/>
          </a:prstGeom>
          <a:noFill/>
        </p:spPr>
        <p:txBody>
          <a:bodyPr wrap="square">
            <a:spAutoFit/>
          </a:bodyPr>
          <a:lstStyle/>
          <a:p>
            <a:pPr algn="l"/>
            <a:r>
              <a:rPr sz="600" b="0" i="0">
                <a:solidFill>
                  <a:srgbClr val="2C3E50"/>
                </a:solidFill>
                <a:latin typeface="Calibri"/>
              </a:rPr>
              <a:t>SSO / MFA / RBAC</a:t>
            </a:r>
          </a:p>
        </p:txBody>
      </p:sp>
      <p:sp>
        <p:nvSpPr>
          <p:cNvPr id="97" name="TextBox 96"/>
          <p:cNvSpPr txBox="1"/>
          <p:nvPr/>
        </p:nvSpPr>
        <p:spPr>
          <a:xfrm>
            <a:off x="10725912" y="3703320"/>
            <a:ext cx="109728" cy="164592"/>
          </a:xfrm>
          <a:prstGeom prst="rect">
            <a:avLst/>
          </a:prstGeom>
          <a:noFill/>
        </p:spPr>
        <p:txBody>
          <a:bodyPr wrap="square">
            <a:spAutoFit/>
          </a:bodyPr>
          <a:lstStyle/>
          <a:p>
            <a:pPr algn="l"/>
            <a:r>
              <a:rPr sz="600" b="1" i="0">
                <a:solidFill>
                  <a:srgbClr val="C0392B"/>
                </a:solidFill>
                <a:latin typeface="Calibri"/>
              </a:rPr>
              <a:t>•</a:t>
            </a:r>
          </a:p>
        </p:txBody>
      </p:sp>
      <p:sp>
        <p:nvSpPr>
          <p:cNvPr id="98" name="TextBox 97"/>
          <p:cNvSpPr txBox="1"/>
          <p:nvPr/>
        </p:nvSpPr>
        <p:spPr>
          <a:xfrm>
            <a:off x="10835640" y="3703320"/>
            <a:ext cx="1301191" cy="164592"/>
          </a:xfrm>
          <a:prstGeom prst="rect">
            <a:avLst/>
          </a:prstGeom>
          <a:noFill/>
        </p:spPr>
        <p:txBody>
          <a:bodyPr wrap="square">
            <a:spAutoFit/>
          </a:bodyPr>
          <a:lstStyle/>
          <a:p>
            <a:pPr algn="l"/>
            <a:r>
              <a:rPr sz="600" b="0" i="0">
                <a:solidFill>
                  <a:srgbClr val="2C3E50"/>
                </a:solidFill>
                <a:latin typeface="Calibri"/>
              </a:rPr>
              <a:t>Secrets Management</a:t>
            </a:r>
          </a:p>
        </p:txBody>
      </p:sp>
      <p:sp>
        <p:nvSpPr>
          <p:cNvPr id="99" name="TextBox 98"/>
          <p:cNvSpPr txBox="1"/>
          <p:nvPr/>
        </p:nvSpPr>
        <p:spPr>
          <a:xfrm>
            <a:off x="10725912" y="3867912"/>
            <a:ext cx="109728" cy="164592"/>
          </a:xfrm>
          <a:prstGeom prst="rect">
            <a:avLst/>
          </a:prstGeom>
          <a:noFill/>
        </p:spPr>
        <p:txBody>
          <a:bodyPr wrap="square">
            <a:spAutoFit/>
          </a:bodyPr>
          <a:lstStyle/>
          <a:p>
            <a:pPr algn="l"/>
            <a:r>
              <a:rPr sz="600" b="1" i="0">
                <a:solidFill>
                  <a:srgbClr val="C0392B"/>
                </a:solidFill>
                <a:latin typeface="Calibri"/>
              </a:rPr>
              <a:t>•</a:t>
            </a:r>
          </a:p>
        </p:txBody>
      </p:sp>
      <p:sp>
        <p:nvSpPr>
          <p:cNvPr id="100" name="TextBox 99"/>
          <p:cNvSpPr txBox="1"/>
          <p:nvPr/>
        </p:nvSpPr>
        <p:spPr>
          <a:xfrm>
            <a:off x="10835640" y="3867912"/>
            <a:ext cx="1301191" cy="164592"/>
          </a:xfrm>
          <a:prstGeom prst="rect">
            <a:avLst/>
          </a:prstGeom>
          <a:noFill/>
        </p:spPr>
        <p:txBody>
          <a:bodyPr wrap="square">
            <a:spAutoFit/>
          </a:bodyPr>
          <a:lstStyle/>
          <a:p>
            <a:pPr algn="l"/>
            <a:r>
              <a:rPr sz="600" b="0" i="0">
                <a:solidFill>
                  <a:srgbClr val="2C3E50"/>
                </a:solidFill>
                <a:latin typeface="Calibri"/>
              </a:rPr>
              <a:t>Encryption (TLS/KMS)</a:t>
            </a:r>
          </a:p>
        </p:txBody>
      </p:sp>
      <p:sp>
        <p:nvSpPr>
          <p:cNvPr id="101" name="TextBox 100"/>
          <p:cNvSpPr txBox="1"/>
          <p:nvPr/>
        </p:nvSpPr>
        <p:spPr>
          <a:xfrm>
            <a:off x="10725912" y="4032504"/>
            <a:ext cx="109728" cy="164592"/>
          </a:xfrm>
          <a:prstGeom prst="rect">
            <a:avLst/>
          </a:prstGeom>
          <a:noFill/>
        </p:spPr>
        <p:txBody>
          <a:bodyPr wrap="square">
            <a:spAutoFit/>
          </a:bodyPr>
          <a:lstStyle/>
          <a:p>
            <a:pPr algn="l"/>
            <a:r>
              <a:rPr sz="600" b="1" i="0">
                <a:solidFill>
                  <a:srgbClr val="C0392B"/>
                </a:solidFill>
                <a:latin typeface="Calibri"/>
              </a:rPr>
              <a:t>•</a:t>
            </a:r>
          </a:p>
        </p:txBody>
      </p:sp>
      <p:sp>
        <p:nvSpPr>
          <p:cNvPr id="102" name="TextBox 101"/>
          <p:cNvSpPr txBox="1"/>
          <p:nvPr/>
        </p:nvSpPr>
        <p:spPr>
          <a:xfrm>
            <a:off x="10835640" y="4032504"/>
            <a:ext cx="1301191" cy="164592"/>
          </a:xfrm>
          <a:prstGeom prst="rect">
            <a:avLst/>
          </a:prstGeom>
          <a:noFill/>
        </p:spPr>
        <p:txBody>
          <a:bodyPr wrap="square">
            <a:spAutoFit/>
          </a:bodyPr>
          <a:lstStyle/>
          <a:p>
            <a:pPr algn="l"/>
            <a:r>
              <a:rPr sz="600" b="0" i="0">
                <a:solidFill>
                  <a:srgbClr val="2C3E50"/>
                </a:solidFill>
                <a:latin typeface="Calibri"/>
              </a:rPr>
              <a:t>Network Isolation</a:t>
            </a:r>
          </a:p>
        </p:txBody>
      </p:sp>
      <p:sp>
        <p:nvSpPr>
          <p:cNvPr id="103" name="TextBox 102"/>
          <p:cNvSpPr txBox="1"/>
          <p:nvPr/>
        </p:nvSpPr>
        <p:spPr>
          <a:xfrm>
            <a:off x="10725912" y="4197096"/>
            <a:ext cx="109728" cy="164592"/>
          </a:xfrm>
          <a:prstGeom prst="rect">
            <a:avLst/>
          </a:prstGeom>
          <a:noFill/>
        </p:spPr>
        <p:txBody>
          <a:bodyPr wrap="square">
            <a:spAutoFit/>
          </a:bodyPr>
          <a:lstStyle/>
          <a:p>
            <a:pPr algn="l"/>
            <a:r>
              <a:rPr sz="600" b="1" i="0">
                <a:solidFill>
                  <a:srgbClr val="C0392B"/>
                </a:solidFill>
                <a:latin typeface="Calibri"/>
              </a:rPr>
              <a:t>•</a:t>
            </a:r>
          </a:p>
        </p:txBody>
      </p:sp>
      <p:sp>
        <p:nvSpPr>
          <p:cNvPr id="104" name="TextBox 103"/>
          <p:cNvSpPr txBox="1"/>
          <p:nvPr/>
        </p:nvSpPr>
        <p:spPr>
          <a:xfrm>
            <a:off x="10835640" y="4197096"/>
            <a:ext cx="1301191" cy="164592"/>
          </a:xfrm>
          <a:prstGeom prst="rect">
            <a:avLst/>
          </a:prstGeom>
          <a:noFill/>
        </p:spPr>
        <p:txBody>
          <a:bodyPr wrap="square">
            <a:spAutoFit/>
          </a:bodyPr>
          <a:lstStyle/>
          <a:p>
            <a:pPr algn="l"/>
            <a:r>
              <a:rPr sz="600" b="0" i="0">
                <a:solidFill>
                  <a:srgbClr val="2C3E50"/>
                </a:solidFill>
                <a:latin typeface="Calibri"/>
              </a:rPr>
              <a:t>Threat Detection</a:t>
            </a:r>
          </a:p>
        </p:txBody>
      </p:sp>
      <p:sp>
        <p:nvSpPr>
          <p:cNvPr id="105" name="TextBox 104"/>
          <p:cNvSpPr txBox="1"/>
          <p:nvPr/>
        </p:nvSpPr>
        <p:spPr>
          <a:xfrm>
            <a:off x="10725912" y="4361688"/>
            <a:ext cx="109728" cy="164592"/>
          </a:xfrm>
          <a:prstGeom prst="rect">
            <a:avLst/>
          </a:prstGeom>
          <a:noFill/>
        </p:spPr>
        <p:txBody>
          <a:bodyPr wrap="square">
            <a:spAutoFit/>
          </a:bodyPr>
          <a:lstStyle/>
          <a:p>
            <a:pPr algn="l"/>
            <a:r>
              <a:rPr sz="600" b="1" i="0">
                <a:solidFill>
                  <a:srgbClr val="C0392B"/>
                </a:solidFill>
                <a:latin typeface="Calibri"/>
              </a:rPr>
              <a:t>•</a:t>
            </a:r>
          </a:p>
        </p:txBody>
      </p:sp>
      <p:sp>
        <p:nvSpPr>
          <p:cNvPr id="106" name="TextBox 105"/>
          <p:cNvSpPr txBox="1"/>
          <p:nvPr/>
        </p:nvSpPr>
        <p:spPr>
          <a:xfrm>
            <a:off x="10835640" y="4361688"/>
            <a:ext cx="1301191" cy="164592"/>
          </a:xfrm>
          <a:prstGeom prst="rect">
            <a:avLst/>
          </a:prstGeom>
          <a:noFill/>
        </p:spPr>
        <p:txBody>
          <a:bodyPr wrap="square">
            <a:spAutoFit/>
          </a:bodyPr>
          <a:lstStyle/>
          <a:p>
            <a:pPr algn="l"/>
            <a:r>
              <a:rPr sz="600" b="0" i="0">
                <a:solidFill>
                  <a:srgbClr val="2C3E50"/>
                </a:solidFill>
                <a:latin typeface="Calibri"/>
              </a:rPr>
              <a:t>Posture Management</a:t>
            </a:r>
          </a:p>
        </p:txBody>
      </p:sp>
      <p:sp>
        <p:nvSpPr>
          <p:cNvPr id="107" name="Rectangle 106"/>
          <p:cNvSpPr/>
          <p:nvPr/>
        </p:nvSpPr>
        <p:spPr>
          <a:xfrm>
            <a:off x="10671048" y="4581144"/>
            <a:ext cx="1484071" cy="182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10707624" y="4608576"/>
            <a:ext cx="1410919" cy="155448"/>
          </a:xfrm>
          <a:prstGeom prst="rect">
            <a:avLst/>
          </a:prstGeom>
          <a:noFill/>
        </p:spPr>
        <p:txBody>
          <a:bodyPr wrap="square">
            <a:spAutoFit/>
          </a:bodyPr>
          <a:lstStyle/>
          <a:p>
            <a:pPr algn="l"/>
            <a:r>
              <a:rPr sz="650" b="1" i="0">
                <a:solidFill>
                  <a:srgbClr val="FFFFFF"/>
                </a:solidFill>
                <a:latin typeface="Calibri"/>
              </a:rPr>
              <a:t>✅  COMPLIANCE</a:t>
            </a:r>
          </a:p>
        </p:txBody>
      </p:sp>
      <p:sp>
        <p:nvSpPr>
          <p:cNvPr id="109" name="Rounded Rectangle 108"/>
          <p:cNvSpPr/>
          <p:nvPr/>
        </p:nvSpPr>
        <p:spPr>
          <a:xfrm>
            <a:off x="10707624" y="4782312"/>
            <a:ext cx="1410919" cy="182880"/>
          </a:xfrm>
          <a:prstGeom prst="roundRect">
            <a:avLst>
              <a:gd name="adj" fmla="val 4000"/>
            </a:avLst>
          </a:prstGeom>
          <a:solidFill>
            <a:srgbClr val="FFFFFF"/>
          </a:solidFill>
          <a:ln w="635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10725912" y="4809744"/>
            <a:ext cx="1374343" cy="146304"/>
          </a:xfrm>
          <a:prstGeom prst="rect">
            <a:avLst/>
          </a:prstGeom>
          <a:noFill/>
        </p:spPr>
        <p:txBody>
          <a:bodyPr wrap="square">
            <a:spAutoFit/>
          </a:bodyPr>
          <a:lstStyle/>
          <a:p>
            <a:pPr algn="ctr"/>
            <a:r>
              <a:rPr sz="600" b="1" i="0">
                <a:solidFill>
                  <a:srgbClr val="0D1B3E"/>
                </a:solidFill>
                <a:latin typeface="Calibri"/>
              </a:rPr>
              <a:t>ISO 27001</a:t>
            </a:r>
          </a:p>
        </p:txBody>
      </p:sp>
      <p:sp>
        <p:nvSpPr>
          <p:cNvPr id="111" name="Rounded Rectangle 110"/>
          <p:cNvSpPr/>
          <p:nvPr/>
        </p:nvSpPr>
        <p:spPr>
          <a:xfrm>
            <a:off x="10707624" y="4992624"/>
            <a:ext cx="1410919" cy="182880"/>
          </a:xfrm>
          <a:prstGeom prst="roundRect">
            <a:avLst>
              <a:gd name="adj" fmla="val 4000"/>
            </a:avLst>
          </a:prstGeom>
          <a:solidFill>
            <a:srgbClr val="FFFFFF"/>
          </a:solidFill>
          <a:ln w="635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10725912" y="5020056"/>
            <a:ext cx="1374343" cy="146304"/>
          </a:xfrm>
          <a:prstGeom prst="rect">
            <a:avLst/>
          </a:prstGeom>
          <a:noFill/>
        </p:spPr>
        <p:txBody>
          <a:bodyPr wrap="square">
            <a:spAutoFit/>
          </a:bodyPr>
          <a:lstStyle/>
          <a:p>
            <a:pPr algn="ctr"/>
            <a:r>
              <a:rPr sz="600" b="1" i="0">
                <a:solidFill>
                  <a:srgbClr val="0D1B3E"/>
                </a:solidFill>
                <a:latin typeface="Calibri"/>
              </a:rPr>
              <a:t>SOC 2 Type II</a:t>
            </a:r>
          </a:p>
        </p:txBody>
      </p:sp>
      <p:sp>
        <p:nvSpPr>
          <p:cNvPr id="113" name="Rounded Rectangle 112"/>
          <p:cNvSpPr/>
          <p:nvPr/>
        </p:nvSpPr>
        <p:spPr>
          <a:xfrm>
            <a:off x="10707624" y="5202936"/>
            <a:ext cx="1410919" cy="182880"/>
          </a:xfrm>
          <a:prstGeom prst="roundRect">
            <a:avLst>
              <a:gd name="adj" fmla="val 4000"/>
            </a:avLst>
          </a:prstGeom>
          <a:solidFill>
            <a:srgbClr val="FFFFFF"/>
          </a:solidFill>
          <a:ln w="635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10725912" y="5230368"/>
            <a:ext cx="1374343" cy="146304"/>
          </a:xfrm>
          <a:prstGeom prst="rect">
            <a:avLst/>
          </a:prstGeom>
          <a:noFill/>
        </p:spPr>
        <p:txBody>
          <a:bodyPr wrap="square">
            <a:spAutoFit/>
          </a:bodyPr>
          <a:lstStyle/>
          <a:p>
            <a:pPr algn="ctr"/>
            <a:r>
              <a:rPr sz="600" b="1" i="0">
                <a:solidFill>
                  <a:srgbClr val="0D1B3E"/>
                </a:solidFill>
                <a:latin typeface="Calibri"/>
              </a:rPr>
              <a:t>GDPR</a:t>
            </a:r>
          </a:p>
        </p:txBody>
      </p:sp>
      <p:sp>
        <p:nvSpPr>
          <p:cNvPr id="115" name="Rounded Rectangle 114"/>
          <p:cNvSpPr/>
          <p:nvPr/>
        </p:nvSpPr>
        <p:spPr>
          <a:xfrm>
            <a:off x="10707624" y="5413248"/>
            <a:ext cx="1410919" cy="182880"/>
          </a:xfrm>
          <a:prstGeom prst="roundRect">
            <a:avLst>
              <a:gd name="adj" fmla="val 4000"/>
            </a:avLst>
          </a:prstGeom>
          <a:solidFill>
            <a:srgbClr val="FFFFFF"/>
          </a:solidFill>
          <a:ln w="635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10725912" y="5440680"/>
            <a:ext cx="1374343" cy="146304"/>
          </a:xfrm>
          <a:prstGeom prst="rect">
            <a:avLst/>
          </a:prstGeom>
          <a:noFill/>
        </p:spPr>
        <p:txBody>
          <a:bodyPr wrap="square">
            <a:spAutoFit/>
          </a:bodyPr>
          <a:lstStyle/>
          <a:p>
            <a:pPr algn="ctr"/>
            <a:r>
              <a:rPr sz="600" b="1" i="0">
                <a:solidFill>
                  <a:srgbClr val="0D1B3E"/>
                </a:solidFill>
                <a:latin typeface="Calibri"/>
              </a:rPr>
              <a:t>HIPAA</a:t>
            </a:r>
          </a:p>
        </p:txBody>
      </p:sp>
      <p:sp>
        <p:nvSpPr>
          <p:cNvPr id="117" name="Rounded Rectangle 116"/>
          <p:cNvSpPr/>
          <p:nvPr/>
        </p:nvSpPr>
        <p:spPr>
          <a:xfrm>
            <a:off x="10707624" y="5623560"/>
            <a:ext cx="1410919" cy="182880"/>
          </a:xfrm>
          <a:prstGeom prst="roundRect">
            <a:avLst>
              <a:gd name="adj" fmla="val 4000"/>
            </a:avLst>
          </a:prstGeom>
          <a:solidFill>
            <a:srgbClr val="FFFFFF"/>
          </a:solidFill>
          <a:ln w="635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10725912" y="5650992"/>
            <a:ext cx="1374343" cy="146304"/>
          </a:xfrm>
          <a:prstGeom prst="rect">
            <a:avLst/>
          </a:prstGeom>
          <a:noFill/>
        </p:spPr>
        <p:txBody>
          <a:bodyPr wrap="square">
            <a:spAutoFit/>
          </a:bodyPr>
          <a:lstStyle/>
          <a:p>
            <a:pPr algn="ctr"/>
            <a:r>
              <a:rPr sz="600" b="1" i="0">
                <a:solidFill>
                  <a:srgbClr val="0D1B3E"/>
                </a:solidFill>
                <a:latin typeface="Calibri"/>
              </a:rPr>
              <a:t>PCI DSS</a:t>
            </a:r>
          </a:p>
        </p:txBody>
      </p:sp>
      <p:sp>
        <p:nvSpPr>
          <p:cNvPr id="119" name="Rounded Rectangle 118"/>
          <p:cNvSpPr/>
          <p:nvPr/>
        </p:nvSpPr>
        <p:spPr>
          <a:xfrm>
            <a:off x="1417320" y="594360"/>
            <a:ext cx="9198864" cy="274320"/>
          </a:xfrm>
          <a:prstGeom prst="roundRect">
            <a:avLst>
              <a:gd name="adj" fmla="val 6000"/>
            </a:avLst>
          </a:prstGeom>
          <a:solidFill>
            <a:srgbClr val="E8F4FF"/>
          </a:solidFill>
          <a:ln w="10160">
            <a:solidFill>
              <a:srgbClr val="007A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1417320" y="594360"/>
            <a:ext cx="9198864" cy="182880"/>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1463040" y="608076"/>
            <a:ext cx="9107424" cy="182880"/>
          </a:xfrm>
          <a:prstGeom prst="rect">
            <a:avLst/>
          </a:prstGeom>
          <a:noFill/>
        </p:spPr>
        <p:txBody>
          <a:bodyPr wrap="square">
            <a:spAutoFit/>
          </a:bodyPr>
          <a:lstStyle/>
          <a:p>
            <a:pPr algn="ctr"/>
            <a:r>
              <a:rPr sz="700" b="1" i="0">
                <a:solidFill>
                  <a:srgbClr val="FFFFFF"/>
                </a:solidFill>
                <a:latin typeface="Calibri"/>
              </a:rPr>
              <a:t>USERS &amp; CHANNELS</a:t>
            </a:r>
          </a:p>
        </p:txBody>
      </p:sp>
      <p:sp>
        <p:nvSpPr>
          <p:cNvPr id="122" name="Rounded Rectangle 121"/>
          <p:cNvSpPr/>
          <p:nvPr/>
        </p:nvSpPr>
        <p:spPr>
          <a:xfrm>
            <a:off x="1426464" y="795528"/>
            <a:ext cx="1131570" cy="54864"/>
          </a:xfrm>
          <a:prstGeom prst="roundRect">
            <a:avLst>
              <a:gd name="adj" fmla="val 3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1426464" y="795528"/>
            <a:ext cx="1131570" cy="73152"/>
          </a:xfrm>
          <a:prstGeom prst="rect">
            <a:avLst/>
          </a:prstGeom>
          <a:noFill/>
        </p:spPr>
        <p:txBody>
          <a:bodyPr wrap="square">
            <a:spAutoFit/>
          </a:bodyPr>
          <a:lstStyle/>
          <a:p>
            <a:pPr algn="ctr"/>
            <a:r>
              <a:rPr sz="600" b="1" i="0">
                <a:solidFill>
                  <a:srgbClr val="0D1B3E"/>
                </a:solidFill>
                <a:latin typeface="Calibri"/>
              </a:rPr>
              <a:t>🌐 Web App</a:t>
            </a:r>
          </a:p>
        </p:txBody>
      </p:sp>
      <p:sp>
        <p:nvSpPr>
          <p:cNvPr id="124" name="Rounded Rectangle 123"/>
          <p:cNvSpPr/>
          <p:nvPr/>
        </p:nvSpPr>
        <p:spPr>
          <a:xfrm>
            <a:off x="2576322" y="795528"/>
            <a:ext cx="1131570" cy="54864"/>
          </a:xfrm>
          <a:prstGeom prst="roundRect">
            <a:avLst>
              <a:gd name="adj" fmla="val 3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2576322" y="795528"/>
            <a:ext cx="1131570" cy="73152"/>
          </a:xfrm>
          <a:prstGeom prst="rect">
            <a:avLst/>
          </a:prstGeom>
          <a:noFill/>
        </p:spPr>
        <p:txBody>
          <a:bodyPr wrap="square">
            <a:spAutoFit/>
          </a:bodyPr>
          <a:lstStyle/>
          <a:p>
            <a:pPr algn="ctr"/>
            <a:r>
              <a:rPr sz="600" b="1" i="0">
                <a:solidFill>
                  <a:srgbClr val="0D1B3E"/>
                </a:solidFill>
                <a:latin typeface="Calibri"/>
              </a:rPr>
              <a:t>📱 Mobile</a:t>
            </a:r>
          </a:p>
        </p:txBody>
      </p:sp>
      <p:sp>
        <p:nvSpPr>
          <p:cNvPr id="126" name="Rounded Rectangle 125"/>
          <p:cNvSpPr/>
          <p:nvPr/>
        </p:nvSpPr>
        <p:spPr>
          <a:xfrm>
            <a:off x="3726180" y="795528"/>
            <a:ext cx="1131570" cy="54864"/>
          </a:xfrm>
          <a:prstGeom prst="roundRect">
            <a:avLst>
              <a:gd name="adj" fmla="val 3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3726180" y="795528"/>
            <a:ext cx="1131570" cy="73152"/>
          </a:xfrm>
          <a:prstGeom prst="rect">
            <a:avLst/>
          </a:prstGeom>
          <a:noFill/>
        </p:spPr>
        <p:txBody>
          <a:bodyPr wrap="square">
            <a:spAutoFit/>
          </a:bodyPr>
          <a:lstStyle/>
          <a:p>
            <a:pPr algn="ctr"/>
            <a:r>
              <a:rPr sz="600" b="1" i="0">
                <a:solidFill>
                  <a:srgbClr val="0D1B3E"/>
                </a:solidFill>
                <a:latin typeface="Calibri"/>
              </a:rPr>
              <a:t>💬 MS Teams</a:t>
            </a:r>
          </a:p>
        </p:txBody>
      </p:sp>
      <p:sp>
        <p:nvSpPr>
          <p:cNvPr id="128" name="Rounded Rectangle 127"/>
          <p:cNvSpPr/>
          <p:nvPr/>
        </p:nvSpPr>
        <p:spPr>
          <a:xfrm>
            <a:off x="4876038" y="795528"/>
            <a:ext cx="1131570" cy="54864"/>
          </a:xfrm>
          <a:prstGeom prst="roundRect">
            <a:avLst>
              <a:gd name="adj" fmla="val 3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p:cNvSpPr txBox="1"/>
          <p:nvPr/>
        </p:nvSpPr>
        <p:spPr>
          <a:xfrm>
            <a:off x="4876038" y="795528"/>
            <a:ext cx="1131570" cy="73152"/>
          </a:xfrm>
          <a:prstGeom prst="rect">
            <a:avLst/>
          </a:prstGeom>
          <a:noFill/>
        </p:spPr>
        <p:txBody>
          <a:bodyPr wrap="square">
            <a:spAutoFit/>
          </a:bodyPr>
          <a:lstStyle/>
          <a:p>
            <a:pPr algn="ctr"/>
            <a:r>
              <a:rPr sz="600" b="1" i="0">
                <a:solidFill>
                  <a:srgbClr val="0D1B3E"/>
                </a:solidFill>
                <a:latin typeface="Calibri"/>
              </a:rPr>
              <a:t>📢 Slack</a:t>
            </a:r>
          </a:p>
        </p:txBody>
      </p:sp>
      <p:sp>
        <p:nvSpPr>
          <p:cNvPr id="130" name="Rounded Rectangle 129"/>
          <p:cNvSpPr/>
          <p:nvPr/>
        </p:nvSpPr>
        <p:spPr>
          <a:xfrm>
            <a:off x="6025896" y="795528"/>
            <a:ext cx="1131570" cy="54864"/>
          </a:xfrm>
          <a:prstGeom prst="roundRect">
            <a:avLst>
              <a:gd name="adj" fmla="val 3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6025896" y="795528"/>
            <a:ext cx="1131570" cy="73152"/>
          </a:xfrm>
          <a:prstGeom prst="rect">
            <a:avLst/>
          </a:prstGeom>
          <a:noFill/>
        </p:spPr>
        <p:txBody>
          <a:bodyPr wrap="square">
            <a:spAutoFit/>
          </a:bodyPr>
          <a:lstStyle/>
          <a:p>
            <a:pPr algn="ctr"/>
            <a:r>
              <a:rPr sz="600" b="1" i="0">
                <a:solidFill>
                  <a:srgbClr val="0D1B3E"/>
                </a:solidFill>
                <a:latin typeface="Calibri"/>
              </a:rPr>
              <a:t>📧 Email</a:t>
            </a:r>
          </a:p>
        </p:txBody>
      </p:sp>
      <p:sp>
        <p:nvSpPr>
          <p:cNvPr id="132" name="Rounded Rectangle 131"/>
          <p:cNvSpPr/>
          <p:nvPr/>
        </p:nvSpPr>
        <p:spPr>
          <a:xfrm>
            <a:off x="7175754" y="795528"/>
            <a:ext cx="1131570" cy="54864"/>
          </a:xfrm>
          <a:prstGeom prst="roundRect">
            <a:avLst>
              <a:gd name="adj" fmla="val 3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7175754" y="795528"/>
            <a:ext cx="1131570" cy="73152"/>
          </a:xfrm>
          <a:prstGeom prst="rect">
            <a:avLst/>
          </a:prstGeom>
          <a:noFill/>
        </p:spPr>
        <p:txBody>
          <a:bodyPr wrap="square">
            <a:spAutoFit/>
          </a:bodyPr>
          <a:lstStyle/>
          <a:p>
            <a:pPr algn="ctr"/>
            <a:r>
              <a:rPr sz="600" b="1" i="0">
                <a:solidFill>
                  <a:srgbClr val="0D1B3E"/>
                </a:solidFill>
                <a:latin typeface="Calibri"/>
              </a:rPr>
              <a:t>📞 Voice / IVR</a:t>
            </a:r>
          </a:p>
        </p:txBody>
      </p:sp>
      <p:sp>
        <p:nvSpPr>
          <p:cNvPr id="134" name="Rounded Rectangle 133"/>
          <p:cNvSpPr/>
          <p:nvPr/>
        </p:nvSpPr>
        <p:spPr>
          <a:xfrm>
            <a:off x="8325612" y="795528"/>
            <a:ext cx="1131570" cy="54864"/>
          </a:xfrm>
          <a:prstGeom prst="roundRect">
            <a:avLst>
              <a:gd name="adj" fmla="val 3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8325612" y="795528"/>
            <a:ext cx="1131570" cy="73152"/>
          </a:xfrm>
          <a:prstGeom prst="rect">
            <a:avLst/>
          </a:prstGeom>
          <a:noFill/>
        </p:spPr>
        <p:txBody>
          <a:bodyPr wrap="square">
            <a:spAutoFit/>
          </a:bodyPr>
          <a:lstStyle/>
          <a:p>
            <a:pPr algn="ctr"/>
            <a:r>
              <a:rPr sz="600" b="1" i="0">
                <a:solidFill>
                  <a:srgbClr val="0D1B3E"/>
                </a:solidFill>
                <a:latin typeface="Calibri"/>
              </a:rPr>
              <a:t>🔌 API Clients</a:t>
            </a:r>
          </a:p>
        </p:txBody>
      </p:sp>
      <p:sp>
        <p:nvSpPr>
          <p:cNvPr id="136" name="Rounded Rectangle 135"/>
          <p:cNvSpPr/>
          <p:nvPr/>
        </p:nvSpPr>
        <p:spPr>
          <a:xfrm>
            <a:off x="9475470" y="795528"/>
            <a:ext cx="1131570" cy="54864"/>
          </a:xfrm>
          <a:prstGeom prst="roundRect">
            <a:avLst>
              <a:gd name="adj" fmla="val 3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9475470" y="795528"/>
            <a:ext cx="1131570" cy="73152"/>
          </a:xfrm>
          <a:prstGeom prst="rect">
            <a:avLst/>
          </a:prstGeom>
          <a:noFill/>
        </p:spPr>
        <p:txBody>
          <a:bodyPr wrap="square">
            <a:spAutoFit/>
          </a:bodyPr>
          <a:lstStyle/>
          <a:p>
            <a:pPr algn="ctr"/>
            <a:r>
              <a:rPr sz="600" b="1" i="0">
                <a:solidFill>
                  <a:srgbClr val="0D1B3E"/>
                </a:solidFill>
                <a:latin typeface="Calibri"/>
              </a:rPr>
              <a:t>🖥 Service Portal</a:t>
            </a:r>
          </a:p>
        </p:txBody>
      </p:sp>
      <p:sp>
        <p:nvSpPr>
          <p:cNvPr id="138" name="Rounded Rectangle 137"/>
          <p:cNvSpPr/>
          <p:nvPr/>
        </p:nvSpPr>
        <p:spPr>
          <a:xfrm>
            <a:off x="1417320" y="905256"/>
            <a:ext cx="9198864" cy="1572768"/>
          </a:xfrm>
          <a:prstGeom prst="roundRect">
            <a:avLst>
              <a:gd name="adj" fmla="val 6000"/>
            </a:avLst>
          </a:prstGeom>
          <a:solidFill>
            <a:srgbClr val="E3F2FD"/>
          </a:solidFill>
          <a:ln w="1270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ectangle 138"/>
          <p:cNvSpPr/>
          <p:nvPr/>
        </p:nvSpPr>
        <p:spPr>
          <a:xfrm>
            <a:off x="1417320" y="905256"/>
            <a:ext cx="9198864" cy="18288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1463040" y="918971"/>
            <a:ext cx="9107424" cy="182880"/>
          </a:xfrm>
          <a:prstGeom prst="rect">
            <a:avLst/>
          </a:prstGeom>
          <a:noFill/>
        </p:spPr>
        <p:txBody>
          <a:bodyPr wrap="square">
            <a:spAutoFit/>
          </a:bodyPr>
          <a:lstStyle/>
          <a:p>
            <a:pPr algn="ctr"/>
            <a:r>
              <a:rPr sz="750" b="1" i="0">
                <a:solidFill>
                  <a:srgbClr val="FFFFFF"/>
                </a:solidFill>
                <a:latin typeface="Calibri"/>
              </a:rPr>
              <a:t>🤖  AGENT ORCHESTRATION LAYER</a:t>
            </a:r>
          </a:p>
        </p:txBody>
      </p:sp>
      <p:sp>
        <p:nvSpPr>
          <p:cNvPr id="141" name="Rounded Rectangle 140"/>
          <p:cNvSpPr/>
          <p:nvPr/>
        </p:nvSpPr>
        <p:spPr>
          <a:xfrm>
            <a:off x="4553712" y="1124712"/>
            <a:ext cx="2926080" cy="777240"/>
          </a:xfrm>
          <a:prstGeom prst="roundRect">
            <a:avLst>
              <a:gd name="adj" fmla="val 8000"/>
            </a:avLst>
          </a:prstGeom>
          <a:solidFill>
            <a:srgbClr val="FFFFFF"/>
          </a:solidFill>
          <a:ln w="1524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5907024" y="1179576"/>
            <a:ext cx="219456" cy="219456"/>
          </a:xfrm>
          <a:prstGeom prst="rect">
            <a:avLst/>
          </a:prstGeom>
          <a:noFill/>
        </p:spPr>
        <p:txBody>
          <a:bodyPr wrap="square">
            <a:spAutoFit/>
          </a:bodyPr>
          <a:lstStyle/>
          <a:p>
            <a:pPr algn="ctr"/>
            <a:r>
              <a:rPr sz="1600" b="0" i="0">
                <a:solidFill>
                  <a:srgbClr val="0D47A1"/>
                </a:solidFill>
                <a:latin typeface="Calibri"/>
              </a:rPr>
              <a:t>🧠</a:t>
            </a:r>
          </a:p>
        </p:txBody>
      </p:sp>
      <p:sp>
        <p:nvSpPr>
          <p:cNvPr id="143" name="TextBox 142"/>
          <p:cNvSpPr txBox="1"/>
          <p:nvPr/>
        </p:nvSpPr>
        <p:spPr>
          <a:xfrm>
            <a:off x="4645152" y="1435608"/>
            <a:ext cx="2743200" cy="201168"/>
          </a:xfrm>
          <a:prstGeom prst="rect">
            <a:avLst/>
          </a:prstGeom>
          <a:noFill/>
        </p:spPr>
        <p:txBody>
          <a:bodyPr wrap="square">
            <a:spAutoFit/>
          </a:bodyPr>
          <a:lstStyle/>
          <a:p>
            <a:pPr algn="ctr"/>
            <a:r>
              <a:rPr sz="700" b="1" i="0">
                <a:solidFill>
                  <a:srgbClr val="0D47A1"/>
                </a:solidFill>
                <a:latin typeface="Calibri"/>
              </a:rPr>
              <a:t>SUPERVISOR / ORCHESTRATOR AGENT</a:t>
            </a:r>
          </a:p>
        </p:txBody>
      </p:sp>
      <p:sp>
        <p:nvSpPr>
          <p:cNvPr id="144" name="TextBox 143"/>
          <p:cNvSpPr txBox="1"/>
          <p:nvPr/>
        </p:nvSpPr>
        <p:spPr>
          <a:xfrm>
            <a:off x="4645152" y="1618488"/>
            <a:ext cx="2743200" cy="237744"/>
          </a:xfrm>
          <a:prstGeom prst="rect">
            <a:avLst/>
          </a:prstGeom>
          <a:noFill/>
        </p:spPr>
        <p:txBody>
          <a:bodyPr wrap="square">
            <a:spAutoFit/>
          </a:bodyPr>
          <a:lstStyle/>
          <a:p>
            <a:pPr algn="ctr"/>
            <a:r>
              <a:rPr sz="600" b="0" i="0">
                <a:solidFill>
                  <a:srgbClr val="2C3E50"/>
                </a:solidFill>
                <a:latin typeface="Calibri"/>
              </a:rPr>
              <a:t>Plans, delegates &amp; synthesises results from specialist agents</a:t>
            </a:r>
          </a:p>
        </p:txBody>
      </p:sp>
      <p:sp>
        <p:nvSpPr>
          <p:cNvPr id="145" name="Rounded Rectangle 144"/>
          <p:cNvSpPr/>
          <p:nvPr/>
        </p:nvSpPr>
        <p:spPr>
          <a:xfrm>
            <a:off x="7708392" y="1124712"/>
            <a:ext cx="1828800" cy="777240"/>
          </a:xfrm>
          <a:prstGeom prst="roundRect">
            <a:avLst>
              <a:gd name="adj" fmla="val 6000"/>
            </a:avLst>
          </a:prstGeom>
          <a:solidFill>
            <a:srgbClr val="FFFFFF"/>
          </a:solidFill>
          <a:ln w="1016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7754112" y="1161288"/>
            <a:ext cx="1737360" cy="164592"/>
          </a:xfrm>
          <a:prstGeom prst="rect">
            <a:avLst/>
          </a:prstGeom>
          <a:noFill/>
        </p:spPr>
        <p:txBody>
          <a:bodyPr wrap="square">
            <a:spAutoFit/>
          </a:bodyPr>
          <a:lstStyle/>
          <a:p>
            <a:pPr algn="l"/>
            <a:r>
              <a:rPr sz="650" b="1" i="0">
                <a:solidFill>
                  <a:srgbClr val="0D47A1"/>
                </a:solidFill>
                <a:latin typeface="Calibri"/>
              </a:rPr>
              <a:t>Agent Capabilities</a:t>
            </a:r>
          </a:p>
        </p:txBody>
      </p:sp>
      <p:sp>
        <p:nvSpPr>
          <p:cNvPr id="147" name="TextBox 146"/>
          <p:cNvSpPr txBox="1"/>
          <p:nvPr/>
        </p:nvSpPr>
        <p:spPr>
          <a:xfrm>
            <a:off x="7754112" y="1325880"/>
            <a:ext cx="109728" cy="73152"/>
          </a:xfrm>
          <a:prstGeom prst="rect">
            <a:avLst/>
          </a:prstGeom>
          <a:noFill/>
        </p:spPr>
        <p:txBody>
          <a:bodyPr wrap="square">
            <a:spAutoFit/>
          </a:bodyPr>
          <a:lstStyle/>
          <a:p>
            <a:pPr algn="l"/>
            <a:r>
              <a:rPr sz="550" b="1" i="0">
                <a:solidFill>
                  <a:srgbClr val="0D47A1"/>
                </a:solidFill>
                <a:latin typeface="Calibri"/>
              </a:rPr>
              <a:t>•</a:t>
            </a:r>
          </a:p>
        </p:txBody>
      </p:sp>
      <p:sp>
        <p:nvSpPr>
          <p:cNvPr id="148" name="TextBox 147"/>
          <p:cNvSpPr txBox="1"/>
          <p:nvPr/>
        </p:nvSpPr>
        <p:spPr>
          <a:xfrm>
            <a:off x="7863840" y="1325880"/>
            <a:ext cx="1645919" cy="73152"/>
          </a:xfrm>
          <a:prstGeom prst="rect">
            <a:avLst/>
          </a:prstGeom>
          <a:noFill/>
        </p:spPr>
        <p:txBody>
          <a:bodyPr wrap="square">
            <a:spAutoFit/>
          </a:bodyPr>
          <a:lstStyle/>
          <a:p>
            <a:pPr algn="l"/>
            <a:r>
              <a:rPr sz="550" b="0" i="0">
                <a:solidFill>
                  <a:srgbClr val="2C3E50"/>
                </a:solidFill>
                <a:latin typeface="Calibri"/>
              </a:rPr>
              <a:t>Planning &amp; Reasoning</a:t>
            </a:r>
          </a:p>
        </p:txBody>
      </p:sp>
      <p:sp>
        <p:nvSpPr>
          <p:cNvPr id="149" name="TextBox 148"/>
          <p:cNvSpPr txBox="1"/>
          <p:nvPr/>
        </p:nvSpPr>
        <p:spPr>
          <a:xfrm>
            <a:off x="7754112" y="1399032"/>
            <a:ext cx="109728" cy="73152"/>
          </a:xfrm>
          <a:prstGeom prst="rect">
            <a:avLst/>
          </a:prstGeom>
          <a:noFill/>
        </p:spPr>
        <p:txBody>
          <a:bodyPr wrap="square">
            <a:spAutoFit/>
          </a:bodyPr>
          <a:lstStyle/>
          <a:p>
            <a:pPr algn="l"/>
            <a:r>
              <a:rPr sz="550" b="1" i="0">
                <a:solidFill>
                  <a:srgbClr val="0D47A1"/>
                </a:solidFill>
                <a:latin typeface="Calibri"/>
              </a:rPr>
              <a:t>•</a:t>
            </a:r>
          </a:p>
        </p:txBody>
      </p:sp>
      <p:sp>
        <p:nvSpPr>
          <p:cNvPr id="150" name="TextBox 149"/>
          <p:cNvSpPr txBox="1"/>
          <p:nvPr/>
        </p:nvSpPr>
        <p:spPr>
          <a:xfrm>
            <a:off x="7863840" y="1399032"/>
            <a:ext cx="1645919" cy="73152"/>
          </a:xfrm>
          <a:prstGeom prst="rect">
            <a:avLst/>
          </a:prstGeom>
          <a:noFill/>
        </p:spPr>
        <p:txBody>
          <a:bodyPr wrap="square">
            <a:spAutoFit/>
          </a:bodyPr>
          <a:lstStyle/>
          <a:p>
            <a:pPr algn="l"/>
            <a:r>
              <a:rPr sz="550" b="0" i="0">
                <a:solidFill>
                  <a:srgbClr val="2C3E50"/>
                </a:solidFill>
                <a:latin typeface="Calibri"/>
              </a:rPr>
              <a:t>Tool Use / Functions</a:t>
            </a:r>
          </a:p>
        </p:txBody>
      </p:sp>
      <p:sp>
        <p:nvSpPr>
          <p:cNvPr id="151" name="TextBox 150"/>
          <p:cNvSpPr txBox="1"/>
          <p:nvPr/>
        </p:nvSpPr>
        <p:spPr>
          <a:xfrm>
            <a:off x="7754112" y="1472184"/>
            <a:ext cx="109728" cy="73152"/>
          </a:xfrm>
          <a:prstGeom prst="rect">
            <a:avLst/>
          </a:prstGeom>
          <a:noFill/>
        </p:spPr>
        <p:txBody>
          <a:bodyPr wrap="square">
            <a:spAutoFit/>
          </a:bodyPr>
          <a:lstStyle/>
          <a:p>
            <a:pPr algn="l"/>
            <a:r>
              <a:rPr sz="550" b="1" i="0">
                <a:solidFill>
                  <a:srgbClr val="0D47A1"/>
                </a:solidFill>
                <a:latin typeface="Calibri"/>
              </a:rPr>
              <a:t>•</a:t>
            </a:r>
          </a:p>
        </p:txBody>
      </p:sp>
      <p:sp>
        <p:nvSpPr>
          <p:cNvPr id="152" name="TextBox 151"/>
          <p:cNvSpPr txBox="1"/>
          <p:nvPr/>
        </p:nvSpPr>
        <p:spPr>
          <a:xfrm>
            <a:off x="7863840" y="1472184"/>
            <a:ext cx="1645919" cy="73152"/>
          </a:xfrm>
          <a:prstGeom prst="rect">
            <a:avLst/>
          </a:prstGeom>
          <a:noFill/>
        </p:spPr>
        <p:txBody>
          <a:bodyPr wrap="square">
            <a:spAutoFit/>
          </a:bodyPr>
          <a:lstStyle/>
          <a:p>
            <a:pPr algn="l"/>
            <a:r>
              <a:rPr sz="550" b="0" i="0">
                <a:solidFill>
                  <a:srgbClr val="2C3E50"/>
                </a:solidFill>
                <a:latin typeface="Calibri"/>
              </a:rPr>
              <a:t>Memory Access</a:t>
            </a:r>
          </a:p>
        </p:txBody>
      </p:sp>
      <p:sp>
        <p:nvSpPr>
          <p:cNvPr id="153" name="TextBox 152"/>
          <p:cNvSpPr txBox="1"/>
          <p:nvPr/>
        </p:nvSpPr>
        <p:spPr>
          <a:xfrm>
            <a:off x="7754112" y="1545336"/>
            <a:ext cx="109728" cy="73152"/>
          </a:xfrm>
          <a:prstGeom prst="rect">
            <a:avLst/>
          </a:prstGeom>
          <a:noFill/>
        </p:spPr>
        <p:txBody>
          <a:bodyPr wrap="square">
            <a:spAutoFit/>
          </a:bodyPr>
          <a:lstStyle/>
          <a:p>
            <a:pPr algn="l"/>
            <a:r>
              <a:rPr sz="550" b="1" i="0">
                <a:solidFill>
                  <a:srgbClr val="0D47A1"/>
                </a:solidFill>
                <a:latin typeface="Calibri"/>
              </a:rPr>
              <a:t>•</a:t>
            </a:r>
          </a:p>
        </p:txBody>
      </p:sp>
      <p:sp>
        <p:nvSpPr>
          <p:cNvPr id="154" name="TextBox 153"/>
          <p:cNvSpPr txBox="1"/>
          <p:nvPr/>
        </p:nvSpPr>
        <p:spPr>
          <a:xfrm>
            <a:off x="7863840" y="1545336"/>
            <a:ext cx="1645919" cy="73152"/>
          </a:xfrm>
          <a:prstGeom prst="rect">
            <a:avLst/>
          </a:prstGeom>
          <a:noFill/>
        </p:spPr>
        <p:txBody>
          <a:bodyPr wrap="square">
            <a:spAutoFit/>
          </a:bodyPr>
          <a:lstStyle/>
          <a:p>
            <a:pPr algn="l"/>
            <a:r>
              <a:rPr sz="550" b="0" i="0">
                <a:solidFill>
                  <a:srgbClr val="2C3E50"/>
                </a:solidFill>
                <a:latin typeface="Calibri"/>
              </a:rPr>
              <a:t>Knowledge Retrieval</a:t>
            </a:r>
          </a:p>
        </p:txBody>
      </p:sp>
      <p:sp>
        <p:nvSpPr>
          <p:cNvPr id="155" name="TextBox 154"/>
          <p:cNvSpPr txBox="1"/>
          <p:nvPr/>
        </p:nvSpPr>
        <p:spPr>
          <a:xfrm>
            <a:off x="7754112" y="1618488"/>
            <a:ext cx="109728" cy="73152"/>
          </a:xfrm>
          <a:prstGeom prst="rect">
            <a:avLst/>
          </a:prstGeom>
          <a:noFill/>
        </p:spPr>
        <p:txBody>
          <a:bodyPr wrap="square">
            <a:spAutoFit/>
          </a:bodyPr>
          <a:lstStyle/>
          <a:p>
            <a:pPr algn="l"/>
            <a:r>
              <a:rPr sz="550" b="1" i="0">
                <a:solidFill>
                  <a:srgbClr val="0D47A1"/>
                </a:solidFill>
                <a:latin typeface="Calibri"/>
              </a:rPr>
              <a:t>•</a:t>
            </a:r>
          </a:p>
        </p:txBody>
      </p:sp>
      <p:sp>
        <p:nvSpPr>
          <p:cNvPr id="156" name="TextBox 155"/>
          <p:cNvSpPr txBox="1"/>
          <p:nvPr/>
        </p:nvSpPr>
        <p:spPr>
          <a:xfrm>
            <a:off x="7863840" y="1618488"/>
            <a:ext cx="1645919" cy="73152"/>
          </a:xfrm>
          <a:prstGeom prst="rect">
            <a:avLst/>
          </a:prstGeom>
          <a:noFill/>
        </p:spPr>
        <p:txBody>
          <a:bodyPr wrap="square">
            <a:spAutoFit/>
          </a:bodyPr>
          <a:lstStyle/>
          <a:p>
            <a:pPr algn="l"/>
            <a:r>
              <a:rPr sz="550" b="0" i="0">
                <a:solidFill>
                  <a:srgbClr val="2C3E50"/>
                </a:solidFill>
                <a:latin typeface="Calibri"/>
              </a:rPr>
              <a:t>Multi-step Execution</a:t>
            </a:r>
          </a:p>
        </p:txBody>
      </p:sp>
      <p:sp>
        <p:nvSpPr>
          <p:cNvPr id="157" name="TextBox 156"/>
          <p:cNvSpPr txBox="1"/>
          <p:nvPr/>
        </p:nvSpPr>
        <p:spPr>
          <a:xfrm>
            <a:off x="7754112" y="1691640"/>
            <a:ext cx="109728" cy="73152"/>
          </a:xfrm>
          <a:prstGeom prst="rect">
            <a:avLst/>
          </a:prstGeom>
          <a:noFill/>
        </p:spPr>
        <p:txBody>
          <a:bodyPr wrap="square">
            <a:spAutoFit/>
          </a:bodyPr>
          <a:lstStyle/>
          <a:p>
            <a:pPr algn="l"/>
            <a:r>
              <a:rPr sz="550" b="1" i="0">
                <a:solidFill>
                  <a:srgbClr val="0D47A1"/>
                </a:solidFill>
                <a:latin typeface="Calibri"/>
              </a:rPr>
              <a:t>•</a:t>
            </a:r>
          </a:p>
        </p:txBody>
      </p:sp>
      <p:sp>
        <p:nvSpPr>
          <p:cNvPr id="158" name="TextBox 157"/>
          <p:cNvSpPr txBox="1"/>
          <p:nvPr/>
        </p:nvSpPr>
        <p:spPr>
          <a:xfrm>
            <a:off x="7863840" y="1691640"/>
            <a:ext cx="1645919" cy="73152"/>
          </a:xfrm>
          <a:prstGeom prst="rect">
            <a:avLst/>
          </a:prstGeom>
          <a:noFill/>
        </p:spPr>
        <p:txBody>
          <a:bodyPr wrap="square">
            <a:spAutoFit/>
          </a:bodyPr>
          <a:lstStyle/>
          <a:p>
            <a:pPr algn="l"/>
            <a:r>
              <a:rPr sz="550" b="0" i="0">
                <a:solidFill>
                  <a:srgbClr val="2C3E50"/>
                </a:solidFill>
                <a:latin typeface="Calibri"/>
              </a:rPr>
              <a:t>Human Handoff</a:t>
            </a:r>
          </a:p>
        </p:txBody>
      </p:sp>
      <p:sp>
        <p:nvSpPr>
          <p:cNvPr id="159" name="TextBox 158"/>
          <p:cNvSpPr txBox="1"/>
          <p:nvPr/>
        </p:nvSpPr>
        <p:spPr>
          <a:xfrm>
            <a:off x="7754112" y="1764792"/>
            <a:ext cx="109728" cy="73152"/>
          </a:xfrm>
          <a:prstGeom prst="rect">
            <a:avLst/>
          </a:prstGeom>
          <a:noFill/>
        </p:spPr>
        <p:txBody>
          <a:bodyPr wrap="square">
            <a:spAutoFit/>
          </a:bodyPr>
          <a:lstStyle/>
          <a:p>
            <a:pPr algn="l"/>
            <a:r>
              <a:rPr sz="550" b="1" i="0">
                <a:solidFill>
                  <a:srgbClr val="0D47A1"/>
                </a:solidFill>
                <a:latin typeface="Calibri"/>
              </a:rPr>
              <a:t>•</a:t>
            </a:r>
          </a:p>
        </p:txBody>
      </p:sp>
      <p:sp>
        <p:nvSpPr>
          <p:cNvPr id="160" name="TextBox 159"/>
          <p:cNvSpPr txBox="1"/>
          <p:nvPr/>
        </p:nvSpPr>
        <p:spPr>
          <a:xfrm>
            <a:off x="7863840" y="1764792"/>
            <a:ext cx="1645919" cy="73152"/>
          </a:xfrm>
          <a:prstGeom prst="rect">
            <a:avLst/>
          </a:prstGeom>
          <a:noFill/>
        </p:spPr>
        <p:txBody>
          <a:bodyPr wrap="square">
            <a:spAutoFit/>
          </a:bodyPr>
          <a:lstStyle/>
          <a:p>
            <a:pPr algn="l"/>
            <a:r>
              <a:rPr sz="550" b="0" i="0">
                <a:solidFill>
                  <a:srgbClr val="2C3E50"/>
                </a:solidFill>
                <a:latin typeface="Calibri"/>
              </a:rPr>
              <a:t>Guardrails &amp; Safety</a:t>
            </a:r>
          </a:p>
        </p:txBody>
      </p:sp>
      <p:sp>
        <p:nvSpPr>
          <p:cNvPr id="161" name="TextBox 160"/>
          <p:cNvSpPr txBox="1"/>
          <p:nvPr/>
        </p:nvSpPr>
        <p:spPr>
          <a:xfrm>
            <a:off x="1508760" y="1472184"/>
            <a:ext cx="2953512" cy="164592"/>
          </a:xfrm>
          <a:prstGeom prst="rect">
            <a:avLst/>
          </a:prstGeom>
          <a:noFill/>
        </p:spPr>
        <p:txBody>
          <a:bodyPr wrap="square">
            <a:spAutoFit/>
          </a:bodyPr>
          <a:lstStyle/>
          <a:p>
            <a:pPr algn="ctr"/>
            <a:r>
              <a:rPr sz="600" b="1" i="0">
                <a:solidFill>
                  <a:srgbClr val="0D47A1"/>
                </a:solidFill>
                <a:latin typeface="Calibri"/>
              </a:rPr>
              <a:t>◀  SPECIALIST AGENTS  ▶</a:t>
            </a:r>
          </a:p>
        </p:txBody>
      </p:sp>
      <p:sp>
        <p:nvSpPr>
          <p:cNvPr id="162" name="Rounded Rectangle 161"/>
          <p:cNvSpPr/>
          <p:nvPr/>
        </p:nvSpPr>
        <p:spPr>
          <a:xfrm>
            <a:off x="1472184" y="1956815"/>
            <a:ext cx="1386840" cy="475488"/>
          </a:xfrm>
          <a:prstGeom prst="roundRect">
            <a:avLst>
              <a:gd name="adj" fmla="val 8000"/>
            </a:avLst>
          </a:prstGeom>
          <a:solidFill>
            <a:srgbClr val="FFFFFF"/>
          </a:solidFill>
          <a:ln w="1016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Rectangle 162"/>
          <p:cNvSpPr/>
          <p:nvPr/>
        </p:nvSpPr>
        <p:spPr>
          <a:xfrm>
            <a:off x="1472184" y="1956815"/>
            <a:ext cx="1386840" cy="36576"/>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1472184" y="2011679"/>
            <a:ext cx="1386840" cy="201168"/>
          </a:xfrm>
          <a:prstGeom prst="rect">
            <a:avLst/>
          </a:prstGeom>
          <a:noFill/>
        </p:spPr>
        <p:txBody>
          <a:bodyPr wrap="square">
            <a:spAutoFit/>
          </a:bodyPr>
          <a:lstStyle/>
          <a:p>
            <a:pPr algn="ctr"/>
            <a:r>
              <a:rPr sz="1400" b="0" i="0">
                <a:solidFill>
                  <a:srgbClr val="0D47A1"/>
                </a:solidFill>
                <a:latin typeface="Calibri"/>
              </a:rPr>
              <a:t>🔧</a:t>
            </a:r>
          </a:p>
        </p:txBody>
      </p:sp>
      <p:sp>
        <p:nvSpPr>
          <p:cNvPr id="165" name="TextBox 164"/>
          <p:cNvSpPr txBox="1"/>
          <p:nvPr/>
        </p:nvSpPr>
        <p:spPr>
          <a:xfrm>
            <a:off x="1490472" y="2231135"/>
            <a:ext cx="1350264" cy="182880"/>
          </a:xfrm>
          <a:prstGeom prst="rect">
            <a:avLst/>
          </a:prstGeom>
          <a:noFill/>
        </p:spPr>
        <p:txBody>
          <a:bodyPr wrap="square">
            <a:spAutoFit/>
          </a:bodyPr>
          <a:lstStyle/>
          <a:p>
            <a:pPr algn="ctr"/>
            <a:r>
              <a:rPr sz="550" b="1" i="0">
                <a:solidFill>
                  <a:srgbClr val="0D1B3E"/>
                </a:solidFill>
                <a:latin typeface="Calibri"/>
              </a:rPr>
              <a:t>ITSM
Agent</a:t>
            </a:r>
          </a:p>
        </p:txBody>
      </p:sp>
      <p:sp>
        <p:nvSpPr>
          <p:cNvPr id="166" name="Rounded Rectangle 165"/>
          <p:cNvSpPr/>
          <p:nvPr/>
        </p:nvSpPr>
        <p:spPr>
          <a:xfrm>
            <a:off x="2968752" y="1956815"/>
            <a:ext cx="1386840" cy="475488"/>
          </a:xfrm>
          <a:prstGeom prst="roundRect">
            <a:avLst>
              <a:gd name="adj" fmla="val 8000"/>
            </a:avLst>
          </a:prstGeom>
          <a:solidFill>
            <a:srgbClr val="FFFFFF"/>
          </a:solidFill>
          <a:ln w="1016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Rectangle 166"/>
          <p:cNvSpPr/>
          <p:nvPr/>
        </p:nvSpPr>
        <p:spPr>
          <a:xfrm>
            <a:off x="2968752" y="1956815"/>
            <a:ext cx="1386840" cy="36576"/>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2968752" y="2011679"/>
            <a:ext cx="1386840" cy="201168"/>
          </a:xfrm>
          <a:prstGeom prst="rect">
            <a:avLst/>
          </a:prstGeom>
          <a:noFill/>
        </p:spPr>
        <p:txBody>
          <a:bodyPr wrap="square">
            <a:spAutoFit/>
          </a:bodyPr>
          <a:lstStyle/>
          <a:p>
            <a:pPr algn="ctr"/>
            <a:r>
              <a:rPr sz="1400" b="0" i="0">
                <a:solidFill>
                  <a:srgbClr val="0D47A1"/>
                </a:solidFill>
                <a:latin typeface="Calibri"/>
              </a:rPr>
              <a:t>⚙</a:t>
            </a:r>
          </a:p>
        </p:txBody>
      </p:sp>
      <p:sp>
        <p:nvSpPr>
          <p:cNvPr id="169" name="TextBox 168"/>
          <p:cNvSpPr txBox="1"/>
          <p:nvPr/>
        </p:nvSpPr>
        <p:spPr>
          <a:xfrm>
            <a:off x="2987040" y="2231135"/>
            <a:ext cx="1350264" cy="182880"/>
          </a:xfrm>
          <a:prstGeom prst="rect">
            <a:avLst/>
          </a:prstGeom>
          <a:noFill/>
        </p:spPr>
        <p:txBody>
          <a:bodyPr wrap="square">
            <a:spAutoFit/>
          </a:bodyPr>
          <a:lstStyle/>
          <a:p>
            <a:pPr algn="ctr"/>
            <a:r>
              <a:rPr sz="550" b="1" i="0">
                <a:solidFill>
                  <a:srgbClr val="0D1B3E"/>
                </a:solidFill>
                <a:latin typeface="Calibri"/>
              </a:rPr>
              <a:t>DevOps
Agent</a:t>
            </a:r>
          </a:p>
        </p:txBody>
      </p:sp>
      <p:sp>
        <p:nvSpPr>
          <p:cNvPr id="170" name="Rounded Rectangle 169"/>
          <p:cNvSpPr/>
          <p:nvPr/>
        </p:nvSpPr>
        <p:spPr>
          <a:xfrm>
            <a:off x="4465320" y="1956815"/>
            <a:ext cx="1386840" cy="475488"/>
          </a:xfrm>
          <a:prstGeom prst="roundRect">
            <a:avLst>
              <a:gd name="adj" fmla="val 8000"/>
            </a:avLst>
          </a:prstGeom>
          <a:solidFill>
            <a:srgbClr val="FFFFFF"/>
          </a:solidFill>
          <a:ln w="1016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Rectangle 170"/>
          <p:cNvSpPr/>
          <p:nvPr/>
        </p:nvSpPr>
        <p:spPr>
          <a:xfrm>
            <a:off x="4465320" y="1956815"/>
            <a:ext cx="1386840" cy="36576"/>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4465320" y="2011679"/>
            <a:ext cx="1386840" cy="201168"/>
          </a:xfrm>
          <a:prstGeom prst="rect">
            <a:avLst/>
          </a:prstGeom>
          <a:noFill/>
        </p:spPr>
        <p:txBody>
          <a:bodyPr wrap="square">
            <a:spAutoFit/>
          </a:bodyPr>
          <a:lstStyle/>
          <a:p>
            <a:pPr algn="ctr"/>
            <a:r>
              <a:rPr sz="1400" b="0" i="0">
                <a:solidFill>
                  <a:srgbClr val="0D47A1"/>
                </a:solidFill>
                <a:latin typeface="Calibri"/>
              </a:rPr>
              <a:t>🛡</a:t>
            </a:r>
          </a:p>
        </p:txBody>
      </p:sp>
      <p:sp>
        <p:nvSpPr>
          <p:cNvPr id="173" name="TextBox 172"/>
          <p:cNvSpPr txBox="1"/>
          <p:nvPr/>
        </p:nvSpPr>
        <p:spPr>
          <a:xfrm>
            <a:off x="4483608" y="2231135"/>
            <a:ext cx="1350264" cy="182880"/>
          </a:xfrm>
          <a:prstGeom prst="rect">
            <a:avLst/>
          </a:prstGeom>
          <a:noFill/>
        </p:spPr>
        <p:txBody>
          <a:bodyPr wrap="square">
            <a:spAutoFit/>
          </a:bodyPr>
          <a:lstStyle/>
          <a:p>
            <a:pPr algn="ctr"/>
            <a:r>
              <a:rPr sz="550" b="1" i="0">
                <a:solidFill>
                  <a:srgbClr val="0D1B3E"/>
                </a:solidFill>
                <a:latin typeface="Calibri"/>
              </a:rPr>
              <a:t>Security
Agent</a:t>
            </a:r>
          </a:p>
        </p:txBody>
      </p:sp>
      <p:sp>
        <p:nvSpPr>
          <p:cNvPr id="174" name="Rounded Rectangle 173"/>
          <p:cNvSpPr/>
          <p:nvPr/>
        </p:nvSpPr>
        <p:spPr>
          <a:xfrm>
            <a:off x="5961888" y="1956815"/>
            <a:ext cx="1386840" cy="475488"/>
          </a:xfrm>
          <a:prstGeom prst="roundRect">
            <a:avLst>
              <a:gd name="adj" fmla="val 8000"/>
            </a:avLst>
          </a:prstGeom>
          <a:solidFill>
            <a:srgbClr val="FFFFFF"/>
          </a:solidFill>
          <a:ln w="1016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Rectangle 174"/>
          <p:cNvSpPr/>
          <p:nvPr/>
        </p:nvSpPr>
        <p:spPr>
          <a:xfrm>
            <a:off x="5961888" y="1956815"/>
            <a:ext cx="1386840" cy="36576"/>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p:cNvSpPr txBox="1"/>
          <p:nvPr/>
        </p:nvSpPr>
        <p:spPr>
          <a:xfrm>
            <a:off x="5961888" y="2011679"/>
            <a:ext cx="1386840" cy="201168"/>
          </a:xfrm>
          <a:prstGeom prst="rect">
            <a:avLst/>
          </a:prstGeom>
          <a:noFill/>
        </p:spPr>
        <p:txBody>
          <a:bodyPr wrap="square">
            <a:spAutoFit/>
          </a:bodyPr>
          <a:lstStyle/>
          <a:p>
            <a:pPr algn="ctr"/>
            <a:r>
              <a:rPr sz="1400" b="0" i="0">
                <a:solidFill>
                  <a:srgbClr val="0D47A1"/>
                </a:solidFill>
                <a:latin typeface="Calibri"/>
              </a:rPr>
              <a:t>📚</a:t>
            </a:r>
          </a:p>
        </p:txBody>
      </p:sp>
      <p:sp>
        <p:nvSpPr>
          <p:cNvPr id="177" name="TextBox 176"/>
          <p:cNvSpPr txBox="1"/>
          <p:nvPr/>
        </p:nvSpPr>
        <p:spPr>
          <a:xfrm>
            <a:off x="5980176" y="2231135"/>
            <a:ext cx="1350264" cy="182880"/>
          </a:xfrm>
          <a:prstGeom prst="rect">
            <a:avLst/>
          </a:prstGeom>
          <a:noFill/>
        </p:spPr>
        <p:txBody>
          <a:bodyPr wrap="square">
            <a:spAutoFit/>
          </a:bodyPr>
          <a:lstStyle/>
          <a:p>
            <a:pPr algn="ctr"/>
            <a:r>
              <a:rPr sz="550" b="1" i="0">
                <a:solidFill>
                  <a:srgbClr val="0D1B3E"/>
                </a:solidFill>
                <a:latin typeface="Calibri"/>
              </a:rPr>
              <a:t>Knowledge
Agent</a:t>
            </a:r>
          </a:p>
        </p:txBody>
      </p:sp>
      <p:sp>
        <p:nvSpPr>
          <p:cNvPr id="178" name="Rounded Rectangle 177"/>
          <p:cNvSpPr/>
          <p:nvPr/>
        </p:nvSpPr>
        <p:spPr>
          <a:xfrm>
            <a:off x="7458456" y="1956815"/>
            <a:ext cx="1386840" cy="475488"/>
          </a:xfrm>
          <a:prstGeom prst="roundRect">
            <a:avLst>
              <a:gd name="adj" fmla="val 8000"/>
            </a:avLst>
          </a:prstGeom>
          <a:solidFill>
            <a:srgbClr val="FFFFFF"/>
          </a:solidFill>
          <a:ln w="1016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Rectangle 178"/>
          <p:cNvSpPr/>
          <p:nvPr/>
        </p:nvSpPr>
        <p:spPr>
          <a:xfrm>
            <a:off x="7458456" y="1956815"/>
            <a:ext cx="1386840" cy="36576"/>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7458456" y="2011679"/>
            <a:ext cx="1386840" cy="201168"/>
          </a:xfrm>
          <a:prstGeom prst="rect">
            <a:avLst/>
          </a:prstGeom>
          <a:noFill/>
        </p:spPr>
        <p:txBody>
          <a:bodyPr wrap="square">
            <a:spAutoFit/>
          </a:bodyPr>
          <a:lstStyle/>
          <a:p>
            <a:pPr algn="ctr"/>
            <a:r>
              <a:rPr sz="1400" b="0" i="0">
                <a:solidFill>
                  <a:srgbClr val="0D47A1"/>
                </a:solidFill>
                <a:latin typeface="Calibri"/>
              </a:rPr>
              <a:t>💰</a:t>
            </a:r>
          </a:p>
        </p:txBody>
      </p:sp>
      <p:sp>
        <p:nvSpPr>
          <p:cNvPr id="181" name="TextBox 180"/>
          <p:cNvSpPr txBox="1"/>
          <p:nvPr/>
        </p:nvSpPr>
        <p:spPr>
          <a:xfrm>
            <a:off x="7476743" y="2231135"/>
            <a:ext cx="1350264" cy="182880"/>
          </a:xfrm>
          <a:prstGeom prst="rect">
            <a:avLst/>
          </a:prstGeom>
          <a:noFill/>
        </p:spPr>
        <p:txBody>
          <a:bodyPr wrap="square">
            <a:spAutoFit/>
          </a:bodyPr>
          <a:lstStyle/>
          <a:p>
            <a:pPr algn="ctr"/>
            <a:r>
              <a:rPr sz="550" b="1" i="0">
                <a:solidFill>
                  <a:srgbClr val="0D1B3E"/>
                </a:solidFill>
                <a:latin typeface="Calibri"/>
              </a:rPr>
              <a:t>FinOps
Agent</a:t>
            </a:r>
          </a:p>
        </p:txBody>
      </p:sp>
      <p:sp>
        <p:nvSpPr>
          <p:cNvPr id="182" name="Rounded Rectangle 181"/>
          <p:cNvSpPr/>
          <p:nvPr/>
        </p:nvSpPr>
        <p:spPr>
          <a:xfrm>
            <a:off x="8955024" y="1956815"/>
            <a:ext cx="1386840" cy="475488"/>
          </a:xfrm>
          <a:prstGeom prst="roundRect">
            <a:avLst>
              <a:gd name="adj" fmla="val 8000"/>
            </a:avLst>
          </a:prstGeom>
          <a:solidFill>
            <a:srgbClr val="FFFFFF"/>
          </a:solidFill>
          <a:ln w="1016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Rectangle 182"/>
          <p:cNvSpPr/>
          <p:nvPr/>
        </p:nvSpPr>
        <p:spPr>
          <a:xfrm>
            <a:off x="8955024" y="1956815"/>
            <a:ext cx="1386840" cy="36576"/>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p:cNvSpPr txBox="1"/>
          <p:nvPr/>
        </p:nvSpPr>
        <p:spPr>
          <a:xfrm>
            <a:off x="8955024" y="2011679"/>
            <a:ext cx="1386840" cy="201168"/>
          </a:xfrm>
          <a:prstGeom prst="rect">
            <a:avLst/>
          </a:prstGeom>
          <a:noFill/>
        </p:spPr>
        <p:txBody>
          <a:bodyPr wrap="square">
            <a:spAutoFit/>
          </a:bodyPr>
          <a:lstStyle/>
          <a:p>
            <a:pPr algn="ctr"/>
            <a:r>
              <a:rPr sz="1400" b="0" i="0">
                <a:solidFill>
                  <a:srgbClr val="0D47A1"/>
                </a:solidFill>
                <a:latin typeface="Calibri"/>
              </a:rPr>
              <a:t>📊</a:t>
            </a:r>
          </a:p>
        </p:txBody>
      </p:sp>
      <p:sp>
        <p:nvSpPr>
          <p:cNvPr id="185" name="TextBox 184"/>
          <p:cNvSpPr txBox="1"/>
          <p:nvPr/>
        </p:nvSpPr>
        <p:spPr>
          <a:xfrm>
            <a:off x="8973312" y="2231135"/>
            <a:ext cx="1350264" cy="182880"/>
          </a:xfrm>
          <a:prstGeom prst="rect">
            <a:avLst/>
          </a:prstGeom>
          <a:noFill/>
        </p:spPr>
        <p:txBody>
          <a:bodyPr wrap="square">
            <a:spAutoFit/>
          </a:bodyPr>
          <a:lstStyle/>
          <a:p>
            <a:pPr algn="ctr"/>
            <a:r>
              <a:rPr sz="550" b="1" i="0">
                <a:solidFill>
                  <a:srgbClr val="0D1B3E"/>
                </a:solidFill>
                <a:latin typeface="Calibri"/>
              </a:rPr>
              <a:t>Reporting
Agent</a:t>
            </a:r>
          </a:p>
        </p:txBody>
      </p:sp>
      <p:sp>
        <p:nvSpPr>
          <p:cNvPr id="186" name="Rectangle 185"/>
          <p:cNvSpPr/>
          <p:nvPr/>
        </p:nvSpPr>
        <p:spPr>
          <a:xfrm>
            <a:off x="1472184" y="2340864"/>
            <a:ext cx="9089136" cy="118872"/>
          </a:xfrm>
          <a:prstGeom prst="rect">
            <a:avLst/>
          </a:prstGeom>
          <a:solidFill>
            <a:srgbClr val="BBD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p:cNvSpPr txBox="1"/>
          <p:nvPr/>
        </p:nvSpPr>
        <p:spPr>
          <a:xfrm>
            <a:off x="1508760" y="2345436"/>
            <a:ext cx="9015984" cy="109728"/>
          </a:xfrm>
          <a:prstGeom prst="rect">
            <a:avLst/>
          </a:prstGeom>
          <a:noFill/>
        </p:spPr>
        <p:txBody>
          <a:bodyPr wrap="square">
            <a:spAutoFit/>
          </a:bodyPr>
          <a:lstStyle/>
          <a:p>
            <a:pPr algn="ctr"/>
            <a:r>
              <a:rPr sz="600" b="1" i="0">
                <a:solidFill>
                  <a:srgbClr val="0D47A1"/>
                </a:solidFill>
                <a:latin typeface="Calibri"/>
              </a:rPr>
              <a:t>⇄  Agent Collaboration &amp; Handoffs</a:t>
            </a:r>
          </a:p>
        </p:txBody>
      </p:sp>
      <p:sp>
        <p:nvSpPr>
          <p:cNvPr id="188" name="Rounded Rectangle 187"/>
          <p:cNvSpPr/>
          <p:nvPr/>
        </p:nvSpPr>
        <p:spPr>
          <a:xfrm>
            <a:off x="1417320" y="2514600"/>
            <a:ext cx="9198864" cy="731520"/>
          </a:xfrm>
          <a:prstGeom prst="roundRect">
            <a:avLst>
              <a:gd name="adj" fmla="val 6000"/>
            </a:avLst>
          </a:prstGeom>
          <a:solidFill>
            <a:srgbClr val="F3E5F5"/>
          </a:solidFill>
          <a:ln w="1270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Rectangle 188"/>
          <p:cNvSpPr/>
          <p:nvPr/>
        </p:nvSpPr>
        <p:spPr>
          <a:xfrm>
            <a:off x="1417320" y="2514600"/>
            <a:ext cx="9198864" cy="18288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1463040" y="2528316"/>
            <a:ext cx="9107424" cy="182880"/>
          </a:xfrm>
          <a:prstGeom prst="rect">
            <a:avLst/>
          </a:prstGeom>
          <a:noFill/>
        </p:spPr>
        <p:txBody>
          <a:bodyPr wrap="square">
            <a:spAutoFit/>
          </a:bodyPr>
          <a:lstStyle/>
          <a:p>
            <a:pPr algn="ctr"/>
            <a:r>
              <a:rPr sz="700" b="1" i="0">
                <a:solidFill>
                  <a:srgbClr val="FFFFFF"/>
                </a:solidFill>
                <a:latin typeface="Calibri"/>
              </a:rPr>
              <a:t>🧠  INTELLIGENCE LAYER  —  Foundation Models · Guardrails · Prompt Management · Model Evaluation</a:t>
            </a:r>
          </a:p>
        </p:txBody>
      </p:sp>
      <p:sp>
        <p:nvSpPr>
          <p:cNvPr id="191" name="Rounded Rectangle 190"/>
          <p:cNvSpPr/>
          <p:nvPr/>
        </p:nvSpPr>
        <p:spPr>
          <a:xfrm>
            <a:off x="1453896" y="2734056"/>
            <a:ext cx="2244852" cy="475488"/>
          </a:xfrm>
          <a:prstGeom prst="roundRect">
            <a:avLst>
              <a:gd name="adj" fmla="val 6000"/>
            </a:avLst>
          </a:prstGeom>
          <a:solidFill>
            <a:srgbClr val="FFFFFF"/>
          </a:solidFill>
          <a:ln w="762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p:cNvSpPr txBox="1"/>
          <p:nvPr/>
        </p:nvSpPr>
        <p:spPr>
          <a:xfrm>
            <a:off x="1499616" y="2770632"/>
            <a:ext cx="2153412" cy="182880"/>
          </a:xfrm>
          <a:prstGeom prst="rect">
            <a:avLst/>
          </a:prstGeom>
          <a:noFill/>
        </p:spPr>
        <p:txBody>
          <a:bodyPr wrap="square">
            <a:spAutoFit/>
          </a:bodyPr>
          <a:lstStyle/>
          <a:p>
            <a:pPr algn="l"/>
            <a:r>
              <a:rPr sz="650" b="1" i="0">
                <a:solidFill>
                  <a:srgbClr val="6A1B9A"/>
                </a:solidFill>
                <a:latin typeface="Calibri"/>
              </a:rPr>
              <a:t>🤖  Foundation Models</a:t>
            </a:r>
          </a:p>
        </p:txBody>
      </p:sp>
      <p:sp>
        <p:nvSpPr>
          <p:cNvPr id="193" name="TextBox 192"/>
          <p:cNvSpPr txBox="1"/>
          <p:nvPr/>
        </p:nvSpPr>
        <p:spPr>
          <a:xfrm>
            <a:off x="1499616" y="295351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194" name="TextBox 193"/>
          <p:cNvSpPr txBox="1"/>
          <p:nvPr/>
        </p:nvSpPr>
        <p:spPr>
          <a:xfrm>
            <a:off x="1609344" y="2953512"/>
            <a:ext cx="2061972" cy="91440"/>
          </a:xfrm>
          <a:prstGeom prst="rect">
            <a:avLst/>
          </a:prstGeom>
          <a:noFill/>
        </p:spPr>
        <p:txBody>
          <a:bodyPr wrap="square">
            <a:spAutoFit/>
          </a:bodyPr>
          <a:lstStyle/>
          <a:p>
            <a:pPr algn="l"/>
            <a:r>
              <a:rPr sz="550" b="0" i="0">
                <a:solidFill>
                  <a:srgbClr val="2C3E50"/>
                </a:solidFill>
                <a:latin typeface="Calibri"/>
              </a:rPr>
              <a:t>LLM (GPT-class)</a:t>
            </a:r>
          </a:p>
        </p:txBody>
      </p:sp>
      <p:sp>
        <p:nvSpPr>
          <p:cNvPr id="195" name="TextBox 194"/>
          <p:cNvSpPr txBox="1"/>
          <p:nvPr/>
        </p:nvSpPr>
        <p:spPr>
          <a:xfrm>
            <a:off x="1499616" y="304495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196" name="TextBox 195"/>
          <p:cNvSpPr txBox="1"/>
          <p:nvPr/>
        </p:nvSpPr>
        <p:spPr>
          <a:xfrm>
            <a:off x="1609344" y="3044952"/>
            <a:ext cx="2061972" cy="91440"/>
          </a:xfrm>
          <a:prstGeom prst="rect">
            <a:avLst/>
          </a:prstGeom>
          <a:noFill/>
        </p:spPr>
        <p:txBody>
          <a:bodyPr wrap="square">
            <a:spAutoFit/>
          </a:bodyPr>
          <a:lstStyle/>
          <a:p>
            <a:pPr algn="l"/>
            <a:r>
              <a:rPr sz="550" b="0" i="0">
                <a:solidFill>
                  <a:srgbClr val="2C3E50"/>
                </a:solidFill>
                <a:latin typeface="Calibri"/>
              </a:rPr>
              <a:t>Multimodal Models</a:t>
            </a:r>
          </a:p>
        </p:txBody>
      </p:sp>
      <p:sp>
        <p:nvSpPr>
          <p:cNvPr id="197" name="TextBox 196"/>
          <p:cNvSpPr txBox="1"/>
          <p:nvPr/>
        </p:nvSpPr>
        <p:spPr>
          <a:xfrm>
            <a:off x="1499616" y="313639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198" name="TextBox 197"/>
          <p:cNvSpPr txBox="1"/>
          <p:nvPr/>
        </p:nvSpPr>
        <p:spPr>
          <a:xfrm>
            <a:off x="1609344" y="3136392"/>
            <a:ext cx="2061972" cy="91440"/>
          </a:xfrm>
          <a:prstGeom prst="rect">
            <a:avLst/>
          </a:prstGeom>
          <a:noFill/>
        </p:spPr>
        <p:txBody>
          <a:bodyPr wrap="square">
            <a:spAutoFit/>
          </a:bodyPr>
          <a:lstStyle/>
          <a:p>
            <a:pPr algn="l"/>
            <a:r>
              <a:rPr sz="550" b="0" i="0">
                <a:solidFill>
                  <a:srgbClr val="2C3E50"/>
                </a:solidFill>
                <a:latin typeface="Calibri"/>
              </a:rPr>
              <a:t>Embedding Models</a:t>
            </a:r>
          </a:p>
        </p:txBody>
      </p:sp>
      <p:sp>
        <p:nvSpPr>
          <p:cNvPr id="199" name="TextBox 198"/>
          <p:cNvSpPr txBox="1"/>
          <p:nvPr/>
        </p:nvSpPr>
        <p:spPr>
          <a:xfrm>
            <a:off x="1499616" y="322783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200" name="TextBox 199"/>
          <p:cNvSpPr txBox="1"/>
          <p:nvPr/>
        </p:nvSpPr>
        <p:spPr>
          <a:xfrm>
            <a:off x="1609344" y="3227832"/>
            <a:ext cx="2061972" cy="91440"/>
          </a:xfrm>
          <a:prstGeom prst="rect">
            <a:avLst/>
          </a:prstGeom>
          <a:noFill/>
        </p:spPr>
        <p:txBody>
          <a:bodyPr wrap="square">
            <a:spAutoFit/>
          </a:bodyPr>
          <a:lstStyle/>
          <a:p>
            <a:pPr algn="l"/>
            <a:r>
              <a:rPr sz="550" b="0" i="0">
                <a:solidFill>
                  <a:srgbClr val="2C3E50"/>
                </a:solidFill>
                <a:latin typeface="Calibri"/>
              </a:rPr>
              <a:t>Code Models</a:t>
            </a:r>
          </a:p>
        </p:txBody>
      </p:sp>
      <p:sp>
        <p:nvSpPr>
          <p:cNvPr id="201" name="TextBox 200"/>
          <p:cNvSpPr txBox="1"/>
          <p:nvPr/>
        </p:nvSpPr>
        <p:spPr>
          <a:xfrm>
            <a:off x="1499616" y="331927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202" name="TextBox 201"/>
          <p:cNvSpPr txBox="1"/>
          <p:nvPr/>
        </p:nvSpPr>
        <p:spPr>
          <a:xfrm>
            <a:off x="1609344" y="3319272"/>
            <a:ext cx="2061972" cy="91440"/>
          </a:xfrm>
          <a:prstGeom prst="rect">
            <a:avLst/>
          </a:prstGeom>
          <a:noFill/>
        </p:spPr>
        <p:txBody>
          <a:bodyPr wrap="square">
            <a:spAutoFit/>
          </a:bodyPr>
          <a:lstStyle/>
          <a:p>
            <a:pPr algn="l"/>
            <a:r>
              <a:rPr sz="550" b="0" i="0">
                <a:solidFill>
                  <a:srgbClr val="2C3E50"/>
                </a:solidFill>
                <a:latin typeface="Calibri"/>
              </a:rPr>
              <a:t>…and more</a:t>
            </a:r>
          </a:p>
        </p:txBody>
      </p:sp>
      <p:sp>
        <p:nvSpPr>
          <p:cNvPr id="203" name="Rounded Rectangle 202"/>
          <p:cNvSpPr/>
          <p:nvPr/>
        </p:nvSpPr>
        <p:spPr>
          <a:xfrm>
            <a:off x="3753612" y="2734056"/>
            <a:ext cx="2244852" cy="475488"/>
          </a:xfrm>
          <a:prstGeom prst="roundRect">
            <a:avLst>
              <a:gd name="adj" fmla="val 6000"/>
            </a:avLst>
          </a:prstGeom>
          <a:solidFill>
            <a:srgbClr val="FFFFFF"/>
          </a:solidFill>
          <a:ln w="762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TextBox 203"/>
          <p:cNvSpPr txBox="1"/>
          <p:nvPr/>
        </p:nvSpPr>
        <p:spPr>
          <a:xfrm>
            <a:off x="3799332" y="2770632"/>
            <a:ext cx="2153412" cy="182880"/>
          </a:xfrm>
          <a:prstGeom prst="rect">
            <a:avLst/>
          </a:prstGeom>
          <a:noFill/>
        </p:spPr>
        <p:txBody>
          <a:bodyPr wrap="square">
            <a:spAutoFit/>
          </a:bodyPr>
          <a:lstStyle/>
          <a:p>
            <a:pPr algn="l"/>
            <a:r>
              <a:rPr sz="650" b="1" i="0">
                <a:solidFill>
                  <a:srgbClr val="6A1B9A"/>
                </a:solidFill>
                <a:latin typeface="Calibri"/>
              </a:rPr>
              <a:t>🛡  AI Guardrails</a:t>
            </a:r>
          </a:p>
        </p:txBody>
      </p:sp>
      <p:sp>
        <p:nvSpPr>
          <p:cNvPr id="205" name="TextBox 204"/>
          <p:cNvSpPr txBox="1"/>
          <p:nvPr/>
        </p:nvSpPr>
        <p:spPr>
          <a:xfrm>
            <a:off x="3799332" y="295351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206" name="TextBox 205"/>
          <p:cNvSpPr txBox="1"/>
          <p:nvPr/>
        </p:nvSpPr>
        <p:spPr>
          <a:xfrm>
            <a:off x="3909060" y="2953512"/>
            <a:ext cx="2061972" cy="91440"/>
          </a:xfrm>
          <a:prstGeom prst="rect">
            <a:avLst/>
          </a:prstGeom>
          <a:noFill/>
        </p:spPr>
        <p:txBody>
          <a:bodyPr wrap="square">
            <a:spAutoFit/>
          </a:bodyPr>
          <a:lstStyle/>
          <a:p>
            <a:pPr algn="l"/>
            <a:r>
              <a:rPr sz="550" b="0" i="0">
                <a:solidFill>
                  <a:srgbClr val="2C3E50"/>
                </a:solidFill>
                <a:latin typeface="Calibri"/>
              </a:rPr>
              <a:t>Content Filters</a:t>
            </a:r>
          </a:p>
        </p:txBody>
      </p:sp>
      <p:sp>
        <p:nvSpPr>
          <p:cNvPr id="207" name="TextBox 206"/>
          <p:cNvSpPr txBox="1"/>
          <p:nvPr/>
        </p:nvSpPr>
        <p:spPr>
          <a:xfrm>
            <a:off x="3799332" y="304495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208" name="TextBox 207"/>
          <p:cNvSpPr txBox="1"/>
          <p:nvPr/>
        </p:nvSpPr>
        <p:spPr>
          <a:xfrm>
            <a:off x="3909060" y="3044952"/>
            <a:ext cx="2061972" cy="91440"/>
          </a:xfrm>
          <a:prstGeom prst="rect">
            <a:avLst/>
          </a:prstGeom>
          <a:noFill/>
        </p:spPr>
        <p:txBody>
          <a:bodyPr wrap="square">
            <a:spAutoFit/>
          </a:bodyPr>
          <a:lstStyle/>
          <a:p>
            <a:pPr algn="l"/>
            <a:r>
              <a:rPr sz="550" b="0" i="0">
                <a:solidFill>
                  <a:srgbClr val="2C3E50"/>
                </a:solidFill>
                <a:latin typeface="Calibri"/>
              </a:rPr>
              <a:t>Hallucination Detection</a:t>
            </a:r>
          </a:p>
        </p:txBody>
      </p:sp>
      <p:sp>
        <p:nvSpPr>
          <p:cNvPr id="209" name="TextBox 208"/>
          <p:cNvSpPr txBox="1"/>
          <p:nvPr/>
        </p:nvSpPr>
        <p:spPr>
          <a:xfrm>
            <a:off x="3799332" y="313639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210" name="TextBox 209"/>
          <p:cNvSpPr txBox="1"/>
          <p:nvPr/>
        </p:nvSpPr>
        <p:spPr>
          <a:xfrm>
            <a:off x="3909060" y="3136392"/>
            <a:ext cx="2061972" cy="91440"/>
          </a:xfrm>
          <a:prstGeom prst="rect">
            <a:avLst/>
          </a:prstGeom>
          <a:noFill/>
        </p:spPr>
        <p:txBody>
          <a:bodyPr wrap="square">
            <a:spAutoFit/>
          </a:bodyPr>
          <a:lstStyle/>
          <a:p>
            <a:pPr algn="l"/>
            <a:r>
              <a:rPr sz="550" b="0" i="0">
                <a:solidFill>
                  <a:srgbClr val="2C3E50"/>
                </a:solidFill>
                <a:latin typeface="Calibri"/>
              </a:rPr>
              <a:t>PII Protection</a:t>
            </a:r>
          </a:p>
        </p:txBody>
      </p:sp>
      <p:sp>
        <p:nvSpPr>
          <p:cNvPr id="211" name="TextBox 210"/>
          <p:cNvSpPr txBox="1"/>
          <p:nvPr/>
        </p:nvSpPr>
        <p:spPr>
          <a:xfrm>
            <a:off x="3799332" y="322783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212" name="TextBox 211"/>
          <p:cNvSpPr txBox="1"/>
          <p:nvPr/>
        </p:nvSpPr>
        <p:spPr>
          <a:xfrm>
            <a:off x="3909060" y="3227832"/>
            <a:ext cx="2061972" cy="91440"/>
          </a:xfrm>
          <a:prstGeom prst="rect">
            <a:avLst/>
          </a:prstGeom>
          <a:noFill/>
        </p:spPr>
        <p:txBody>
          <a:bodyPr wrap="square">
            <a:spAutoFit/>
          </a:bodyPr>
          <a:lstStyle/>
          <a:p>
            <a:pPr algn="l"/>
            <a:r>
              <a:rPr sz="550" b="0" i="0">
                <a:solidFill>
                  <a:srgbClr val="2C3E50"/>
                </a:solidFill>
                <a:latin typeface="Calibri"/>
              </a:rPr>
              <a:t>Contextual Grounding</a:t>
            </a:r>
          </a:p>
        </p:txBody>
      </p:sp>
      <p:sp>
        <p:nvSpPr>
          <p:cNvPr id="213" name="TextBox 212"/>
          <p:cNvSpPr txBox="1"/>
          <p:nvPr/>
        </p:nvSpPr>
        <p:spPr>
          <a:xfrm>
            <a:off x="3799332" y="331927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214" name="TextBox 213"/>
          <p:cNvSpPr txBox="1"/>
          <p:nvPr/>
        </p:nvSpPr>
        <p:spPr>
          <a:xfrm>
            <a:off x="3909060" y="3319272"/>
            <a:ext cx="2061972" cy="91440"/>
          </a:xfrm>
          <a:prstGeom prst="rect">
            <a:avLst/>
          </a:prstGeom>
          <a:noFill/>
        </p:spPr>
        <p:txBody>
          <a:bodyPr wrap="square">
            <a:spAutoFit/>
          </a:bodyPr>
          <a:lstStyle/>
          <a:p>
            <a:pPr algn="l"/>
            <a:r>
              <a:rPr sz="550" b="0" i="0">
                <a:solidFill>
                  <a:srgbClr val="2C3E50"/>
                </a:solidFill>
                <a:latin typeface="Calibri"/>
              </a:rPr>
              <a:t>Safety Checks</a:t>
            </a:r>
          </a:p>
        </p:txBody>
      </p:sp>
      <p:sp>
        <p:nvSpPr>
          <p:cNvPr id="215" name="Rounded Rectangle 214"/>
          <p:cNvSpPr/>
          <p:nvPr/>
        </p:nvSpPr>
        <p:spPr>
          <a:xfrm>
            <a:off x="6053328" y="2734056"/>
            <a:ext cx="2244852" cy="475488"/>
          </a:xfrm>
          <a:prstGeom prst="roundRect">
            <a:avLst>
              <a:gd name="adj" fmla="val 6000"/>
            </a:avLst>
          </a:prstGeom>
          <a:solidFill>
            <a:srgbClr val="FFFFFF"/>
          </a:solidFill>
          <a:ln w="762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TextBox 215"/>
          <p:cNvSpPr txBox="1"/>
          <p:nvPr/>
        </p:nvSpPr>
        <p:spPr>
          <a:xfrm>
            <a:off x="6099048" y="2770632"/>
            <a:ext cx="2153412" cy="182880"/>
          </a:xfrm>
          <a:prstGeom prst="rect">
            <a:avLst/>
          </a:prstGeom>
          <a:noFill/>
        </p:spPr>
        <p:txBody>
          <a:bodyPr wrap="square">
            <a:spAutoFit/>
          </a:bodyPr>
          <a:lstStyle/>
          <a:p>
            <a:pPr algn="l"/>
            <a:r>
              <a:rPr sz="650" b="1" i="0">
                <a:solidFill>
                  <a:srgbClr val="6A1B9A"/>
                </a:solidFill>
                <a:latin typeface="Calibri"/>
              </a:rPr>
              <a:t>📝  Prompt Management</a:t>
            </a:r>
          </a:p>
        </p:txBody>
      </p:sp>
      <p:sp>
        <p:nvSpPr>
          <p:cNvPr id="217" name="TextBox 216"/>
          <p:cNvSpPr txBox="1"/>
          <p:nvPr/>
        </p:nvSpPr>
        <p:spPr>
          <a:xfrm>
            <a:off x="6099048" y="295351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218" name="TextBox 217"/>
          <p:cNvSpPr txBox="1"/>
          <p:nvPr/>
        </p:nvSpPr>
        <p:spPr>
          <a:xfrm>
            <a:off x="6208776" y="2953512"/>
            <a:ext cx="2061972" cy="91440"/>
          </a:xfrm>
          <a:prstGeom prst="rect">
            <a:avLst/>
          </a:prstGeom>
          <a:noFill/>
        </p:spPr>
        <p:txBody>
          <a:bodyPr wrap="square">
            <a:spAutoFit/>
          </a:bodyPr>
          <a:lstStyle/>
          <a:p>
            <a:pPr algn="l"/>
            <a:r>
              <a:rPr sz="550" b="0" i="0">
                <a:solidFill>
                  <a:srgbClr val="2C3E50"/>
                </a:solidFill>
                <a:latin typeface="Calibri"/>
              </a:rPr>
              <a:t>Prompt Versioning</a:t>
            </a:r>
          </a:p>
        </p:txBody>
      </p:sp>
      <p:sp>
        <p:nvSpPr>
          <p:cNvPr id="219" name="TextBox 218"/>
          <p:cNvSpPr txBox="1"/>
          <p:nvPr/>
        </p:nvSpPr>
        <p:spPr>
          <a:xfrm>
            <a:off x="6099048" y="304495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220" name="TextBox 219"/>
          <p:cNvSpPr txBox="1"/>
          <p:nvPr/>
        </p:nvSpPr>
        <p:spPr>
          <a:xfrm>
            <a:off x="6208776" y="3044952"/>
            <a:ext cx="2061972" cy="91440"/>
          </a:xfrm>
          <a:prstGeom prst="rect">
            <a:avLst/>
          </a:prstGeom>
          <a:noFill/>
        </p:spPr>
        <p:txBody>
          <a:bodyPr wrap="square">
            <a:spAutoFit/>
          </a:bodyPr>
          <a:lstStyle/>
          <a:p>
            <a:pPr algn="l"/>
            <a:r>
              <a:rPr sz="550" b="0" i="0">
                <a:solidFill>
                  <a:srgbClr val="2C3E50"/>
                </a:solidFill>
                <a:latin typeface="Calibri"/>
              </a:rPr>
              <a:t>Templates</a:t>
            </a:r>
          </a:p>
        </p:txBody>
      </p:sp>
      <p:sp>
        <p:nvSpPr>
          <p:cNvPr id="221" name="TextBox 220"/>
          <p:cNvSpPr txBox="1"/>
          <p:nvPr/>
        </p:nvSpPr>
        <p:spPr>
          <a:xfrm>
            <a:off x="6099048" y="313639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222" name="TextBox 221"/>
          <p:cNvSpPr txBox="1"/>
          <p:nvPr/>
        </p:nvSpPr>
        <p:spPr>
          <a:xfrm>
            <a:off x="6208776" y="3136392"/>
            <a:ext cx="2061972" cy="91440"/>
          </a:xfrm>
          <a:prstGeom prst="rect">
            <a:avLst/>
          </a:prstGeom>
          <a:noFill/>
        </p:spPr>
        <p:txBody>
          <a:bodyPr wrap="square">
            <a:spAutoFit/>
          </a:bodyPr>
          <a:lstStyle/>
          <a:p>
            <a:pPr algn="l"/>
            <a:r>
              <a:rPr sz="550" b="0" i="0">
                <a:solidFill>
                  <a:srgbClr val="2C3E50"/>
                </a:solidFill>
                <a:latin typeface="Calibri"/>
              </a:rPr>
              <a:t>A/B Evaluation</a:t>
            </a:r>
          </a:p>
        </p:txBody>
      </p:sp>
      <p:sp>
        <p:nvSpPr>
          <p:cNvPr id="223" name="TextBox 222"/>
          <p:cNvSpPr txBox="1"/>
          <p:nvPr/>
        </p:nvSpPr>
        <p:spPr>
          <a:xfrm>
            <a:off x="6099048" y="322783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224" name="TextBox 223"/>
          <p:cNvSpPr txBox="1"/>
          <p:nvPr/>
        </p:nvSpPr>
        <p:spPr>
          <a:xfrm>
            <a:off x="6208776" y="3227832"/>
            <a:ext cx="2061972" cy="91440"/>
          </a:xfrm>
          <a:prstGeom prst="rect">
            <a:avLst/>
          </a:prstGeom>
          <a:noFill/>
        </p:spPr>
        <p:txBody>
          <a:bodyPr wrap="square">
            <a:spAutoFit/>
          </a:bodyPr>
          <a:lstStyle/>
          <a:p>
            <a:pPr algn="l"/>
            <a:r>
              <a:rPr sz="550" b="0" i="0">
                <a:solidFill>
                  <a:srgbClr val="2C3E50"/>
                </a:solidFill>
                <a:latin typeface="Calibri"/>
              </a:rPr>
              <a:t>Chain-of-Thought</a:t>
            </a:r>
          </a:p>
        </p:txBody>
      </p:sp>
      <p:sp>
        <p:nvSpPr>
          <p:cNvPr id="225" name="TextBox 224"/>
          <p:cNvSpPr txBox="1"/>
          <p:nvPr/>
        </p:nvSpPr>
        <p:spPr>
          <a:xfrm>
            <a:off x="6099048" y="331927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226" name="TextBox 225"/>
          <p:cNvSpPr txBox="1"/>
          <p:nvPr/>
        </p:nvSpPr>
        <p:spPr>
          <a:xfrm>
            <a:off x="6208776" y="3319272"/>
            <a:ext cx="2061972" cy="91440"/>
          </a:xfrm>
          <a:prstGeom prst="rect">
            <a:avLst/>
          </a:prstGeom>
          <a:noFill/>
        </p:spPr>
        <p:txBody>
          <a:bodyPr wrap="square">
            <a:spAutoFit/>
          </a:bodyPr>
          <a:lstStyle/>
          <a:p>
            <a:pPr algn="l"/>
            <a:r>
              <a:rPr sz="550" b="0" i="0">
                <a:solidFill>
                  <a:srgbClr val="2C3E50"/>
                </a:solidFill>
                <a:latin typeface="Calibri"/>
              </a:rPr>
              <a:t>Few-shot Examples</a:t>
            </a:r>
          </a:p>
        </p:txBody>
      </p:sp>
      <p:sp>
        <p:nvSpPr>
          <p:cNvPr id="227" name="Rounded Rectangle 226"/>
          <p:cNvSpPr/>
          <p:nvPr/>
        </p:nvSpPr>
        <p:spPr>
          <a:xfrm>
            <a:off x="8353044" y="2734056"/>
            <a:ext cx="2244852" cy="475488"/>
          </a:xfrm>
          <a:prstGeom prst="roundRect">
            <a:avLst>
              <a:gd name="adj" fmla="val 6000"/>
            </a:avLst>
          </a:prstGeom>
          <a:solidFill>
            <a:srgbClr val="FFFFFF"/>
          </a:solidFill>
          <a:ln w="762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TextBox 227"/>
          <p:cNvSpPr txBox="1"/>
          <p:nvPr/>
        </p:nvSpPr>
        <p:spPr>
          <a:xfrm>
            <a:off x="8398764" y="2770632"/>
            <a:ext cx="2153412" cy="182880"/>
          </a:xfrm>
          <a:prstGeom prst="rect">
            <a:avLst/>
          </a:prstGeom>
          <a:noFill/>
        </p:spPr>
        <p:txBody>
          <a:bodyPr wrap="square">
            <a:spAutoFit/>
          </a:bodyPr>
          <a:lstStyle/>
          <a:p>
            <a:pPr algn="l"/>
            <a:r>
              <a:rPr sz="650" b="1" i="0">
                <a:solidFill>
                  <a:srgbClr val="6A1B9A"/>
                </a:solidFill>
                <a:latin typeface="Calibri"/>
              </a:rPr>
              <a:t>📊  Model Evaluation</a:t>
            </a:r>
          </a:p>
        </p:txBody>
      </p:sp>
      <p:sp>
        <p:nvSpPr>
          <p:cNvPr id="229" name="TextBox 228"/>
          <p:cNvSpPr txBox="1"/>
          <p:nvPr/>
        </p:nvSpPr>
        <p:spPr>
          <a:xfrm>
            <a:off x="8398764" y="295351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230" name="TextBox 229"/>
          <p:cNvSpPr txBox="1"/>
          <p:nvPr/>
        </p:nvSpPr>
        <p:spPr>
          <a:xfrm>
            <a:off x="8508492" y="2953512"/>
            <a:ext cx="2061972" cy="91440"/>
          </a:xfrm>
          <a:prstGeom prst="rect">
            <a:avLst/>
          </a:prstGeom>
          <a:noFill/>
        </p:spPr>
        <p:txBody>
          <a:bodyPr wrap="square">
            <a:spAutoFit/>
          </a:bodyPr>
          <a:lstStyle/>
          <a:p>
            <a:pPr algn="l"/>
            <a:r>
              <a:rPr sz="550" b="0" i="0">
                <a:solidFill>
                  <a:srgbClr val="2C3E50"/>
                </a:solidFill>
                <a:latin typeface="Calibri"/>
              </a:rPr>
              <a:t>Quality Metrics</a:t>
            </a:r>
          </a:p>
        </p:txBody>
      </p:sp>
      <p:sp>
        <p:nvSpPr>
          <p:cNvPr id="231" name="TextBox 230"/>
          <p:cNvSpPr txBox="1"/>
          <p:nvPr/>
        </p:nvSpPr>
        <p:spPr>
          <a:xfrm>
            <a:off x="8398764" y="304495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232" name="TextBox 231"/>
          <p:cNvSpPr txBox="1"/>
          <p:nvPr/>
        </p:nvSpPr>
        <p:spPr>
          <a:xfrm>
            <a:off x="8508492" y="3044952"/>
            <a:ext cx="2061972" cy="91440"/>
          </a:xfrm>
          <a:prstGeom prst="rect">
            <a:avLst/>
          </a:prstGeom>
          <a:noFill/>
        </p:spPr>
        <p:txBody>
          <a:bodyPr wrap="square">
            <a:spAutoFit/>
          </a:bodyPr>
          <a:lstStyle/>
          <a:p>
            <a:pPr algn="l"/>
            <a:r>
              <a:rPr sz="550" b="0" i="0">
                <a:solidFill>
                  <a:srgbClr val="2C3E50"/>
                </a:solidFill>
                <a:latin typeface="Calibri"/>
              </a:rPr>
              <a:t>Relevance Scoring</a:t>
            </a:r>
          </a:p>
        </p:txBody>
      </p:sp>
      <p:sp>
        <p:nvSpPr>
          <p:cNvPr id="233" name="TextBox 232"/>
          <p:cNvSpPr txBox="1"/>
          <p:nvPr/>
        </p:nvSpPr>
        <p:spPr>
          <a:xfrm>
            <a:off x="8398764" y="313639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234" name="TextBox 233"/>
          <p:cNvSpPr txBox="1"/>
          <p:nvPr/>
        </p:nvSpPr>
        <p:spPr>
          <a:xfrm>
            <a:off x="8508492" y="3136392"/>
            <a:ext cx="2061972" cy="91440"/>
          </a:xfrm>
          <a:prstGeom prst="rect">
            <a:avLst/>
          </a:prstGeom>
          <a:noFill/>
        </p:spPr>
        <p:txBody>
          <a:bodyPr wrap="square">
            <a:spAutoFit/>
          </a:bodyPr>
          <a:lstStyle/>
          <a:p>
            <a:pPr algn="l"/>
            <a:r>
              <a:rPr sz="550" b="0" i="0">
                <a:solidFill>
                  <a:srgbClr val="2C3E50"/>
                </a:solidFill>
                <a:latin typeface="Calibri"/>
              </a:rPr>
              <a:t>Safety Benchmarks</a:t>
            </a:r>
          </a:p>
        </p:txBody>
      </p:sp>
      <p:sp>
        <p:nvSpPr>
          <p:cNvPr id="235" name="TextBox 234"/>
          <p:cNvSpPr txBox="1"/>
          <p:nvPr/>
        </p:nvSpPr>
        <p:spPr>
          <a:xfrm>
            <a:off x="8398764" y="322783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236" name="TextBox 235"/>
          <p:cNvSpPr txBox="1"/>
          <p:nvPr/>
        </p:nvSpPr>
        <p:spPr>
          <a:xfrm>
            <a:off x="8508492" y="3227832"/>
            <a:ext cx="2061972" cy="91440"/>
          </a:xfrm>
          <a:prstGeom prst="rect">
            <a:avLst/>
          </a:prstGeom>
          <a:noFill/>
        </p:spPr>
        <p:txBody>
          <a:bodyPr wrap="square">
            <a:spAutoFit/>
          </a:bodyPr>
          <a:lstStyle/>
          <a:p>
            <a:pPr algn="l"/>
            <a:r>
              <a:rPr sz="550" b="0" i="0">
                <a:solidFill>
                  <a:srgbClr val="2C3E50"/>
                </a:solidFill>
                <a:latin typeface="Calibri"/>
              </a:rPr>
              <a:t>Cost / Latency</a:t>
            </a:r>
          </a:p>
        </p:txBody>
      </p:sp>
      <p:sp>
        <p:nvSpPr>
          <p:cNvPr id="237" name="TextBox 236"/>
          <p:cNvSpPr txBox="1"/>
          <p:nvPr/>
        </p:nvSpPr>
        <p:spPr>
          <a:xfrm>
            <a:off x="8398764" y="3319272"/>
            <a:ext cx="109728" cy="91440"/>
          </a:xfrm>
          <a:prstGeom prst="rect">
            <a:avLst/>
          </a:prstGeom>
          <a:noFill/>
        </p:spPr>
        <p:txBody>
          <a:bodyPr wrap="square">
            <a:spAutoFit/>
          </a:bodyPr>
          <a:lstStyle/>
          <a:p>
            <a:pPr algn="l"/>
            <a:r>
              <a:rPr sz="550" b="1" i="0">
                <a:solidFill>
                  <a:srgbClr val="6A1B9A"/>
                </a:solidFill>
                <a:latin typeface="Calibri"/>
              </a:rPr>
              <a:t>•</a:t>
            </a:r>
          </a:p>
        </p:txBody>
      </p:sp>
      <p:sp>
        <p:nvSpPr>
          <p:cNvPr id="238" name="TextBox 237"/>
          <p:cNvSpPr txBox="1"/>
          <p:nvPr/>
        </p:nvSpPr>
        <p:spPr>
          <a:xfrm>
            <a:off x="8508492" y="3319272"/>
            <a:ext cx="2061972" cy="91440"/>
          </a:xfrm>
          <a:prstGeom prst="rect">
            <a:avLst/>
          </a:prstGeom>
          <a:noFill/>
        </p:spPr>
        <p:txBody>
          <a:bodyPr wrap="square">
            <a:spAutoFit/>
          </a:bodyPr>
          <a:lstStyle/>
          <a:p>
            <a:pPr algn="l"/>
            <a:r>
              <a:rPr sz="550" b="0" i="0">
                <a:solidFill>
                  <a:srgbClr val="2C3E50"/>
                </a:solidFill>
                <a:latin typeface="Calibri"/>
              </a:rPr>
              <a:t>Bias Detection</a:t>
            </a:r>
          </a:p>
        </p:txBody>
      </p:sp>
      <p:sp>
        <p:nvSpPr>
          <p:cNvPr id="239" name="Rounded Rectangle 238"/>
          <p:cNvSpPr/>
          <p:nvPr/>
        </p:nvSpPr>
        <p:spPr>
          <a:xfrm>
            <a:off x="1417320" y="3282696"/>
            <a:ext cx="9198864" cy="1005840"/>
          </a:xfrm>
          <a:prstGeom prst="roundRect">
            <a:avLst>
              <a:gd name="adj" fmla="val 6000"/>
            </a:avLst>
          </a:prstGeom>
          <a:solidFill>
            <a:srgbClr val="E0F2F1"/>
          </a:solidFill>
          <a:ln w="12700">
            <a:solidFill>
              <a:srgbClr val="006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Rectangle 239"/>
          <p:cNvSpPr/>
          <p:nvPr/>
        </p:nvSpPr>
        <p:spPr>
          <a:xfrm>
            <a:off x="1417320" y="3282696"/>
            <a:ext cx="9198864" cy="182880"/>
          </a:xfrm>
          <a:prstGeom prst="rect">
            <a:avLst/>
          </a:prstGeom>
          <a:solidFill>
            <a:srgbClr val="006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TextBox 240"/>
          <p:cNvSpPr txBox="1"/>
          <p:nvPr/>
        </p:nvSpPr>
        <p:spPr>
          <a:xfrm>
            <a:off x="1463040" y="3296412"/>
            <a:ext cx="9107424" cy="182880"/>
          </a:xfrm>
          <a:prstGeom prst="rect">
            <a:avLst/>
          </a:prstGeom>
          <a:noFill/>
        </p:spPr>
        <p:txBody>
          <a:bodyPr wrap="square">
            <a:spAutoFit/>
          </a:bodyPr>
          <a:lstStyle/>
          <a:p>
            <a:pPr algn="ctr"/>
            <a:r>
              <a:rPr sz="700" b="1" i="0">
                <a:solidFill>
                  <a:srgbClr val="FFFFFF"/>
                </a:solidFill>
                <a:latin typeface="Calibri"/>
              </a:rPr>
              <a:t>🗄  KNOWLEDGE &amp; MEMORY LAYER  —  RAG + MEMORY</a:t>
            </a:r>
          </a:p>
        </p:txBody>
      </p:sp>
      <p:sp>
        <p:nvSpPr>
          <p:cNvPr id="242" name="Rounded Rectangle 241"/>
          <p:cNvSpPr/>
          <p:nvPr/>
        </p:nvSpPr>
        <p:spPr>
          <a:xfrm>
            <a:off x="1463040" y="3502152"/>
            <a:ext cx="1463040" cy="731520"/>
          </a:xfrm>
          <a:prstGeom prst="roundRect">
            <a:avLst>
              <a:gd name="adj" fmla="val 6000"/>
            </a:avLst>
          </a:prstGeom>
          <a:solidFill>
            <a:srgbClr val="FFFFFF"/>
          </a:solidFill>
          <a:ln w="7620">
            <a:solidFill>
              <a:srgbClr val="006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TextBox 242"/>
          <p:cNvSpPr txBox="1"/>
          <p:nvPr/>
        </p:nvSpPr>
        <p:spPr>
          <a:xfrm>
            <a:off x="1508760" y="3538728"/>
            <a:ext cx="1371600" cy="182880"/>
          </a:xfrm>
          <a:prstGeom prst="rect">
            <a:avLst/>
          </a:prstGeom>
          <a:noFill/>
        </p:spPr>
        <p:txBody>
          <a:bodyPr wrap="square">
            <a:spAutoFit/>
          </a:bodyPr>
          <a:lstStyle/>
          <a:p>
            <a:pPr algn="l"/>
            <a:r>
              <a:rPr sz="650" b="1" i="0">
                <a:solidFill>
                  <a:srgbClr val="006E60"/>
                </a:solidFill>
                <a:latin typeface="Calibri"/>
              </a:rPr>
              <a:t>📂  Data Sources</a:t>
            </a:r>
          </a:p>
        </p:txBody>
      </p:sp>
      <p:sp>
        <p:nvSpPr>
          <p:cNvPr id="244" name="TextBox 243"/>
          <p:cNvSpPr txBox="1"/>
          <p:nvPr/>
        </p:nvSpPr>
        <p:spPr>
          <a:xfrm>
            <a:off x="1508760" y="3721608"/>
            <a:ext cx="109728" cy="105156"/>
          </a:xfrm>
          <a:prstGeom prst="rect">
            <a:avLst/>
          </a:prstGeom>
          <a:noFill/>
        </p:spPr>
        <p:txBody>
          <a:bodyPr wrap="square">
            <a:spAutoFit/>
          </a:bodyPr>
          <a:lstStyle/>
          <a:p>
            <a:pPr algn="l"/>
            <a:r>
              <a:rPr sz="550" b="1" i="0">
                <a:solidFill>
                  <a:srgbClr val="006E60"/>
                </a:solidFill>
                <a:latin typeface="Calibri"/>
              </a:rPr>
              <a:t>•</a:t>
            </a:r>
          </a:p>
        </p:txBody>
      </p:sp>
      <p:sp>
        <p:nvSpPr>
          <p:cNvPr id="245" name="TextBox 244"/>
          <p:cNvSpPr txBox="1"/>
          <p:nvPr/>
        </p:nvSpPr>
        <p:spPr>
          <a:xfrm>
            <a:off x="1618488" y="3721608"/>
            <a:ext cx="1280160" cy="105156"/>
          </a:xfrm>
          <a:prstGeom prst="rect">
            <a:avLst/>
          </a:prstGeom>
          <a:noFill/>
        </p:spPr>
        <p:txBody>
          <a:bodyPr wrap="square">
            <a:spAutoFit/>
          </a:bodyPr>
          <a:lstStyle/>
          <a:p>
            <a:pPr algn="l"/>
            <a:r>
              <a:rPr sz="550" b="0" i="0">
                <a:solidFill>
                  <a:srgbClr val="2C3E50"/>
                </a:solidFill>
                <a:latin typeface="Calibri"/>
              </a:rPr>
              <a:t>Documents (PDF, DOCX)</a:t>
            </a:r>
          </a:p>
        </p:txBody>
      </p:sp>
      <p:sp>
        <p:nvSpPr>
          <p:cNvPr id="246" name="TextBox 245"/>
          <p:cNvSpPr txBox="1"/>
          <p:nvPr/>
        </p:nvSpPr>
        <p:spPr>
          <a:xfrm>
            <a:off x="1508760" y="3826764"/>
            <a:ext cx="109728" cy="105156"/>
          </a:xfrm>
          <a:prstGeom prst="rect">
            <a:avLst/>
          </a:prstGeom>
          <a:noFill/>
        </p:spPr>
        <p:txBody>
          <a:bodyPr wrap="square">
            <a:spAutoFit/>
          </a:bodyPr>
          <a:lstStyle/>
          <a:p>
            <a:pPr algn="l"/>
            <a:r>
              <a:rPr sz="550" b="1" i="0">
                <a:solidFill>
                  <a:srgbClr val="006E60"/>
                </a:solidFill>
                <a:latin typeface="Calibri"/>
              </a:rPr>
              <a:t>•</a:t>
            </a:r>
          </a:p>
        </p:txBody>
      </p:sp>
      <p:sp>
        <p:nvSpPr>
          <p:cNvPr id="247" name="TextBox 246"/>
          <p:cNvSpPr txBox="1"/>
          <p:nvPr/>
        </p:nvSpPr>
        <p:spPr>
          <a:xfrm>
            <a:off x="1618488" y="3826764"/>
            <a:ext cx="1280160" cy="105156"/>
          </a:xfrm>
          <a:prstGeom prst="rect">
            <a:avLst/>
          </a:prstGeom>
          <a:noFill/>
        </p:spPr>
        <p:txBody>
          <a:bodyPr wrap="square">
            <a:spAutoFit/>
          </a:bodyPr>
          <a:lstStyle/>
          <a:p>
            <a:pPr algn="l"/>
            <a:r>
              <a:rPr sz="550" b="0" i="0">
                <a:solidFill>
                  <a:srgbClr val="2C3E50"/>
                </a:solidFill>
                <a:latin typeface="Calibri"/>
              </a:rPr>
              <a:t>Web / SharePoint</a:t>
            </a:r>
          </a:p>
        </p:txBody>
      </p:sp>
      <p:sp>
        <p:nvSpPr>
          <p:cNvPr id="248" name="TextBox 247"/>
          <p:cNvSpPr txBox="1"/>
          <p:nvPr/>
        </p:nvSpPr>
        <p:spPr>
          <a:xfrm>
            <a:off x="1508760" y="3931920"/>
            <a:ext cx="109728" cy="105156"/>
          </a:xfrm>
          <a:prstGeom prst="rect">
            <a:avLst/>
          </a:prstGeom>
          <a:noFill/>
        </p:spPr>
        <p:txBody>
          <a:bodyPr wrap="square">
            <a:spAutoFit/>
          </a:bodyPr>
          <a:lstStyle/>
          <a:p>
            <a:pPr algn="l"/>
            <a:r>
              <a:rPr sz="550" b="1" i="0">
                <a:solidFill>
                  <a:srgbClr val="006E60"/>
                </a:solidFill>
                <a:latin typeface="Calibri"/>
              </a:rPr>
              <a:t>•</a:t>
            </a:r>
          </a:p>
        </p:txBody>
      </p:sp>
      <p:sp>
        <p:nvSpPr>
          <p:cNvPr id="249" name="TextBox 248"/>
          <p:cNvSpPr txBox="1"/>
          <p:nvPr/>
        </p:nvSpPr>
        <p:spPr>
          <a:xfrm>
            <a:off x="1618488" y="3931920"/>
            <a:ext cx="1280160" cy="105156"/>
          </a:xfrm>
          <a:prstGeom prst="rect">
            <a:avLst/>
          </a:prstGeom>
          <a:noFill/>
        </p:spPr>
        <p:txBody>
          <a:bodyPr wrap="square">
            <a:spAutoFit/>
          </a:bodyPr>
          <a:lstStyle/>
          <a:p>
            <a:pPr algn="l"/>
            <a:r>
              <a:rPr sz="550" b="0" i="0">
                <a:solidFill>
                  <a:srgbClr val="2C3E50"/>
                </a:solidFill>
                <a:latin typeface="Calibri"/>
              </a:rPr>
              <a:t>Databases</a:t>
            </a:r>
          </a:p>
        </p:txBody>
      </p:sp>
      <p:sp>
        <p:nvSpPr>
          <p:cNvPr id="250" name="TextBox 249"/>
          <p:cNvSpPr txBox="1"/>
          <p:nvPr/>
        </p:nvSpPr>
        <p:spPr>
          <a:xfrm>
            <a:off x="1508760" y="4037076"/>
            <a:ext cx="109728" cy="105156"/>
          </a:xfrm>
          <a:prstGeom prst="rect">
            <a:avLst/>
          </a:prstGeom>
          <a:noFill/>
        </p:spPr>
        <p:txBody>
          <a:bodyPr wrap="square">
            <a:spAutoFit/>
          </a:bodyPr>
          <a:lstStyle/>
          <a:p>
            <a:pPr algn="l"/>
            <a:r>
              <a:rPr sz="550" b="1" i="0">
                <a:solidFill>
                  <a:srgbClr val="006E60"/>
                </a:solidFill>
                <a:latin typeface="Calibri"/>
              </a:rPr>
              <a:t>•</a:t>
            </a:r>
          </a:p>
        </p:txBody>
      </p:sp>
      <p:sp>
        <p:nvSpPr>
          <p:cNvPr id="251" name="TextBox 250"/>
          <p:cNvSpPr txBox="1"/>
          <p:nvPr/>
        </p:nvSpPr>
        <p:spPr>
          <a:xfrm>
            <a:off x="1618488" y="4037076"/>
            <a:ext cx="1280160" cy="105156"/>
          </a:xfrm>
          <a:prstGeom prst="rect">
            <a:avLst/>
          </a:prstGeom>
          <a:noFill/>
        </p:spPr>
        <p:txBody>
          <a:bodyPr wrap="square">
            <a:spAutoFit/>
          </a:bodyPr>
          <a:lstStyle/>
          <a:p>
            <a:pPr algn="l"/>
            <a:r>
              <a:rPr sz="550" b="0" i="0">
                <a:solidFill>
                  <a:srgbClr val="2C3E50"/>
                </a:solidFill>
                <a:latin typeface="Calibri"/>
              </a:rPr>
              <a:t>APIs</a:t>
            </a:r>
          </a:p>
        </p:txBody>
      </p:sp>
      <p:sp>
        <p:nvSpPr>
          <p:cNvPr id="252" name="TextBox 251"/>
          <p:cNvSpPr txBox="1"/>
          <p:nvPr/>
        </p:nvSpPr>
        <p:spPr>
          <a:xfrm>
            <a:off x="1508760" y="4142232"/>
            <a:ext cx="109728" cy="105156"/>
          </a:xfrm>
          <a:prstGeom prst="rect">
            <a:avLst/>
          </a:prstGeom>
          <a:noFill/>
        </p:spPr>
        <p:txBody>
          <a:bodyPr wrap="square">
            <a:spAutoFit/>
          </a:bodyPr>
          <a:lstStyle/>
          <a:p>
            <a:pPr algn="l"/>
            <a:r>
              <a:rPr sz="550" b="1" i="0">
                <a:solidFill>
                  <a:srgbClr val="006E60"/>
                </a:solidFill>
                <a:latin typeface="Calibri"/>
              </a:rPr>
              <a:t>•</a:t>
            </a:r>
          </a:p>
        </p:txBody>
      </p:sp>
      <p:sp>
        <p:nvSpPr>
          <p:cNvPr id="253" name="TextBox 252"/>
          <p:cNvSpPr txBox="1"/>
          <p:nvPr/>
        </p:nvSpPr>
        <p:spPr>
          <a:xfrm>
            <a:off x="1618488" y="4142232"/>
            <a:ext cx="1280160" cy="105156"/>
          </a:xfrm>
          <a:prstGeom prst="rect">
            <a:avLst/>
          </a:prstGeom>
          <a:noFill/>
        </p:spPr>
        <p:txBody>
          <a:bodyPr wrap="square">
            <a:spAutoFit/>
          </a:bodyPr>
          <a:lstStyle/>
          <a:p>
            <a:pPr algn="l"/>
            <a:r>
              <a:rPr sz="550" b="0" i="0">
                <a:solidFill>
                  <a:srgbClr val="2C3E50"/>
                </a:solidFill>
                <a:latin typeface="Calibri"/>
              </a:rPr>
              <a:t>S3 / Data Lake</a:t>
            </a:r>
          </a:p>
        </p:txBody>
      </p:sp>
      <p:sp>
        <p:nvSpPr>
          <p:cNvPr id="254" name="TextBox 253"/>
          <p:cNvSpPr txBox="1"/>
          <p:nvPr/>
        </p:nvSpPr>
        <p:spPr>
          <a:xfrm>
            <a:off x="1508760" y="4247388"/>
            <a:ext cx="109728" cy="105156"/>
          </a:xfrm>
          <a:prstGeom prst="rect">
            <a:avLst/>
          </a:prstGeom>
          <a:noFill/>
        </p:spPr>
        <p:txBody>
          <a:bodyPr wrap="square">
            <a:spAutoFit/>
          </a:bodyPr>
          <a:lstStyle/>
          <a:p>
            <a:pPr algn="l"/>
            <a:r>
              <a:rPr sz="550" b="1" i="0">
                <a:solidFill>
                  <a:srgbClr val="006E60"/>
                </a:solidFill>
                <a:latin typeface="Calibri"/>
              </a:rPr>
              <a:t>•</a:t>
            </a:r>
          </a:p>
        </p:txBody>
      </p:sp>
      <p:sp>
        <p:nvSpPr>
          <p:cNvPr id="255" name="TextBox 254"/>
          <p:cNvSpPr txBox="1"/>
          <p:nvPr/>
        </p:nvSpPr>
        <p:spPr>
          <a:xfrm>
            <a:off x="1618488" y="4247388"/>
            <a:ext cx="1280160" cy="105156"/>
          </a:xfrm>
          <a:prstGeom prst="rect">
            <a:avLst/>
          </a:prstGeom>
          <a:noFill/>
        </p:spPr>
        <p:txBody>
          <a:bodyPr wrap="square">
            <a:spAutoFit/>
          </a:bodyPr>
          <a:lstStyle/>
          <a:p>
            <a:pPr algn="l"/>
            <a:r>
              <a:rPr sz="550" b="0" i="0">
                <a:solidFill>
                  <a:srgbClr val="2C3E50"/>
                </a:solidFill>
                <a:latin typeface="Calibri"/>
              </a:rPr>
              <a:t>Streaming Feeds</a:t>
            </a:r>
          </a:p>
        </p:txBody>
      </p:sp>
      <p:sp>
        <p:nvSpPr>
          <p:cNvPr id="256" name="Rounded Rectangle 255"/>
          <p:cNvSpPr/>
          <p:nvPr/>
        </p:nvSpPr>
        <p:spPr>
          <a:xfrm>
            <a:off x="2999232" y="3502152"/>
            <a:ext cx="2286000" cy="731520"/>
          </a:xfrm>
          <a:prstGeom prst="roundRect">
            <a:avLst>
              <a:gd name="adj" fmla="val 6000"/>
            </a:avLst>
          </a:prstGeom>
          <a:solidFill>
            <a:srgbClr val="FFFFFF"/>
          </a:solidFill>
          <a:ln w="7620">
            <a:solidFill>
              <a:srgbClr val="006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TextBox 256"/>
          <p:cNvSpPr txBox="1"/>
          <p:nvPr/>
        </p:nvSpPr>
        <p:spPr>
          <a:xfrm>
            <a:off x="3044952" y="3538728"/>
            <a:ext cx="2194560" cy="182880"/>
          </a:xfrm>
          <a:prstGeom prst="rect">
            <a:avLst/>
          </a:prstGeom>
          <a:noFill/>
        </p:spPr>
        <p:txBody>
          <a:bodyPr wrap="square">
            <a:spAutoFit/>
          </a:bodyPr>
          <a:lstStyle/>
          <a:p>
            <a:pPr algn="l"/>
            <a:r>
              <a:rPr sz="650" b="1" i="0">
                <a:solidFill>
                  <a:srgbClr val="006E60"/>
                </a:solidFill>
                <a:latin typeface="Calibri"/>
              </a:rPr>
              <a:t>⚙  Knowledge Ingestion Pipeline</a:t>
            </a:r>
          </a:p>
        </p:txBody>
      </p:sp>
      <p:sp>
        <p:nvSpPr>
          <p:cNvPr id="258" name="Rounded Rectangle 257"/>
          <p:cNvSpPr/>
          <p:nvPr/>
        </p:nvSpPr>
        <p:spPr>
          <a:xfrm>
            <a:off x="3063240" y="3758184"/>
            <a:ext cx="413308" cy="475488"/>
          </a:xfrm>
          <a:prstGeom prst="roundRect">
            <a:avLst>
              <a:gd name="adj" fmla="val 5000"/>
            </a:avLst>
          </a:prstGeom>
          <a:solidFill>
            <a:srgbClr val="F4F6F9"/>
          </a:solidFill>
          <a:ln w="5080">
            <a:solidFill>
              <a:srgbClr val="006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TextBox 258"/>
          <p:cNvSpPr txBox="1"/>
          <p:nvPr/>
        </p:nvSpPr>
        <p:spPr>
          <a:xfrm>
            <a:off x="3063240" y="3785615"/>
            <a:ext cx="413308" cy="201168"/>
          </a:xfrm>
          <a:prstGeom prst="rect">
            <a:avLst/>
          </a:prstGeom>
          <a:noFill/>
        </p:spPr>
        <p:txBody>
          <a:bodyPr wrap="square">
            <a:spAutoFit/>
          </a:bodyPr>
          <a:lstStyle/>
          <a:p>
            <a:pPr algn="ctr"/>
            <a:r>
              <a:rPr sz="1000" b="0" i="0">
                <a:solidFill>
                  <a:srgbClr val="006E60"/>
                </a:solidFill>
                <a:latin typeface="Calibri"/>
              </a:rPr>
              <a:t>🔍</a:t>
            </a:r>
          </a:p>
        </p:txBody>
      </p:sp>
      <p:sp>
        <p:nvSpPr>
          <p:cNvPr id="260" name="TextBox 259"/>
          <p:cNvSpPr txBox="1"/>
          <p:nvPr/>
        </p:nvSpPr>
        <p:spPr>
          <a:xfrm>
            <a:off x="3063240" y="3986784"/>
            <a:ext cx="413308" cy="237744"/>
          </a:xfrm>
          <a:prstGeom prst="rect">
            <a:avLst/>
          </a:prstGeom>
          <a:noFill/>
        </p:spPr>
        <p:txBody>
          <a:bodyPr wrap="square">
            <a:spAutoFit/>
          </a:bodyPr>
          <a:lstStyle/>
          <a:p>
            <a:pPr algn="ctr"/>
            <a:r>
              <a:rPr sz="500" b="1" i="0">
                <a:solidFill>
                  <a:srgbClr val="2C3E50"/>
                </a:solidFill>
                <a:latin typeface="Calibri"/>
              </a:rPr>
              <a:t>Crawlers / Connectors</a:t>
            </a:r>
          </a:p>
        </p:txBody>
      </p:sp>
      <p:sp>
        <p:nvSpPr>
          <p:cNvPr id="261" name="TextBox 260"/>
          <p:cNvSpPr txBox="1"/>
          <p:nvPr/>
        </p:nvSpPr>
        <p:spPr>
          <a:xfrm>
            <a:off x="3494836" y="3886200"/>
            <a:ext cx="91440" cy="164592"/>
          </a:xfrm>
          <a:prstGeom prst="rect">
            <a:avLst/>
          </a:prstGeom>
          <a:noFill/>
        </p:spPr>
        <p:txBody>
          <a:bodyPr wrap="square">
            <a:spAutoFit/>
          </a:bodyPr>
          <a:lstStyle/>
          <a:p>
            <a:pPr algn="l"/>
            <a:r>
              <a:rPr sz="800" b="1" i="0">
                <a:solidFill>
                  <a:srgbClr val="006E60"/>
                </a:solidFill>
                <a:latin typeface="Calibri"/>
              </a:rPr>
              <a:t>→</a:t>
            </a:r>
          </a:p>
        </p:txBody>
      </p:sp>
      <p:sp>
        <p:nvSpPr>
          <p:cNvPr id="262" name="Rounded Rectangle 261"/>
          <p:cNvSpPr/>
          <p:nvPr/>
        </p:nvSpPr>
        <p:spPr>
          <a:xfrm>
            <a:off x="3502152" y="3758184"/>
            <a:ext cx="413308" cy="475488"/>
          </a:xfrm>
          <a:prstGeom prst="roundRect">
            <a:avLst>
              <a:gd name="adj" fmla="val 5000"/>
            </a:avLst>
          </a:prstGeom>
          <a:solidFill>
            <a:srgbClr val="F4F6F9"/>
          </a:solidFill>
          <a:ln w="5080">
            <a:solidFill>
              <a:srgbClr val="006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TextBox 262"/>
          <p:cNvSpPr txBox="1"/>
          <p:nvPr/>
        </p:nvSpPr>
        <p:spPr>
          <a:xfrm>
            <a:off x="3502152" y="3785615"/>
            <a:ext cx="413308" cy="201168"/>
          </a:xfrm>
          <a:prstGeom prst="rect">
            <a:avLst/>
          </a:prstGeom>
          <a:noFill/>
        </p:spPr>
        <p:txBody>
          <a:bodyPr wrap="square">
            <a:spAutoFit/>
          </a:bodyPr>
          <a:lstStyle/>
          <a:p>
            <a:pPr algn="ctr"/>
            <a:r>
              <a:rPr sz="1000" b="0" i="0">
                <a:solidFill>
                  <a:srgbClr val="006E60"/>
                </a:solidFill>
                <a:latin typeface="Calibri"/>
              </a:rPr>
              <a:t>📄</a:t>
            </a:r>
          </a:p>
        </p:txBody>
      </p:sp>
      <p:sp>
        <p:nvSpPr>
          <p:cNvPr id="264" name="TextBox 263"/>
          <p:cNvSpPr txBox="1"/>
          <p:nvPr/>
        </p:nvSpPr>
        <p:spPr>
          <a:xfrm>
            <a:off x="3502152" y="3986784"/>
            <a:ext cx="413308" cy="237744"/>
          </a:xfrm>
          <a:prstGeom prst="rect">
            <a:avLst/>
          </a:prstGeom>
          <a:noFill/>
        </p:spPr>
        <p:txBody>
          <a:bodyPr wrap="square">
            <a:spAutoFit/>
          </a:bodyPr>
          <a:lstStyle/>
          <a:p>
            <a:pPr algn="ctr"/>
            <a:r>
              <a:rPr sz="500" b="1" i="0">
                <a:solidFill>
                  <a:srgbClr val="2C3E50"/>
                </a:solidFill>
                <a:latin typeface="Calibri"/>
              </a:rPr>
              <a:t>OCR / Extraction</a:t>
            </a:r>
          </a:p>
        </p:txBody>
      </p:sp>
      <p:sp>
        <p:nvSpPr>
          <p:cNvPr id="265" name="TextBox 264"/>
          <p:cNvSpPr txBox="1"/>
          <p:nvPr/>
        </p:nvSpPr>
        <p:spPr>
          <a:xfrm>
            <a:off x="3933748" y="3886200"/>
            <a:ext cx="91440" cy="164592"/>
          </a:xfrm>
          <a:prstGeom prst="rect">
            <a:avLst/>
          </a:prstGeom>
          <a:noFill/>
        </p:spPr>
        <p:txBody>
          <a:bodyPr wrap="square">
            <a:spAutoFit/>
          </a:bodyPr>
          <a:lstStyle/>
          <a:p>
            <a:pPr algn="l"/>
            <a:r>
              <a:rPr sz="800" b="1" i="0">
                <a:solidFill>
                  <a:srgbClr val="006E60"/>
                </a:solidFill>
                <a:latin typeface="Calibri"/>
              </a:rPr>
              <a:t>→</a:t>
            </a:r>
          </a:p>
        </p:txBody>
      </p:sp>
      <p:sp>
        <p:nvSpPr>
          <p:cNvPr id="266" name="Rounded Rectangle 265"/>
          <p:cNvSpPr/>
          <p:nvPr/>
        </p:nvSpPr>
        <p:spPr>
          <a:xfrm>
            <a:off x="3941064" y="3758184"/>
            <a:ext cx="413308" cy="475488"/>
          </a:xfrm>
          <a:prstGeom prst="roundRect">
            <a:avLst>
              <a:gd name="adj" fmla="val 5000"/>
            </a:avLst>
          </a:prstGeom>
          <a:solidFill>
            <a:srgbClr val="F4F6F9"/>
          </a:solidFill>
          <a:ln w="5080">
            <a:solidFill>
              <a:srgbClr val="006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TextBox 266"/>
          <p:cNvSpPr txBox="1"/>
          <p:nvPr/>
        </p:nvSpPr>
        <p:spPr>
          <a:xfrm>
            <a:off x="3941064" y="3785615"/>
            <a:ext cx="413308" cy="201168"/>
          </a:xfrm>
          <a:prstGeom prst="rect">
            <a:avLst/>
          </a:prstGeom>
          <a:noFill/>
        </p:spPr>
        <p:txBody>
          <a:bodyPr wrap="square">
            <a:spAutoFit/>
          </a:bodyPr>
          <a:lstStyle/>
          <a:p>
            <a:pPr algn="ctr"/>
            <a:r>
              <a:rPr sz="1000" b="0" i="0">
                <a:solidFill>
                  <a:srgbClr val="006E60"/>
                </a:solidFill>
                <a:latin typeface="Calibri"/>
              </a:rPr>
              <a:t>✂</a:t>
            </a:r>
          </a:p>
        </p:txBody>
      </p:sp>
      <p:sp>
        <p:nvSpPr>
          <p:cNvPr id="268" name="TextBox 267"/>
          <p:cNvSpPr txBox="1"/>
          <p:nvPr/>
        </p:nvSpPr>
        <p:spPr>
          <a:xfrm>
            <a:off x="3941064" y="3986784"/>
            <a:ext cx="413308" cy="237744"/>
          </a:xfrm>
          <a:prstGeom prst="rect">
            <a:avLst/>
          </a:prstGeom>
          <a:noFill/>
        </p:spPr>
        <p:txBody>
          <a:bodyPr wrap="square">
            <a:spAutoFit/>
          </a:bodyPr>
          <a:lstStyle/>
          <a:p>
            <a:pPr algn="ctr"/>
            <a:r>
              <a:rPr sz="500" b="1" i="0">
                <a:solidFill>
                  <a:srgbClr val="2C3E50"/>
                </a:solidFill>
                <a:latin typeface="Calibri"/>
              </a:rPr>
              <a:t>Chunking &amp; Cleaning</a:t>
            </a:r>
          </a:p>
        </p:txBody>
      </p:sp>
      <p:sp>
        <p:nvSpPr>
          <p:cNvPr id="269" name="TextBox 268"/>
          <p:cNvSpPr txBox="1"/>
          <p:nvPr/>
        </p:nvSpPr>
        <p:spPr>
          <a:xfrm>
            <a:off x="4372660" y="3886200"/>
            <a:ext cx="91440" cy="164592"/>
          </a:xfrm>
          <a:prstGeom prst="rect">
            <a:avLst/>
          </a:prstGeom>
          <a:noFill/>
        </p:spPr>
        <p:txBody>
          <a:bodyPr wrap="square">
            <a:spAutoFit/>
          </a:bodyPr>
          <a:lstStyle/>
          <a:p>
            <a:pPr algn="l"/>
            <a:r>
              <a:rPr sz="800" b="1" i="0">
                <a:solidFill>
                  <a:srgbClr val="006E60"/>
                </a:solidFill>
                <a:latin typeface="Calibri"/>
              </a:rPr>
              <a:t>→</a:t>
            </a:r>
          </a:p>
        </p:txBody>
      </p:sp>
      <p:sp>
        <p:nvSpPr>
          <p:cNvPr id="270" name="Rounded Rectangle 269"/>
          <p:cNvSpPr/>
          <p:nvPr/>
        </p:nvSpPr>
        <p:spPr>
          <a:xfrm>
            <a:off x="4379976" y="3758184"/>
            <a:ext cx="413308" cy="475488"/>
          </a:xfrm>
          <a:prstGeom prst="roundRect">
            <a:avLst>
              <a:gd name="adj" fmla="val 5000"/>
            </a:avLst>
          </a:prstGeom>
          <a:solidFill>
            <a:srgbClr val="F4F6F9"/>
          </a:solidFill>
          <a:ln w="5080">
            <a:solidFill>
              <a:srgbClr val="006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TextBox 270"/>
          <p:cNvSpPr txBox="1"/>
          <p:nvPr/>
        </p:nvSpPr>
        <p:spPr>
          <a:xfrm>
            <a:off x="4379976" y="3785615"/>
            <a:ext cx="413308" cy="201168"/>
          </a:xfrm>
          <a:prstGeom prst="rect">
            <a:avLst/>
          </a:prstGeom>
          <a:noFill/>
        </p:spPr>
        <p:txBody>
          <a:bodyPr wrap="square">
            <a:spAutoFit/>
          </a:bodyPr>
          <a:lstStyle/>
          <a:p>
            <a:pPr algn="ctr"/>
            <a:r>
              <a:rPr sz="1000" b="0" i="0">
                <a:solidFill>
                  <a:srgbClr val="006E60"/>
                </a:solidFill>
                <a:latin typeface="Calibri"/>
              </a:rPr>
              <a:t>🔢</a:t>
            </a:r>
          </a:p>
        </p:txBody>
      </p:sp>
      <p:sp>
        <p:nvSpPr>
          <p:cNvPr id="272" name="TextBox 271"/>
          <p:cNvSpPr txBox="1"/>
          <p:nvPr/>
        </p:nvSpPr>
        <p:spPr>
          <a:xfrm>
            <a:off x="4379976" y="3986784"/>
            <a:ext cx="413308" cy="237744"/>
          </a:xfrm>
          <a:prstGeom prst="rect">
            <a:avLst/>
          </a:prstGeom>
          <a:noFill/>
        </p:spPr>
        <p:txBody>
          <a:bodyPr wrap="square">
            <a:spAutoFit/>
          </a:bodyPr>
          <a:lstStyle/>
          <a:p>
            <a:pPr algn="ctr"/>
            <a:r>
              <a:rPr sz="500" b="1" i="0">
                <a:solidFill>
                  <a:srgbClr val="2C3E50"/>
                </a:solidFill>
                <a:latin typeface="Calibri"/>
              </a:rPr>
              <a:t>Embeddings Model</a:t>
            </a:r>
          </a:p>
        </p:txBody>
      </p:sp>
      <p:sp>
        <p:nvSpPr>
          <p:cNvPr id="273" name="TextBox 272"/>
          <p:cNvSpPr txBox="1"/>
          <p:nvPr/>
        </p:nvSpPr>
        <p:spPr>
          <a:xfrm>
            <a:off x="4811572" y="3886200"/>
            <a:ext cx="91440" cy="164592"/>
          </a:xfrm>
          <a:prstGeom prst="rect">
            <a:avLst/>
          </a:prstGeom>
          <a:noFill/>
        </p:spPr>
        <p:txBody>
          <a:bodyPr wrap="square">
            <a:spAutoFit/>
          </a:bodyPr>
          <a:lstStyle/>
          <a:p>
            <a:pPr algn="l"/>
            <a:r>
              <a:rPr sz="800" b="1" i="0">
                <a:solidFill>
                  <a:srgbClr val="006E60"/>
                </a:solidFill>
                <a:latin typeface="Calibri"/>
              </a:rPr>
              <a:t>→</a:t>
            </a:r>
          </a:p>
        </p:txBody>
      </p:sp>
      <p:sp>
        <p:nvSpPr>
          <p:cNvPr id="274" name="Rounded Rectangle 273"/>
          <p:cNvSpPr/>
          <p:nvPr/>
        </p:nvSpPr>
        <p:spPr>
          <a:xfrm>
            <a:off x="4818888" y="3758184"/>
            <a:ext cx="413308" cy="475488"/>
          </a:xfrm>
          <a:prstGeom prst="roundRect">
            <a:avLst>
              <a:gd name="adj" fmla="val 5000"/>
            </a:avLst>
          </a:prstGeom>
          <a:solidFill>
            <a:srgbClr val="F4F6F9"/>
          </a:solidFill>
          <a:ln w="5080">
            <a:solidFill>
              <a:srgbClr val="006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TextBox 274"/>
          <p:cNvSpPr txBox="1"/>
          <p:nvPr/>
        </p:nvSpPr>
        <p:spPr>
          <a:xfrm>
            <a:off x="4818888" y="3785615"/>
            <a:ext cx="413308" cy="201168"/>
          </a:xfrm>
          <a:prstGeom prst="rect">
            <a:avLst/>
          </a:prstGeom>
          <a:noFill/>
        </p:spPr>
        <p:txBody>
          <a:bodyPr wrap="square">
            <a:spAutoFit/>
          </a:bodyPr>
          <a:lstStyle/>
          <a:p>
            <a:pPr algn="ctr"/>
            <a:r>
              <a:rPr sz="1000" b="0" i="0">
                <a:solidFill>
                  <a:srgbClr val="006E60"/>
                </a:solidFill>
                <a:latin typeface="Calibri"/>
              </a:rPr>
              <a:t>📦</a:t>
            </a:r>
          </a:p>
        </p:txBody>
      </p:sp>
      <p:sp>
        <p:nvSpPr>
          <p:cNvPr id="276" name="TextBox 275"/>
          <p:cNvSpPr txBox="1"/>
          <p:nvPr/>
        </p:nvSpPr>
        <p:spPr>
          <a:xfrm>
            <a:off x="4818888" y="3986784"/>
            <a:ext cx="413308" cy="237744"/>
          </a:xfrm>
          <a:prstGeom prst="rect">
            <a:avLst/>
          </a:prstGeom>
          <a:noFill/>
        </p:spPr>
        <p:txBody>
          <a:bodyPr wrap="square">
            <a:spAutoFit/>
          </a:bodyPr>
          <a:lstStyle/>
          <a:p>
            <a:pPr algn="ctr"/>
            <a:r>
              <a:rPr sz="500" b="1" i="0">
                <a:solidFill>
                  <a:srgbClr val="2C3E50"/>
                </a:solidFill>
                <a:latin typeface="Calibri"/>
              </a:rPr>
              <a:t>Index &amp; Store</a:t>
            </a:r>
          </a:p>
        </p:txBody>
      </p:sp>
      <p:sp>
        <p:nvSpPr>
          <p:cNvPr id="277" name="Rounded Rectangle 276"/>
          <p:cNvSpPr/>
          <p:nvPr/>
        </p:nvSpPr>
        <p:spPr>
          <a:xfrm>
            <a:off x="5358384" y="3502152"/>
            <a:ext cx="2011680" cy="731520"/>
          </a:xfrm>
          <a:prstGeom prst="roundRect">
            <a:avLst>
              <a:gd name="adj" fmla="val 6000"/>
            </a:avLst>
          </a:prstGeom>
          <a:solidFill>
            <a:srgbClr val="FFFFFF"/>
          </a:solidFill>
          <a:ln w="7620">
            <a:solidFill>
              <a:srgbClr val="006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TextBox 277"/>
          <p:cNvSpPr txBox="1"/>
          <p:nvPr/>
        </p:nvSpPr>
        <p:spPr>
          <a:xfrm>
            <a:off x="5404104" y="3538728"/>
            <a:ext cx="1920240" cy="182880"/>
          </a:xfrm>
          <a:prstGeom prst="rect">
            <a:avLst/>
          </a:prstGeom>
          <a:noFill/>
        </p:spPr>
        <p:txBody>
          <a:bodyPr wrap="square">
            <a:spAutoFit/>
          </a:bodyPr>
          <a:lstStyle/>
          <a:p>
            <a:pPr algn="l"/>
            <a:r>
              <a:rPr sz="650" b="1" i="0">
                <a:solidFill>
                  <a:srgbClr val="006E60"/>
                </a:solidFill>
                <a:latin typeface="Calibri"/>
              </a:rPr>
              <a:t>🗃  Vector / Knowledge Store</a:t>
            </a:r>
          </a:p>
        </p:txBody>
      </p:sp>
      <p:sp>
        <p:nvSpPr>
          <p:cNvPr id="279" name="Rounded Rectangle 278"/>
          <p:cNvSpPr/>
          <p:nvPr/>
        </p:nvSpPr>
        <p:spPr>
          <a:xfrm>
            <a:off x="5449824" y="3758184"/>
            <a:ext cx="868680" cy="512064"/>
          </a:xfrm>
          <a:prstGeom prst="roundRect">
            <a:avLst>
              <a:gd name="adj" fmla="val 5000"/>
            </a:avLst>
          </a:prstGeom>
          <a:solidFill>
            <a:srgbClr val="F4F6F9"/>
          </a:solidFill>
          <a:ln w="5080">
            <a:solidFill>
              <a:srgbClr val="006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TextBox 279"/>
          <p:cNvSpPr txBox="1"/>
          <p:nvPr/>
        </p:nvSpPr>
        <p:spPr>
          <a:xfrm>
            <a:off x="5449824" y="3776472"/>
            <a:ext cx="868680" cy="201168"/>
          </a:xfrm>
          <a:prstGeom prst="rect">
            <a:avLst/>
          </a:prstGeom>
          <a:noFill/>
        </p:spPr>
        <p:txBody>
          <a:bodyPr wrap="square">
            <a:spAutoFit/>
          </a:bodyPr>
          <a:lstStyle/>
          <a:p>
            <a:pPr algn="ctr"/>
            <a:r>
              <a:rPr sz="1200" b="0" i="0">
                <a:solidFill>
                  <a:srgbClr val="006E60"/>
                </a:solidFill>
                <a:latin typeface="Calibri"/>
              </a:rPr>
              <a:t>📌</a:t>
            </a:r>
          </a:p>
        </p:txBody>
      </p:sp>
      <p:sp>
        <p:nvSpPr>
          <p:cNvPr id="281" name="TextBox 280"/>
          <p:cNvSpPr txBox="1"/>
          <p:nvPr/>
        </p:nvSpPr>
        <p:spPr>
          <a:xfrm>
            <a:off x="5449824" y="3977639"/>
            <a:ext cx="868680" cy="256032"/>
          </a:xfrm>
          <a:prstGeom prst="rect">
            <a:avLst/>
          </a:prstGeom>
          <a:noFill/>
        </p:spPr>
        <p:txBody>
          <a:bodyPr wrap="square">
            <a:spAutoFit/>
          </a:bodyPr>
          <a:lstStyle/>
          <a:p>
            <a:pPr algn="ctr"/>
            <a:r>
              <a:rPr sz="550" b="1" i="0">
                <a:solidFill>
                  <a:srgbClr val="2C3E50"/>
                </a:solidFill>
                <a:latin typeface="Calibri"/>
              </a:rPr>
              <a:t>Vector DB
(Semantic Search)</a:t>
            </a:r>
          </a:p>
        </p:txBody>
      </p:sp>
      <p:sp>
        <p:nvSpPr>
          <p:cNvPr id="282" name="Rounded Rectangle 281"/>
          <p:cNvSpPr/>
          <p:nvPr/>
        </p:nvSpPr>
        <p:spPr>
          <a:xfrm>
            <a:off x="6364224" y="3758184"/>
            <a:ext cx="868680" cy="512064"/>
          </a:xfrm>
          <a:prstGeom prst="roundRect">
            <a:avLst>
              <a:gd name="adj" fmla="val 5000"/>
            </a:avLst>
          </a:prstGeom>
          <a:solidFill>
            <a:srgbClr val="F4F6F9"/>
          </a:solidFill>
          <a:ln w="5080">
            <a:solidFill>
              <a:srgbClr val="006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TextBox 282"/>
          <p:cNvSpPr txBox="1"/>
          <p:nvPr/>
        </p:nvSpPr>
        <p:spPr>
          <a:xfrm>
            <a:off x="6364224" y="3776472"/>
            <a:ext cx="868680" cy="201168"/>
          </a:xfrm>
          <a:prstGeom prst="rect">
            <a:avLst/>
          </a:prstGeom>
          <a:noFill/>
        </p:spPr>
        <p:txBody>
          <a:bodyPr wrap="square">
            <a:spAutoFit/>
          </a:bodyPr>
          <a:lstStyle/>
          <a:p>
            <a:pPr algn="ctr"/>
            <a:r>
              <a:rPr sz="1200" b="0" i="0">
                <a:solidFill>
                  <a:srgbClr val="006E60"/>
                </a:solidFill>
                <a:latin typeface="Calibri"/>
              </a:rPr>
              <a:t>📊</a:t>
            </a:r>
          </a:p>
        </p:txBody>
      </p:sp>
      <p:sp>
        <p:nvSpPr>
          <p:cNvPr id="284" name="TextBox 283"/>
          <p:cNvSpPr txBox="1"/>
          <p:nvPr/>
        </p:nvSpPr>
        <p:spPr>
          <a:xfrm>
            <a:off x="6364224" y="3977639"/>
            <a:ext cx="868680" cy="256032"/>
          </a:xfrm>
          <a:prstGeom prst="rect">
            <a:avLst/>
          </a:prstGeom>
          <a:noFill/>
        </p:spPr>
        <p:txBody>
          <a:bodyPr wrap="square">
            <a:spAutoFit/>
          </a:bodyPr>
          <a:lstStyle/>
          <a:p>
            <a:pPr algn="ctr"/>
            <a:r>
              <a:rPr sz="550" b="1" i="0">
                <a:solidFill>
                  <a:srgbClr val="2C3E50"/>
                </a:solidFill>
                <a:latin typeface="Calibri"/>
              </a:rPr>
              <a:t>Metadata Store
(Filters / Schema)</a:t>
            </a:r>
          </a:p>
        </p:txBody>
      </p:sp>
      <p:sp>
        <p:nvSpPr>
          <p:cNvPr id="285" name="Rounded Rectangle 284"/>
          <p:cNvSpPr/>
          <p:nvPr/>
        </p:nvSpPr>
        <p:spPr>
          <a:xfrm>
            <a:off x="5394960" y="4315968"/>
            <a:ext cx="1938528" cy="128016"/>
          </a:xfrm>
          <a:prstGeom prst="roundRect">
            <a:avLst>
              <a:gd name="adj" fmla="val 4000"/>
            </a:avLst>
          </a:prstGeom>
          <a:solidFill>
            <a:srgbClr val="C8E6C9"/>
          </a:solidFill>
          <a:ln w="5080">
            <a:solidFill>
              <a:srgbClr val="006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TextBox 285"/>
          <p:cNvSpPr txBox="1"/>
          <p:nvPr/>
        </p:nvSpPr>
        <p:spPr>
          <a:xfrm>
            <a:off x="5413248" y="4325112"/>
            <a:ext cx="1920240" cy="109728"/>
          </a:xfrm>
          <a:prstGeom prst="rect">
            <a:avLst/>
          </a:prstGeom>
          <a:noFill/>
        </p:spPr>
        <p:txBody>
          <a:bodyPr wrap="square">
            <a:spAutoFit/>
          </a:bodyPr>
          <a:lstStyle/>
          <a:p>
            <a:pPr algn="ctr"/>
            <a:r>
              <a:rPr sz="600" b="1" i="0">
                <a:solidFill>
                  <a:srgbClr val="006E60"/>
                </a:solidFill>
                <a:latin typeface="Calibri"/>
              </a:rPr>
              <a:t>⟳  Retrieval (RAG)</a:t>
            </a:r>
          </a:p>
        </p:txBody>
      </p:sp>
      <p:sp>
        <p:nvSpPr>
          <p:cNvPr id="287" name="Rounded Rectangle 286"/>
          <p:cNvSpPr/>
          <p:nvPr/>
        </p:nvSpPr>
        <p:spPr>
          <a:xfrm>
            <a:off x="7443216" y="3502152"/>
            <a:ext cx="3127248" cy="731520"/>
          </a:xfrm>
          <a:prstGeom prst="roundRect">
            <a:avLst>
              <a:gd name="adj" fmla="val 6000"/>
            </a:avLst>
          </a:prstGeom>
          <a:solidFill>
            <a:srgbClr val="FFFFFF"/>
          </a:solidFill>
          <a:ln w="7620">
            <a:solidFill>
              <a:srgbClr val="006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TextBox 287"/>
          <p:cNvSpPr txBox="1"/>
          <p:nvPr/>
        </p:nvSpPr>
        <p:spPr>
          <a:xfrm>
            <a:off x="7488936" y="3538728"/>
            <a:ext cx="3035808" cy="182880"/>
          </a:xfrm>
          <a:prstGeom prst="rect">
            <a:avLst/>
          </a:prstGeom>
          <a:noFill/>
        </p:spPr>
        <p:txBody>
          <a:bodyPr wrap="square">
            <a:spAutoFit/>
          </a:bodyPr>
          <a:lstStyle/>
          <a:p>
            <a:pPr algn="l"/>
            <a:r>
              <a:rPr sz="650" b="1" i="0">
                <a:solidFill>
                  <a:srgbClr val="006E60"/>
                </a:solidFill>
                <a:latin typeface="Calibri"/>
              </a:rPr>
              <a:t>💾  Memory Layer (Agent Memory)</a:t>
            </a:r>
          </a:p>
        </p:txBody>
      </p:sp>
      <p:sp>
        <p:nvSpPr>
          <p:cNvPr id="289" name="Rounded Rectangle 288"/>
          <p:cNvSpPr/>
          <p:nvPr/>
        </p:nvSpPr>
        <p:spPr>
          <a:xfrm>
            <a:off x="7507224" y="3758184"/>
            <a:ext cx="981456" cy="512064"/>
          </a:xfrm>
          <a:prstGeom prst="roundRect">
            <a:avLst>
              <a:gd name="adj" fmla="val 5000"/>
            </a:avLst>
          </a:prstGeom>
          <a:solidFill>
            <a:srgbClr val="F4F6F9"/>
          </a:solidFill>
          <a:ln w="5080">
            <a:solidFill>
              <a:srgbClr val="006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TextBox 289"/>
          <p:cNvSpPr txBox="1"/>
          <p:nvPr/>
        </p:nvSpPr>
        <p:spPr>
          <a:xfrm>
            <a:off x="7507224" y="3776472"/>
            <a:ext cx="981456" cy="201168"/>
          </a:xfrm>
          <a:prstGeom prst="rect">
            <a:avLst/>
          </a:prstGeom>
          <a:noFill/>
        </p:spPr>
        <p:txBody>
          <a:bodyPr wrap="square">
            <a:spAutoFit/>
          </a:bodyPr>
          <a:lstStyle/>
          <a:p>
            <a:pPr algn="ctr"/>
            <a:r>
              <a:rPr sz="1100" b="0" i="0">
                <a:solidFill>
                  <a:srgbClr val="006E60"/>
                </a:solidFill>
                <a:latin typeface="Calibri"/>
              </a:rPr>
              <a:t>⚡</a:t>
            </a:r>
          </a:p>
        </p:txBody>
      </p:sp>
      <p:sp>
        <p:nvSpPr>
          <p:cNvPr id="291" name="TextBox 290"/>
          <p:cNvSpPr txBox="1"/>
          <p:nvPr/>
        </p:nvSpPr>
        <p:spPr>
          <a:xfrm>
            <a:off x="7507224" y="3977639"/>
            <a:ext cx="981456" cy="256032"/>
          </a:xfrm>
          <a:prstGeom prst="rect">
            <a:avLst/>
          </a:prstGeom>
          <a:noFill/>
        </p:spPr>
        <p:txBody>
          <a:bodyPr wrap="square">
            <a:spAutoFit/>
          </a:bodyPr>
          <a:lstStyle/>
          <a:p>
            <a:pPr algn="ctr"/>
            <a:r>
              <a:rPr sz="550" b="1" i="0">
                <a:solidFill>
                  <a:srgbClr val="2C3E50"/>
                </a:solidFill>
                <a:latin typeface="Calibri"/>
              </a:rPr>
              <a:t>Short-term
Context</a:t>
            </a:r>
          </a:p>
        </p:txBody>
      </p:sp>
      <p:sp>
        <p:nvSpPr>
          <p:cNvPr id="292" name="Rounded Rectangle 291"/>
          <p:cNvSpPr/>
          <p:nvPr/>
        </p:nvSpPr>
        <p:spPr>
          <a:xfrm>
            <a:off x="8519160" y="3758184"/>
            <a:ext cx="981456" cy="512064"/>
          </a:xfrm>
          <a:prstGeom prst="roundRect">
            <a:avLst>
              <a:gd name="adj" fmla="val 5000"/>
            </a:avLst>
          </a:prstGeom>
          <a:solidFill>
            <a:srgbClr val="F4F6F9"/>
          </a:solidFill>
          <a:ln w="5080">
            <a:solidFill>
              <a:srgbClr val="006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TextBox 292"/>
          <p:cNvSpPr txBox="1"/>
          <p:nvPr/>
        </p:nvSpPr>
        <p:spPr>
          <a:xfrm>
            <a:off x="8519160" y="3776472"/>
            <a:ext cx="981456" cy="201168"/>
          </a:xfrm>
          <a:prstGeom prst="rect">
            <a:avLst/>
          </a:prstGeom>
          <a:noFill/>
        </p:spPr>
        <p:txBody>
          <a:bodyPr wrap="square">
            <a:spAutoFit/>
          </a:bodyPr>
          <a:lstStyle/>
          <a:p>
            <a:pPr algn="ctr"/>
            <a:r>
              <a:rPr sz="1100" b="0" i="0">
                <a:solidFill>
                  <a:srgbClr val="006E60"/>
                </a:solidFill>
                <a:latin typeface="Calibri"/>
              </a:rPr>
              <a:t>📔</a:t>
            </a:r>
          </a:p>
        </p:txBody>
      </p:sp>
      <p:sp>
        <p:nvSpPr>
          <p:cNvPr id="294" name="TextBox 293"/>
          <p:cNvSpPr txBox="1"/>
          <p:nvPr/>
        </p:nvSpPr>
        <p:spPr>
          <a:xfrm>
            <a:off x="8519160" y="3977639"/>
            <a:ext cx="981456" cy="256032"/>
          </a:xfrm>
          <a:prstGeom prst="rect">
            <a:avLst/>
          </a:prstGeom>
          <a:noFill/>
        </p:spPr>
        <p:txBody>
          <a:bodyPr wrap="square">
            <a:spAutoFit/>
          </a:bodyPr>
          <a:lstStyle/>
          <a:p>
            <a:pPr algn="ctr"/>
            <a:r>
              <a:rPr sz="550" b="1" i="0">
                <a:solidFill>
                  <a:srgbClr val="2C3E50"/>
                </a:solidFill>
                <a:latin typeface="Calibri"/>
              </a:rPr>
              <a:t>Long-term
User Profile</a:t>
            </a:r>
          </a:p>
        </p:txBody>
      </p:sp>
      <p:sp>
        <p:nvSpPr>
          <p:cNvPr id="295" name="Rounded Rectangle 294"/>
          <p:cNvSpPr/>
          <p:nvPr/>
        </p:nvSpPr>
        <p:spPr>
          <a:xfrm>
            <a:off x="9531096" y="3758184"/>
            <a:ext cx="981456" cy="512064"/>
          </a:xfrm>
          <a:prstGeom prst="roundRect">
            <a:avLst>
              <a:gd name="adj" fmla="val 5000"/>
            </a:avLst>
          </a:prstGeom>
          <a:solidFill>
            <a:srgbClr val="F4F6F9"/>
          </a:solidFill>
          <a:ln w="5080">
            <a:solidFill>
              <a:srgbClr val="006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TextBox 295"/>
          <p:cNvSpPr txBox="1"/>
          <p:nvPr/>
        </p:nvSpPr>
        <p:spPr>
          <a:xfrm>
            <a:off x="9531096" y="3776472"/>
            <a:ext cx="981456" cy="201168"/>
          </a:xfrm>
          <a:prstGeom prst="rect">
            <a:avLst/>
          </a:prstGeom>
          <a:noFill/>
        </p:spPr>
        <p:txBody>
          <a:bodyPr wrap="square">
            <a:spAutoFit/>
          </a:bodyPr>
          <a:lstStyle/>
          <a:p>
            <a:pPr algn="ctr"/>
            <a:r>
              <a:rPr sz="1100" b="0" i="0">
                <a:solidFill>
                  <a:srgbClr val="006E60"/>
                </a:solidFill>
                <a:latin typeface="Calibri"/>
              </a:rPr>
              <a:t>🗒</a:t>
            </a:r>
          </a:p>
        </p:txBody>
      </p:sp>
      <p:sp>
        <p:nvSpPr>
          <p:cNvPr id="297" name="TextBox 296"/>
          <p:cNvSpPr txBox="1"/>
          <p:nvPr/>
        </p:nvSpPr>
        <p:spPr>
          <a:xfrm>
            <a:off x="9531096" y="3977639"/>
            <a:ext cx="981456" cy="256032"/>
          </a:xfrm>
          <a:prstGeom prst="rect">
            <a:avLst/>
          </a:prstGeom>
          <a:noFill/>
        </p:spPr>
        <p:txBody>
          <a:bodyPr wrap="square">
            <a:spAutoFit/>
          </a:bodyPr>
          <a:lstStyle/>
          <a:p>
            <a:pPr algn="ctr"/>
            <a:r>
              <a:rPr sz="550" b="1" i="0">
                <a:solidFill>
                  <a:srgbClr val="2C3E50"/>
                </a:solidFill>
                <a:latin typeface="Calibri"/>
              </a:rPr>
              <a:t>Session
Store</a:t>
            </a:r>
          </a:p>
        </p:txBody>
      </p:sp>
      <p:sp>
        <p:nvSpPr>
          <p:cNvPr id="298" name="Rounded Rectangle 297"/>
          <p:cNvSpPr/>
          <p:nvPr/>
        </p:nvSpPr>
        <p:spPr>
          <a:xfrm>
            <a:off x="1417320" y="4325112"/>
            <a:ext cx="9198864" cy="603504"/>
          </a:xfrm>
          <a:prstGeom prst="roundRect">
            <a:avLst>
              <a:gd name="adj" fmla="val 6000"/>
            </a:avLst>
          </a:prstGeom>
          <a:solidFill>
            <a:srgbClr val="FBE9E7"/>
          </a:solidFill>
          <a:ln w="12700">
            <a:solidFill>
              <a:srgbClr val="BF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Rectangle 298"/>
          <p:cNvSpPr/>
          <p:nvPr/>
        </p:nvSpPr>
        <p:spPr>
          <a:xfrm>
            <a:off x="1417320" y="4325112"/>
            <a:ext cx="9198864" cy="182880"/>
          </a:xfrm>
          <a:prstGeom prst="rect">
            <a:avLst/>
          </a:prstGeom>
          <a:solidFill>
            <a:srgbClr val="BF3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TextBox 299"/>
          <p:cNvSpPr txBox="1"/>
          <p:nvPr/>
        </p:nvSpPr>
        <p:spPr>
          <a:xfrm>
            <a:off x="1463040" y="4338827"/>
            <a:ext cx="9107424" cy="182880"/>
          </a:xfrm>
          <a:prstGeom prst="rect">
            <a:avLst/>
          </a:prstGeom>
          <a:noFill/>
        </p:spPr>
        <p:txBody>
          <a:bodyPr wrap="square">
            <a:spAutoFit/>
          </a:bodyPr>
          <a:lstStyle/>
          <a:p>
            <a:pPr algn="ctr"/>
            <a:r>
              <a:rPr sz="700" b="1" i="0">
                <a:solidFill>
                  <a:srgbClr val="FFFFFF"/>
                </a:solidFill>
                <a:latin typeface="Calibri"/>
              </a:rPr>
              <a:t>⚡  ACTION EXECUTION LAYER  —  Tools · Automation · Integrations</a:t>
            </a:r>
          </a:p>
        </p:txBody>
      </p:sp>
      <p:sp>
        <p:nvSpPr>
          <p:cNvPr id="301" name="Rounded Rectangle 300"/>
          <p:cNvSpPr/>
          <p:nvPr/>
        </p:nvSpPr>
        <p:spPr>
          <a:xfrm>
            <a:off x="1453896" y="4544568"/>
            <a:ext cx="930655" cy="310896"/>
          </a:xfrm>
          <a:prstGeom prst="roundRect">
            <a:avLst>
              <a:gd name="adj" fmla="val 6000"/>
            </a:avLst>
          </a:prstGeom>
          <a:solidFill>
            <a:srgbClr val="FFFFFF"/>
          </a:solidFill>
          <a:ln w="7620">
            <a:solidFill>
              <a:srgbClr val="BF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TextBox 301"/>
          <p:cNvSpPr txBox="1"/>
          <p:nvPr/>
        </p:nvSpPr>
        <p:spPr>
          <a:xfrm>
            <a:off x="1453896" y="4581144"/>
            <a:ext cx="930655" cy="182880"/>
          </a:xfrm>
          <a:prstGeom prst="rect">
            <a:avLst/>
          </a:prstGeom>
          <a:noFill/>
        </p:spPr>
        <p:txBody>
          <a:bodyPr wrap="square">
            <a:spAutoFit/>
          </a:bodyPr>
          <a:lstStyle/>
          <a:p>
            <a:pPr algn="ctr"/>
            <a:r>
              <a:rPr sz="1100" b="0" i="0">
                <a:solidFill>
                  <a:srgbClr val="BF3600"/>
                </a:solidFill>
                <a:latin typeface="Calibri"/>
              </a:rPr>
              <a:t>🔁</a:t>
            </a:r>
          </a:p>
        </p:txBody>
      </p:sp>
      <p:sp>
        <p:nvSpPr>
          <p:cNvPr id="303" name="TextBox 302"/>
          <p:cNvSpPr txBox="1"/>
          <p:nvPr/>
        </p:nvSpPr>
        <p:spPr>
          <a:xfrm>
            <a:off x="1453896" y="4773168"/>
            <a:ext cx="930655" cy="146304"/>
          </a:xfrm>
          <a:prstGeom prst="rect">
            <a:avLst/>
          </a:prstGeom>
          <a:noFill/>
        </p:spPr>
        <p:txBody>
          <a:bodyPr wrap="square">
            <a:spAutoFit/>
          </a:bodyPr>
          <a:lstStyle/>
          <a:p>
            <a:pPr algn="ctr"/>
            <a:r>
              <a:rPr sz="500" b="1" i="0">
                <a:solidFill>
                  <a:srgbClr val="2C3E50"/>
                </a:solidFill>
                <a:latin typeface="Calibri"/>
              </a:rPr>
              <a:t>Workflow
Orchestration</a:t>
            </a:r>
          </a:p>
        </p:txBody>
      </p:sp>
      <p:sp>
        <p:nvSpPr>
          <p:cNvPr id="304" name="Rounded Rectangle 303"/>
          <p:cNvSpPr/>
          <p:nvPr/>
        </p:nvSpPr>
        <p:spPr>
          <a:xfrm>
            <a:off x="2475992" y="4544568"/>
            <a:ext cx="930655" cy="310896"/>
          </a:xfrm>
          <a:prstGeom prst="roundRect">
            <a:avLst>
              <a:gd name="adj" fmla="val 6000"/>
            </a:avLst>
          </a:prstGeom>
          <a:solidFill>
            <a:srgbClr val="FFFFFF"/>
          </a:solidFill>
          <a:ln w="7620">
            <a:solidFill>
              <a:srgbClr val="BF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TextBox 304"/>
          <p:cNvSpPr txBox="1"/>
          <p:nvPr/>
        </p:nvSpPr>
        <p:spPr>
          <a:xfrm>
            <a:off x="2475992" y="4581144"/>
            <a:ext cx="930655" cy="182880"/>
          </a:xfrm>
          <a:prstGeom prst="rect">
            <a:avLst/>
          </a:prstGeom>
          <a:noFill/>
        </p:spPr>
        <p:txBody>
          <a:bodyPr wrap="square">
            <a:spAutoFit/>
          </a:bodyPr>
          <a:lstStyle/>
          <a:p>
            <a:pPr algn="ctr"/>
            <a:r>
              <a:rPr sz="1100" b="0" i="0">
                <a:solidFill>
                  <a:srgbClr val="BF3600"/>
                </a:solidFill>
                <a:latin typeface="Calibri"/>
              </a:rPr>
              <a:t>🔧</a:t>
            </a:r>
          </a:p>
        </p:txBody>
      </p:sp>
      <p:sp>
        <p:nvSpPr>
          <p:cNvPr id="306" name="TextBox 305"/>
          <p:cNvSpPr txBox="1"/>
          <p:nvPr/>
        </p:nvSpPr>
        <p:spPr>
          <a:xfrm>
            <a:off x="2475992" y="4773168"/>
            <a:ext cx="930655" cy="146304"/>
          </a:xfrm>
          <a:prstGeom prst="rect">
            <a:avLst/>
          </a:prstGeom>
          <a:noFill/>
        </p:spPr>
        <p:txBody>
          <a:bodyPr wrap="square">
            <a:spAutoFit/>
          </a:bodyPr>
          <a:lstStyle/>
          <a:p>
            <a:pPr algn="ctr"/>
            <a:r>
              <a:rPr sz="500" b="1" i="0">
                <a:solidFill>
                  <a:srgbClr val="2C3E50"/>
                </a:solidFill>
                <a:latin typeface="Calibri"/>
              </a:rPr>
              <a:t>Functions
&amp; Tools</a:t>
            </a:r>
          </a:p>
        </p:txBody>
      </p:sp>
      <p:sp>
        <p:nvSpPr>
          <p:cNvPr id="307" name="Rounded Rectangle 306"/>
          <p:cNvSpPr/>
          <p:nvPr/>
        </p:nvSpPr>
        <p:spPr>
          <a:xfrm>
            <a:off x="3498088" y="4544568"/>
            <a:ext cx="930655" cy="310896"/>
          </a:xfrm>
          <a:prstGeom prst="roundRect">
            <a:avLst>
              <a:gd name="adj" fmla="val 6000"/>
            </a:avLst>
          </a:prstGeom>
          <a:solidFill>
            <a:srgbClr val="FFFFFF"/>
          </a:solidFill>
          <a:ln w="7620">
            <a:solidFill>
              <a:srgbClr val="BF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TextBox 307"/>
          <p:cNvSpPr txBox="1"/>
          <p:nvPr/>
        </p:nvSpPr>
        <p:spPr>
          <a:xfrm>
            <a:off x="3498088" y="4581144"/>
            <a:ext cx="930655" cy="182880"/>
          </a:xfrm>
          <a:prstGeom prst="rect">
            <a:avLst/>
          </a:prstGeom>
          <a:noFill/>
        </p:spPr>
        <p:txBody>
          <a:bodyPr wrap="square">
            <a:spAutoFit/>
          </a:bodyPr>
          <a:lstStyle/>
          <a:p>
            <a:pPr algn="ctr"/>
            <a:r>
              <a:rPr sz="1100" b="0" i="0">
                <a:solidFill>
                  <a:srgbClr val="BF3600"/>
                </a:solidFill>
                <a:latin typeface="Calibri"/>
              </a:rPr>
              <a:t>📡</a:t>
            </a:r>
          </a:p>
        </p:txBody>
      </p:sp>
      <p:sp>
        <p:nvSpPr>
          <p:cNvPr id="309" name="TextBox 308"/>
          <p:cNvSpPr txBox="1"/>
          <p:nvPr/>
        </p:nvSpPr>
        <p:spPr>
          <a:xfrm>
            <a:off x="3498088" y="4773168"/>
            <a:ext cx="930655" cy="146304"/>
          </a:xfrm>
          <a:prstGeom prst="rect">
            <a:avLst/>
          </a:prstGeom>
          <a:noFill/>
        </p:spPr>
        <p:txBody>
          <a:bodyPr wrap="square">
            <a:spAutoFit/>
          </a:bodyPr>
          <a:lstStyle/>
          <a:p>
            <a:pPr algn="ctr"/>
            <a:r>
              <a:rPr sz="500" b="1" i="0">
                <a:solidFill>
                  <a:srgbClr val="2C3E50"/>
                </a:solidFill>
                <a:latin typeface="Calibri"/>
              </a:rPr>
              <a:t>Event
Bus / Routing</a:t>
            </a:r>
          </a:p>
        </p:txBody>
      </p:sp>
      <p:sp>
        <p:nvSpPr>
          <p:cNvPr id="310" name="Rounded Rectangle 309"/>
          <p:cNvSpPr/>
          <p:nvPr/>
        </p:nvSpPr>
        <p:spPr>
          <a:xfrm>
            <a:off x="4520184" y="4544568"/>
            <a:ext cx="930655" cy="310896"/>
          </a:xfrm>
          <a:prstGeom prst="roundRect">
            <a:avLst>
              <a:gd name="adj" fmla="val 6000"/>
            </a:avLst>
          </a:prstGeom>
          <a:solidFill>
            <a:srgbClr val="FFFFFF"/>
          </a:solidFill>
          <a:ln w="7620">
            <a:solidFill>
              <a:srgbClr val="BF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TextBox 310"/>
          <p:cNvSpPr txBox="1"/>
          <p:nvPr/>
        </p:nvSpPr>
        <p:spPr>
          <a:xfrm>
            <a:off x="4520184" y="4581144"/>
            <a:ext cx="930655" cy="182880"/>
          </a:xfrm>
          <a:prstGeom prst="rect">
            <a:avLst/>
          </a:prstGeom>
          <a:noFill/>
        </p:spPr>
        <p:txBody>
          <a:bodyPr wrap="square">
            <a:spAutoFit/>
          </a:bodyPr>
          <a:lstStyle/>
          <a:p>
            <a:pPr algn="ctr"/>
            <a:r>
              <a:rPr sz="1100" b="0" i="0">
                <a:solidFill>
                  <a:srgbClr val="BF3600"/>
                </a:solidFill>
                <a:latin typeface="Calibri"/>
              </a:rPr>
              <a:t>📬</a:t>
            </a:r>
          </a:p>
        </p:txBody>
      </p:sp>
      <p:sp>
        <p:nvSpPr>
          <p:cNvPr id="312" name="TextBox 311"/>
          <p:cNvSpPr txBox="1"/>
          <p:nvPr/>
        </p:nvSpPr>
        <p:spPr>
          <a:xfrm>
            <a:off x="4520184" y="4773168"/>
            <a:ext cx="930655" cy="146304"/>
          </a:xfrm>
          <a:prstGeom prst="rect">
            <a:avLst/>
          </a:prstGeom>
          <a:noFill/>
        </p:spPr>
        <p:txBody>
          <a:bodyPr wrap="square">
            <a:spAutoFit/>
          </a:bodyPr>
          <a:lstStyle/>
          <a:p>
            <a:pPr algn="ctr"/>
            <a:r>
              <a:rPr sz="500" b="1" i="0">
                <a:solidFill>
                  <a:srgbClr val="2C3E50"/>
                </a:solidFill>
                <a:latin typeface="Calibri"/>
              </a:rPr>
              <a:t>Message
Queue</a:t>
            </a:r>
          </a:p>
        </p:txBody>
      </p:sp>
      <p:sp>
        <p:nvSpPr>
          <p:cNvPr id="313" name="Rounded Rectangle 312"/>
          <p:cNvSpPr/>
          <p:nvPr/>
        </p:nvSpPr>
        <p:spPr>
          <a:xfrm>
            <a:off x="5542280" y="4544568"/>
            <a:ext cx="930655" cy="310896"/>
          </a:xfrm>
          <a:prstGeom prst="roundRect">
            <a:avLst>
              <a:gd name="adj" fmla="val 6000"/>
            </a:avLst>
          </a:prstGeom>
          <a:solidFill>
            <a:srgbClr val="FFFFFF"/>
          </a:solidFill>
          <a:ln w="7620">
            <a:solidFill>
              <a:srgbClr val="BF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TextBox 313"/>
          <p:cNvSpPr txBox="1"/>
          <p:nvPr/>
        </p:nvSpPr>
        <p:spPr>
          <a:xfrm>
            <a:off x="5542280" y="4581144"/>
            <a:ext cx="930655" cy="182880"/>
          </a:xfrm>
          <a:prstGeom prst="rect">
            <a:avLst/>
          </a:prstGeom>
          <a:noFill/>
        </p:spPr>
        <p:txBody>
          <a:bodyPr wrap="square">
            <a:spAutoFit/>
          </a:bodyPr>
          <a:lstStyle/>
          <a:p>
            <a:pPr algn="ctr"/>
            <a:r>
              <a:rPr sz="1100" b="0" i="0">
                <a:solidFill>
                  <a:srgbClr val="BF3600"/>
                </a:solidFill>
                <a:latin typeface="Calibri"/>
              </a:rPr>
              <a:t>📣</a:t>
            </a:r>
          </a:p>
        </p:txBody>
      </p:sp>
      <p:sp>
        <p:nvSpPr>
          <p:cNvPr id="315" name="TextBox 314"/>
          <p:cNvSpPr txBox="1"/>
          <p:nvPr/>
        </p:nvSpPr>
        <p:spPr>
          <a:xfrm>
            <a:off x="5542280" y="4773168"/>
            <a:ext cx="930655" cy="146304"/>
          </a:xfrm>
          <a:prstGeom prst="rect">
            <a:avLst/>
          </a:prstGeom>
          <a:noFill/>
        </p:spPr>
        <p:txBody>
          <a:bodyPr wrap="square">
            <a:spAutoFit/>
          </a:bodyPr>
          <a:lstStyle/>
          <a:p>
            <a:pPr algn="ctr"/>
            <a:r>
              <a:rPr sz="500" b="1" i="0">
                <a:solidFill>
                  <a:srgbClr val="2C3E50"/>
                </a:solidFill>
                <a:latin typeface="Calibri"/>
              </a:rPr>
              <a:t>Notifications
&amp; Alerts</a:t>
            </a:r>
          </a:p>
        </p:txBody>
      </p:sp>
      <p:sp>
        <p:nvSpPr>
          <p:cNvPr id="316" name="Rounded Rectangle 315"/>
          <p:cNvSpPr/>
          <p:nvPr/>
        </p:nvSpPr>
        <p:spPr>
          <a:xfrm>
            <a:off x="6564376" y="4544568"/>
            <a:ext cx="930655" cy="310896"/>
          </a:xfrm>
          <a:prstGeom prst="roundRect">
            <a:avLst>
              <a:gd name="adj" fmla="val 6000"/>
            </a:avLst>
          </a:prstGeom>
          <a:solidFill>
            <a:srgbClr val="FFFFFF"/>
          </a:solidFill>
          <a:ln w="7620">
            <a:solidFill>
              <a:srgbClr val="BF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TextBox 316"/>
          <p:cNvSpPr txBox="1"/>
          <p:nvPr/>
        </p:nvSpPr>
        <p:spPr>
          <a:xfrm>
            <a:off x="6564376" y="4581144"/>
            <a:ext cx="930655" cy="182880"/>
          </a:xfrm>
          <a:prstGeom prst="rect">
            <a:avLst/>
          </a:prstGeom>
          <a:noFill/>
        </p:spPr>
        <p:txBody>
          <a:bodyPr wrap="square">
            <a:spAutoFit/>
          </a:bodyPr>
          <a:lstStyle/>
          <a:p>
            <a:pPr algn="ctr"/>
            <a:r>
              <a:rPr sz="1100" b="0" i="0">
                <a:solidFill>
                  <a:srgbClr val="BF3600"/>
                </a:solidFill>
                <a:latin typeface="Calibri"/>
              </a:rPr>
              <a:t>🔌</a:t>
            </a:r>
          </a:p>
        </p:txBody>
      </p:sp>
      <p:sp>
        <p:nvSpPr>
          <p:cNvPr id="318" name="TextBox 317"/>
          <p:cNvSpPr txBox="1"/>
          <p:nvPr/>
        </p:nvSpPr>
        <p:spPr>
          <a:xfrm>
            <a:off x="6564376" y="4773168"/>
            <a:ext cx="930655" cy="146304"/>
          </a:xfrm>
          <a:prstGeom prst="rect">
            <a:avLst/>
          </a:prstGeom>
          <a:noFill/>
        </p:spPr>
        <p:txBody>
          <a:bodyPr wrap="square">
            <a:spAutoFit/>
          </a:bodyPr>
          <a:lstStyle/>
          <a:p>
            <a:pPr algn="ctr"/>
            <a:r>
              <a:rPr sz="500" b="1" i="0">
                <a:solidFill>
                  <a:srgbClr val="2C3E50"/>
                </a:solidFill>
                <a:latin typeface="Calibri"/>
              </a:rPr>
              <a:t>REST APIs</a:t>
            </a:r>
          </a:p>
        </p:txBody>
      </p:sp>
      <p:sp>
        <p:nvSpPr>
          <p:cNvPr id="319" name="Rounded Rectangle 318"/>
          <p:cNvSpPr/>
          <p:nvPr/>
        </p:nvSpPr>
        <p:spPr>
          <a:xfrm>
            <a:off x="7586472" y="4544568"/>
            <a:ext cx="930655" cy="310896"/>
          </a:xfrm>
          <a:prstGeom prst="roundRect">
            <a:avLst>
              <a:gd name="adj" fmla="val 6000"/>
            </a:avLst>
          </a:prstGeom>
          <a:solidFill>
            <a:srgbClr val="FFFFFF"/>
          </a:solidFill>
          <a:ln w="7620">
            <a:solidFill>
              <a:srgbClr val="BF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TextBox 319"/>
          <p:cNvSpPr txBox="1"/>
          <p:nvPr/>
        </p:nvSpPr>
        <p:spPr>
          <a:xfrm>
            <a:off x="7586472" y="4581144"/>
            <a:ext cx="930655" cy="182880"/>
          </a:xfrm>
          <a:prstGeom prst="rect">
            <a:avLst/>
          </a:prstGeom>
          <a:noFill/>
        </p:spPr>
        <p:txBody>
          <a:bodyPr wrap="square">
            <a:spAutoFit/>
          </a:bodyPr>
          <a:lstStyle/>
          <a:p>
            <a:pPr algn="ctr"/>
            <a:r>
              <a:rPr sz="1100" b="0" i="0">
                <a:solidFill>
                  <a:srgbClr val="BF3600"/>
                </a:solidFill>
                <a:latin typeface="Calibri"/>
              </a:rPr>
              <a:t>📊</a:t>
            </a:r>
          </a:p>
        </p:txBody>
      </p:sp>
      <p:sp>
        <p:nvSpPr>
          <p:cNvPr id="321" name="TextBox 320"/>
          <p:cNvSpPr txBox="1"/>
          <p:nvPr/>
        </p:nvSpPr>
        <p:spPr>
          <a:xfrm>
            <a:off x="7586472" y="4773168"/>
            <a:ext cx="930655" cy="146304"/>
          </a:xfrm>
          <a:prstGeom prst="rect">
            <a:avLst/>
          </a:prstGeom>
          <a:noFill/>
        </p:spPr>
        <p:txBody>
          <a:bodyPr wrap="square">
            <a:spAutoFit/>
          </a:bodyPr>
          <a:lstStyle/>
          <a:p>
            <a:pPr algn="ctr"/>
            <a:r>
              <a:rPr sz="500" b="1" i="0">
                <a:solidFill>
                  <a:srgbClr val="2C3E50"/>
                </a:solidFill>
                <a:latin typeface="Calibri"/>
              </a:rPr>
              <a:t>GraphQL APIs</a:t>
            </a:r>
          </a:p>
        </p:txBody>
      </p:sp>
      <p:sp>
        <p:nvSpPr>
          <p:cNvPr id="322" name="Rounded Rectangle 321"/>
          <p:cNvSpPr/>
          <p:nvPr/>
        </p:nvSpPr>
        <p:spPr>
          <a:xfrm>
            <a:off x="8608568" y="4544568"/>
            <a:ext cx="930655" cy="310896"/>
          </a:xfrm>
          <a:prstGeom prst="roundRect">
            <a:avLst>
              <a:gd name="adj" fmla="val 6000"/>
            </a:avLst>
          </a:prstGeom>
          <a:solidFill>
            <a:srgbClr val="FFFFFF"/>
          </a:solidFill>
          <a:ln w="7620">
            <a:solidFill>
              <a:srgbClr val="BF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TextBox 322"/>
          <p:cNvSpPr txBox="1"/>
          <p:nvPr/>
        </p:nvSpPr>
        <p:spPr>
          <a:xfrm>
            <a:off x="8608568" y="4581144"/>
            <a:ext cx="930655" cy="182880"/>
          </a:xfrm>
          <a:prstGeom prst="rect">
            <a:avLst/>
          </a:prstGeom>
          <a:noFill/>
        </p:spPr>
        <p:txBody>
          <a:bodyPr wrap="square">
            <a:spAutoFit/>
          </a:bodyPr>
          <a:lstStyle/>
          <a:p>
            <a:pPr algn="ctr"/>
            <a:r>
              <a:rPr sz="1100" b="0" i="0">
                <a:solidFill>
                  <a:srgbClr val="BF3600"/>
                </a:solidFill>
                <a:latin typeface="Calibri"/>
              </a:rPr>
              <a:t>🗄</a:t>
            </a:r>
          </a:p>
        </p:txBody>
      </p:sp>
      <p:sp>
        <p:nvSpPr>
          <p:cNvPr id="324" name="TextBox 323"/>
          <p:cNvSpPr txBox="1"/>
          <p:nvPr/>
        </p:nvSpPr>
        <p:spPr>
          <a:xfrm>
            <a:off x="8608568" y="4773168"/>
            <a:ext cx="930655" cy="146304"/>
          </a:xfrm>
          <a:prstGeom prst="rect">
            <a:avLst/>
          </a:prstGeom>
          <a:noFill/>
        </p:spPr>
        <p:txBody>
          <a:bodyPr wrap="square">
            <a:spAutoFit/>
          </a:bodyPr>
          <a:lstStyle/>
          <a:p>
            <a:pPr algn="ctr"/>
            <a:r>
              <a:rPr sz="500" b="1" i="0">
                <a:solidFill>
                  <a:srgbClr val="2C3E50"/>
                </a:solidFill>
                <a:latin typeface="Calibri"/>
              </a:rPr>
              <a:t>Databases</a:t>
            </a:r>
          </a:p>
        </p:txBody>
      </p:sp>
      <p:sp>
        <p:nvSpPr>
          <p:cNvPr id="325" name="Rounded Rectangle 324"/>
          <p:cNvSpPr/>
          <p:nvPr/>
        </p:nvSpPr>
        <p:spPr>
          <a:xfrm>
            <a:off x="9630664" y="4544568"/>
            <a:ext cx="930655" cy="310896"/>
          </a:xfrm>
          <a:prstGeom prst="roundRect">
            <a:avLst>
              <a:gd name="adj" fmla="val 6000"/>
            </a:avLst>
          </a:prstGeom>
          <a:solidFill>
            <a:srgbClr val="FFFFFF"/>
          </a:solidFill>
          <a:ln w="7620">
            <a:solidFill>
              <a:srgbClr val="BF3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TextBox 325"/>
          <p:cNvSpPr txBox="1"/>
          <p:nvPr/>
        </p:nvSpPr>
        <p:spPr>
          <a:xfrm>
            <a:off x="9630664" y="4581144"/>
            <a:ext cx="930655" cy="182880"/>
          </a:xfrm>
          <a:prstGeom prst="rect">
            <a:avLst/>
          </a:prstGeom>
          <a:noFill/>
        </p:spPr>
        <p:txBody>
          <a:bodyPr wrap="square">
            <a:spAutoFit/>
          </a:bodyPr>
          <a:lstStyle/>
          <a:p>
            <a:pPr algn="ctr"/>
            <a:r>
              <a:rPr sz="1100" b="0" i="0">
                <a:solidFill>
                  <a:srgbClr val="BF3600"/>
                </a:solidFill>
                <a:latin typeface="Calibri"/>
              </a:rPr>
              <a:t>📂</a:t>
            </a:r>
          </a:p>
        </p:txBody>
      </p:sp>
      <p:sp>
        <p:nvSpPr>
          <p:cNvPr id="327" name="TextBox 326"/>
          <p:cNvSpPr txBox="1"/>
          <p:nvPr/>
        </p:nvSpPr>
        <p:spPr>
          <a:xfrm>
            <a:off x="9630664" y="4773168"/>
            <a:ext cx="930655" cy="146304"/>
          </a:xfrm>
          <a:prstGeom prst="rect">
            <a:avLst/>
          </a:prstGeom>
          <a:noFill/>
        </p:spPr>
        <p:txBody>
          <a:bodyPr wrap="square">
            <a:spAutoFit/>
          </a:bodyPr>
          <a:lstStyle/>
          <a:p>
            <a:pPr algn="ctr"/>
            <a:r>
              <a:rPr sz="500" b="1" i="0">
                <a:solidFill>
                  <a:srgbClr val="2C3E50"/>
                </a:solidFill>
                <a:latin typeface="Calibri"/>
              </a:rPr>
              <a:t>File Storage</a:t>
            </a:r>
          </a:p>
        </p:txBody>
      </p:sp>
      <p:sp>
        <p:nvSpPr>
          <p:cNvPr id="328" name="Rounded Rectangle 327"/>
          <p:cNvSpPr/>
          <p:nvPr/>
        </p:nvSpPr>
        <p:spPr>
          <a:xfrm>
            <a:off x="1417320" y="4965192"/>
            <a:ext cx="9198864" cy="219456"/>
          </a:xfrm>
          <a:prstGeom prst="roundRect">
            <a:avLst>
              <a:gd name="adj" fmla="val 5000"/>
            </a:avLst>
          </a:prstGeom>
          <a:solidFill>
            <a:srgbClr val="F0F0F0"/>
          </a:solidFill>
          <a:ln w="10160">
            <a:solidFill>
              <a:srgbClr val="2121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TextBox 328"/>
          <p:cNvSpPr txBox="1"/>
          <p:nvPr/>
        </p:nvSpPr>
        <p:spPr>
          <a:xfrm>
            <a:off x="1453896" y="5010912"/>
            <a:ext cx="1113282" cy="146304"/>
          </a:xfrm>
          <a:prstGeom prst="rect">
            <a:avLst/>
          </a:prstGeom>
          <a:noFill/>
        </p:spPr>
        <p:txBody>
          <a:bodyPr wrap="square">
            <a:spAutoFit/>
          </a:bodyPr>
          <a:lstStyle/>
          <a:p>
            <a:pPr algn="ctr"/>
            <a:r>
              <a:rPr sz="550" b="1" i="0">
                <a:solidFill>
                  <a:srgbClr val="2C3E50"/>
                </a:solidFill>
                <a:latin typeface="Calibri"/>
              </a:rPr>
              <a:t>🌍 Multi-Cloud / On-Prem</a:t>
            </a:r>
          </a:p>
        </p:txBody>
      </p:sp>
      <p:sp>
        <p:nvSpPr>
          <p:cNvPr id="330" name="TextBox 329"/>
          <p:cNvSpPr txBox="1"/>
          <p:nvPr/>
        </p:nvSpPr>
        <p:spPr>
          <a:xfrm>
            <a:off x="2603754" y="5010912"/>
            <a:ext cx="1113282" cy="146304"/>
          </a:xfrm>
          <a:prstGeom prst="rect">
            <a:avLst/>
          </a:prstGeom>
          <a:noFill/>
        </p:spPr>
        <p:txBody>
          <a:bodyPr wrap="square">
            <a:spAutoFit/>
          </a:bodyPr>
          <a:lstStyle/>
          <a:p>
            <a:pPr algn="ctr"/>
            <a:r>
              <a:rPr sz="550" b="1" i="0">
                <a:solidFill>
                  <a:srgbClr val="2C3E50"/>
                </a:solidFill>
                <a:latin typeface="Calibri"/>
              </a:rPr>
              <a:t>🌐 Availability Zones</a:t>
            </a:r>
          </a:p>
        </p:txBody>
      </p:sp>
      <p:sp>
        <p:nvSpPr>
          <p:cNvPr id="331" name="TextBox 330"/>
          <p:cNvSpPr txBox="1"/>
          <p:nvPr/>
        </p:nvSpPr>
        <p:spPr>
          <a:xfrm>
            <a:off x="3753612" y="5010912"/>
            <a:ext cx="1113282" cy="146304"/>
          </a:xfrm>
          <a:prstGeom prst="rect">
            <a:avLst/>
          </a:prstGeom>
          <a:noFill/>
        </p:spPr>
        <p:txBody>
          <a:bodyPr wrap="square">
            <a:spAutoFit/>
          </a:bodyPr>
          <a:lstStyle/>
          <a:p>
            <a:pPr algn="ctr"/>
            <a:r>
              <a:rPr sz="550" b="1" i="0">
                <a:solidFill>
                  <a:srgbClr val="2C3E50"/>
                </a:solidFill>
                <a:latin typeface="Calibri"/>
              </a:rPr>
              <a:t>🔒 Private Networking</a:t>
            </a:r>
          </a:p>
        </p:txBody>
      </p:sp>
      <p:sp>
        <p:nvSpPr>
          <p:cNvPr id="332" name="TextBox 331"/>
          <p:cNvSpPr txBox="1"/>
          <p:nvPr/>
        </p:nvSpPr>
        <p:spPr>
          <a:xfrm>
            <a:off x="4903470" y="5010912"/>
            <a:ext cx="1113282" cy="146304"/>
          </a:xfrm>
          <a:prstGeom prst="rect">
            <a:avLst/>
          </a:prstGeom>
          <a:noFill/>
        </p:spPr>
        <p:txBody>
          <a:bodyPr wrap="square">
            <a:spAutoFit/>
          </a:bodyPr>
          <a:lstStyle/>
          <a:p>
            <a:pPr algn="ctr"/>
            <a:r>
              <a:rPr sz="550" b="1" i="0">
                <a:solidFill>
                  <a:srgbClr val="2C3E50"/>
                </a:solidFill>
                <a:latin typeface="Calibri"/>
              </a:rPr>
              <a:t>⚖ Auto-Scaling</a:t>
            </a:r>
          </a:p>
        </p:txBody>
      </p:sp>
      <p:sp>
        <p:nvSpPr>
          <p:cNvPr id="333" name="TextBox 332"/>
          <p:cNvSpPr txBox="1"/>
          <p:nvPr/>
        </p:nvSpPr>
        <p:spPr>
          <a:xfrm>
            <a:off x="6053328" y="5010912"/>
            <a:ext cx="1113282" cy="146304"/>
          </a:xfrm>
          <a:prstGeom prst="rect">
            <a:avLst/>
          </a:prstGeom>
          <a:noFill/>
        </p:spPr>
        <p:txBody>
          <a:bodyPr wrap="square">
            <a:spAutoFit/>
          </a:bodyPr>
          <a:lstStyle/>
          <a:p>
            <a:pPr algn="ctr"/>
            <a:r>
              <a:rPr sz="550" b="1" i="0">
                <a:solidFill>
                  <a:srgbClr val="2C3E50"/>
                </a:solidFill>
                <a:latin typeface="Calibri"/>
              </a:rPr>
              <a:t>💾 Block / Object Storage</a:t>
            </a:r>
          </a:p>
        </p:txBody>
      </p:sp>
      <p:sp>
        <p:nvSpPr>
          <p:cNvPr id="334" name="TextBox 333"/>
          <p:cNvSpPr txBox="1"/>
          <p:nvPr/>
        </p:nvSpPr>
        <p:spPr>
          <a:xfrm>
            <a:off x="7203186" y="5010912"/>
            <a:ext cx="1113282" cy="146304"/>
          </a:xfrm>
          <a:prstGeom prst="rect">
            <a:avLst/>
          </a:prstGeom>
          <a:noFill/>
        </p:spPr>
        <p:txBody>
          <a:bodyPr wrap="square">
            <a:spAutoFit/>
          </a:bodyPr>
          <a:lstStyle/>
          <a:p>
            <a:pPr algn="ctr"/>
            <a:r>
              <a:rPr sz="550" b="1" i="0">
                <a:solidFill>
                  <a:srgbClr val="2C3E50"/>
                </a:solidFill>
                <a:latin typeface="Calibri"/>
              </a:rPr>
              <a:t>🔗 CDN / Edge</a:t>
            </a:r>
          </a:p>
        </p:txBody>
      </p:sp>
      <p:sp>
        <p:nvSpPr>
          <p:cNvPr id="335" name="TextBox 334"/>
          <p:cNvSpPr txBox="1"/>
          <p:nvPr/>
        </p:nvSpPr>
        <p:spPr>
          <a:xfrm>
            <a:off x="8353044" y="5010912"/>
            <a:ext cx="1113282" cy="146304"/>
          </a:xfrm>
          <a:prstGeom prst="rect">
            <a:avLst/>
          </a:prstGeom>
          <a:noFill/>
        </p:spPr>
        <p:txBody>
          <a:bodyPr wrap="square">
            <a:spAutoFit/>
          </a:bodyPr>
          <a:lstStyle/>
          <a:p>
            <a:pPr algn="ctr"/>
            <a:r>
              <a:rPr sz="550" b="1" i="0">
                <a:solidFill>
                  <a:srgbClr val="2C3E50"/>
                </a:solidFill>
                <a:latin typeface="Calibri"/>
              </a:rPr>
              <a:t>🛡 WAF / DDoS Protection</a:t>
            </a:r>
          </a:p>
        </p:txBody>
      </p:sp>
      <p:sp>
        <p:nvSpPr>
          <p:cNvPr id="336" name="TextBox 335"/>
          <p:cNvSpPr txBox="1"/>
          <p:nvPr/>
        </p:nvSpPr>
        <p:spPr>
          <a:xfrm>
            <a:off x="9502902" y="5010912"/>
            <a:ext cx="1113282" cy="146304"/>
          </a:xfrm>
          <a:prstGeom prst="rect">
            <a:avLst/>
          </a:prstGeom>
          <a:noFill/>
        </p:spPr>
        <p:txBody>
          <a:bodyPr wrap="square">
            <a:spAutoFit/>
          </a:bodyPr>
          <a:lstStyle/>
          <a:p>
            <a:pPr algn="ctr"/>
            <a:r>
              <a:rPr sz="550" b="1" i="0">
                <a:solidFill>
                  <a:srgbClr val="2C3E50"/>
                </a:solidFill>
                <a:latin typeface="Calibri"/>
              </a:rPr>
              <a:t>🔑 Identity &amp; Access</a:t>
            </a:r>
          </a:p>
        </p:txBody>
      </p:sp>
      <p:sp>
        <p:nvSpPr>
          <p:cNvPr id="337" name="Rectangle 336"/>
          <p:cNvSpPr/>
          <p:nvPr/>
        </p:nvSpPr>
        <p:spPr>
          <a:xfrm>
            <a:off x="0" y="6675120"/>
            <a:ext cx="12191695" cy="182880"/>
          </a:xfrm>
          <a:prstGeom prst="rect">
            <a:avLst/>
          </a:prstGeom>
          <a:solidFill>
            <a:srgbClr val="EC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TextBox 337"/>
          <p:cNvSpPr txBox="1"/>
          <p:nvPr/>
        </p:nvSpPr>
        <p:spPr>
          <a:xfrm>
            <a:off x="274320" y="6684264"/>
            <a:ext cx="11704320" cy="164592"/>
          </a:xfrm>
          <a:prstGeom prst="rect">
            <a:avLst/>
          </a:prstGeom>
          <a:noFill/>
        </p:spPr>
        <p:txBody>
          <a:bodyPr wrap="square">
            <a:spAutoFit/>
          </a:bodyPr>
          <a:lstStyle/>
          <a:p>
            <a:pPr algn="l"/>
            <a:r>
              <a:rPr sz="700" b="0" i="0">
                <a:solidFill>
                  <a:srgbClr val="5D6D7E"/>
                </a:solidFill>
                <a:latin typeface="Calibri"/>
              </a:rPr>
              <a:t>CONFIDENTIAL  |  Technology Strategy Practice  |  Enterprise Agentic AI Reference Architecture  |  Not for Distribution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0"/>
            <a:ext cx="12191695" cy="36576"/>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73152"/>
            <a:ext cx="9144000" cy="502920"/>
          </a:xfrm>
          <a:prstGeom prst="rect">
            <a:avLst/>
          </a:prstGeom>
          <a:noFill/>
        </p:spPr>
        <p:txBody>
          <a:bodyPr wrap="square">
            <a:spAutoFit/>
          </a:bodyPr>
          <a:lstStyle/>
          <a:p>
            <a:pPr algn="l"/>
            <a:r>
              <a:rPr sz="2200" b="1" i="0">
                <a:solidFill>
                  <a:srgbClr val="FFFFFF"/>
                </a:solidFill>
                <a:latin typeface="Cambria"/>
              </a:rPr>
              <a:t>EFFORT VS IMPACT PRIORITIZATION</a:t>
            </a:r>
          </a:p>
        </p:txBody>
      </p:sp>
      <p:sp>
        <p:nvSpPr>
          <p:cNvPr id="5" name="TextBox 4"/>
          <p:cNvSpPr txBox="1"/>
          <p:nvPr/>
        </p:nvSpPr>
        <p:spPr>
          <a:xfrm>
            <a:off x="274320" y="548640"/>
            <a:ext cx="10972800" cy="320040"/>
          </a:xfrm>
          <a:prstGeom prst="rect">
            <a:avLst/>
          </a:prstGeom>
          <a:noFill/>
        </p:spPr>
        <p:txBody>
          <a:bodyPr wrap="square">
            <a:spAutoFit/>
          </a:bodyPr>
          <a:lstStyle/>
          <a:p>
            <a:pPr algn="l"/>
            <a:r>
              <a:rPr sz="1100" b="0" i="0">
                <a:solidFill>
                  <a:srgbClr val="A0C8FF"/>
                </a:solidFill>
                <a:latin typeface="Calibri"/>
              </a:rPr>
              <a:t>Investment Prioritization Matrix — 24 Assessed Agents Plotted</a:t>
            </a:r>
          </a:p>
        </p:txBody>
      </p:sp>
      <p:sp>
        <p:nvSpPr>
          <p:cNvPr id="6" name="Rectangle 5"/>
          <p:cNvSpPr/>
          <p:nvPr/>
        </p:nvSpPr>
        <p:spPr>
          <a:xfrm>
            <a:off x="0" y="6675120"/>
            <a:ext cx="12191695" cy="182880"/>
          </a:xfrm>
          <a:prstGeom prst="rect">
            <a:avLst/>
          </a:prstGeom>
          <a:solidFill>
            <a:srgbClr val="EC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84264"/>
            <a:ext cx="10972800" cy="164592"/>
          </a:xfrm>
          <a:prstGeom prst="rect">
            <a:avLst/>
          </a:prstGeom>
          <a:noFill/>
        </p:spPr>
        <p:txBody>
          <a:bodyPr wrap="square">
            <a:spAutoFit/>
          </a:bodyPr>
          <a:lstStyle/>
          <a:p>
            <a:pPr algn="l"/>
            <a:r>
              <a:rPr sz="700" b="0" i="0">
                <a:solidFill>
                  <a:srgbClr val="5D6D7E"/>
                </a:solidFill>
                <a:latin typeface="Calibri"/>
              </a:rPr>
              <a:t>CONFIDENTIAL  |  Technology Strategy Practice  |  Not for Distribution</a:t>
            </a:r>
          </a:p>
        </p:txBody>
      </p:sp>
      <p:sp>
        <p:nvSpPr>
          <p:cNvPr id="8" name="Rectangle 7"/>
          <p:cNvSpPr/>
          <p:nvPr/>
        </p:nvSpPr>
        <p:spPr>
          <a:xfrm>
            <a:off x="457200" y="960120"/>
            <a:ext cx="5715000" cy="2743200"/>
          </a:xfrm>
          <a:prstGeom prst="rect">
            <a:avLst/>
          </a:prstGeom>
          <a:solidFill>
            <a:srgbClr val="E8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960120"/>
            <a:ext cx="5715000" cy="2743200"/>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3703320"/>
            <a:ext cx="5715000" cy="2743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3703320"/>
            <a:ext cx="5715000" cy="2743200"/>
          </a:xfrm>
          <a:prstGeom prst="rect">
            <a:avLst/>
          </a:prstGeom>
          <a:solidFill>
            <a:srgbClr val="FFF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3703320"/>
            <a:ext cx="11430000" cy="22860"/>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72200" y="960120"/>
            <a:ext cx="22860" cy="5486400"/>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960120"/>
            <a:ext cx="11430000" cy="22860"/>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6446520"/>
            <a:ext cx="11430000" cy="22860"/>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960120"/>
            <a:ext cx="22860" cy="5486400"/>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1887200" y="960120"/>
            <a:ext cx="22860" cy="5486400"/>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1033272"/>
            <a:ext cx="5303520" cy="274320"/>
          </a:xfrm>
          <a:prstGeom prst="rect">
            <a:avLst/>
          </a:prstGeom>
          <a:noFill/>
        </p:spPr>
        <p:txBody>
          <a:bodyPr wrap="square">
            <a:spAutoFit/>
          </a:bodyPr>
          <a:lstStyle/>
          <a:p>
            <a:pPr algn="l"/>
            <a:r>
              <a:rPr sz="900" b="1" i="0">
                <a:solidFill>
                  <a:srgbClr val="1E8B4C"/>
                </a:solidFill>
                <a:latin typeface="Calibri"/>
              </a:rPr>
              <a:t>⭐  QUICK WINS</a:t>
            </a:r>
          </a:p>
        </p:txBody>
      </p:sp>
      <p:sp>
        <p:nvSpPr>
          <p:cNvPr id="19" name="TextBox 18"/>
          <p:cNvSpPr txBox="1"/>
          <p:nvPr/>
        </p:nvSpPr>
        <p:spPr>
          <a:xfrm>
            <a:off x="548640" y="1280160"/>
            <a:ext cx="5303520" cy="201168"/>
          </a:xfrm>
          <a:prstGeom prst="rect">
            <a:avLst/>
          </a:prstGeom>
          <a:noFill/>
        </p:spPr>
        <p:txBody>
          <a:bodyPr wrap="square">
            <a:spAutoFit/>
          </a:bodyPr>
          <a:lstStyle/>
          <a:p>
            <a:pPr algn="l"/>
            <a:r>
              <a:rPr sz="700" b="0" i="0">
                <a:solidFill>
                  <a:srgbClr val="5D6D7E"/>
                </a:solidFill>
                <a:latin typeface="Calibri"/>
              </a:rPr>
              <a:t>Low · Med Effort + High Impact</a:t>
            </a:r>
          </a:p>
        </p:txBody>
      </p:sp>
      <p:sp>
        <p:nvSpPr>
          <p:cNvPr id="20" name="TextBox 19"/>
          <p:cNvSpPr txBox="1"/>
          <p:nvPr/>
        </p:nvSpPr>
        <p:spPr>
          <a:xfrm>
            <a:off x="6263640" y="1033272"/>
            <a:ext cx="5303520" cy="274320"/>
          </a:xfrm>
          <a:prstGeom prst="rect">
            <a:avLst/>
          </a:prstGeom>
          <a:noFill/>
        </p:spPr>
        <p:txBody>
          <a:bodyPr wrap="square">
            <a:spAutoFit/>
          </a:bodyPr>
          <a:lstStyle/>
          <a:p>
            <a:pPr algn="l"/>
            <a:r>
              <a:rPr sz="900" b="1" i="0">
                <a:solidFill>
                  <a:srgbClr val="007ABF"/>
                </a:solidFill>
                <a:latin typeface="Calibri"/>
              </a:rPr>
              <a:t>🎯  STRATEGIC INVESTMENTS</a:t>
            </a:r>
          </a:p>
        </p:txBody>
      </p:sp>
      <p:sp>
        <p:nvSpPr>
          <p:cNvPr id="21" name="TextBox 20"/>
          <p:cNvSpPr txBox="1"/>
          <p:nvPr/>
        </p:nvSpPr>
        <p:spPr>
          <a:xfrm>
            <a:off x="6263640" y="1280160"/>
            <a:ext cx="5303520" cy="201168"/>
          </a:xfrm>
          <a:prstGeom prst="rect">
            <a:avLst/>
          </a:prstGeom>
          <a:noFill/>
        </p:spPr>
        <p:txBody>
          <a:bodyPr wrap="square">
            <a:spAutoFit/>
          </a:bodyPr>
          <a:lstStyle/>
          <a:p>
            <a:pPr algn="l"/>
            <a:r>
              <a:rPr sz="700" b="0" i="0">
                <a:solidFill>
                  <a:srgbClr val="5D6D7E"/>
                </a:solidFill>
                <a:latin typeface="Calibri"/>
              </a:rPr>
              <a:t>High Effort + High Impact</a:t>
            </a:r>
          </a:p>
        </p:txBody>
      </p:sp>
      <p:sp>
        <p:nvSpPr>
          <p:cNvPr id="22" name="TextBox 21"/>
          <p:cNvSpPr txBox="1"/>
          <p:nvPr/>
        </p:nvSpPr>
        <p:spPr>
          <a:xfrm>
            <a:off x="548640" y="3776472"/>
            <a:ext cx="5303520" cy="274320"/>
          </a:xfrm>
          <a:prstGeom prst="rect">
            <a:avLst/>
          </a:prstGeom>
          <a:noFill/>
        </p:spPr>
        <p:txBody>
          <a:bodyPr wrap="square">
            <a:spAutoFit/>
          </a:bodyPr>
          <a:lstStyle/>
          <a:p>
            <a:pPr algn="l"/>
            <a:r>
              <a:rPr sz="900" b="1" i="0">
                <a:solidFill>
                  <a:srgbClr val="5D6D7E"/>
                </a:solidFill>
                <a:latin typeface="Calibri"/>
              </a:rPr>
              <a:t>🔧  LOW PRIORITY</a:t>
            </a:r>
          </a:p>
        </p:txBody>
      </p:sp>
      <p:sp>
        <p:nvSpPr>
          <p:cNvPr id="23" name="TextBox 22"/>
          <p:cNvSpPr txBox="1"/>
          <p:nvPr/>
        </p:nvSpPr>
        <p:spPr>
          <a:xfrm>
            <a:off x="548640" y="4023360"/>
            <a:ext cx="5303520" cy="201168"/>
          </a:xfrm>
          <a:prstGeom prst="rect">
            <a:avLst/>
          </a:prstGeom>
          <a:noFill/>
        </p:spPr>
        <p:txBody>
          <a:bodyPr wrap="square">
            <a:spAutoFit/>
          </a:bodyPr>
          <a:lstStyle/>
          <a:p>
            <a:pPr algn="l"/>
            <a:r>
              <a:rPr sz="700" b="0" i="0">
                <a:solidFill>
                  <a:srgbClr val="5D6D7E"/>
                </a:solidFill>
                <a:latin typeface="Calibri"/>
              </a:rPr>
              <a:t>Low Impact</a:t>
            </a:r>
          </a:p>
        </p:txBody>
      </p:sp>
      <p:sp>
        <p:nvSpPr>
          <p:cNvPr id="24" name="TextBox 23"/>
          <p:cNvSpPr txBox="1"/>
          <p:nvPr/>
        </p:nvSpPr>
        <p:spPr>
          <a:xfrm>
            <a:off x="6263640" y="3776472"/>
            <a:ext cx="5303520" cy="274320"/>
          </a:xfrm>
          <a:prstGeom prst="rect">
            <a:avLst/>
          </a:prstGeom>
          <a:noFill/>
        </p:spPr>
        <p:txBody>
          <a:bodyPr wrap="square">
            <a:spAutoFit/>
          </a:bodyPr>
          <a:lstStyle/>
          <a:p>
            <a:pPr algn="l"/>
            <a:r>
              <a:rPr sz="900" b="1" i="0">
                <a:solidFill>
                  <a:srgbClr val="D47F00"/>
                </a:solidFill>
                <a:latin typeface="Calibri"/>
              </a:rPr>
              <a:t>🔄  TRANSFORMATIONAL</a:t>
            </a:r>
          </a:p>
        </p:txBody>
      </p:sp>
      <p:sp>
        <p:nvSpPr>
          <p:cNvPr id="25" name="TextBox 24"/>
          <p:cNvSpPr txBox="1"/>
          <p:nvPr/>
        </p:nvSpPr>
        <p:spPr>
          <a:xfrm>
            <a:off x="6263640" y="4023360"/>
            <a:ext cx="5303520" cy="201168"/>
          </a:xfrm>
          <a:prstGeom prst="rect">
            <a:avLst/>
          </a:prstGeom>
          <a:noFill/>
        </p:spPr>
        <p:txBody>
          <a:bodyPr wrap="square">
            <a:spAutoFit/>
          </a:bodyPr>
          <a:lstStyle/>
          <a:p>
            <a:pPr algn="l"/>
            <a:r>
              <a:rPr sz="700" b="0" i="0">
                <a:solidFill>
                  <a:srgbClr val="5D6D7E"/>
                </a:solidFill>
                <a:latin typeface="Calibri"/>
              </a:rPr>
              <a:t>High Effort + Medium Impact</a:t>
            </a:r>
          </a:p>
        </p:txBody>
      </p:sp>
      <p:sp>
        <p:nvSpPr>
          <p:cNvPr id="26" name="TextBox 25"/>
          <p:cNvSpPr txBox="1"/>
          <p:nvPr/>
        </p:nvSpPr>
        <p:spPr>
          <a:xfrm>
            <a:off x="5715000" y="667512"/>
            <a:ext cx="1371600" cy="256032"/>
          </a:xfrm>
          <a:prstGeom prst="rect">
            <a:avLst/>
          </a:prstGeom>
          <a:noFill/>
        </p:spPr>
        <p:txBody>
          <a:bodyPr wrap="square">
            <a:spAutoFit/>
          </a:bodyPr>
          <a:lstStyle/>
          <a:p>
            <a:pPr algn="ctr"/>
            <a:r>
              <a:rPr sz="800" b="1" i="0">
                <a:solidFill>
                  <a:srgbClr val="0D1B3E"/>
                </a:solidFill>
                <a:latin typeface="Calibri"/>
              </a:rPr>
              <a:t>▲  HIGH IMPACT</a:t>
            </a:r>
          </a:p>
        </p:txBody>
      </p:sp>
      <p:sp>
        <p:nvSpPr>
          <p:cNvPr id="27" name="TextBox 26"/>
          <p:cNvSpPr txBox="1"/>
          <p:nvPr/>
        </p:nvSpPr>
        <p:spPr>
          <a:xfrm>
            <a:off x="5715000" y="6464807"/>
            <a:ext cx="1371600" cy="256032"/>
          </a:xfrm>
          <a:prstGeom prst="rect">
            <a:avLst/>
          </a:prstGeom>
          <a:noFill/>
        </p:spPr>
        <p:txBody>
          <a:bodyPr wrap="square">
            <a:spAutoFit/>
          </a:bodyPr>
          <a:lstStyle/>
          <a:p>
            <a:pPr algn="ctr"/>
            <a:r>
              <a:rPr sz="800" b="1" i="0">
                <a:solidFill>
                  <a:srgbClr val="5D6D7E"/>
                </a:solidFill>
                <a:latin typeface="Calibri"/>
              </a:rPr>
              <a:t>LOW IMPACT  ▼</a:t>
            </a:r>
          </a:p>
        </p:txBody>
      </p:sp>
      <p:sp>
        <p:nvSpPr>
          <p:cNvPr id="28" name="TextBox 27"/>
          <p:cNvSpPr txBox="1"/>
          <p:nvPr/>
        </p:nvSpPr>
        <p:spPr>
          <a:xfrm>
            <a:off x="45719" y="3566160"/>
            <a:ext cx="914400" cy="256032"/>
          </a:xfrm>
          <a:prstGeom prst="rect">
            <a:avLst/>
          </a:prstGeom>
          <a:noFill/>
        </p:spPr>
        <p:txBody>
          <a:bodyPr wrap="square">
            <a:spAutoFit/>
          </a:bodyPr>
          <a:lstStyle/>
          <a:p>
            <a:pPr algn="r"/>
            <a:r>
              <a:rPr sz="700" b="1" i="0">
                <a:solidFill>
                  <a:srgbClr val="0D1B3E"/>
                </a:solidFill>
                <a:latin typeface="Calibri"/>
              </a:rPr>
              <a:t>◄  LOW EFFORT</a:t>
            </a:r>
          </a:p>
        </p:txBody>
      </p:sp>
      <p:sp>
        <p:nvSpPr>
          <p:cNvPr id="29" name="TextBox 28"/>
          <p:cNvSpPr txBox="1"/>
          <p:nvPr/>
        </p:nvSpPr>
        <p:spPr>
          <a:xfrm>
            <a:off x="11887200" y="3566160"/>
            <a:ext cx="1097280" cy="256032"/>
          </a:xfrm>
          <a:prstGeom prst="rect">
            <a:avLst/>
          </a:prstGeom>
          <a:noFill/>
        </p:spPr>
        <p:txBody>
          <a:bodyPr wrap="square">
            <a:spAutoFit/>
          </a:bodyPr>
          <a:lstStyle/>
          <a:p>
            <a:pPr algn="l"/>
            <a:r>
              <a:rPr sz="700" b="1" i="0">
                <a:solidFill>
                  <a:srgbClr val="0D1B3E"/>
                </a:solidFill>
                <a:latin typeface="Calibri"/>
              </a:rPr>
              <a:t>HIGH EFFORT  ►</a:t>
            </a:r>
          </a:p>
        </p:txBody>
      </p:sp>
      <p:sp>
        <p:nvSpPr>
          <p:cNvPr id="30" name="Oval 29"/>
          <p:cNvSpPr/>
          <p:nvPr/>
        </p:nvSpPr>
        <p:spPr>
          <a:xfrm>
            <a:off x="4165600" y="1554988"/>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238244" y="1609344"/>
            <a:ext cx="1280160" cy="201168"/>
          </a:xfrm>
          <a:prstGeom prst="rect">
            <a:avLst/>
          </a:prstGeom>
          <a:noFill/>
        </p:spPr>
        <p:txBody>
          <a:bodyPr wrap="square">
            <a:spAutoFit/>
          </a:bodyPr>
          <a:lstStyle/>
          <a:p>
            <a:pPr algn="l"/>
            <a:r>
              <a:rPr sz="550" b="0" i="0">
                <a:solidFill>
                  <a:srgbClr val="0D1B3E"/>
                </a:solidFill>
                <a:latin typeface="Calibri"/>
              </a:rPr>
              <a:t>Requirements Elic…</a:t>
            </a:r>
          </a:p>
        </p:txBody>
      </p:sp>
      <p:sp>
        <p:nvSpPr>
          <p:cNvPr id="32" name="Oval 31"/>
          <p:cNvSpPr/>
          <p:nvPr/>
        </p:nvSpPr>
        <p:spPr>
          <a:xfrm>
            <a:off x="5537200" y="1554988"/>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09844" y="1609344"/>
            <a:ext cx="1280160" cy="201168"/>
          </a:xfrm>
          <a:prstGeom prst="rect">
            <a:avLst/>
          </a:prstGeom>
          <a:noFill/>
        </p:spPr>
        <p:txBody>
          <a:bodyPr wrap="square">
            <a:spAutoFit/>
          </a:bodyPr>
          <a:lstStyle/>
          <a:p>
            <a:pPr algn="l"/>
            <a:r>
              <a:rPr sz="550" b="0" i="0">
                <a:solidFill>
                  <a:srgbClr val="0D1B3E"/>
                </a:solidFill>
                <a:latin typeface="Calibri"/>
              </a:rPr>
              <a:t>User Story Genera…</a:t>
            </a:r>
          </a:p>
        </p:txBody>
      </p:sp>
      <p:sp>
        <p:nvSpPr>
          <p:cNvPr id="34" name="Oval 33"/>
          <p:cNvSpPr/>
          <p:nvPr/>
        </p:nvSpPr>
        <p:spPr>
          <a:xfrm>
            <a:off x="7937500" y="1554988"/>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10144" y="1609344"/>
            <a:ext cx="1280160" cy="201168"/>
          </a:xfrm>
          <a:prstGeom prst="rect">
            <a:avLst/>
          </a:prstGeom>
          <a:noFill/>
        </p:spPr>
        <p:txBody>
          <a:bodyPr wrap="square">
            <a:spAutoFit/>
          </a:bodyPr>
          <a:lstStyle/>
          <a:p>
            <a:pPr algn="l"/>
            <a:r>
              <a:rPr sz="550" b="0" i="0">
                <a:solidFill>
                  <a:srgbClr val="0D1B3E"/>
                </a:solidFill>
                <a:latin typeface="Calibri"/>
              </a:rPr>
              <a:t>Architecture Advi…</a:t>
            </a:r>
          </a:p>
        </p:txBody>
      </p:sp>
      <p:sp>
        <p:nvSpPr>
          <p:cNvPr id="36" name="Oval 35"/>
          <p:cNvSpPr/>
          <p:nvPr/>
        </p:nvSpPr>
        <p:spPr>
          <a:xfrm>
            <a:off x="6908800" y="1554988"/>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981444" y="1609344"/>
            <a:ext cx="1280160" cy="201168"/>
          </a:xfrm>
          <a:prstGeom prst="rect">
            <a:avLst/>
          </a:prstGeom>
          <a:noFill/>
        </p:spPr>
        <p:txBody>
          <a:bodyPr wrap="square">
            <a:spAutoFit/>
          </a:bodyPr>
          <a:lstStyle/>
          <a:p>
            <a:pPr algn="l"/>
            <a:r>
              <a:rPr sz="550" b="0" i="0">
                <a:solidFill>
                  <a:srgbClr val="0D1B3E"/>
                </a:solidFill>
                <a:latin typeface="Calibri"/>
              </a:rPr>
              <a:t>API Design</a:t>
            </a:r>
          </a:p>
        </p:txBody>
      </p:sp>
      <p:sp>
        <p:nvSpPr>
          <p:cNvPr id="38" name="Oval 37"/>
          <p:cNvSpPr/>
          <p:nvPr/>
        </p:nvSpPr>
        <p:spPr>
          <a:xfrm>
            <a:off x="4165600" y="2213356"/>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238244" y="2267712"/>
            <a:ext cx="1280160" cy="201168"/>
          </a:xfrm>
          <a:prstGeom prst="rect">
            <a:avLst/>
          </a:prstGeom>
          <a:noFill/>
        </p:spPr>
        <p:txBody>
          <a:bodyPr wrap="square">
            <a:spAutoFit/>
          </a:bodyPr>
          <a:lstStyle/>
          <a:p>
            <a:pPr algn="l"/>
            <a:r>
              <a:rPr sz="550" b="0" i="0">
                <a:solidFill>
                  <a:srgbClr val="0D1B3E"/>
                </a:solidFill>
                <a:latin typeface="Calibri"/>
              </a:rPr>
              <a:t>Data Modelling</a:t>
            </a:r>
          </a:p>
        </p:txBody>
      </p:sp>
      <p:sp>
        <p:nvSpPr>
          <p:cNvPr id="40" name="Oval 39"/>
          <p:cNvSpPr/>
          <p:nvPr/>
        </p:nvSpPr>
        <p:spPr>
          <a:xfrm>
            <a:off x="4165600" y="3914140"/>
            <a:ext cx="127000" cy="127000"/>
          </a:xfrm>
          <a:prstGeom prst="ellipse">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238244" y="3968496"/>
            <a:ext cx="1280160" cy="201168"/>
          </a:xfrm>
          <a:prstGeom prst="rect">
            <a:avLst/>
          </a:prstGeom>
          <a:noFill/>
        </p:spPr>
        <p:txBody>
          <a:bodyPr wrap="square">
            <a:spAutoFit/>
          </a:bodyPr>
          <a:lstStyle/>
          <a:p>
            <a:pPr algn="l"/>
            <a:r>
              <a:rPr sz="550" b="0" i="0">
                <a:solidFill>
                  <a:srgbClr val="0D1B3E"/>
                </a:solidFill>
                <a:latin typeface="Calibri"/>
              </a:rPr>
              <a:t>Sprint Planner</a:t>
            </a:r>
          </a:p>
        </p:txBody>
      </p:sp>
      <p:sp>
        <p:nvSpPr>
          <p:cNvPr id="42" name="Oval 41"/>
          <p:cNvSpPr/>
          <p:nvPr/>
        </p:nvSpPr>
        <p:spPr>
          <a:xfrm>
            <a:off x="485140" y="3914140"/>
            <a:ext cx="127000" cy="127000"/>
          </a:xfrm>
          <a:prstGeom prst="ellipse">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57784" y="3968496"/>
            <a:ext cx="1280160" cy="201168"/>
          </a:xfrm>
          <a:prstGeom prst="rect">
            <a:avLst/>
          </a:prstGeom>
          <a:noFill/>
        </p:spPr>
        <p:txBody>
          <a:bodyPr wrap="square">
            <a:spAutoFit/>
          </a:bodyPr>
          <a:lstStyle/>
          <a:p>
            <a:pPr algn="l"/>
            <a:r>
              <a:rPr sz="550" b="0" i="0">
                <a:solidFill>
                  <a:srgbClr val="0D1B3E"/>
                </a:solidFill>
                <a:latin typeface="Calibri"/>
              </a:rPr>
              <a:t>Story Sizing</a:t>
            </a:r>
          </a:p>
        </p:txBody>
      </p:sp>
      <p:sp>
        <p:nvSpPr>
          <p:cNvPr id="44" name="Oval 43"/>
          <p:cNvSpPr/>
          <p:nvPr/>
        </p:nvSpPr>
        <p:spPr>
          <a:xfrm>
            <a:off x="9309100" y="1554988"/>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381744" y="1609344"/>
            <a:ext cx="1280160" cy="201168"/>
          </a:xfrm>
          <a:prstGeom prst="rect">
            <a:avLst/>
          </a:prstGeom>
          <a:noFill/>
        </p:spPr>
        <p:txBody>
          <a:bodyPr wrap="square">
            <a:spAutoFit/>
          </a:bodyPr>
          <a:lstStyle/>
          <a:p>
            <a:pPr algn="l"/>
            <a:r>
              <a:rPr sz="550" b="0" i="0">
                <a:solidFill>
                  <a:srgbClr val="0D1B3E"/>
                </a:solidFill>
                <a:latin typeface="Calibri"/>
              </a:rPr>
              <a:t>Code Generation</a:t>
            </a:r>
          </a:p>
        </p:txBody>
      </p:sp>
      <p:sp>
        <p:nvSpPr>
          <p:cNvPr id="46" name="Oval 45"/>
          <p:cNvSpPr/>
          <p:nvPr/>
        </p:nvSpPr>
        <p:spPr>
          <a:xfrm>
            <a:off x="7937500" y="3914140"/>
            <a:ext cx="127000" cy="127000"/>
          </a:xfrm>
          <a:prstGeom prst="ellipse">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010144" y="3968496"/>
            <a:ext cx="1280160" cy="201168"/>
          </a:xfrm>
          <a:prstGeom prst="rect">
            <a:avLst/>
          </a:prstGeom>
          <a:noFill/>
        </p:spPr>
        <p:txBody>
          <a:bodyPr wrap="square">
            <a:spAutoFit/>
          </a:bodyPr>
          <a:lstStyle/>
          <a:p>
            <a:pPr algn="l"/>
            <a:r>
              <a:rPr sz="550" b="0" i="0">
                <a:solidFill>
                  <a:srgbClr val="0D1B3E"/>
                </a:solidFill>
                <a:latin typeface="Calibri"/>
              </a:rPr>
              <a:t>Pair Programming</a:t>
            </a:r>
          </a:p>
        </p:txBody>
      </p:sp>
      <p:sp>
        <p:nvSpPr>
          <p:cNvPr id="48" name="Oval 47"/>
          <p:cNvSpPr/>
          <p:nvPr/>
        </p:nvSpPr>
        <p:spPr>
          <a:xfrm>
            <a:off x="5537200" y="2213356"/>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609844" y="2267712"/>
            <a:ext cx="1280160" cy="201168"/>
          </a:xfrm>
          <a:prstGeom prst="rect">
            <a:avLst/>
          </a:prstGeom>
          <a:noFill/>
        </p:spPr>
        <p:txBody>
          <a:bodyPr wrap="square">
            <a:spAutoFit/>
          </a:bodyPr>
          <a:lstStyle/>
          <a:p>
            <a:pPr algn="l"/>
            <a:r>
              <a:rPr sz="550" b="0" i="0">
                <a:solidFill>
                  <a:srgbClr val="0D1B3E"/>
                </a:solidFill>
                <a:latin typeface="Calibri"/>
              </a:rPr>
              <a:t>Peer Review</a:t>
            </a:r>
          </a:p>
        </p:txBody>
      </p:sp>
      <p:sp>
        <p:nvSpPr>
          <p:cNvPr id="50" name="Oval 49"/>
          <p:cNvSpPr/>
          <p:nvPr/>
        </p:nvSpPr>
        <p:spPr>
          <a:xfrm>
            <a:off x="485140" y="1554988"/>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57784" y="1609344"/>
            <a:ext cx="1280160" cy="201168"/>
          </a:xfrm>
          <a:prstGeom prst="rect">
            <a:avLst/>
          </a:prstGeom>
          <a:noFill/>
        </p:spPr>
        <p:txBody>
          <a:bodyPr wrap="square">
            <a:spAutoFit/>
          </a:bodyPr>
          <a:lstStyle/>
          <a:p>
            <a:pPr algn="l"/>
            <a:r>
              <a:rPr sz="550" b="0" i="0">
                <a:solidFill>
                  <a:srgbClr val="0D1B3E"/>
                </a:solidFill>
                <a:latin typeface="Calibri"/>
              </a:rPr>
              <a:t>Documentation</a:t>
            </a:r>
          </a:p>
        </p:txBody>
      </p:sp>
      <p:sp>
        <p:nvSpPr>
          <p:cNvPr id="52" name="Oval 51"/>
          <p:cNvSpPr/>
          <p:nvPr/>
        </p:nvSpPr>
        <p:spPr>
          <a:xfrm>
            <a:off x="6908800" y="2213356"/>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981444" y="2267712"/>
            <a:ext cx="1280160" cy="201168"/>
          </a:xfrm>
          <a:prstGeom prst="rect">
            <a:avLst/>
          </a:prstGeom>
          <a:noFill/>
        </p:spPr>
        <p:txBody>
          <a:bodyPr wrap="square">
            <a:spAutoFit/>
          </a:bodyPr>
          <a:lstStyle/>
          <a:p>
            <a:pPr algn="l"/>
            <a:r>
              <a:rPr sz="550" b="0" i="0">
                <a:solidFill>
                  <a:srgbClr val="0D1B3E"/>
                </a:solidFill>
                <a:latin typeface="Calibri"/>
              </a:rPr>
              <a:t>Test Generation</a:t>
            </a:r>
          </a:p>
        </p:txBody>
      </p:sp>
      <p:sp>
        <p:nvSpPr>
          <p:cNvPr id="54" name="Oval 53"/>
          <p:cNvSpPr/>
          <p:nvPr/>
        </p:nvSpPr>
        <p:spPr>
          <a:xfrm>
            <a:off x="10680700" y="1554988"/>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753344" y="1609344"/>
            <a:ext cx="1280160" cy="201168"/>
          </a:xfrm>
          <a:prstGeom prst="rect">
            <a:avLst/>
          </a:prstGeom>
          <a:noFill/>
        </p:spPr>
        <p:txBody>
          <a:bodyPr wrap="square">
            <a:spAutoFit/>
          </a:bodyPr>
          <a:lstStyle/>
          <a:p>
            <a:pPr algn="l"/>
            <a:r>
              <a:rPr sz="550" b="0" i="0">
                <a:solidFill>
                  <a:srgbClr val="0D1B3E"/>
                </a:solidFill>
                <a:latin typeface="Calibri"/>
              </a:rPr>
              <a:t>Codebase Navigator</a:t>
            </a:r>
          </a:p>
        </p:txBody>
      </p:sp>
      <p:sp>
        <p:nvSpPr>
          <p:cNvPr id="56" name="Oval 55"/>
          <p:cNvSpPr/>
          <p:nvPr/>
        </p:nvSpPr>
        <p:spPr>
          <a:xfrm>
            <a:off x="4165600" y="2871724"/>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238244" y="2926080"/>
            <a:ext cx="1280160" cy="201168"/>
          </a:xfrm>
          <a:prstGeom prst="rect">
            <a:avLst/>
          </a:prstGeom>
          <a:noFill/>
        </p:spPr>
        <p:txBody>
          <a:bodyPr wrap="square">
            <a:spAutoFit/>
          </a:bodyPr>
          <a:lstStyle/>
          <a:p>
            <a:pPr algn="l"/>
            <a:r>
              <a:rPr sz="550" b="0" i="0">
                <a:solidFill>
                  <a:srgbClr val="0D1B3E"/>
                </a:solidFill>
                <a:latin typeface="Calibri"/>
              </a:rPr>
              <a:t>Release</a:t>
            </a:r>
          </a:p>
        </p:txBody>
      </p:sp>
      <p:sp>
        <p:nvSpPr>
          <p:cNvPr id="58" name="Oval 57"/>
          <p:cNvSpPr/>
          <p:nvPr/>
        </p:nvSpPr>
        <p:spPr>
          <a:xfrm>
            <a:off x="5537200" y="2871724"/>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609844" y="2926080"/>
            <a:ext cx="1280160" cy="201168"/>
          </a:xfrm>
          <a:prstGeom prst="rect">
            <a:avLst/>
          </a:prstGeom>
          <a:noFill/>
        </p:spPr>
        <p:txBody>
          <a:bodyPr wrap="square">
            <a:spAutoFit/>
          </a:bodyPr>
          <a:lstStyle/>
          <a:p>
            <a:pPr algn="l"/>
            <a:r>
              <a:rPr sz="550" b="0" i="0">
                <a:solidFill>
                  <a:srgbClr val="0D1B3E"/>
                </a:solidFill>
                <a:latin typeface="Calibri"/>
              </a:rPr>
              <a:t>Triaging</a:t>
            </a:r>
          </a:p>
        </p:txBody>
      </p:sp>
      <p:sp>
        <p:nvSpPr>
          <p:cNvPr id="60" name="Oval 59"/>
          <p:cNvSpPr/>
          <p:nvPr/>
        </p:nvSpPr>
        <p:spPr>
          <a:xfrm>
            <a:off x="7937500" y="2213356"/>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010144" y="2267712"/>
            <a:ext cx="1280160" cy="201168"/>
          </a:xfrm>
          <a:prstGeom prst="rect">
            <a:avLst/>
          </a:prstGeom>
          <a:noFill/>
        </p:spPr>
        <p:txBody>
          <a:bodyPr wrap="square">
            <a:spAutoFit/>
          </a:bodyPr>
          <a:lstStyle/>
          <a:p>
            <a:pPr algn="l"/>
            <a:r>
              <a:rPr sz="550" b="0" i="0">
                <a:solidFill>
                  <a:srgbClr val="0D1B3E"/>
                </a:solidFill>
                <a:latin typeface="Calibri"/>
              </a:rPr>
              <a:t>Root Cause Analys…</a:t>
            </a:r>
          </a:p>
        </p:txBody>
      </p:sp>
      <p:sp>
        <p:nvSpPr>
          <p:cNvPr id="62" name="Oval 61"/>
          <p:cNvSpPr/>
          <p:nvPr/>
        </p:nvSpPr>
        <p:spPr>
          <a:xfrm>
            <a:off x="9309100" y="2213356"/>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381744" y="2267712"/>
            <a:ext cx="1280160" cy="201168"/>
          </a:xfrm>
          <a:prstGeom prst="rect">
            <a:avLst/>
          </a:prstGeom>
          <a:noFill/>
        </p:spPr>
        <p:txBody>
          <a:bodyPr wrap="square">
            <a:spAutoFit/>
          </a:bodyPr>
          <a:lstStyle/>
          <a:p>
            <a:pPr algn="l"/>
            <a:r>
              <a:rPr sz="550" b="0" i="0">
                <a:solidFill>
                  <a:srgbClr val="0D1B3E"/>
                </a:solidFill>
                <a:latin typeface="Calibri"/>
              </a:rPr>
              <a:t>Auto-Remediation</a:t>
            </a:r>
          </a:p>
        </p:txBody>
      </p:sp>
      <p:sp>
        <p:nvSpPr>
          <p:cNvPr id="64" name="Oval 63"/>
          <p:cNvSpPr/>
          <p:nvPr/>
        </p:nvSpPr>
        <p:spPr>
          <a:xfrm>
            <a:off x="10680700" y="2213356"/>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0753344" y="2267712"/>
            <a:ext cx="1280160" cy="201168"/>
          </a:xfrm>
          <a:prstGeom prst="rect">
            <a:avLst/>
          </a:prstGeom>
          <a:noFill/>
        </p:spPr>
        <p:txBody>
          <a:bodyPr wrap="square">
            <a:spAutoFit/>
          </a:bodyPr>
          <a:lstStyle/>
          <a:p>
            <a:pPr algn="l"/>
            <a:r>
              <a:rPr sz="550" b="0" i="0">
                <a:solidFill>
                  <a:srgbClr val="0D1B3E"/>
                </a:solidFill>
                <a:latin typeface="Calibri"/>
              </a:rPr>
              <a:t>Access Provisioner</a:t>
            </a:r>
          </a:p>
        </p:txBody>
      </p:sp>
      <p:sp>
        <p:nvSpPr>
          <p:cNvPr id="66" name="Oval 65"/>
          <p:cNvSpPr/>
          <p:nvPr/>
        </p:nvSpPr>
        <p:spPr>
          <a:xfrm>
            <a:off x="1765300" y="3914140"/>
            <a:ext cx="127000" cy="127000"/>
          </a:xfrm>
          <a:prstGeom prst="ellipse">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837943" y="3968496"/>
            <a:ext cx="1280160" cy="201168"/>
          </a:xfrm>
          <a:prstGeom prst="rect">
            <a:avLst/>
          </a:prstGeom>
          <a:noFill/>
        </p:spPr>
        <p:txBody>
          <a:bodyPr wrap="square">
            <a:spAutoFit/>
          </a:bodyPr>
          <a:lstStyle/>
          <a:p>
            <a:pPr algn="l"/>
            <a:r>
              <a:rPr sz="550" b="0" i="0">
                <a:solidFill>
                  <a:srgbClr val="0D1B3E"/>
                </a:solidFill>
                <a:latin typeface="Calibri"/>
              </a:rPr>
              <a:t>Runbook Tutor</a:t>
            </a:r>
          </a:p>
        </p:txBody>
      </p:sp>
      <p:sp>
        <p:nvSpPr>
          <p:cNvPr id="68" name="Oval 67"/>
          <p:cNvSpPr/>
          <p:nvPr/>
        </p:nvSpPr>
        <p:spPr>
          <a:xfrm>
            <a:off x="1765300" y="1554988"/>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837943" y="1609344"/>
            <a:ext cx="1280160" cy="201168"/>
          </a:xfrm>
          <a:prstGeom prst="rect">
            <a:avLst/>
          </a:prstGeom>
          <a:noFill/>
        </p:spPr>
        <p:txBody>
          <a:bodyPr wrap="square">
            <a:spAutoFit/>
          </a:bodyPr>
          <a:lstStyle/>
          <a:p>
            <a:pPr algn="l"/>
            <a:r>
              <a:rPr sz="550" b="0" i="0">
                <a:solidFill>
                  <a:srgbClr val="0D1B3E"/>
                </a:solidFill>
                <a:latin typeface="Calibri"/>
              </a:rPr>
              <a:t>PII Leak Detection</a:t>
            </a:r>
          </a:p>
        </p:txBody>
      </p:sp>
      <p:sp>
        <p:nvSpPr>
          <p:cNvPr id="70" name="Oval 69"/>
          <p:cNvSpPr/>
          <p:nvPr/>
        </p:nvSpPr>
        <p:spPr>
          <a:xfrm>
            <a:off x="3136900" y="1554988"/>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209544" y="1609344"/>
            <a:ext cx="1280160" cy="201168"/>
          </a:xfrm>
          <a:prstGeom prst="rect">
            <a:avLst/>
          </a:prstGeom>
          <a:noFill/>
        </p:spPr>
        <p:txBody>
          <a:bodyPr wrap="square">
            <a:spAutoFit/>
          </a:bodyPr>
          <a:lstStyle/>
          <a:p>
            <a:pPr algn="l"/>
            <a:r>
              <a:rPr sz="550" b="0" i="0">
                <a:solidFill>
                  <a:srgbClr val="0D1B3E"/>
                </a:solidFill>
                <a:latin typeface="Calibri"/>
              </a:rPr>
              <a:t>Meeting Intellige…</a:t>
            </a:r>
          </a:p>
        </p:txBody>
      </p:sp>
      <p:sp>
        <p:nvSpPr>
          <p:cNvPr id="72" name="Oval 71"/>
          <p:cNvSpPr/>
          <p:nvPr/>
        </p:nvSpPr>
        <p:spPr>
          <a:xfrm>
            <a:off x="3136900" y="3914140"/>
            <a:ext cx="127000" cy="127000"/>
          </a:xfrm>
          <a:prstGeom prst="ellipse">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209544" y="3968496"/>
            <a:ext cx="1280160" cy="201168"/>
          </a:xfrm>
          <a:prstGeom prst="rect">
            <a:avLst/>
          </a:prstGeom>
          <a:noFill/>
        </p:spPr>
        <p:txBody>
          <a:bodyPr wrap="square">
            <a:spAutoFit/>
          </a:bodyPr>
          <a:lstStyle/>
          <a:p>
            <a:pPr algn="l"/>
            <a:r>
              <a:rPr sz="550" b="0" i="0">
                <a:solidFill>
                  <a:srgbClr val="0D1B3E"/>
                </a:solidFill>
                <a:latin typeface="Calibri"/>
              </a:rPr>
              <a:t>Learning Path</a:t>
            </a:r>
          </a:p>
        </p:txBody>
      </p:sp>
      <p:sp>
        <p:nvSpPr>
          <p:cNvPr id="74" name="Oval 73"/>
          <p:cNvSpPr/>
          <p:nvPr/>
        </p:nvSpPr>
        <p:spPr>
          <a:xfrm>
            <a:off x="7937500" y="2871724"/>
            <a:ext cx="127000" cy="127000"/>
          </a:xfrm>
          <a:prstGeom prst="ellipse">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010144" y="2926080"/>
            <a:ext cx="1280160" cy="201168"/>
          </a:xfrm>
          <a:prstGeom prst="rect">
            <a:avLst/>
          </a:prstGeom>
          <a:noFill/>
        </p:spPr>
        <p:txBody>
          <a:bodyPr wrap="square">
            <a:spAutoFit/>
          </a:bodyPr>
          <a:lstStyle/>
          <a:p>
            <a:pPr algn="l"/>
            <a:r>
              <a:rPr sz="550" b="0" i="0">
                <a:solidFill>
                  <a:srgbClr val="0D1B3E"/>
                </a:solidFill>
                <a:latin typeface="Calibri"/>
              </a:rPr>
              <a:t>Legacy Migration</a:t>
            </a:r>
          </a:p>
        </p:txBody>
      </p:sp>
      <p:sp>
        <p:nvSpPr>
          <p:cNvPr id="76" name="Oval 75"/>
          <p:cNvSpPr/>
          <p:nvPr/>
        </p:nvSpPr>
        <p:spPr>
          <a:xfrm>
            <a:off x="5537200" y="3914140"/>
            <a:ext cx="127000" cy="127000"/>
          </a:xfrm>
          <a:prstGeom prst="ellipse">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5609844" y="3968496"/>
            <a:ext cx="1280160" cy="201168"/>
          </a:xfrm>
          <a:prstGeom prst="rect">
            <a:avLst/>
          </a:prstGeom>
          <a:noFill/>
        </p:spPr>
        <p:txBody>
          <a:bodyPr wrap="square">
            <a:spAutoFit/>
          </a:bodyPr>
          <a:lstStyle/>
          <a:p>
            <a:pPr algn="l"/>
            <a:r>
              <a:rPr sz="550" b="0" i="0">
                <a:solidFill>
                  <a:srgbClr val="0D1B3E"/>
                </a:solidFill>
                <a:latin typeface="Calibri"/>
              </a:rPr>
              <a:t>Dependency Mapper</a:t>
            </a:r>
          </a:p>
        </p:txBody>
      </p:sp>
      <p:sp>
        <p:nvSpPr>
          <p:cNvPr id="78" name="Rectangle 77"/>
          <p:cNvSpPr/>
          <p:nvPr/>
        </p:nvSpPr>
        <p:spPr>
          <a:xfrm>
            <a:off x="457200" y="6519672"/>
            <a:ext cx="11430000" cy="256032"/>
          </a:xfrm>
          <a:prstGeom prst="rect">
            <a:avLst/>
          </a:prstGeom>
          <a:solidFill>
            <a:srgbClr val="EC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594360" y="6556248"/>
            <a:ext cx="182880" cy="201168"/>
          </a:xfrm>
          <a:prstGeom prst="rect">
            <a:avLst/>
          </a:prstGeom>
          <a:noFill/>
        </p:spPr>
        <p:txBody>
          <a:bodyPr wrap="square">
            <a:spAutoFit/>
          </a:bodyPr>
          <a:lstStyle/>
          <a:p>
            <a:pPr algn="l"/>
            <a:r>
              <a:rPr sz="900" b="0" i="0">
                <a:solidFill>
                  <a:srgbClr val="1E8B4C"/>
                </a:solidFill>
                <a:latin typeface="Calibri"/>
              </a:rPr>
              <a:t>●</a:t>
            </a:r>
          </a:p>
        </p:txBody>
      </p:sp>
      <p:sp>
        <p:nvSpPr>
          <p:cNvPr id="80" name="TextBox 79"/>
          <p:cNvSpPr txBox="1"/>
          <p:nvPr/>
        </p:nvSpPr>
        <p:spPr>
          <a:xfrm>
            <a:off x="758952" y="6556248"/>
            <a:ext cx="1371600" cy="201168"/>
          </a:xfrm>
          <a:prstGeom prst="rect">
            <a:avLst/>
          </a:prstGeom>
          <a:noFill/>
        </p:spPr>
        <p:txBody>
          <a:bodyPr wrap="square">
            <a:spAutoFit/>
          </a:bodyPr>
          <a:lstStyle/>
          <a:p>
            <a:pPr algn="l"/>
            <a:r>
              <a:rPr sz="700" b="0" i="0">
                <a:solidFill>
                  <a:srgbClr val="0D1B3E"/>
                </a:solidFill>
                <a:latin typeface="Calibri"/>
              </a:rPr>
              <a:t>High Impact</a:t>
            </a:r>
          </a:p>
        </p:txBody>
      </p:sp>
      <p:sp>
        <p:nvSpPr>
          <p:cNvPr id="81" name="TextBox 80"/>
          <p:cNvSpPr txBox="1"/>
          <p:nvPr/>
        </p:nvSpPr>
        <p:spPr>
          <a:xfrm>
            <a:off x="2167128" y="6556248"/>
            <a:ext cx="182880" cy="201168"/>
          </a:xfrm>
          <a:prstGeom prst="rect">
            <a:avLst/>
          </a:prstGeom>
          <a:noFill/>
        </p:spPr>
        <p:txBody>
          <a:bodyPr wrap="square">
            <a:spAutoFit/>
          </a:bodyPr>
          <a:lstStyle/>
          <a:p>
            <a:pPr algn="l"/>
            <a:r>
              <a:rPr sz="900" b="0" i="0">
                <a:solidFill>
                  <a:srgbClr val="D47F00"/>
                </a:solidFill>
                <a:latin typeface="Calibri"/>
              </a:rPr>
              <a:t>●</a:t>
            </a:r>
          </a:p>
        </p:txBody>
      </p:sp>
      <p:sp>
        <p:nvSpPr>
          <p:cNvPr id="82" name="TextBox 81"/>
          <p:cNvSpPr txBox="1"/>
          <p:nvPr/>
        </p:nvSpPr>
        <p:spPr>
          <a:xfrm>
            <a:off x="2331720" y="6556248"/>
            <a:ext cx="1371600" cy="201168"/>
          </a:xfrm>
          <a:prstGeom prst="rect">
            <a:avLst/>
          </a:prstGeom>
          <a:noFill/>
        </p:spPr>
        <p:txBody>
          <a:bodyPr wrap="square">
            <a:spAutoFit/>
          </a:bodyPr>
          <a:lstStyle/>
          <a:p>
            <a:pPr algn="l"/>
            <a:r>
              <a:rPr sz="700" b="0" i="0">
                <a:solidFill>
                  <a:srgbClr val="0D1B3E"/>
                </a:solidFill>
                <a:latin typeface="Calibri"/>
              </a:rPr>
              <a:t>Medium Impact</a:t>
            </a:r>
          </a:p>
        </p:txBody>
      </p:sp>
      <p:sp>
        <p:nvSpPr>
          <p:cNvPr id="83" name="TextBox 82"/>
          <p:cNvSpPr txBox="1"/>
          <p:nvPr/>
        </p:nvSpPr>
        <p:spPr>
          <a:xfrm>
            <a:off x="3739896" y="6556248"/>
            <a:ext cx="182880" cy="201168"/>
          </a:xfrm>
          <a:prstGeom prst="rect">
            <a:avLst/>
          </a:prstGeom>
          <a:noFill/>
        </p:spPr>
        <p:txBody>
          <a:bodyPr wrap="square">
            <a:spAutoFit/>
          </a:bodyPr>
          <a:lstStyle/>
          <a:p>
            <a:pPr algn="l"/>
            <a:r>
              <a:rPr sz="900" b="0" i="0">
                <a:solidFill>
                  <a:srgbClr val="A92F22"/>
                </a:solidFill>
                <a:latin typeface="Calibri"/>
              </a:rPr>
              <a:t>●</a:t>
            </a:r>
          </a:p>
        </p:txBody>
      </p:sp>
      <p:sp>
        <p:nvSpPr>
          <p:cNvPr id="84" name="TextBox 83"/>
          <p:cNvSpPr txBox="1"/>
          <p:nvPr/>
        </p:nvSpPr>
        <p:spPr>
          <a:xfrm>
            <a:off x="3904487" y="6556248"/>
            <a:ext cx="1371600" cy="201168"/>
          </a:xfrm>
          <a:prstGeom prst="rect">
            <a:avLst/>
          </a:prstGeom>
          <a:noFill/>
        </p:spPr>
        <p:txBody>
          <a:bodyPr wrap="square">
            <a:spAutoFit/>
          </a:bodyPr>
          <a:lstStyle/>
          <a:p>
            <a:pPr algn="l"/>
            <a:r>
              <a:rPr sz="700" b="0" i="0">
                <a:solidFill>
                  <a:srgbClr val="0D1B3E"/>
                </a:solidFill>
                <a:latin typeface="Calibri"/>
              </a:rPr>
              <a:t>Low Impact</a:t>
            </a:r>
          </a:p>
        </p:txBody>
      </p:sp>
      <p:sp>
        <p:nvSpPr>
          <p:cNvPr id="85" name="TextBox 84"/>
          <p:cNvSpPr txBox="1"/>
          <p:nvPr/>
        </p:nvSpPr>
        <p:spPr>
          <a:xfrm>
            <a:off x="5312664" y="6556248"/>
            <a:ext cx="182880" cy="201168"/>
          </a:xfrm>
          <a:prstGeom prst="rect">
            <a:avLst/>
          </a:prstGeom>
          <a:noFill/>
        </p:spPr>
        <p:txBody>
          <a:bodyPr wrap="square">
            <a:spAutoFit/>
          </a:bodyPr>
          <a:lstStyle/>
          <a:p>
            <a:pPr algn="l"/>
            <a:r>
              <a:rPr sz="900" b="0" i="0">
                <a:solidFill>
                  <a:srgbClr val="5D6D7E"/>
                </a:solidFill>
                <a:latin typeface="Calibri"/>
              </a:rPr>
              <a:t>|</a:t>
            </a:r>
          </a:p>
        </p:txBody>
      </p:sp>
      <p:sp>
        <p:nvSpPr>
          <p:cNvPr id="86" name="TextBox 85"/>
          <p:cNvSpPr txBox="1"/>
          <p:nvPr/>
        </p:nvSpPr>
        <p:spPr>
          <a:xfrm>
            <a:off x="5632703" y="6556248"/>
            <a:ext cx="182880" cy="201168"/>
          </a:xfrm>
          <a:prstGeom prst="rect">
            <a:avLst/>
          </a:prstGeom>
          <a:noFill/>
        </p:spPr>
        <p:txBody>
          <a:bodyPr wrap="square">
            <a:spAutoFit/>
          </a:bodyPr>
          <a:lstStyle/>
          <a:p>
            <a:pPr algn="l"/>
            <a:r>
              <a:rPr sz="900" b="0" i="0">
                <a:solidFill>
                  <a:srgbClr val="1E8B4C"/>
                </a:solidFill>
                <a:latin typeface="Calibri"/>
              </a:rPr>
              <a:t>⭐</a:t>
            </a:r>
          </a:p>
        </p:txBody>
      </p:sp>
      <p:sp>
        <p:nvSpPr>
          <p:cNvPr id="87" name="TextBox 86"/>
          <p:cNvSpPr txBox="1"/>
          <p:nvPr/>
        </p:nvSpPr>
        <p:spPr>
          <a:xfrm>
            <a:off x="5797295" y="6556248"/>
            <a:ext cx="1371600" cy="201168"/>
          </a:xfrm>
          <a:prstGeom prst="rect">
            <a:avLst/>
          </a:prstGeom>
          <a:noFill/>
        </p:spPr>
        <p:txBody>
          <a:bodyPr wrap="square">
            <a:spAutoFit/>
          </a:bodyPr>
          <a:lstStyle/>
          <a:p>
            <a:pPr algn="l"/>
            <a:r>
              <a:rPr sz="700" b="0" i="0">
                <a:solidFill>
                  <a:srgbClr val="0D1B3E"/>
                </a:solidFill>
                <a:latin typeface="Calibri"/>
              </a:rPr>
              <a:t>Quick Wins: Deploy First</a:t>
            </a:r>
          </a:p>
        </p:txBody>
      </p:sp>
      <p:sp>
        <p:nvSpPr>
          <p:cNvPr id="88" name="TextBox 87"/>
          <p:cNvSpPr txBox="1"/>
          <p:nvPr/>
        </p:nvSpPr>
        <p:spPr>
          <a:xfrm>
            <a:off x="7205471" y="6556248"/>
            <a:ext cx="182880" cy="201168"/>
          </a:xfrm>
          <a:prstGeom prst="rect">
            <a:avLst/>
          </a:prstGeom>
          <a:noFill/>
        </p:spPr>
        <p:txBody>
          <a:bodyPr wrap="square">
            <a:spAutoFit/>
          </a:bodyPr>
          <a:lstStyle/>
          <a:p>
            <a:pPr algn="l"/>
            <a:r>
              <a:rPr sz="900" b="0" i="0">
                <a:solidFill>
                  <a:srgbClr val="007ABF"/>
                </a:solidFill>
                <a:latin typeface="Calibri"/>
              </a:rPr>
              <a:t>🎯</a:t>
            </a:r>
          </a:p>
        </p:txBody>
      </p:sp>
      <p:sp>
        <p:nvSpPr>
          <p:cNvPr id="89" name="TextBox 88"/>
          <p:cNvSpPr txBox="1"/>
          <p:nvPr/>
        </p:nvSpPr>
        <p:spPr>
          <a:xfrm>
            <a:off x="7370063" y="6556248"/>
            <a:ext cx="1371600" cy="201168"/>
          </a:xfrm>
          <a:prstGeom prst="rect">
            <a:avLst/>
          </a:prstGeom>
          <a:noFill/>
        </p:spPr>
        <p:txBody>
          <a:bodyPr wrap="square">
            <a:spAutoFit/>
          </a:bodyPr>
          <a:lstStyle/>
          <a:p>
            <a:pPr algn="l"/>
            <a:r>
              <a:rPr sz="700" b="0" i="0">
                <a:solidFill>
                  <a:srgbClr val="0D1B3E"/>
                </a:solidFill>
                <a:latin typeface="Calibri"/>
              </a:rPr>
              <a:t>Strategic: Build for Scale</a:t>
            </a:r>
          </a:p>
        </p:txBody>
      </p:sp>
      <p:sp>
        <p:nvSpPr>
          <p:cNvPr id="90" name="TextBox 89"/>
          <p:cNvSpPr txBox="1"/>
          <p:nvPr/>
        </p:nvSpPr>
        <p:spPr>
          <a:xfrm>
            <a:off x="8778240" y="6556248"/>
            <a:ext cx="182880" cy="201168"/>
          </a:xfrm>
          <a:prstGeom prst="rect">
            <a:avLst/>
          </a:prstGeom>
          <a:noFill/>
        </p:spPr>
        <p:txBody>
          <a:bodyPr wrap="square">
            <a:spAutoFit/>
          </a:bodyPr>
          <a:lstStyle/>
          <a:p>
            <a:pPr algn="l"/>
            <a:r>
              <a:rPr sz="900" b="0" i="0">
                <a:solidFill>
                  <a:srgbClr val="D47F00"/>
                </a:solidFill>
                <a:latin typeface="Calibri"/>
              </a:rPr>
              <a:t>🔄</a:t>
            </a:r>
          </a:p>
        </p:txBody>
      </p:sp>
      <p:sp>
        <p:nvSpPr>
          <p:cNvPr id="91" name="TextBox 90"/>
          <p:cNvSpPr txBox="1"/>
          <p:nvPr/>
        </p:nvSpPr>
        <p:spPr>
          <a:xfrm>
            <a:off x="8942832" y="6556248"/>
            <a:ext cx="1371600" cy="201168"/>
          </a:xfrm>
          <a:prstGeom prst="rect">
            <a:avLst/>
          </a:prstGeom>
          <a:noFill/>
        </p:spPr>
        <p:txBody>
          <a:bodyPr wrap="square">
            <a:spAutoFit/>
          </a:bodyPr>
          <a:lstStyle/>
          <a:p>
            <a:pPr algn="l"/>
            <a:r>
              <a:rPr sz="700" b="0" i="0">
                <a:solidFill>
                  <a:srgbClr val="0D1B3E"/>
                </a:solidFill>
                <a:latin typeface="Calibri"/>
              </a:rPr>
              <a:t>Transformational: Plan Carefully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0"/>
            <a:ext cx="12191695" cy="36576"/>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73152"/>
            <a:ext cx="9144000" cy="502920"/>
          </a:xfrm>
          <a:prstGeom prst="rect">
            <a:avLst/>
          </a:prstGeom>
          <a:noFill/>
        </p:spPr>
        <p:txBody>
          <a:bodyPr wrap="square">
            <a:spAutoFit/>
          </a:bodyPr>
          <a:lstStyle/>
          <a:p>
            <a:pPr algn="l"/>
            <a:r>
              <a:rPr sz="2200" b="1" i="0">
                <a:solidFill>
                  <a:srgbClr val="FFFFFF"/>
                </a:solidFill>
                <a:latin typeface="Cambria"/>
              </a:rPr>
              <a:t>ENTERPRISE AGENT PORTFOLIO ASSESSMENT</a:t>
            </a:r>
          </a:p>
        </p:txBody>
      </p:sp>
      <p:sp>
        <p:nvSpPr>
          <p:cNvPr id="5" name="TextBox 4"/>
          <p:cNvSpPr txBox="1"/>
          <p:nvPr/>
        </p:nvSpPr>
        <p:spPr>
          <a:xfrm>
            <a:off x="274320" y="548640"/>
            <a:ext cx="10972800" cy="320040"/>
          </a:xfrm>
          <a:prstGeom prst="rect">
            <a:avLst/>
          </a:prstGeom>
          <a:noFill/>
        </p:spPr>
        <p:txBody>
          <a:bodyPr wrap="square">
            <a:spAutoFit/>
          </a:bodyPr>
          <a:lstStyle/>
          <a:p>
            <a:pPr algn="l"/>
            <a:r>
              <a:rPr sz="1100" b="0" i="0">
                <a:solidFill>
                  <a:srgbClr val="A0C8FF"/>
                </a:solidFill>
                <a:latin typeface="Calibri"/>
              </a:rPr>
              <a:t>24 Agents Assessed · Across Dev, DevOps &amp; Cross-Cutting Capabilities</a:t>
            </a:r>
          </a:p>
        </p:txBody>
      </p:sp>
      <p:sp>
        <p:nvSpPr>
          <p:cNvPr id="6" name="Rectangle 5"/>
          <p:cNvSpPr/>
          <p:nvPr/>
        </p:nvSpPr>
        <p:spPr>
          <a:xfrm>
            <a:off x="0" y="6675120"/>
            <a:ext cx="12191695" cy="182880"/>
          </a:xfrm>
          <a:prstGeom prst="rect">
            <a:avLst/>
          </a:prstGeom>
          <a:solidFill>
            <a:srgbClr val="EC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84264"/>
            <a:ext cx="10972800" cy="164592"/>
          </a:xfrm>
          <a:prstGeom prst="rect">
            <a:avLst/>
          </a:prstGeom>
          <a:noFill/>
        </p:spPr>
        <p:txBody>
          <a:bodyPr wrap="square">
            <a:spAutoFit/>
          </a:bodyPr>
          <a:lstStyle/>
          <a:p>
            <a:pPr algn="l"/>
            <a:r>
              <a:rPr sz="700" b="0" i="0">
                <a:solidFill>
                  <a:srgbClr val="5D6D7E"/>
                </a:solidFill>
                <a:latin typeface="Calibri"/>
              </a:rPr>
              <a:t>CONFIDENTIAL  |  Technology Strategy Practice  |  Not for Distribution</a:t>
            </a:r>
          </a:p>
        </p:txBody>
      </p:sp>
      <p:sp>
        <p:nvSpPr>
          <p:cNvPr id="8" name="Rounded Rectangle 7"/>
          <p:cNvSpPr/>
          <p:nvPr/>
        </p:nvSpPr>
        <p:spPr>
          <a:xfrm>
            <a:off x="201168" y="960120"/>
            <a:ext cx="1874519" cy="1508760"/>
          </a:xfrm>
          <a:prstGeom prst="roundRect">
            <a:avLst>
              <a:gd name="adj" fmla="val 8000"/>
            </a:avLst>
          </a:prstGeom>
          <a:solidFill>
            <a:srgbClr val="F4F6F9"/>
          </a:solidFill>
          <a:ln w="19050">
            <a:solidFill>
              <a:srgbClr val="007A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960120"/>
            <a:ext cx="1874519" cy="54864"/>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6888" y="1069848"/>
            <a:ext cx="1801368" cy="640080"/>
          </a:xfrm>
          <a:prstGeom prst="rect">
            <a:avLst/>
          </a:prstGeom>
          <a:noFill/>
        </p:spPr>
        <p:txBody>
          <a:bodyPr wrap="square">
            <a:spAutoFit/>
          </a:bodyPr>
          <a:lstStyle/>
          <a:p>
            <a:pPr algn="ctr"/>
            <a:r>
              <a:rPr sz="3600" b="1" i="0">
                <a:solidFill>
                  <a:srgbClr val="007ABF"/>
                </a:solidFill>
                <a:latin typeface="Cambria"/>
              </a:rPr>
              <a:t>24</a:t>
            </a:r>
          </a:p>
        </p:txBody>
      </p:sp>
      <p:sp>
        <p:nvSpPr>
          <p:cNvPr id="11" name="TextBox 10"/>
          <p:cNvSpPr txBox="1"/>
          <p:nvPr/>
        </p:nvSpPr>
        <p:spPr>
          <a:xfrm>
            <a:off x="246888" y="1764792"/>
            <a:ext cx="1801368" cy="201168"/>
          </a:xfrm>
          <a:prstGeom prst="rect">
            <a:avLst/>
          </a:prstGeom>
          <a:noFill/>
        </p:spPr>
        <p:txBody>
          <a:bodyPr wrap="square">
            <a:spAutoFit/>
          </a:bodyPr>
          <a:lstStyle/>
          <a:p>
            <a:pPr algn="ctr"/>
            <a:r>
              <a:rPr sz="800" b="1" i="0">
                <a:solidFill>
                  <a:srgbClr val="0D1B3E"/>
                </a:solidFill>
                <a:latin typeface="Calibri"/>
              </a:rPr>
              <a:t>Total Agents</a:t>
            </a:r>
          </a:p>
        </p:txBody>
      </p:sp>
      <p:sp>
        <p:nvSpPr>
          <p:cNvPr id="12" name="TextBox 11"/>
          <p:cNvSpPr txBox="1"/>
          <p:nvPr/>
        </p:nvSpPr>
        <p:spPr>
          <a:xfrm>
            <a:off x="246888" y="1965960"/>
            <a:ext cx="1801368" cy="201168"/>
          </a:xfrm>
          <a:prstGeom prst="rect">
            <a:avLst/>
          </a:prstGeom>
          <a:noFill/>
        </p:spPr>
        <p:txBody>
          <a:bodyPr wrap="square">
            <a:spAutoFit/>
          </a:bodyPr>
          <a:lstStyle/>
          <a:p>
            <a:pPr algn="ctr"/>
            <a:r>
              <a:rPr sz="800" b="1" i="0">
                <a:solidFill>
                  <a:srgbClr val="0D1B3E"/>
                </a:solidFill>
                <a:latin typeface="Calibri"/>
              </a:rPr>
              <a:t>Assessed</a:t>
            </a:r>
          </a:p>
        </p:txBody>
      </p:sp>
      <p:sp>
        <p:nvSpPr>
          <p:cNvPr id="13" name="TextBox 12"/>
          <p:cNvSpPr txBox="1"/>
          <p:nvPr/>
        </p:nvSpPr>
        <p:spPr>
          <a:xfrm>
            <a:off x="246888" y="2221991"/>
            <a:ext cx="1801368" cy="201168"/>
          </a:xfrm>
          <a:prstGeom prst="rect">
            <a:avLst/>
          </a:prstGeom>
          <a:noFill/>
        </p:spPr>
        <p:txBody>
          <a:bodyPr wrap="square">
            <a:spAutoFit/>
          </a:bodyPr>
          <a:lstStyle/>
          <a:p>
            <a:pPr algn="ctr"/>
            <a:r>
              <a:rPr sz="650" b="0" i="0">
                <a:solidFill>
                  <a:srgbClr val="5D6D7E"/>
                </a:solidFill>
                <a:latin typeface="Calibri"/>
              </a:rPr>
              <a:t>All SDLC stages covered</a:t>
            </a:r>
          </a:p>
        </p:txBody>
      </p:sp>
      <p:sp>
        <p:nvSpPr>
          <p:cNvPr id="14" name="Rounded Rectangle 13"/>
          <p:cNvSpPr/>
          <p:nvPr/>
        </p:nvSpPr>
        <p:spPr>
          <a:xfrm>
            <a:off x="2167128" y="960120"/>
            <a:ext cx="1874519" cy="1508760"/>
          </a:xfrm>
          <a:prstGeom prst="roundRect">
            <a:avLst>
              <a:gd name="adj" fmla="val 8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167128" y="960120"/>
            <a:ext cx="1874519" cy="54864"/>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12848" y="1069848"/>
            <a:ext cx="1801368" cy="640080"/>
          </a:xfrm>
          <a:prstGeom prst="rect">
            <a:avLst/>
          </a:prstGeom>
          <a:noFill/>
        </p:spPr>
        <p:txBody>
          <a:bodyPr wrap="square">
            <a:spAutoFit/>
          </a:bodyPr>
          <a:lstStyle/>
          <a:p>
            <a:pPr algn="ctr"/>
            <a:r>
              <a:rPr sz="3600" b="1" i="0">
                <a:solidFill>
                  <a:srgbClr val="1E8B4C"/>
                </a:solidFill>
                <a:latin typeface="Cambria"/>
              </a:rPr>
              <a:t>11</a:t>
            </a:r>
          </a:p>
        </p:txBody>
      </p:sp>
      <p:sp>
        <p:nvSpPr>
          <p:cNvPr id="17" name="TextBox 16"/>
          <p:cNvSpPr txBox="1"/>
          <p:nvPr/>
        </p:nvSpPr>
        <p:spPr>
          <a:xfrm>
            <a:off x="2212848" y="1764792"/>
            <a:ext cx="1801368" cy="201168"/>
          </a:xfrm>
          <a:prstGeom prst="rect">
            <a:avLst/>
          </a:prstGeom>
          <a:noFill/>
        </p:spPr>
        <p:txBody>
          <a:bodyPr wrap="square">
            <a:spAutoFit/>
          </a:bodyPr>
          <a:lstStyle/>
          <a:p>
            <a:pPr algn="ctr"/>
            <a:r>
              <a:rPr sz="800" b="1" i="0">
                <a:solidFill>
                  <a:srgbClr val="0D1B3E"/>
                </a:solidFill>
                <a:latin typeface="Calibri"/>
              </a:rPr>
              <a:t>Quick Win</a:t>
            </a:r>
          </a:p>
        </p:txBody>
      </p:sp>
      <p:sp>
        <p:nvSpPr>
          <p:cNvPr id="18" name="TextBox 17"/>
          <p:cNvSpPr txBox="1"/>
          <p:nvPr/>
        </p:nvSpPr>
        <p:spPr>
          <a:xfrm>
            <a:off x="2212848" y="1965960"/>
            <a:ext cx="1801368" cy="201168"/>
          </a:xfrm>
          <a:prstGeom prst="rect">
            <a:avLst/>
          </a:prstGeom>
          <a:noFill/>
        </p:spPr>
        <p:txBody>
          <a:bodyPr wrap="square">
            <a:spAutoFit/>
          </a:bodyPr>
          <a:lstStyle/>
          <a:p>
            <a:pPr algn="ctr"/>
            <a:r>
              <a:rPr sz="800" b="1" i="0">
                <a:solidFill>
                  <a:srgbClr val="0D1B3E"/>
                </a:solidFill>
                <a:latin typeface="Calibri"/>
              </a:rPr>
              <a:t>Agents</a:t>
            </a:r>
          </a:p>
        </p:txBody>
      </p:sp>
      <p:sp>
        <p:nvSpPr>
          <p:cNvPr id="19" name="TextBox 18"/>
          <p:cNvSpPr txBox="1"/>
          <p:nvPr/>
        </p:nvSpPr>
        <p:spPr>
          <a:xfrm>
            <a:off x="2212848" y="2221991"/>
            <a:ext cx="1801368" cy="201168"/>
          </a:xfrm>
          <a:prstGeom prst="rect">
            <a:avLst/>
          </a:prstGeom>
          <a:noFill/>
        </p:spPr>
        <p:txBody>
          <a:bodyPr wrap="square">
            <a:spAutoFit/>
          </a:bodyPr>
          <a:lstStyle/>
          <a:p>
            <a:pPr algn="ctr"/>
            <a:r>
              <a:rPr sz="650" b="0" i="0">
                <a:solidFill>
                  <a:srgbClr val="5D6D7E"/>
                </a:solidFill>
                <a:latin typeface="Calibri"/>
              </a:rPr>
              <a:t>Deploy in 0–6 months</a:t>
            </a:r>
          </a:p>
        </p:txBody>
      </p:sp>
      <p:sp>
        <p:nvSpPr>
          <p:cNvPr id="20" name="Rounded Rectangle 19"/>
          <p:cNvSpPr/>
          <p:nvPr/>
        </p:nvSpPr>
        <p:spPr>
          <a:xfrm>
            <a:off x="4133087" y="960120"/>
            <a:ext cx="1874519" cy="1508760"/>
          </a:xfrm>
          <a:prstGeom prst="roundRect">
            <a:avLst>
              <a:gd name="adj" fmla="val 8000"/>
            </a:avLst>
          </a:prstGeom>
          <a:solidFill>
            <a:srgbClr val="F4F6F9"/>
          </a:solidFill>
          <a:ln w="1905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133087" y="960120"/>
            <a:ext cx="1874519" cy="54864"/>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78807" y="1069848"/>
            <a:ext cx="1801368" cy="640080"/>
          </a:xfrm>
          <a:prstGeom prst="rect">
            <a:avLst/>
          </a:prstGeom>
          <a:noFill/>
        </p:spPr>
        <p:txBody>
          <a:bodyPr wrap="square">
            <a:spAutoFit/>
          </a:bodyPr>
          <a:lstStyle/>
          <a:p>
            <a:pPr algn="ctr"/>
            <a:r>
              <a:rPr sz="3600" b="1" i="0">
                <a:solidFill>
                  <a:srgbClr val="D47F00"/>
                </a:solidFill>
                <a:latin typeface="Cambria"/>
              </a:rPr>
              <a:t>8</a:t>
            </a:r>
          </a:p>
        </p:txBody>
      </p:sp>
      <p:sp>
        <p:nvSpPr>
          <p:cNvPr id="23" name="TextBox 22"/>
          <p:cNvSpPr txBox="1"/>
          <p:nvPr/>
        </p:nvSpPr>
        <p:spPr>
          <a:xfrm>
            <a:off x="4178807" y="1764792"/>
            <a:ext cx="1801368" cy="201168"/>
          </a:xfrm>
          <a:prstGeom prst="rect">
            <a:avLst/>
          </a:prstGeom>
          <a:noFill/>
        </p:spPr>
        <p:txBody>
          <a:bodyPr wrap="square">
            <a:spAutoFit/>
          </a:bodyPr>
          <a:lstStyle/>
          <a:p>
            <a:pPr algn="ctr"/>
            <a:r>
              <a:rPr sz="800" b="1" i="0">
                <a:solidFill>
                  <a:srgbClr val="0D1B3E"/>
                </a:solidFill>
                <a:latin typeface="Calibri"/>
              </a:rPr>
              <a:t>Strategic</a:t>
            </a:r>
          </a:p>
        </p:txBody>
      </p:sp>
      <p:sp>
        <p:nvSpPr>
          <p:cNvPr id="24" name="TextBox 23"/>
          <p:cNvSpPr txBox="1"/>
          <p:nvPr/>
        </p:nvSpPr>
        <p:spPr>
          <a:xfrm>
            <a:off x="4178807" y="1965960"/>
            <a:ext cx="1801368" cy="201168"/>
          </a:xfrm>
          <a:prstGeom prst="rect">
            <a:avLst/>
          </a:prstGeom>
          <a:noFill/>
        </p:spPr>
        <p:txBody>
          <a:bodyPr wrap="square">
            <a:spAutoFit/>
          </a:bodyPr>
          <a:lstStyle/>
          <a:p>
            <a:pPr algn="ctr"/>
            <a:r>
              <a:rPr sz="800" b="1" i="0">
                <a:solidFill>
                  <a:srgbClr val="0D1B3E"/>
                </a:solidFill>
                <a:latin typeface="Calibri"/>
              </a:rPr>
              <a:t>Investments</a:t>
            </a:r>
          </a:p>
        </p:txBody>
      </p:sp>
      <p:sp>
        <p:nvSpPr>
          <p:cNvPr id="25" name="TextBox 24"/>
          <p:cNvSpPr txBox="1"/>
          <p:nvPr/>
        </p:nvSpPr>
        <p:spPr>
          <a:xfrm>
            <a:off x="4178807" y="2221991"/>
            <a:ext cx="1801368" cy="201168"/>
          </a:xfrm>
          <a:prstGeom prst="rect">
            <a:avLst/>
          </a:prstGeom>
          <a:noFill/>
        </p:spPr>
        <p:txBody>
          <a:bodyPr wrap="square">
            <a:spAutoFit/>
          </a:bodyPr>
          <a:lstStyle/>
          <a:p>
            <a:pPr algn="ctr"/>
            <a:r>
              <a:rPr sz="650" b="0" i="0">
                <a:solidFill>
                  <a:srgbClr val="5D6D7E"/>
                </a:solidFill>
                <a:latin typeface="Calibri"/>
              </a:rPr>
              <a:t>High effort + High value</a:t>
            </a:r>
          </a:p>
        </p:txBody>
      </p:sp>
      <p:sp>
        <p:nvSpPr>
          <p:cNvPr id="26" name="Rounded Rectangle 25"/>
          <p:cNvSpPr/>
          <p:nvPr/>
        </p:nvSpPr>
        <p:spPr>
          <a:xfrm>
            <a:off x="6099047" y="960120"/>
            <a:ext cx="1874519" cy="1508760"/>
          </a:xfrm>
          <a:prstGeom prst="roundRect">
            <a:avLst>
              <a:gd name="adj" fmla="val 8000"/>
            </a:avLst>
          </a:prstGeom>
          <a:solidFill>
            <a:srgbClr val="F4F6F9"/>
          </a:solidFill>
          <a:ln w="19050">
            <a:solidFill>
              <a:srgbClr val="007A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099047" y="960120"/>
            <a:ext cx="1874519" cy="54864"/>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44767" y="1069848"/>
            <a:ext cx="1801368" cy="640080"/>
          </a:xfrm>
          <a:prstGeom prst="rect">
            <a:avLst/>
          </a:prstGeom>
          <a:noFill/>
        </p:spPr>
        <p:txBody>
          <a:bodyPr wrap="square">
            <a:spAutoFit/>
          </a:bodyPr>
          <a:lstStyle/>
          <a:p>
            <a:pPr algn="ctr"/>
            <a:r>
              <a:rPr sz="3600" b="1" i="0">
                <a:solidFill>
                  <a:srgbClr val="007ABF"/>
                </a:solidFill>
                <a:latin typeface="Cambria"/>
              </a:rPr>
              <a:t>7</a:t>
            </a:r>
          </a:p>
        </p:txBody>
      </p:sp>
      <p:sp>
        <p:nvSpPr>
          <p:cNvPr id="29" name="TextBox 28"/>
          <p:cNvSpPr txBox="1"/>
          <p:nvPr/>
        </p:nvSpPr>
        <p:spPr>
          <a:xfrm>
            <a:off x="6144767" y="1764792"/>
            <a:ext cx="1801368" cy="201168"/>
          </a:xfrm>
          <a:prstGeom prst="rect">
            <a:avLst/>
          </a:prstGeom>
          <a:noFill/>
        </p:spPr>
        <p:txBody>
          <a:bodyPr wrap="square">
            <a:spAutoFit/>
          </a:bodyPr>
          <a:lstStyle/>
          <a:p>
            <a:pPr algn="ctr"/>
            <a:r>
              <a:rPr sz="800" b="1" i="0">
                <a:solidFill>
                  <a:srgbClr val="0D1B3E"/>
                </a:solidFill>
                <a:latin typeface="Calibri"/>
              </a:rPr>
              <a:t>Transformational</a:t>
            </a:r>
          </a:p>
        </p:txBody>
      </p:sp>
      <p:sp>
        <p:nvSpPr>
          <p:cNvPr id="30" name="TextBox 29"/>
          <p:cNvSpPr txBox="1"/>
          <p:nvPr/>
        </p:nvSpPr>
        <p:spPr>
          <a:xfrm>
            <a:off x="6144767" y="1965960"/>
            <a:ext cx="1801368" cy="201168"/>
          </a:xfrm>
          <a:prstGeom prst="rect">
            <a:avLst/>
          </a:prstGeom>
          <a:noFill/>
        </p:spPr>
        <p:txBody>
          <a:bodyPr wrap="square">
            <a:spAutoFit/>
          </a:bodyPr>
          <a:lstStyle/>
          <a:p>
            <a:pPr algn="ctr"/>
            <a:r>
              <a:rPr sz="800" b="1" i="0">
                <a:solidFill>
                  <a:srgbClr val="0D1B3E"/>
                </a:solidFill>
                <a:latin typeface="Calibri"/>
              </a:rPr>
              <a:t>Agents</a:t>
            </a:r>
          </a:p>
        </p:txBody>
      </p:sp>
      <p:sp>
        <p:nvSpPr>
          <p:cNvPr id="31" name="TextBox 30"/>
          <p:cNvSpPr txBox="1"/>
          <p:nvPr/>
        </p:nvSpPr>
        <p:spPr>
          <a:xfrm>
            <a:off x="6144767" y="2221991"/>
            <a:ext cx="1801368" cy="201168"/>
          </a:xfrm>
          <a:prstGeom prst="rect">
            <a:avLst/>
          </a:prstGeom>
          <a:noFill/>
        </p:spPr>
        <p:txBody>
          <a:bodyPr wrap="square">
            <a:spAutoFit/>
          </a:bodyPr>
          <a:lstStyle/>
          <a:p>
            <a:pPr algn="ctr"/>
            <a:r>
              <a:rPr sz="650" b="0" i="0">
                <a:solidFill>
                  <a:srgbClr val="5D6D7E"/>
                </a:solidFill>
                <a:latin typeface="Calibri"/>
              </a:rPr>
              <a:t>Platform-scale impact</a:t>
            </a:r>
          </a:p>
        </p:txBody>
      </p:sp>
      <p:sp>
        <p:nvSpPr>
          <p:cNvPr id="32" name="Rounded Rectangle 31"/>
          <p:cNvSpPr/>
          <p:nvPr/>
        </p:nvSpPr>
        <p:spPr>
          <a:xfrm>
            <a:off x="8065008" y="960120"/>
            <a:ext cx="1874519" cy="1508760"/>
          </a:xfrm>
          <a:prstGeom prst="roundRect">
            <a:avLst>
              <a:gd name="adj" fmla="val 8000"/>
            </a:avLst>
          </a:prstGeom>
          <a:solidFill>
            <a:srgbClr val="F4F6F9"/>
          </a:solidFill>
          <a:ln w="19050">
            <a:solidFill>
              <a:srgbClr val="B88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065008" y="960120"/>
            <a:ext cx="1874519" cy="54864"/>
          </a:xfrm>
          <a:prstGeom prst="rect">
            <a:avLst/>
          </a:prstGeom>
          <a:solidFill>
            <a:srgbClr val="B88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110728" y="1069848"/>
            <a:ext cx="1801368" cy="640080"/>
          </a:xfrm>
          <a:prstGeom prst="rect">
            <a:avLst/>
          </a:prstGeom>
          <a:noFill/>
        </p:spPr>
        <p:txBody>
          <a:bodyPr wrap="square">
            <a:spAutoFit/>
          </a:bodyPr>
          <a:lstStyle/>
          <a:p>
            <a:pPr algn="ctr"/>
            <a:r>
              <a:rPr sz="3600" b="1" i="0">
                <a:solidFill>
                  <a:srgbClr val="B88600"/>
                </a:solidFill>
                <a:latin typeface="Cambria"/>
              </a:rPr>
              <a:t>18</a:t>
            </a:r>
          </a:p>
        </p:txBody>
      </p:sp>
      <p:sp>
        <p:nvSpPr>
          <p:cNvPr id="35" name="TextBox 34"/>
          <p:cNvSpPr txBox="1"/>
          <p:nvPr/>
        </p:nvSpPr>
        <p:spPr>
          <a:xfrm>
            <a:off x="8110728" y="1764792"/>
            <a:ext cx="1801368" cy="201168"/>
          </a:xfrm>
          <a:prstGeom prst="rect">
            <a:avLst/>
          </a:prstGeom>
          <a:noFill/>
        </p:spPr>
        <p:txBody>
          <a:bodyPr wrap="square">
            <a:spAutoFit/>
          </a:bodyPr>
          <a:lstStyle/>
          <a:p>
            <a:pPr algn="ctr"/>
            <a:r>
              <a:rPr sz="800" b="1" i="0">
                <a:solidFill>
                  <a:srgbClr val="0D1B3E"/>
                </a:solidFill>
                <a:latin typeface="Calibri"/>
              </a:rPr>
              <a:t>High Impact</a:t>
            </a:r>
          </a:p>
        </p:txBody>
      </p:sp>
      <p:sp>
        <p:nvSpPr>
          <p:cNvPr id="36" name="TextBox 35"/>
          <p:cNvSpPr txBox="1"/>
          <p:nvPr/>
        </p:nvSpPr>
        <p:spPr>
          <a:xfrm>
            <a:off x="8110728" y="1965960"/>
            <a:ext cx="1801368" cy="201168"/>
          </a:xfrm>
          <a:prstGeom prst="rect">
            <a:avLst/>
          </a:prstGeom>
          <a:noFill/>
        </p:spPr>
        <p:txBody>
          <a:bodyPr wrap="square">
            <a:spAutoFit/>
          </a:bodyPr>
          <a:lstStyle/>
          <a:p>
            <a:pPr algn="ctr"/>
            <a:r>
              <a:rPr sz="800" b="1" i="0">
                <a:solidFill>
                  <a:srgbClr val="0D1B3E"/>
                </a:solidFill>
                <a:latin typeface="Calibri"/>
              </a:rPr>
              <a:t>Agents</a:t>
            </a:r>
          </a:p>
        </p:txBody>
      </p:sp>
      <p:sp>
        <p:nvSpPr>
          <p:cNvPr id="37" name="TextBox 36"/>
          <p:cNvSpPr txBox="1"/>
          <p:nvPr/>
        </p:nvSpPr>
        <p:spPr>
          <a:xfrm>
            <a:off x="8110728" y="2221991"/>
            <a:ext cx="1801368" cy="201168"/>
          </a:xfrm>
          <a:prstGeom prst="rect">
            <a:avLst/>
          </a:prstGeom>
          <a:noFill/>
        </p:spPr>
        <p:txBody>
          <a:bodyPr wrap="square">
            <a:spAutoFit/>
          </a:bodyPr>
          <a:lstStyle/>
          <a:p>
            <a:pPr algn="ctr"/>
            <a:r>
              <a:rPr sz="650" b="0" i="0">
                <a:solidFill>
                  <a:srgbClr val="5D6D7E"/>
                </a:solidFill>
                <a:latin typeface="Calibri"/>
              </a:rPr>
              <a:t>Critical value delivery</a:t>
            </a:r>
          </a:p>
        </p:txBody>
      </p:sp>
      <p:sp>
        <p:nvSpPr>
          <p:cNvPr id="38" name="Rounded Rectangle 37"/>
          <p:cNvSpPr/>
          <p:nvPr/>
        </p:nvSpPr>
        <p:spPr>
          <a:xfrm>
            <a:off x="10030968" y="960120"/>
            <a:ext cx="1874519" cy="1508760"/>
          </a:xfrm>
          <a:prstGeom prst="roundRect">
            <a:avLst>
              <a:gd name="adj" fmla="val 8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0030968" y="960120"/>
            <a:ext cx="1874519" cy="54864"/>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076688" y="1069848"/>
            <a:ext cx="1801368" cy="640080"/>
          </a:xfrm>
          <a:prstGeom prst="rect">
            <a:avLst/>
          </a:prstGeom>
          <a:noFill/>
        </p:spPr>
        <p:txBody>
          <a:bodyPr wrap="square">
            <a:spAutoFit/>
          </a:bodyPr>
          <a:lstStyle/>
          <a:p>
            <a:pPr algn="ctr"/>
            <a:r>
              <a:rPr sz="3600" b="1" i="0">
                <a:solidFill>
                  <a:srgbClr val="1E8B4C"/>
                </a:solidFill>
                <a:latin typeface="Cambria"/>
              </a:rPr>
              <a:t>6</a:t>
            </a:r>
          </a:p>
        </p:txBody>
      </p:sp>
      <p:sp>
        <p:nvSpPr>
          <p:cNvPr id="41" name="TextBox 40"/>
          <p:cNvSpPr txBox="1"/>
          <p:nvPr/>
        </p:nvSpPr>
        <p:spPr>
          <a:xfrm>
            <a:off x="10076688" y="1764792"/>
            <a:ext cx="1801368" cy="201168"/>
          </a:xfrm>
          <a:prstGeom prst="rect">
            <a:avLst/>
          </a:prstGeom>
          <a:noFill/>
        </p:spPr>
        <p:txBody>
          <a:bodyPr wrap="square">
            <a:spAutoFit/>
          </a:bodyPr>
          <a:lstStyle/>
          <a:p>
            <a:pPr algn="ctr"/>
            <a:r>
              <a:rPr sz="800" b="1" i="0">
                <a:solidFill>
                  <a:srgbClr val="0D1B3E"/>
                </a:solidFill>
                <a:latin typeface="Calibri"/>
              </a:rPr>
              <a:t>Low Effort</a:t>
            </a:r>
          </a:p>
        </p:txBody>
      </p:sp>
      <p:sp>
        <p:nvSpPr>
          <p:cNvPr id="42" name="TextBox 41"/>
          <p:cNvSpPr txBox="1"/>
          <p:nvPr/>
        </p:nvSpPr>
        <p:spPr>
          <a:xfrm>
            <a:off x="10076688" y="1965960"/>
            <a:ext cx="1801368" cy="201168"/>
          </a:xfrm>
          <a:prstGeom prst="rect">
            <a:avLst/>
          </a:prstGeom>
          <a:noFill/>
        </p:spPr>
        <p:txBody>
          <a:bodyPr wrap="square">
            <a:spAutoFit/>
          </a:bodyPr>
          <a:lstStyle/>
          <a:p>
            <a:pPr algn="ctr"/>
            <a:r>
              <a:rPr sz="800" b="1" i="0">
                <a:solidFill>
                  <a:srgbClr val="0D1B3E"/>
                </a:solidFill>
                <a:latin typeface="Calibri"/>
              </a:rPr>
              <a:t>Agents</a:t>
            </a:r>
          </a:p>
        </p:txBody>
      </p:sp>
      <p:sp>
        <p:nvSpPr>
          <p:cNvPr id="43" name="TextBox 42"/>
          <p:cNvSpPr txBox="1"/>
          <p:nvPr/>
        </p:nvSpPr>
        <p:spPr>
          <a:xfrm>
            <a:off x="10076688" y="2221991"/>
            <a:ext cx="1801368" cy="201168"/>
          </a:xfrm>
          <a:prstGeom prst="rect">
            <a:avLst/>
          </a:prstGeom>
          <a:noFill/>
        </p:spPr>
        <p:txBody>
          <a:bodyPr wrap="square">
            <a:spAutoFit/>
          </a:bodyPr>
          <a:lstStyle/>
          <a:p>
            <a:pPr algn="ctr"/>
            <a:r>
              <a:rPr sz="650" b="0" i="0">
                <a:solidFill>
                  <a:srgbClr val="5D6D7E"/>
                </a:solidFill>
                <a:latin typeface="Calibri"/>
              </a:rPr>
              <a:t>Fastest time to value</a:t>
            </a:r>
          </a:p>
        </p:txBody>
      </p:sp>
      <p:sp>
        <p:nvSpPr>
          <p:cNvPr id="44" name="Rectangle 43"/>
          <p:cNvSpPr/>
          <p:nvPr/>
        </p:nvSpPr>
        <p:spPr>
          <a:xfrm>
            <a:off x="201168" y="2670048"/>
            <a:ext cx="11795760" cy="36576"/>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01168" y="2788920"/>
            <a:ext cx="11795760" cy="274320"/>
          </a:xfrm>
          <a:prstGeom prst="rect">
            <a:avLst/>
          </a:prstGeom>
          <a:noFill/>
        </p:spPr>
        <p:txBody>
          <a:bodyPr wrap="square">
            <a:spAutoFit/>
          </a:bodyPr>
          <a:lstStyle/>
          <a:p>
            <a:pPr algn="ctr"/>
            <a:r>
              <a:rPr sz="1100" b="1" i="0">
                <a:solidFill>
                  <a:srgbClr val="0D1B3E"/>
                </a:solidFill>
                <a:latin typeface="Calibri"/>
              </a:rPr>
              <a:t>HUMAN-IN-THE-LOOP DISTRIBUTION</a:t>
            </a:r>
          </a:p>
        </p:txBody>
      </p:sp>
      <p:sp>
        <p:nvSpPr>
          <p:cNvPr id="46" name="Rounded Rectangle 45"/>
          <p:cNvSpPr/>
          <p:nvPr/>
        </p:nvSpPr>
        <p:spPr>
          <a:xfrm>
            <a:off x="201168" y="3200400"/>
            <a:ext cx="3840480" cy="2331720"/>
          </a:xfrm>
          <a:prstGeom prst="roundRect">
            <a:avLst>
              <a:gd name="adj" fmla="val 6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201168" y="3200400"/>
            <a:ext cx="3840480" cy="54864"/>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92608" y="3310128"/>
            <a:ext cx="3749039" cy="685800"/>
          </a:xfrm>
          <a:prstGeom prst="rect">
            <a:avLst/>
          </a:prstGeom>
          <a:noFill/>
        </p:spPr>
        <p:txBody>
          <a:bodyPr wrap="square">
            <a:spAutoFit/>
          </a:bodyPr>
          <a:lstStyle/>
          <a:p>
            <a:pPr algn="ctr"/>
            <a:r>
              <a:rPr sz="5200" b="1" i="0">
                <a:solidFill>
                  <a:srgbClr val="1E8B4C"/>
                </a:solidFill>
                <a:latin typeface="Cambria"/>
              </a:rPr>
              <a:t>7</a:t>
            </a:r>
          </a:p>
        </p:txBody>
      </p:sp>
      <p:sp>
        <p:nvSpPr>
          <p:cNvPr id="49" name="TextBox 48"/>
          <p:cNvSpPr txBox="1"/>
          <p:nvPr/>
        </p:nvSpPr>
        <p:spPr>
          <a:xfrm>
            <a:off x="292608" y="4005072"/>
            <a:ext cx="3749039" cy="274320"/>
          </a:xfrm>
          <a:prstGeom prst="rect">
            <a:avLst/>
          </a:prstGeom>
          <a:noFill/>
        </p:spPr>
        <p:txBody>
          <a:bodyPr wrap="square">
            <a:spAutoFit/>
          </a:bodyPr>
          <a:lstStyle/>
          <a:p>
            <a:pPr algn="ctr"/>
            <a:r>
              <a:rPr sz="900" b="0" i="0">
                <a:solidFill>
                  <a:srgbClr val="0D1B3E"/>
                </a:solidFill>
                <a:latin typeface="Calibri"/>
              </a:rPr>
              <a:t>Agents  (29%)</a:t>
            </a:r>
          </a:p>
        </p:txBody>
      </p:sp>
      <p:sp>
        <p:nvSpPr>
          <p:cNvPr id="50" name="TextBox 49"/>
          <p:cNvSpPr txBox="1"/>
          <p:nvPr/>
        </p:nvSpPr>
        <p:spPr>
          <a:xfrm>
            <a:off x="292608" y="4297680"/>
            <a:ext cx="3749039" cy="274320"/>
          </a:xfrm>
          <a:prstGeom prst="rect">
            <a:avLst/>
          </a:prstGeom>
          <a:noFill/>
        </p:spPr>
        <p:txBody>
          <a:bodyPr wrap="square">
            <a:spAutoFit/>
          </a:bodyPr>
          <a:lstStyle/>
          <a:p>
            <a:pPr algn="ctr"/>
            <a:r>
              <a:rPr sz="1000" b="1" i="0">
                <a:solidFill>
                  <a:srgbClr val="1E8B4C"/>
                </a:solidFill>
                <a:latin typeface="Calibri"/>
              </a:rPr>
              <a:t>LOW HITL</a:t>
            </a:r>
          </a:p>
        </p:txBody>
      </p:sp>
      <p:sp>
        <p:nvSpPr>
          <p:cNvPr id="51" name="Rectangle 50"/>
          <p:cNvSpPr/>
          <p:nvPr/>
        </p:nvSpPr>
        <p:spPr>
          <a:xfrm>
            <a:off x="338328" y="4663440"/>
            <a:ext cx="3657600" cy="128016"/>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338328" y="4663440"/>
            <a:ext cx="1066800" cy="128016"/>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92608" y="4864608"/>
            <a:ext cx="3749039" cy="411480"/>
          </a:xfrm>
          <a:prstGeom prst="rect">
            <a:avLst/>
          </a:prstGeom>
          <a:noFill/>
        </p:spPr>
        <p:txBody>
          <a:bodyPr wrap="square">
            <a:spAutoFit/>
          </a:bodyPr>
          <a:lstStyle/>
          <a:p>
            <a:pPr algn="ctr"/>
            <a:r>
              <a:rPr sz="700" b="0" i="0">
                <a:solidFill>
                  <a:srgbClr val="2C3E50"/>
                </a:solidFill>
                <a:latin typeface="Calibri"/>
              </a:rPr>
              <a:t>Fastest enterprise adoption
Fully autonomous execution</a:t>
            </a:r>
          </a:p>
        </p:txBody>
      </p:sp>
      <p:sp>
        <p:nvSpPr>
          <p:cNvPr id="54" name="Rounded Rectangle 53"/>
          <p:cNvSpPr/>
          <p:nvPr/>
        </p:nvSpPr>
        <p:spPr>
          <a:xfrm>
            <a:off x="4133087" y="3200400"/>
            <a:ext cx="3840480" cy="2331720"/>
          </a:xfrm>
          <a:prstGeom prst="roundRect">
            <a:avLst>
              <a:gd name="adj" fmla="val 6000"/>
            </a:avLst>
          </a:prstGeom>
          <a:solidFill>
            <a:srgbClr val="F4F6F9"/>
          </a:solidFill>
          <a:ln w="1905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4133087" y="3200400"/>
            <a:ext cx="3840480" cy="54864"/>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224527" y="3310128"/>
            <a:ext cx="3749039" cy="685800"/>
          </a:xfrm>
          <a:prstGeom prst="rect">
            <a:avLst/>
          </a:prstGeom>
          <a:noFill/>
        </p:spPr>
        <p:txBody>
          <a:bodyPr wrap="square">
            <a:spAutoFit/>
          </a:bodyPr>
          <a:lstStyle/>
          <a:p>
            <a:pPr algn="ctr"/>
            <a:r>
              <a:rPr sz="5200" b="1" i="0">
                <a:solidFill>
                  <a:srgbClr val="D47F00"/>
                </a:solidFill>
                <a:latin typeface="Cambria"/>
              </a:rPr>
              <a:t>10</a:t>
            </a:r>
          </a:p>
        </p:txBody>
      </p:sp>
      <p:sp>
        <p:nvSpPr>
          <p:cNvPr id="57" name="TextBox 56"/>
          <p:cNvSpPr txBox="1"/>
          <p:nvPr/>
        </p:nvSpPr>
        <p:spPr>
          <a:xfrm>
            <a:off x="4224527" y="4005072"/>
            <a:ext cx="3749039" cy="274320"/>
          </a:xfrm>
          <a:prstGeom prst="rect">
            <a:avLst/>
          </a:prstGeom>
          <a:noFill/>
        </p:spPr>
        <p:txBody>
          <a:bodyPr wrap="square">
            <a:spAutoFit/>
          </a:bodyPr>
          <a:lstStyle/>
          <a:p>
            <a:pPr algn="ctr"/>
            <a:r>
              <a:rPr sz="900" b="0" i="0">
                <a:solidFill>
                  <a:srgbClr val="0D1B3E"/>
                </a:solidFill>
                <a:latin typeface="Calibri"/>
              </a:rPr>
              <a:t>Agents  (41%)</a:t>
            </a:r>
          </a:p>
        </p:txBody>
      </p:sp>
      <p:sp>
        <p:nvSpPr>
          <p:cNvPr id="58" name="TextBox 57"/>
          <p:cNvSpPr txBox="1"/>
          <p:nvPr/>
        </p:nvSpPr>
        <p:spPr>
          <a:xfrm>
            <a:off x="4224527" y="4297680"/>
            <a:ext cx="3749039" cy="274320"/>
          </a:xfrm>
          <a:prstGeom prst="rect">
            <a:avLst/>
          </a:prstGeom>
          <a:noFill/>
        </p:spPr>
        <p:txBody>
          <a:bodyPr wrap="square">
            <a:spAutoFit/>
          </a:bodyPr>
          <a:lstStyle/>
          <a:p>
            <a:pPr algn="ctr"/>
            <a:r>
              <a:rPr sz="1000" b="1" i="0">
                <a:solidFill>
                  <a:srgbClr val="D47F00"/>
                </a:solidFill>
                <a:latin typeface="Calibri"/>
              </a:rPr>
              <a:t>MEDIUM HITL</a:t>
            </a:r>
          </a:p>
        </p:txBody>
      </p:sp>
      <p:sp>
        <p:nvSpPr>
          <p:cNvPr id="59" name="Rectangle 58"/>
          <p:cNvSpPr/>
          <p:nvPr/>
        </p:nvSpPr>
        <p:spPr>
          <a:xfrm>
            <a:off x="4270248" y="4663440"/>
            <a:ext cx="3657600" cy="128016"/>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4270248" y="4663440"/>
            <a:ext cx="1524000" cy="128016"/>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224527" y="4864608"/>
            <a:ext cx="3749039" cy="411480"/>
          </a:xfrm>
          <a:prstGeom prst="rect">
            <a:avLst/>
          </a:prstGeom>
          <a:noFill/>
        </p:spPr>
        <p:txBody>
          <a:bodyPr wrap="square">
            <a:spAutoFit/>
          </a:bodyPr>
          <a:lstStyle/>
          <a:p>
            <a:pPr algn="ctr"/>
            <a:r>
              <a:rPr sz="700" b="0" i="0">
                <a:solidFill>
                  <a:srgbClr val="2C3E50"/>
                </a:solidFill>
                <a:latin typeface="Calibri"/>
              </a:rPr>
              <a:t>Advisory &amp; review workflows
Human approval at key gates</a:t>
            </a:r>
          </a:p>
        </p:txBody>
      </p:sp>
      <p:sp>
        <p:nvSpPr>
          <p:cNvPr id="62" name="Rounded Rectangle 61"/>
          <p:cNvSpPr/>
          <p:nvPr/>
        </p:nvSpPr>
        <p:spPr>
          <a:xfrm>
            <a:off x="8065008" y="3200400"/>
            <a:ext cx="3840480" cy="2331720"/>
          </a:xfrm>
          <a:prstGeom prst="roundRect">
            <a:avLst>
              <a:gd name="adj" fmla="val 6000"/>
            </a:avLst>
          </a:prstGeom>
          <a:solidFill>
            <a:srgbClr val="F4F6F9"/>
          </a:solidFill>
          <a:ln w="19050">
            <a:solidFill>
              <a:srgbClr val="A92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8065008" y="3200400"/>
            <a:ext cx="3840480" cy="54864"/>
          </a:xfrm>
          <a:prstGeom prst="rect">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156448" y="3310128"/>
            <a:ext cx="3749039" cy="685800"/>
          </a:xfrm>
          <a:prstGeom prst="rect">
            <a:avLst/>
          </a:prstGeom>
          <a:noFill/>
        </p:spPr>
        <p:txBody>
          <a:bodyPr wrap="square">
            <a:spAutoFit/>
          </a:bodyPr>
          <a:lstStyle/>
          <a:p>
            <a:pPr algn="ctr"/>
            <a:r>
              <a:rPr sz="5200" b="1" i="0">
                <a:solidFill>
                  <a:srgbClr val="A92F22"/>
                </a:solidFill>
                <a:latin typeface="Cambria"/>
              </a:rPr>
              <a:t>7</a:t>
            </a:r>
          </a:p>
        </p:txBody>
      </p:sp>
      <p:sp>
        <p:nvSpPr>
          <p:cNvPr id="65" name="TextBox 64"/>
          <p:cNvSpPr txBox="1"/>
          <p:nvPr/>
        </p:nvSpPr>
        <p:spPr>
          <a:xfrm>
            <a:off x="8156448" y="4005072"/>
            <a:ext cx="3749039" cy="274320"/>
          </a:xfrm>
          <a:prstGeom prst="rect">
            <a:avLst/>
          </a:prstGeom>
          <a:noFill/>
        </p:spPr>
        <p:txBody>
          <a:bodyPr wrap="square">
            <a:spAutoFit/>
          </a:bodyPr>
          <a:lstStyle/>
          <a:p>
            <a:pPr algn="ctr"/>
            <a:r>
              <a:rPr sz="900" b="0" i="0">
                <a:solidFill>
                  <a:srgbClr val="0D1B3E"/>
                </a:solidFill>
                <a:latin typeface="Calibri"/>
              </a:rPr>
              <a:t>Agents  (29%)</a:t>
            </a:r>
          </a:p>
        </p:txBody>
      </p:sp>
      <p:sp>
        <p:nvSpPr>
          <p:cNvPr id="66" name="TextBox 65"/>
          <p:cNvSpPr txBox="1"/>
          <p:nvPr/>
        </p:nvSpPr>
        <p:spPr>
          <a:xfrm>
            <a:off x="8156448" y="4297680"/>
            <a:ext cx="3749039" cy="274320"/>
          </a:xfrm>
          <a:prstGeom prst="rect">
            <a:avLst/>
          </a:prstGeom>
          <a:noFill/>
        </p:spPr>
        <p:txBody>
          <a:bodyPr wrap="square">
            <a:spAutoFit/>
          </a:bodyPr>
          <a:lstStyle/>
          <a:p>
            <a:pPr algn="ctr"/>
            <a:r>
              <a:rPr sz="1000" b="1" i="0">
                <a:solidFill>
                  <a:srgbClr val="A92F22"/>
                </a:solidFill>
                <a:latin typeface="Calibri"/>
              </a:rPr>
              <a:t>HIGH HITL</a:t>
            </a:r>
          </a:p>
        </p:txBody>
      </p:sp>
      <p:sp>
        <p:nvSpPr>
          <p:cNvPr id="67" name="Rectangle 66"/>
          <p:cNvSpPr/>
          <p:nvPr/>
        </p:nvSpPr>
        <p:spPr>
          <a:xfrm>
            <a:off x="8202168" y="4663440"/>
            <a:ext cx="3657600" cy="128016"/>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8202168" y="4663440"/>
            <a:ext cx="1066800" cy="128016"/>
          </a:xfrm>
          <a:prstGeom prst="rect">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156448" y="4864608"/>
            <a:ext cx="3749039" cy="411480"/>
          </a:xfrm>
          <a:prstGeom prst="rect">
            <a:avLst/>
          </a:prstGeom>
          <a:noFill/>
        </p:spPr>
        <p:txBody>
          <a:bodyPr wrap="square">
            <a:spAutoFit/>
          </a:bodyPr>
          <a:lstStyle/>
          <a:p>
            <a:pPr algn="ctr"/>
            <a:r>
              <a:rPr sz="700" b="0" i="0">
                <a:solidFill>
                  <a:srgbClr val="2C3E50"/>
                </a:solidFill>
                <a:latin typeface="Calibri"/>
              </a:rPr>
              <a:t>Governed decision-making
Mandate human sign-off</a:t>
            </a:r>
          </a:p>
        </p:txBody>
      </p:sp>
      <p:sp>
        <p:nvSpPr>
          <p:cNvPr id="70" name="Rounded Rectangle 69"/>
          <p:cNvSpPr/>
          <p:nvPr/>
        </p:nvSpPr>
        <p:spPr>
          <a:xfrm>
            <a:off x="201168" y="5650992"/>
            <a:ext cx="3840480" cy="914400"/>
          </a:xfrm>
          <a:prstGeom prst="roundRect">
            <a:avLst>
              <a:gd name="adj" fmla="val 6000"/>
            </a:avLst>
          </a:prstGeom>
          <a:solidFill>
            <a:srgbClr val="F4F6F9"/>
          </a:solidFill>
          <a:ln w="1270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292608" y="5705855"/>
            <a:ext cx="1572768" cy="256032"/>
          </a:xfrm>
          <a:prstGeom prst="rect">
            <a:avLst/>
          </a:prstGeom>
          <a:noFill/>
        </p:spPr>
        <p:txBody>
          <a:bodyPr wrap="square">
            <a:spAutoFit/>
          </a:bodyPr>
          <a:lstStyle/>
          <a:p>
            <a:pPr algn="l"/>
            <a:r>
              <a:rPr sz="900" b="1" i="0">
                <a:solidFill>
                  <a:srgbClr val="1E8B4C"/>
                </a:solidFill>
                <a:latin typeface="Calibri"/>
              </a:rPr>
              <a:t>Phase 1</a:t>
            </a:r>
          </a:p>
        </p:txBody>
      </p:sp>
      <p:sp>
        <p:nvSpPr>
          <p:cNvPr id="72" name="TextBox 71"/>
          <p:cNvSpPr txBox="1"/>
          <p:nvPr/>
        </p:nvSpPr>
        <p:spPr>
          <a:xfrm>
            <a:off x="292608" y="5925312"/>
            <a:ext cx="1965960" cy="201168"/>
          </a:xfrm>
          <a:prstGeom prst="rect">
            <a:avLst/>
          </a:prstGeom>
          <a:noFill/>
        </p:spPr>
        <p:txBody>
          <a:bodyPr wrap="square">
            <a:spAutoFit/>
          </a:bodyPr>
          <a:lstStyle/>
          <a:p>
            <a:pPr algn="l"/>
            <a:r>
              <a:rPr sz="750" b="0" i="0">
                <a:solidFill>
                  <a:srgbClr val="5D6D7E"/>
                </a:solidFill>
                <a:latin typeface="Calibri"/>
              </a:rPr>
              <a:t>0–3 Months</a:t>
            </a:r>
          </a:p>
        </p:txBody>
      </p:sp>
      <p:sp>
        <p:nvSpPr>
          <p:cNvPr id="73" name="TextBox 72"/>
          <p:cNvSpPr txBox="1"/>
          <p:nvPr/>
        </p:nvSpPr>
        <p:spPr>
          <a:xfrm>
            <a:off x="3218687" y="5742431"/>
            <a:ext cx="822960" cy="347472"/>
          </a:xfrm>
          <a:prstGeom prst="rect">
            <a:avLst/>
          </a:prstGeom>
          <a:noFill/>
        </p:spPr>
        <p:txBody>
          <a:bodyPr wrap="square">
            <a:spAutoFit/>
          </a:bodyPr>
          <a:lstStyle/>
          <a:p>
            <a:pPr algn="r"/>
            <a:r>
              <a:rPr sz="2200" b="1" i="0">
                <a:solidFill>
                  <a:srgbClr val="1E8B4C"/>
                </a:solidFill>
                <a:latin typeface="Cambria"/>
              </a:rPr>
              <a:t>6 Agents</a:t>
            </a:r>
          </a:p>
        </p:txBody>
      </p:sp>
      <p:sp>
        <p:nvSpPr>
          <p:cNvPr id="74" name="TextBox 73"/>
          <p:cNvSpPr txBox="1"/>
          <p:nvPr/>
        </p:nvSpPr>
        <p:spPr>
          <a:xfrm>
            <a:off x="292608" y="6217920"/>
            <a:ext cx="3749039" cy="274320"/>
          </a:xfrm>
          <a:prstGeom prst="rect">
            <a:avLst/>
          </a:prstGeom>
          <a:noFill/>
        </p:spPr>
        <p:txBody>
          <a:bodyPr wrap="square">
            <a:spAutoFit/>
          </a:bodyPr>
          <a:lstStyle/>
          <a:p>
            <a:pPr algn="l"/>
            <a:r>
              <a:rPr sz="750" b="0" i="0">
                <a:solidFill>
                  <a:srgbClr val="2C3E50"/>
                </a:solidFill>
                <a:latin typeface="Calibri"/>
              </a:rPr>
              <a:t>Foundation &amp; Quick Wins</a:t>
            </a:r>
          </a:p>
        </p:txBody>
      </p:sp>
      <p:sp>
        <p:nvSpPr>
          <p:cNvPr id="75" name="Rounded Rectangle 74"/>
          <p:cNvSpPr/>
          <p:nvPr/>
        </p:nvSpPr>
        <p:spPr>
          <a:xfrm>
            <a:off x="4133087" y="5650992"/>
            <a:ext cx="3840480" cy="914400"/>
          </a:xfrm>
          <a:prstGeom prst="roundRect">
            <a:avLst>
              <a:gd name="adj" fmla="val 6000"/>
            </a:avLst>
          </a:prstGeom>
          <a:solidFill>
            <a:srgbClr val="F4F6F9"/>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224527" y="5705855"/>
            <a:ext cx="1572768" cy="256032"/>
          </a:xfrm>
          <a:prstGeom prst="rect">
            <a:avLst/>
          </a:prstGeom>
          <a:noFill/>
        </p:spPr>
        <p:txBody>
          <a:bodyPr wrap="square">
            <a:spAutoFit/>
          </a:bodyPr>
          <a:lstStyle/>
          <a:p>
            <a:pPr algn="l"/>
            <a:r>
              <a:rPr sz="900" b="1" i="0">
                <a:solidFill>
                  <a:srgbClr val="D47F00"/>
                </a:solidFill>
                <a:latin typeface="Calibri"/>
              </a:rPr>
              <a:t>Phase 2</a:t>
            </a:r>
          </a:p>
        </p:txBody>
      </p:sp>
      <p:sp>
        <p:nvSpPr>
          <p:cNvPr id="77" name="TextBox 76"/>
          <p:cNvSpPr txBox="1"/>
          <p:nvPr/>
        </p:nvSpPr>
        <p:spPr>
          <a:xfrm>
            <a:off x="4224527" y="5925312"/>
            <a:ext cx="1965960" cy="201168"/>
          </a:xfrm>
          <a:prstGeom prst="rect">
            <a:avLst/>
          </a:prstGeom>
          <a:noFill/>
        </p:spPr>
        <p:txBody>
          <a:bodyPr wrap="square">
            <a:spAutoFit/>
          </a:bodyPr>
          <a:lstStyle/>
          <a:p>
            <a:pPr algn="l"/>
            <a:r>
              <a:rPr sz="750" b="0" i="0">
                <a:solidFill>
                  <a:srgbClr val="5D6D7E"/>
                </a:solidFill>
                <a:latin typeface="Calibri"/>
              </a:rPr>
              <a:t>3–6 Months</a:t>
            </a:r>
          </a:p>
        </p:txBody>
      </p:sp>
      <p:sp>
        <p:nvSpPr>
          <p:cNvPr id="78" name="TextBox 77"/>
          <p:cNvSpPr txBox="1"/>
          <p:nvPr/>
        </p:nvSpPr>
        <p:spPr>
          <a:xfrm>
            <a:off x="7150608" y="5742431"/>
            <a:ext cx="822960" cy="347472"/>
          </a:xfrm>
          <a:prstGeom prst="rect">
            <a:avLst/>
          </a:prstGeom>
          <a:noFill/>
        </p:spPr>
        <p:txBody>
          <a:bodyPr wrap="square">
            <a:spAutoFit/>
          </a:bodyPr>
          <a:lstStyle/>
          <a:p>
            <a:pPr algn="r"/>
            <a:r>
              <a:rPr sz="2200" b="1" i="0">
                <a:solidFill>
                  <a:srgbClr val="D47F00"/>
                </a:solidFill>
                <a:latin typeface="Cambria"/>
              </a:rPr>
              <a:t>10 Agents</a:t>
            </a:r>
          </a:p>
        </p:txBody>
      </p:sp>
      <p:sp>
        <p:nvSpPr>
          <p:cNvPr id="79" name="TextBox 78"/>
          <p:cNvSpPr txBox="1"/>
          <p:nvPr/>
        </p:nvSpPr>
        <p:spPr>
          <a:xfrm>
            <a:off x="4224527" y="6217920"/>
            <a:ext cx="3749039" cy="274320"/>
          </a:xfrm>
          <a:prstGeom prst="rect">
            <a:avLst/>
          </a:prstGeom>
          <a:noFill/>
        </p:spPr>
        <p:txBody>
          <a:bodyPr wrap="square">
            <a:spAutoFit/>
          </a:bodyPr>
          <a:lstStyle/>
          <a:p>
            <a:pPr algn="l"/>
            <a:r>
              <a:rPr sz="750" b="0" i="0">
                <a:solidFill>
                  <a:srgbClr val="2C3E50"/>
                </a:solidFill>
                <a:latin typeface="Calibri"/>
              </a:rPr>
              <a:t>Developer &amp; Ops Agents</a:t>
            </a:r>
          </a:p>
        </p:txBody>
      </p:sp>
      <p:sp>
        <p:nvSpPr>
          <p:cNvPr id="80" name="Rounded Rectangle 79"/>
          <p:cNvSpPr/>
          <p:nvPr/>
        </p:nvSpPr>
        <p:spPr>
          <a:xfrm>
            <a:off x="8065008" y="5650992"/>
            <a:ext cx="3840480" cy="914400"/>
          </a:xfrm>
          <a:prstGeom prst="roundRect">
            <a:avLst>
              <a:gd name="adj" fmla="val 6000"/>
            </a:avLst>
          </a:prstGeom>
          <a:solidFill>
            <a:srgbClr val="F4F6F9"/>
          </a:solidFill>
          <a:ln w="12700">
            <a:solidFill>
              <a:srgbClr val="007A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156448" y="5705855"/>
            <a:ext cx="1572768" cy="256032"/>
          </a:xfrm>
          <a:prstGeom prst="rect">
            <a:avLst/>
          </a:prstGeom>
          <a:noFill/>
        </p:spPr>
        <p:txBody>
          <a:bodyPr wrap="square">
            <a:spAutoFit/>
          </a:bodyPr>
          <a:lstStyle/>
          <a:p>
            <a:pPr algn="l"/>
            <a:r>
              <a:rPr sz="900" b="1" i="0">
                <a:solidFill>
                  <a:srgbClr val="007ABF"/>
                </a:solidFill>
                <a:latin typeface="Calibri"/>
              </a:rPr>
              <a:t>Phase 3</a:t>
            </a:r>
          </a:p>
        </p:txBody>
      </p:sp>
      <p:sp>
        <p:nvSpPr>
          <p:cNvPr id="82" name="TextBox 81"/>
          <p:cNvSpPr txBox="1"/>
          <p:nvPr/>
        </p:nvSpPr>
        <p:spPr>
          <a:xfrm>
            <a:off x="8156448" y="5925312"/>
            <a:ext cx="1965960" cy="201168"/>
          </a:xfrm>
          <a:prstGeom prst="rect">
            <a:avLst/>
          </a:prstGeom>
          <a:noFill/>
        </p:spPr>
        <p:txBody>
          <a:bodyPr wrap="square">
            <a:spAutoFit/>
          </a:bodyPr>
          <a:lstStyle/>
          <a:p>
            <a:pPr algn="l"/>
            <a:r>
              <a:rPr sz="750" b="0" i="0">
                <a:solidFill>
                  <a:srgbClr val="5D6D7E"/>
                </a:solidFill>
                <a:latin typeface="Calibri"/>
              </a:rPr>
              <a:t>6–12 Months</a:t>
            </a:r>
          </a:p>
        </p:txBody>
      </p:sp>
      <p:sp>
        <p:nvSpPr>
          <p:cNvPr id="83" name="TextBox 82"/>
          <p:cNvSpPr txBox="1"/>
          <p:nvPr/>
        </p:nvSpPr>
        <p:spPr>
          <a:xfrm>
            <a:off x="11082528" y="5742431"/>
            <a:ext cx="822960" cy="347472"/>
          </a:xfrm>
          <a:prstGeom prst="rect">
            <a:avLst/>
          </a:prstGeom>
          <a:noFill/>
        </p:spPr>
        <p:txBody>
          <a:bodyPr wrap="square">
            <a:spAutoFit/>
          </a:bodyPr>
          <a:lstStyle/>
          <a:p>
            <a:pPr algn="r"/>
            <a:r>
              <a:rPr sz="2200" b="1" i="0">
                <a:solidFill>
                  <a:srgbClr val="007ABF"/>
                </a:solidFill>
                <a:latin typeface="Cambria"/>
              </a:rPr>
              <a:t>8 Agents</a:t>
            </a:r>
          </a:p>
        </p:txBody>
      </p:sp>
      <p:sp>
        <p:nvSpPr>
          <p:cNvPr id="84" name="TextBox 83"/>
          <p:cNvSpPr txBox="1"/>
          <p:nvPr/>
        </p:nvSpPr>
        <p:spPr>
          <a:xfrm>
            <a:off x="8156448" y="6217920"/>
            <a:ext cx="3749039" cy="274320"/>
          </a:xfrm>
          <a:prstGeom prst="rect">
            <a:avLst/>
          </a:prstGeom>
          <a:noFill/>
        </p:spPr>
        <p:txBody>
          <a:bodyPr wrap="square">
            <a:spAutoFit/>
          </a:bodyPr>
          <a:lstStyle/>
          <a:p>
            <a:pPr algn="l"/>
            <a:r>
              <a:rPr sz="750" b="0" i="0">
                <a:solidFill>
                  <a:srgbClr val="2C3E50"/>
                </a:solidFill>
                <a:latin typeface="Calibri"/>
              </a:rPr>
              <a:t>Enterprise Platform Scale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0"/>
            <a:ext cx="12191695" cy="36576"/>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73152"/>
            <a:ext cx="9144000" cy="502920"/>
          </a:xfrm>
          <a:prstGeom prst="rect">
            <a:avLst/>
          </a:prstGeom>
          <a:noFill/>
        </p:spPr>
        <p:txBody>
          <a:bodyPr wrap="square">
            <a:spAutoFit/>
          </a:bodyPr>
          <a:lstStyle/>
          <a:p>
            <a:pPr algn="l"/>
            <a:r>
              <a:rPr sz="2200" b="1" i="0">
                <a:solidFill>
                  <a:srgbClr val="FFFFFF"/>
                </a:solidFill>
                <a:latin typeface="Cambria"/>
              </a:rPr>
              <a:t>HUMAN-IN-THE-LOOP (HITL) ASSESSMENT</a:t>
            </a:r>
          </a:p>
        </p:txBody>
      </p:sp>
      <p:sp>
        <p:nvSpPr>
          <p:cNvPr id="5" name="TextBox 4"/>
          <p:cNvSpPr txBox="1"/>
          <p:nvPr/>
        </p:nvSpPr>
        <p:spPr>
          <a:xfrm>
            <a:off x="274320" y="548640"/>
            <a:ext cx="10972800" cy="320040"/>
          </a:xfrm>
          <a:prstGeom prst="rect">
            <a:avLst/>
          </a:prstGeom>
          <a:noFill/>
        </p:spPr>
        <p:txBody>
          <a:bodyPr wrap="square">
            <a:spAutoFit/>
          </a:bodyPr>
          <a:lstStyle/>
          <a:p>
            <a:pPr algn="l"/>
            <a:r>
              <a:rPr sz="1100" b="0" i="0">
                <a:solidFill>
                  <a:srgbClr val="A0C8FF"/>
                </a:solidFill>
                <a:latin typeface="Calibri"/>
              </a:rPr>
              <a:t>Agent Classification by Human Oversight Requirement — Executive Governance View</a:t>
            </a:r>
          </a:p>
        </p:txBody>
      </p:sp>
      <p:sp>
        <p:nvSpPr>
          <p:cNvPr id="6" name="Rectangle 5"/>
          <p:cNvSpPr/>
          <p:nvPr/>
        </p:nvSpPr>
        <p:spPr>
          <a:xfrm>
            <a:off x="0" y="6675120"/>
            <a:ext cx="12191695" cy="182880"/>
          </a:xfrm>
          <a:prstGeom prst="rect">
            <a:avLst/>
          </a:prstGeom>
          <a:solidFill>
            <a:srgbClr val="EC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84264"/>
            <a:ext cx="10972800" cy="164592"/>
          </a:xfrm>
          <a:prstGeom prst="rect">
            <a:avLst/>
          </a:prstGeom>
          <a:noFill/>
        </p:spPr>
        <p:txBody>
          <a:bodyPr wrap="square">
            <a:spAutoFit/>
          </a:bodyPr>
          <a:lstStyle/>
          <a:p>
            <a:pPr algn="l"/>
            <a:r>
              <a:rPr sz="700" b="0" i="0">
                <a:solidFill>
                  <a:srgbClr val="5D6D7E"/>
                </a:solidFill>
                <a:latin typeface="Calibri"/>
              </a:rPr>
              <a:t>CONFIDENTIAL  |  Technology Strategy Practice  |  Not for Distribution</a:t>
            </a:r>
          </a:p>
        </p:txBody>
      </p:sp>
      <p:sp>
        <p:nvSpPr>
          <p:cNvPr id="8" name="Rounded Rectangle 7"/>
          <p:cNvSpPr/>
          <p:nvPr/>
        </p:nvSpPr>
        <p:spPr>
          <a:xfrm>
            <a:off x="155448" y="914400"/>
            <a:ext cx="3852671" cy="640080"/>
          </a:xfrm>
          <a:prstGeom prst="roundRect">
            <a:avLst>
              <a:gd name="adj" fmla="val 6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969264"/>
            <a:ext cx="3715511" cy="329184"/>
          </a:xfrm>
          <a:prstGeom prst="rect">
            <a:avLst/>
          </a:prstGeom>
          <a:noFill/>
        </p:spPr>
        <p:txBody>
          <a:bodyPr wrap="square">
            <a:spAutoFit/>
          </a:bodyPr>
          <a:lstStyle/>
          <a:p>
            <a:pPr algn="ctr"/>
            <a:r>
              <a:rPr sz="1100" b="1" i="0">
                <a:solidFill>
                  <a:srgbClr val="FFFFFF"/>
                </a:solidFill>
                <a:latin typeface="Calibri"/>
              </a:rPr>
              <a:t>🟢 LOW HITL</a:t>
            </a:r>
          </a:p>
        </p:txBody>
      </p:sp>
      <p:sp>
        <p:nvSpPr>
          <p:cNvPr id="10" name="TextBox 9"/>
          <p:cNvSpPr txBox="1"/>
          <p:nvPr/>
        </p:nvSpPr>
        <p:spPr>
          <a:xfrm>
            <a:off x="228600" y="1298448"/>
            <a:ext cx="3715511" cy="219456"/>
          </a:xfrm>
          <a:prstGeom prst="rect">
            <a:avLst/>
          </a:prstGeom>
          <a:noFill/>
        </p:spPr>
        <p:txBody>
          <a:bodyPr wrap="square">
            <a:spAutoFit/>
          </a:bodyPr>
          <a:lstStyle/>
          <a:p>
            <a:pPr algn="ctr"/>
            <a:r>
              <a:rPr sz="900" b="0" i="0">
                <a:solidFill>
                  <a:srgbClr val="FFFFFF"/>
                </a:solidFill>
                <a:latin typeface="Calibri"/>
              </a:rPr>
              <a:t>7 Agents</a:t>
            </a:r>
          </a:p>
        </p:txBody>
      </p:sp>
      <p:sp>
        <p:nvSpPr>
          <p:cNvPr id="11" name="Rounded Rectangle 10"/>
          <p:cNvSpPr/>
          <p:nvPr/>
        </p:nvSpPr>
        <p:spPr>
          <a:xfrm>
            <a:off x="155448" y="1627632"/>
            <a:ext cx="3852671" cy="475488"/>
          </a:xfrm>
          <a:prstGeom prst="roundRect">
            <a:avLst>
              <a:gd name="adj" fmla="val 5000"/>
            </a:avLst>
          </a:prstGeom>
          <a:solidFill>
            <a:srgbClr val="F4F6F9"/>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55448" y="1627632"/>
            <a:ext cx="36576" cy="47548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6888" y="1682496"/>
            <a:ext cx="3651503" cy="219456"/>
          </a:xfrm>
          <a:prstGeom prst="rect">
            <a:avLst/>
          </a:prstGeom>
          <a:noFill/>
        </p:spPr>
        <p:txBody>
          <a:bodyPr wrap="square">
            <a:spAutoFit/>
          </a:bodyPr>
          <a:lstStyle/>
          <a:p>
            <a:pPr algn="l"/>
            <a:r>
              <a:rPr sz="800" b="1" i="0">
                <a:solidFill>
                  <a:srgbClr val="0D1B3E"/>
                </a:solidFill>
                <a:latin typeface="Calibri"/>
              </a:rPr>
              <a:t>Documentation</a:t>
            </a:r>
          </a:p>
        </p:txBody>
      </p:sp>
      <p:sp>
        <p:nvSpPr>
          <p:cNvPr id="14" name="TextBox 13"/>
          <p:cNvSpPr txBox="1"/>
          <p:nvPr/>
        </p:nvSpPr>
        <p:spPr>
          <a:xfrm>
            <a:off x="246888" y="1883664"/>
            <a:ext cx="3651503" cy="182880"/>
          </a:xfrm>
          <a:prstGeom prst="rect">
            <a:avLst/>
          </a:prstGeom>
          <a:noFill/>
        </p:spPr>
        <p:txBody>
          <a:bodyPr wrap="square">
            <a:spAutoFit/>
          </a:bodyPr>
          <a:lstStyle/>
          <a:p>
            <a:pPr algn="l"/>
            <a:r>
              <a:rPr sz="650" b="0" i="0">
                <a:solidFill>
                  <a:srgbClr val="5D6D7E"/>
                </a:solidFill>
                <a:latin typeface="Calibri"/>
              </a:rPr>
              <a:t>Impact: HIGH  ·  Effort: LOW  ·  Ph 1</a:t>
            </a:r>
          </a:p>
        </p:txBody>
      </p:sp>
      <p:sp>
        <p:nvSpPr>
          <p:cNvPr id="15" name="Rounded Rectangle 14"/>
          <p:cNvSpPr/>
          <p:nvPr/>
        </p:nvSpPr>
        <p:spPr>
          <a:xfrm>
            <a:off x="155448" y="2157984"/>
            <a:ext cx="3852671" cy="475488"/>
          </a:xfrm>
          <a:prstGeom prst="roundRect">
            <a:avLst>
              <a:gd name="adj" fmla="val 5000"/>
            </a:avLst>
          </a:prstGeom>
          <a:solidFill>
            <a:srgbClr val="F4F6F9"/>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55448" y="2157984"/>
            <a:ext cx="36576" cy="47548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6888" y="2212848"/>
            <a:ext cx="3651503" cy="219456"/>
          </a:xfrm>
          <a:prstGeom prst="rect">
            <a:avLst/>
          </a:prstGeom>
          <a:noFill/>
        </p:spPr>
        <p:txBody>
          <a:bodyPr wrap="square">
            <a:spAutoFit/>
          </a:bodyPr>
          <a:lstStyle/>
          <a:p>
            <a:pPr algn="l"/>
            <a:r>
              <a:rPr sz="800" b="1" i="0">
                <a:solidFill>
                  <a:srgbClr val="0D1B3E"/>
                </a:solidFill>
                <a:latin typeface="Calibri"/>
              </a:rPr>
              <a:t>Codebase Navigator</a:t>
            </a:r>
          </a:p>
        </p:txBody>
      </p:sp>
      <p:sp>
        <p:nvSpPr>
          <p:cNvPr id="18" name="TextBox 17"/>
          <p:cNvSpPr txBox="1"/>
          <p:nvPr/>
        </p:nvSpPr>
        <p:spPr>
          <a:xfrm>
            <a:off x="246888" y="2414016"/>
            <a:ext cx="3651503" cy="182880"/>
          </a:xfrm>
          <a:prstGeom prst="rect">
            <a:avLst/>
          </a:prstGeom>
          <a:noFill/>
        </p:spPr>
        <p:txBody>
          <a:bodyPr wrap="square">
            <a:spAutoFit/>
          </a:bodyPr>
          <a:lstStyle/>
          <a:p>
            <a:pPr algn="l"/>
            <a:r>
              <a:rPr sz="650" b="0" i="0">
                <a:solidFill>
                  <a:srgbClr val="5D6D7E"/>
                </a:solidFill>
                <a:latin typeface="Calibri"/>
              </a:rPr>
              <a:t>Impact: HIGH  ·  Effort: HIGH  ·  Ph 3</a:t>
            </a:r>
          </a:p>
        </p:txBody>
      </p:sp>
      <p:sp>
        <p:nvSpPr>
          <p:cNvPr id="19" name="Rounded Rectangle 18"/>
          <p:cNvSpPr/>
          <p:nvPr/>
        </p:nvSpPr>
        <p:spPr>
          <a:xfrm>
            <a:off x="155448" y="2688336"/>
            <a:ext cx="3852671" cy="475488"/>
          </a:xfrm>
          <a:prstGeom prst="roundRect">
            <a:avLst>
              <a:gd name="adj" fmla="val 5000"/>
            </a:avLst>
          </a:prstGeom>
          <a:solidFill>
            <a:srgbClr val="F4F6F9"/>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55448" y="2688336"/>
            <a:ext cx="36576" cy="475488"/>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46888" y="2743200"/>
            <a:ext cx="3651503" cy="219456"/>
          </a:xfrm>
          <a:prstGeom prst="rect">
            <a:avLst/>
          </a:prstGeom>
          <a:noFill/>
        </p:spPr>
        <p:txBody>
          <a:bodyPr wrap="square">
            <a:spAutoFit/>
          </a:bodyPr>
          <a:lstStyle/>
          <a:p>
            <a:pPr algn="l"/>
            <a:r>
              <a:rPr sz="800" b="1" i="0">
                <a:solidFill>
                  <a:srgbClr val="0D1B3E"/>
                </a:solidFill>
                <a:latin typeface="Calibri"/>
              </a:rPr>
              <a:t>Runbook Tutor</a:t>
            </a:r>
          </a:p>
        </p:txBody>
      </p:sp>
      <p:sp>
        <p:nvSpPr>
          <p:cNvPr id="22" name="TextBox 21"/>
          <p:cNvSpPr txBox="1"/>
          <p:nvPr/>
        </p:nvSpPr>
        <p:spPr>
          <a:xfrm>
            <a:off x="246888" y="2944368"/>
            <a:ext cx="3651503" cy="182880"/>
          </a:xfrm>
          <a:prstGeom prst="rect">
            <a:avLst/>
          </a:prstGeom>
          <a:noFill/>
        </p:spPr>
        <p:txBody>
          <a:bodyPr wrap="square">
            <a:spAutoFit/>
          </a:bodyPr>
          <a:lstStyle/>
          <a:p>
            <a:pPr algn="l"/>
            <a:r>
              <a:rPr sz="650" b="0" i="0">
                <a:solidFill>
                  <a:srgbClr val="5D6D7E"/>
                </a:solidFill>
                <a:latin typeface="Calibri"/>
              </a:rPr>
              <a:t>Impact: MEDIUM  ·  Effort: LOW  ·  Ph 2</a:t>
            </a:r>
          </a:p>
        </p:txBody>
      </p:sp>
      <p:sp>
        <p:nvSpPr>
          <p:cNvPr id="23" name="Rounded Rectangle 22"/>
          <p:cNvSpPr/>
          <p:nvPr/>
        </p:nvSpPr>
        <p:spPr>
          <a:xfrm>
            <a:off x="155448" y="3218688"/>
            <a:ext cx="3852671" cy="475488"/>
          </a:xfrm>
          <a:prstGeom prst="roundRect">
            <a:avLst>
              <a:gd name="adj" fmla="val 5000"/>
            </a:avLst>
          </a:prstGeom>
          <a:solidFill>
            <a:srgbClr val="F4F6F9"/>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55448" y="3218688"/>
            <a:ext cx="36576" cy="47548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6888" y="3273552"/>
            <a:ext cx="3651503" cy="219456"/>
          </a:xfrm>
          <a:prstGeom prst="rect">
            <a:avLst/>
          </a:prstGeom>
          <a:noFill/>
        </p:spPr>
        <p:txBody>
          <a:bodyPr wrap="square">
            <a:spAutoFit/>
          </a:bodyPr>
          <a:lstStyle/>
          <a:p>
            <a:pPr algn="l"/>
            <a:r>
              <a:rPr sz="800" b="1" i="0">
                <a:solidFill>
                  <a:srgbClr val="0D1B3E"/>
                </a:solidFill>
                <a:latin typeface="Calibri"/>
              </a:rPr>
              <a:t>PII Leak Detection</a:t>
            </a:r>
          </a:p>
        </p:txBody>
      </p:sp>
      <p:sp>
        <p:nvSpPr>
          <p:cNvPr id="26" name="TextBox 25"/>
          <p:cNvSpPr txBox="1"/>
          <p:nvPr/>
        </p:nvSpPr>
        <p:spPr>
          <a:xfrm>
            <a:off x="246888" y="3474720"/>
            <a:ext cx="3651503" cy="182880"/>
          </a:xfrm>
          <a:prstGeom prst="rect">
            <a:avLst/>
          </a:prstGeom>
          <a:noFill/>
        </p:spPr>
        <p:txBody>
          <a:bodyPr wrap="square">
            <a:spAutoFit/>
          </a:bodyPr>
          <a:lstStyle/>
          <a:p>
            <a:pPr algn="l"/>
            <a:r>
              <a:rPr sz="650" b="0" i="0">
                <a:solidFill>
                  <a:srgbClr val="5D6D7E"/>
                </a:solidFill>
                <a:latin typeface="Calibri"/>
              </a:rPr>
              <a:t>Impact: HIGH  ·  Effort: LOW  ·  Ph 2</a:t>
            </a:r>
          </a:p>
        </p:txBody>
      </p:sp>
      <p:sp>
        <p:nvSpPr>
          <p:cNvPr id="27" name="Rounded Rectangle 26"/>
          <p:cNvSpPr/>
          <p:nvPr/>
        </p:nvSpPr>
        <p:spPr>
          <a:xfrm>
            <a:off x="155448" y="3749040"/>
            <a:ext cx="3852671" cy="475488"/>
          </a:xfrm>
          <a:prstGeom prst="roundRect">
            <a:avLst>
              <a:gd name="adj" fmla="val 5000"/>
            </a:avLst>
          </a:prstGeom>
          <a:solidFill>
            <a:srgbClr val="F4F6F9"/>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55448" y="3749040"/>
            <a:ext cx="36576" cy="47548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46888" y="3803904"/>
            <a:ext cx="3651503" cy="219456"/>
          </a:xfrm>
          <a:prstGeom prst="rect">
            <a:avLst/>
          </a:prstGeom>
          <a:noFill/>
        </p:spPr>
        <p:txBody>
          <a:bodyPr wrap="square">
            <a:spAutoFit/>
          </a:bodyPr>
          <a:lstStyle/>
          <a:p>
            <a:pPr algn="l"/>
            <a:r>
              <a:rPr sz="800" b="1" i="0">
                <a:solidFill>
                  <a:srgbClr val="0D1B3E"/>
                </a:solidFill>
                <a:latin typeface="Calibri"/>
              </a:rPr>
              <a:t>Meeting Intelligence</a:t>
            </a:r>
          </a:p>
        </p:txBody>
      </p:sp>
      <p:sp>
        <p:nvSpPr>
          <p:cNvPr id="30" name="TextBox 29"/>
          <p:cNvSpPr txBox="1"/>
          <p:nvPr/>
        </p:nvSpPr>
        <p:spPr>
          <a:xfrm>
            <a:off x="246888" y="4005072"/>
            <a:ext cx="3651503" cy="182880"/>
          </a:xfrm>
          <a:prstGeom prst="rect">
            <a:avLst/>
          </a:prstGeom>
          <a:noFill/>
        </p:spPr>
        <p:txBody>
          <a:bodyPr wrap="square">
            <a:spAutoFit/>
          </a:bodyPr>
          <a:lstStyle/>
          <a:p>
            <a:pPr algn="l"/>
            <a:r>
              <a:rPr sz="650" b="0" i="0">
                <a:solidFill>
                  <a:srgbClr val="5D6D7E"/>
                </a:solidFill>
                <a:latin typeface="Calibri"/>
              </a:rPr>
              <a:t>Impact: HIGH  ·  Effort: LOW  ·  Ph 1</a:t>
            </a:r>
          </a:p>
        </p:txBody>
      </p:sp>
      <p:sp>
        <p:nvSpPr>
          <p:cNvPr id="31" name="Rounded Rectangle 30"/>
          <p:cNvSpPr/>
          <p:nvPr/>
        </p:nvSpPr>
        <p:spPr>
          <a:xfrm>
            <a:off x="155448" y="4279392"/>
            <a:ext cx="3852671" cy="475488"/>
          </a:xfrm>
          <a:prstGeom prst="roundRect">
            <a:avLst>
              <a:gd name="adj" fmla="val 5000"/>
            </a:avLst>
          </a:prstGeom>
          <a:solidFill>
            <a:srgbClr val="F4F6F9"/>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55448" y="4279392"/>
            <a:ext cx="36576" cy="475488"/>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46888" y="4334256"/>
            <a:ext cx="3651503" cy="219456"/>
          </a:xfrm>
          <a:prstGeom prst="rect">
            <a:avLst/>
          </a:prstGeom>
          <a:noFill/>
        </p:spPr>
        <p:txBody>
          <a:bodyPr wrap="square">
            <a:spAutoFit/>
          </a:bodyPr>
          <a:lstStyle/>
          <a:p>
            <a:pPr algn="l"/>
            <a:r>
              <a:rPr sz="800" b="1" i="0">
                <a:solidFill>
                  <a:srgbClr val="0D1B3E"/>
                </a:solidFill>
                <a:latin typeface="Calibri"/>
              </a:rPr>
              <a:t>Learning Path</a:t>
            </a:r>
          </a:p>
        </p:txBody>
      </p:sp>
      <p:sp>
        <p:nvSpPr>
          <p:cNvPr id="34" name="TextBox 33"/>
          <p:cNvSpPr txBox="1"/>
          <p:nvPr/>
        </p:nvSpPr>
        <p:spPr>
          <a:xfrm>
            <a:off x="246888" y="4535424"/>
            <a:ext cx="3651503" cy="182880"/>
          </a:xfrm>
          <a:prstGeom prst="rect">
            <a:avLst/>
          </a:prstGeom>
          <a:noFill/>
        </p:spPr>
        <p:txBody>
          <a:bodyPr wrap="square">
            <a:spAutoFit/>
          </a:bodyPr>
          <a:lstStyle/>
          <a:p>
            <a:pPr algn="l"/>
            <a:r>
              <a:rPr sz="650" b="0" i="0">
                <a:solidFill>
                  <a:srgbClr val="5D6D7E"/>
                </a:solidFill>
                <a:latin typeface="Calibri"/>
              </a:rPr>
              <a:t>Impact: MEDIUM  ·  Effort: LOW  ·  Ph 2</a:t>
            </a:r>
          </a:p>
        </p:txBody>
      </p:sp>
      <p:sp>
        <p:nvSpPr>
          <p:cNvPr id="35" name="Rounded Rectangle 34"/>
          <p:cNvSpPr/>
          <p:nvPr/>
        </p:nvSpPr>
        <p:spPr>
          <a:xfrm>
            <a:off x="155448" y="4809744"/>
            <a:ext cx="3852671" cy="475488"/>
          </a:xfrm>
          <a:prstGeom prst="roundRect">
            <a:avLst>
              <a:gd name="adj" fmla="val 5000"/>
            </a:avLst>
          </a:prstGeom>
          <a:solidFill>
            <a:srgbClr val="F4F6F9"/>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55448" y="4809744"/>
            <a:ext cx="36576" cy="475488"/>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46888" y="4864608"/>
            <a:ext cx="3651503" cy="219456"/>
          </a:xfrm>
          <a:prstGeom prst="rect">
            <a:avLst/>
          </a:prstGeom>
          <a:noFill/>
        </p:spPr>
        <p:txBody>
          <a:bodyPr wrap="square">
            <a:spAutoFit/>
          </a:bodyPr>
          <a:lstStyle/>
          <a:p>
            <a:pPr algn="l"/>
            <a:r>
              <a:rPr sz="800" b="1" i="0">
                <a:solidFill>
                  <a:srgbClr val="0D1B3E"/>
                </a:solidFill>
                <a:latin typeface="Calibri"/>
              </a:rPr>
              <a:t>Dependency Mapper</a:t>
            </a:r>
          </a:p>
        </p:txBody>
      </p:sp>
      <p:sp>
        <p:nvSpPr>
          <p:cNvPr id="38" name="TextBox 37"/>
          <p:cNvSpPr txBox="1"/>
          <p:nvPr/>
        </p:nvSpPr>
        <p:spPr>
          <a:xfrm>
            <a:off x="246888" y="5065776"/>
            <a:ext cx="3651503" cy="182880"/>
          </a:xfrm>
          <a:prstGeom prst="rect">
            <a:avLst/>
          </a:prstGeom>
          <a:noFill/>
        </p:spPr>
        <p:txBody>
          <a:bodyPr wrap="square">
            <a:spAutoFit/>
          </a:bodyPr>
          <a:lstStyle/>
          <a:p>
            <a:pPr algn="l"/>
            <a:r>
              <a:rPr sz="650" b="0" i="0">
                <a:solidFill>
                  <a:srgbClr val="5D6D7E"/>
                </a:solidFill>
                <a:latin typeface="Calibri"/>
              </a:rPr>
              <a:t>Impact: MEDIUM  ·  Effort: MEDIUM  ·  Ph 2</a:t>
            </a:r>
          </a:p>
        </p:txBody>
      </p:sp>
      <p:sp>
        <p:nvSpPr>
          <p:cNvPr id="39" name="Rounded Rectangle 38"/>
          <p:cNvSpPr/>
          <p:nvPr/>
        </p:nvSpPr>
        <p:spPr>
          <a:xfrm>
            <a:off x="155448" y="5120640"/>
            <a:ext cx="3852671" cy="1417320"/>
          </a:xfrm>
          <a:prstGeom prst="roundRect">
            <a:avLst>
              <a:gd name="adj" fmla="val 6000"/>
            </a:avLst>
          </a:prstGeom>
          <a:solidFill>
            <a:srgbClr val="F4F6F9"/>
          </a:solidFill>
          <a:ln w="1270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55448" y="5120640"/>
            <a:ext cx="3852671" cy="54864"/>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28600" y="5212079"/>
            <a:ext cx="3715511" cy="201168"/>
          </a:xfrm>
          <a:prstGeom prst="rect">
            <a:avLst/>
          </a:prstGeom>
          <a:noFill/>
        </p:spPr>
        <p:txBody>
          <a:bodyPr wrap="square">
            <a:spAutoFit/>
          </a:bodyPr>
          <a:lstStyle/>
          <a:p>
            <a:pPr algn="ctr"/>
            <a:r>
              <a:rPr sz="700" b="1" i="0">
                <a:solidFill>
                  <a:srgbClr val="1E8B4C"/>
                </a:solidFill>
                <a:latin typeface="Calibri"/>
              </a:rPr>
              <a:t>EXECUTIVE INSIGHT</a:t>
            </a:r>
          </a:p>
        </p:txBody>
      </p:sp>
      <p:sp>
        <p:nvSpPr>
          <p:cNvPr id="42" name="TextBox 41"/>
          <p:cNvSpPr txBox="1"/>
          <p:nvPr/>
        </p:nvSpPr>
        <p:spPr>
          <a:xfrm>
            <a:off x="228600" y="5413248"/>
            <a:ext cx="3715511" cy="256032"/>
          </a:xfrm>
          <a:prstGeom prst="rect">
            <a:avLst/>
          </a:prstGeom>
          <a:noFill/>
        </p:spPr>
        <p:txBody>
          <a:bodyPr wrap="square">
            <a:spAutoFit/>
          </a:bodyPr>
          <a:lstStyle/>
          <a:p>
            <a:pPr algn="ctr"/>
            <a:r>
              <a:rPr sz="900" b="1" i="0">
                <a:solidFill>
                  <a:srgbClr val="0D1B3E"/>
                </a:solidFill>
                <a:latin typeface="Calibri"/>
              </a:rPr>
              <a:t>Fastest Enterprise Adoption</a:t>
            </a:r>
          </a:p>
        </p:txBody>
      </p:sp>
      <p:sp>
        <p:nvSpPr>
          <p:cNvPr id="43" name="TextBox 42"/>
          <p:cNvSpPr txBox="1"/>
          <p:nvPr/>
        </p:nvSpPr>
        <p:spPr>
          <a:xfrm>
            <a:off x="228600" y="5687568"/>
            <a:ext cx="3715511" cy="777240"/>
          </a:xfrm>
          <a:prstGeom prst="rect">
            <a:avLst/>
          </a:prstGeom>
          <a:noFill/>
        </p:spPr>
        <p:txBody>
          <a:bodyPr wrap="square">
            <a:spAutoFit/>
          </a:bodyPr>
          <a:lstStyle/>
          <a:p>
            <a:pPr algn="ctr"/>
            <a:r>
              <a:rPr sz="700" b="0" i="0">
                <a:solidFill>
                  <a:srgbClr val="2C3E50"/>
                </a:solidFill>
                <a:latin typeface="Calibri"/>
              </a:rPr>
              <a:t>Agents operate autonomously within guardrails. Minimal human review required. Ideal for immediate deployment across all engineering teams.</a:t>
            </a:r>
          </a:p>
        </p:txBody>
      </p:sp>
      <p:sp>
        <p:nvSpPr>
          <p:cNvPr id="44" name="Rounded Rectangle 43"/>
          <p:cNvSpPr/>
          <p:nvPr/>
        </p:nvSpPr>
        <p:spPr>
          <a:xfrm>
            <a:off x="4117847" y="914400"/>
            <a:ext cx="3852671" cy="640080"/>
          </a:xfrm>
          <a:prstGeom prst="roundRect">
            <a:avLst>
              <a:gd name="adj" fmla="val 6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90999" y="969264"/>
            <a:ext cx="3715511" cy="329184"/>
          </a:xfrm>
          <a:prstGeom prst="rect">
            <a:avLst/>
          </a:prstGeom>
          <a:noFill/>
        </p:spPr>
        <p:txBody>
          <a:bodyPr wrap="square">
            <a:spAutoFit/>
          </a:bodyPr>
          <a:lstStyle/>
          <a:p>
            <a:pPr algn="ctr"/>
            <a:r>
              <a:rPr sz="1100" b="1" i="0">
                <a:solidFill>
                  <a:srgbClr val="FFFFFF"/>
                </a:solidFill>
                <a:latin typeface="Calibri"/>
              </a:rPr>
              <a:t>🟡 MEDIUM HITL</a:t>
            </a:r>
          </a:p>
        </p:txBody>
      </p:sp>
      <p:sp>
        <p:nvSpPr>
          <p:cNvPr id="46" name="TextBox 45"/>
          <p:cNvSpPr txBox="1"/>
          <p:nvPr/>
        </p:nvSpPr>
        <p:spPr>
          <a:xfrm>
            <a:off x="4190999" y="1298448"/>
            <a:ext cx="3715511" cy="219456"/>
          </a:xfrm>
          <a:prstGeom prst="rect">
            <a:avLst/>
          </a:prstGeom>
          <a:noFill/>
        </p:spPr>
        <p:txBody>
          <a:bodyPr wrap="square">
            <a:spAutoFit/>
          </a:bodyPr>
          <a:lstStyle/>
          <a:p>
            <a:pPr algn="ctr"/>
            <a:r>
              <a:rPr sz="900" b="0" i="0">
                <a:solidFill>
                  <a:srgbClr val="FFFFFF"/>
                </a:solidFill>
                <a:latin typeface="Calibri"/>
              </a:rPr>
              <a:t>10 Agents</a:t>
            </a:r>
          </a:p>
        </p:txBody>
      </p:sp>
      <p:sp>
        <p:nvSpPr>
          <p:cNvPr id="47" name="Rounded Rectangle 46"/>
          <p:cNvSpPr/>
          <p:nvPr/>
        </p:nvSpPr>
        <p:spPr>
          <a:xfrm>
            <a:off x="4117847" y="1627632"/>
            <a:ext cx="3852671" cy="475488"/>
          </a:xfrm>
          <a:prstGeom prst="roundRect">
            <a:avLst>
              <a:gd name="adj" fmla="val 5000"/>
            </a:avLst>
          </a:prstGeom>
          <a:solidFill>
            <a:srgbClr val="F4F6F9"/>
          </a:solidFill>
          <a:ln w="1016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117847" y="1627632"/>
            <a:ext cx="36576" cy="47548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209287" y="1682496"/>
            <a:ext cx="3651503" cy="219456"/>
          </a:xfrm>
          <a:prstGeom prst="rect">
            <a:avLst/>
          </a:prstGeom>
          <a:noFill/>
        </p:spPr>
        <p:txBody>
          <a:bodyPr wrap="square">
            <a:spAutoFit/>
          </a:bodyPr>
          <a:lstStyle/>
          <a:p>
            <a:pPr algn="l"/>
            <a:r>
              <a:rPr sz="800" b="1" i="0">
                <a:solidFill>
                  <a:srgbClr val="0D1B3E"/>
                </a:solidFill>
                <a:latin typeface="Calibri"/>
              </a:rPr>
              <a:t>User Story Generator</a:t>
            </a:r>
          </a:p>
        </p:txBody>
      </p:sp>
      <p:sp>
        <p:nvSpPr>
          <p:cNvPr id="50" name="TextBox 49"/>
          <p:cNvSpPr txBox="1"/>
          <p:nvPr/>
        </p:nvSpPr>
        <p:spPr>
          <a:xfrm>
            <a:off x="4209287" y="1883664"/>
            <a:ext cx="3651503" cy="182880"/>
          </a:xfrm>
          <a:prstGeom prst="rect">
            <a:avLst/>
          </a:prstGeom>
          <a:noFill/>
        </p:spPr>
        <p:txBody>
          <a:bodyPr wrap="square">
            <a:spAutoFit/>
          </a:bodyPr>
          <a:lstStyle/>
          <a:p>
            <a:pPr algn="l"/>
            <a:r>
              <a:rPr sz="650" b="0" i="0">
                <a:solidFill>
                  <a:srgbClr val="5D6D7E"/>
                </a:solidFill>
                <a:latin typeface="Calibri"/>
              </a:rPr>
              <a:t>Impact: HIGH  ·  Effort: MEDIUM  ·  Ph 1</a:t>
            </a:r>
          </a:p>
        </p:txBody>
      </p:sp>
      <p:sp>
        <p:nvSpPr>
          <p:cNvPr id="51" name="Rounded Rectangle 50"/>
          <p:cNvSpPr/>
          <p:nvPr/>
        </p:nvSpPr>
        <p:spPr>
          <a:xfrm>
            <a:off x="4117847" y="2157984"/>
            <a:ext cx="3852671" cy="475488"/>
          </a:xfrm>
          <a:prstGeom prst="roundRect">
            <a:avLst>
              <a:gd name="adj" fmla="val 5000"/>
            </a:avLst>
          </a:prstGeom>
          <a:solidFill>
            <a:srgbClr val="F4F6F9"/>
          </a:solidFill>
          <a:ln w="1016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4117847" y="2157984"/>
            <a:ext cx="36576" cy="47548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209287" y="2212848"/>
            <a:ext cx="3651503" cy="219456"/>
          </a:xfrm>
          <a:prstGeom prst="rect">
            <a:avLst/>
          </a:prstGeom>
          <a:noFill/>
        </p:spPr>
        <p:txBody>
          <a:bodyPr wrap="square">
            <a:spAutoFit/>
          </a:bodyPr>
          <a:lstStyle/>
          <a:p>
            <a:pPr algn="l"/>
            <a:r>
              <a:rPr sz="800" b="1" i="0">
                <a:solidFill>
                  <a:srgbClr val="0D1B3E"/>
                </a:solidFill>
                <a:latin typeface="Calibri"/>
              </a:rPr>
              <a:t>API Design</a:t>
            </a:r>
          </a:p>
        </p:txBody>
      </p:sp>
      <p:sp>
        <p:nvSpPr>
          <p:cNvPr id="54" name="TextBox 53"/>
          <p:cNvSpPr txBox="1"/>
          <p:nvPr/>
        </p:nvSpPr>
        <p:spPr>
          <a:xfrm>
            <a:off x="4209287" y="2414016"/>
            <a:ext cx="3651503" cy="182880"/>
          </a:xfrm>
          <a:prstGeom prst="rect">
            <a:avLst/>
          </a:prstGeom>
          <a:noFill/>
        </p:spPr>
        <p:txBody>
          <a:bodyPr wrap="square">
            <a:spAutoFit/>
          </a:bodyPr>
          <a:lstStyle/>
          <a:p>
            <a:pPr algn="l"/>
            <a:r>
              <a:rPr sz="650" b="0" i="0">
                <a:solidFill>
                  <a:srgbClr val="5D6D7E"/>
                </a:solidFill>
                <a:latin typeface="Calibri"/>
              </a:rPr>
              <a:t>Impact: HIGH  ·  Effort: MEDIUM  ·  Ph 2</a:t>
            </a:r>
          </a:p>
        </p:txBody>
      </p:sp>
      <p:sp>
        <p:nvSpPr>
          <p:cNvPr id="55" name="Rounded Rectangle 54"/>
          <p:cNvSpPr/>
          <p:nvPr/>
        </p:nvSpPr>
        <p:spPr>
          <a:xfrm>
            <a:off x="4117847" y="2688336"/>
            <a:ext cx="3852671" cy="475488"/>
          </a:xfrm>
          <a:prstGeom prst="roundRect">
            <a:avLst>
              <a:gd name="adj" fmla="val 5000"/>
            </a:avLst>
          </a:prstGeom>
          <a:solidFill>
            <a:srgbClr val="F4F6F9"/>
          </a:solidFill>
          <a:ln w="1016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117847" y="2688336"/>
            <a:ext cx="36576" cy="47548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209287" y="2743200"/>
            <a:ext cx="3651503" cy="219456"/>
          </a:xfrm>
          <a:prstGeom prst="rect">
            <a:avLst/>
          </a:prstGeom>
          <a:noFill/>
        </p:spPr>
        <p:txBody>
          <a:bodyPr wrap="square">
            <a:spAutoFit/>
          </a:bodyPr>
          <a:lstStyle/>
          <a:p>
            <a:pPr algn="l"/>
            <a:r>
              <a:rPr sz="800" b="1" i="0">
                <a:solidFill>
                  <a:srgbClr val="0D1B3E"/>
                </a:solidFill>
                <a:latin typeface="Calibri"/>
              </a:rPr>
              <a:t>Data Modelling</a:t>
            </a:r>
          </a:p>
        </p:txBody>
      </p:sp>
      <p:sp>
        <p:nvSpPr>
          <p:cNvPr id="58" name="TextBox 57"/>
          <p:cNvSpPr txBox="1"/>
          <p:nvPr/>
        </p:nvSpPr>
        <p:spPr>
          <a:xfrm>
            <a:off x="4209287" y="2944368"/>
            <a:ext cx="3651503" cy="182880"/>
          </a:xfrm>
          <a:prstGeom prst="rect">
            <a:avLst/>
          </a:prstGeom>
          <a:noFill/>
        </p:spPr>
        <p:txBody>
          <a:bodyPr wrap="square">
            <a:spAutoFit/>
          </a:bodyPr>
          <a:lstStyle/>
          <a:p>
            <a:pPr algn="l"/>
            <a:r>
              <a:rPr sz="650" b="0" i="0">
                <a:solidFill>
                  <a:srgbClr val="5D6D7E"/>
                </a:solidFill>
                <a:latin typeface="Calibri"/>
              </a:rPr>
              <a:t>Impact: HIGH  ·  Effort: MEDIUM  ·  Ph 2</a:t>
            </a:r>
          </a:p>
        </p:txBody>
      </p:sp>
      <p:sp>
        <p:nvSpPr>
          <p:cNvPr id="59" name="Rounded Rectangle 58"/>
          <p:cNvSpPr/>
          <p:nvPr/>
        </p:nvSpPr>
        <p:spPr>
          <a:xfrm>
            <a:off x="4117847" y="3218688"/>
            <a:ext cx="3852671" cy="475488"/>
          </a:xfrm>
          <a:prstGeom prst="roundRect">
            <a:avLst>
              <a:gd name="adj" fmla="val 5000"/>
            </a:avLst>
          </a:prstGeom>
          <a:solidFill>
            <a:srgbClr val="F4F6F9"/>
          </a:solidFill>
          <a:ln w="1016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4117847" y="3218688"/>
            <a:ext cx="36576" cy="475488"/>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209287" y="3273552"/>
            <a:ext cx="3651503" cy="219456"/>
          </a:xfrm>
          <a:prstGeom prst="rect">
            <a:avLst/>
          </a:prstGeom>
          <a:noFill/>
        </p:spPr>
        <p:txBody>
          <a:bodyPr wrap="square">
            <a:spAutoFit/>
          </a:bodyPr>
          <a:lstStyle/>
          <a:p>
            <a:pPr algn="l"/>
            <a:r>
              <a:rPr sz="800" b="1" i="0">
                <a:solidFill>
                  <a:srgbClr val="0D1B3E"/>
                </a:solidFill>
                <a:latin typeface="Calibri"/>
              </a:rPr>
              <a:t>Story Sizing</a:t>
            </a:r>
          </a:p>
        </p:txBody>
      </p:sp>
      <p:sp>
        <p:nvSpPr>
          <p:cNvPr id="62" name="TextBox 61"/>
          <p:cNvSpPr txBox="1"/>
          <p:nvPr/>
        </p:nvSpPr>
        <p:spPr>
          <a:xfrm>
            <a:off x="4209287" y="3474720"/>
            <a:ext cx="3651503" cy="182880"/>
          </a:xfrm>
          <a:prstGeom prst="rect">
            <a:avLst/>
          </a:prstGeom>
          <a:noFill/>
        </p:spPr>
        <p:txBody>
          <a:bodyPr wrap="square">
            <a:spAutoFit/>
          </a:bodyPr>
          <a:lstStyle/>
          <a:p>
            <a:pPr algn="l"/>
            <a:r>
              <a:rPr sz="650" b="0" i="0">
                <a:solidFill>
                  <a:srgbClr val="5D6D7E"/>
                </a:solidFill>
                <a:latin typeface="Calibri"/>
              </a:rPr>
              <a:t>Impact: MEDIUM  ·  Effort: LOW  ·  Ph 2</a:t>
            </a:r>
          </a:p>
        </p:txBody>
      </p:sp>
      <p:sp>
        <p:nvSpPr>
          <p:cNvPr id="63" name="Rounded Rectangle 62"/>
          <p:cNvSpPr/>
          <p:nvPr/>
        </p:nvSpPr>
        <p:spPr>
          <a:xfrm>
            <a:off x="4117847" y="3749040"/>
            <a:ext cx="3852671" cy="475488"/>
          </a:xfrm>
          <a:prstGeom prst="roundRect">
            <a:avLst>
              <a:gd name="adj" fmla="val 5000"/>
            </a:avLst>
          </a:prstGeom>
          <a:solidFill>
            <a:srgbClr val="F4F6F9"/>
          </a:solidFill>
          <a:ln w="1016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4117847" y="3749040"/>
            <a:ext cx="36576" cy="475488"/>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209287" y="3803904"/>
            <a:ext cx="3651503" cy="219456"/>
          </a:xfrm>
          <a:prstGeom prst="rect">
            <a:avLst/>
          </a:prstGeom>
          <a:noFill/>
        </p:spPr>
        <p:txBody>
          <a:bodyPr wrap="square">
            <a:spAutoFit/>
          </a:bodyPr>
          <a:lstStyle/>
          <a:p>
            <a:pPr algn="l"/>
            <a:r>
              <a:rPr sz="800" b="1" i="0">
                <a:solidFill>
                  <a:srgbClr val="0D1B3E"/>
                </a:solidFill>
                <a:latin typeface="Calibri"/>
              </a:rPr>
              <a:t>Pair Programming</a:t>
            </a:r>
          </a:p>
        </p:txBody>
      </p:sp>
      <p:sp>
        <p:nvSpPr>
          <p:cNvPr id="66" name="TextBox 65"/>
          <p:cNvSpPr txBox="1"/>
          <p:nvPr/>
        </p:nvSpPr>
        <p:spPr>
          <a:xfrm>
            <a:off x="4209287" y="4005072"/>
            <a:ext cx="3651503" cy="182880"/>
          </a:xfrm>
          <a:prstGeom prst="rect">
            <a:avLst/>
          </a:prstGeom>
          <a:noFill/>
        </p:spPr>
        <p:txBody>
          <a:bodyPr wrap="square">
            <a:spAutoFit/>
          </a:bodyPr>
          <a:lstStyle/>
          <a:p>
            <a:pPr algn="l"/>
            <a:r>
              <a:rPr sz="650" b="0" i="0">
                <a:solidFill>
                  <a:srgbClr val="5D6D7E"/>
                </a:solidFill>
                <a:latin typeface="Calibri"/>
              </a:rPr>
              <a:t>Impact: MEDIUM  ·  Effort: HIGH  ·  Ph 3</a:t>
            </a:r>
          </a:p>
        </p:txBody>
      </p:sp>
      <p:sp>
        <p:nvSpPr>
          <p:cNvPr id="67" name="Rounded Rectangle 66"/>
          <p:cNvSpPr/>
          <p:nvPr/>
        </p:nvSpPr>
        <p:spPr>
          <a:xfrm>
            <a:off x="4117847" y="4279392"/>
            <a:ext cx="3852671" cy="475488"/>
          </a:xfrm>
          <a:prstGeom prst="roundRect">
            <a:avLst>
              <a:gd name="adj" fmla="val 5000"/>
            </a:avLst>
          </a:prstGeom>
          <a:solidFill>
            <a:srgbClr val="F4F6F9"/>
          </a:solidFill>
          <a:ln w="1016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4117847" y="4279392"/>
            <a:ext cx="36576" cy="47548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4209287" y="4334256"/>
            <a:ext cx="3651503" cy="219456"/>
          </a:xfrm>
          <a:prstGeom prst="rect">
            <a:avLst/>
          </a:prstGeom>
          <a:noFill/>
        </p:spPr>
        <p:txBody>
          <a:bodyPr wrap="square">
            <a:spAutoFit/>
          </a:bodyPr>
          <a:lstStyle/>
          <a:p>
            <a:pPr algn="l"/>
            <a:r>
              <a:rPr sz="800" b="1" i="0">
                <a:solidFill>
                  <a:srgbClr val="0D1B3E"/>
                </a:solidFill>
                <a:latin typeface="Calibri"/>
              </a:rPr>
              <a:t>Peer Review</a:t>
            </a:r>
          </a:p>
        </p:txBody>
      </p:sp>
      <p:sp>
        <p:nvSpPr>
          <p:cNvPr id="70" name="TextBox 69"/>
          <p:cNvSpPr txBox="1"/>
          <p:nvPr/>
        </p:nvSpPr>
        <p:spPr>
          <a:xfrm>
            <a:off x="4209287" y="4535424"/>
            <a:ext cx="3651503" cy="182880"/>
          </a:xfrm>
          <a:prstGeom prst="rect">
            <a:avLst/>
          </a:prstGeom>
          <a:noFill/>
        </p:spPr>
        <p:txBody>
          <a:bodyPr wrap="square">
            <a:spAutoFit/>
          </a:bodyPr>
          <a:lstStyle/>
          <a:p>
            <a:pPr algn="l"/>
            <a:r>
              <a:rPr sz="650" b="0" i="0">
                <a:solidFill>
                  <a:srgbClr val="5D6D7E"/>
                </a:solidFill>
                <a:latin typeface="Calibri"/>
              </a:rPr>
              <a:t>Impact: HIGH  ·  Effort: MEDIUM  ·  Ph 1</a:t>
            </a:r>
          </a:p>
        </p:txBody>
      </p:sp>
      <p:sp>
        <p:nvSpPr>
          <p:cNvPr id="71" name="Rounded Rectangle 70"/>
          <p:cNvSpPr/>
          <p:nvPr/>
        </p:nvSpPr>
        <p:spPr>
          <a:xfrm>
            <a:off x="4117847" y="4809744"/>
            <a:ext cx="3852671" cy="475488"/>
          </a:xfrm>
          <a:prstGeom prst="roundRect">
            <a:avLst>
              <a:gd name="adj" fmla="val 5000"/>
            </a:avLst>
          </a:prstGeom>
          <a:solidFill>
            <a:srgbClr val="F4F6F9"/>
          </a:solidFill>
          <a:ln w="1016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4117847" y="4809744"/>
            <a:ext cx="36576" cy="47548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4209287" y="4864608"/>
            <a:ext cx="3651503" cy="219456"/>
          </a:xfrm>
          <a:prstGeom prst="rect">
            <a:avLst/>
          </a:prstGeom>
          <a:noFill/>
        </p:spPr>
        <p:txBody>
          <a:bodyPr wrap="square">
            <a:spAutoFit/>
          </a:bodyPr>
          <a:lstStyle/>
          <a:p>
            <a:pPr algn="l"/>
            <a:r>
              <a:rPr sz="800" b="1" i="0">
                <a:solidFill>
                  <a:srgbClr val="0D1B3E"/>
                </a:solidFill>
                <a:latin typeface="Calibri"/>
              </a:rPr>
              <a:t>Test Generation</a:t>
            </a:r>
          </a:p>
        </p:txBody>
      </p:sp>
      <p:sp>
        <p:nvSpPr>
          <p:cNvPr id="74" name="TextBox 73"/>
          <p:cNvSpPr txBox="1"/>
          <p:nvPr/>
        </p:nvSpPr>
        <p:spPr>
          <a:xfrm>
            <a:off x="4209287" y="5065776"/>
            <a:ext cx="3651503" cy="182880"/>
          </a:xfrm>
          <a:prstGeom prst="rect">
            <a:avLst/>
          </a:prstGeom>
          <a:noFill/>
        </p:spPr>
        <p:txBody>
          <a:bodyPr wrap="square">
            <a:spAutoFit/>
          </a:bodyPr>
          <a:lstStyle/>
          <a:p>
            <a:pPr algn="l"/>
            <a:r>
              <a:rPr sz="650" b="0" i="0">
                <a:solidFill>
                  <a:srgbClr val="5D6D7E"/>
                </a:solidFill>
                <a:latin typeface="Calibri"/>
              </a:rPr>
              <a:t>Impact: HIGH  ·  Effort: MEDIUM  ·  Ph 1</a:t>
            </a:r>
          </a:p>
        </p:txBody>
      </p:sp>
      <p:sp>
        <p:nvSpPr>
          <p:cNvPr id="75" name="Rounded Rectangle 74"/>
          <p:cNvSpPr/>
          <p:nvPr/>
        </p:nvSpPr>
        <p:spPr>
          <a:xfrm>
            <a:off x="4117847" y="5120640"/>
            <a:ext cx="3852671" cy="1417320"/>
          </a:xfrm>
          <a:prstGeom prst="roundRect">
            <a:avLst>
              <a:gd name="adj" fmla="val 6000"/>
            </a:avLst>
          </a:prstGeom>
          <a:solidFill>
            <a:srgbClr val="F4F6F9"/>
          </a:solidFill>
          <a:ln w="1270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4117847" y="5120640"/>
            <a:ext cx="3852671" cy="54864"/>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190999" y="5212079"/>
            <a:ext cx="3715511" cy="201168"/>
          </a:xfrm>
          <a:prstGeom prst="rect">
            <a:avLst/>
          </a:prstGeom>
          <a:noFill/>
        </p:spPr>
        <p:txBody>
          <a:bodyPr wrap="square">
            <a:spAutoFit/>
          </a:bodyPr>
          <a:lstStyle/>
          <a:p>
            <a:pPr algn="ctr"/>
            <a:r>
              <a:rPr sz="700" b="1" i="0">
                <a:solidFill>
                  <a:srgbClr val="D47F00"/>
                </a:solidFill>
                <a:latin typeface="Calibri"/>
              </a:rPr>
              <a:t>EXECUTIVE INSIGHT</a:t>
            </a:r>
          </a:p>
        </p:txBody>
      </p:sp>
      <p:sp>
        <p:nvSpPr>
          <p:cNvPr id="78" name="TextBox 77"/>
          <p:cNvSpPr txBox="1"/>
          <p:nvPr/>
        </p:nvSpPr>
        <p:spPr>
          <a:xfrm>
            <a:off x="4190999" y="5413248"/>
            <a:ext cx="3715511" cy="256032"/>
          </a:xfrm>
          <a:prstGeom prst="rect">
            <a:avLst/>
          </a:prstGeom>
          <a:noFill/>
        </p:spPr>
        <p:txBody>
          <a:bodyPr wrap="square">
            <a:spAutoFit/>
          </a:bodyPr>
          <a:lstStyle/>
          <a:p>
            <a:pPr algn="ctr"/>
            <a:r>
              <a:rPr sz="900" b="1" i="0">
                <a:solidFill>
                  <a:srgbClr val="0D1B3E"/>
                </a:solidFill>
                <a:latin typeface="Calibri"/>
              </a:rPr>
              <a:t>Advisory &amp; Review Workflows</a:t>
            </a:r>
          </a:p>
        </p:txBody>
      </p:sp>
      <p:sp>
        <p:nvSpPr>
          <p:cNvPr id="79" name="TextBox 78"/>
          <p:cNvSpPr txBox="1"/>
          <p:nvPr/>
        </p:nvSpPr>
        <p:spPr>
          <a:xfrm>
            <a:off x="4190999" y="5687568"/>
            <a:ext cx="3715511" cy="777240"/>
          </a:xfrm>
          <a:prstGeom prst="rect">
            <a:avLst/>
          </a:prstGeom>
          <a:noFill/>
        </p:spPr>
        <p:txBody>
          <a:bodyPr wrap="square">
            <a:spAutoFit/>
          </a:bodyPr>
          <a:lstStyle/>
          <a:p>
            <a:pPr algn="ctr"/>
            <a:r>
              <a:rPr sz="700" b="0" i="0">
                <a:solidFill>
                  <a:srgbClr val="2C3E50"/>
                </a:solidFill>
                <a:latin typeface="Calibri"/>
              </a:rPr>
              <a:t>Agents generate recommendations requiring human validation at key decision gates. Suitable for advisory, design &amp; collaborative workflows.</a:t>
            </a:r>
          </a:p>
        </p:txBody>
      </p:sp>
      <p:sp>
        <p:nvSpPr>
          <p:cNvPr id="80" name="Rounded Rectangle 79"/>
          <p:cNvSpPr/>
          <p:nvPr/>
        </p:nvSpPr>
        <p:spPr>
          <a:xfrm>
            <a:off x="8080247" y="914400"/>
            <a:ext cx="3852671" cy="640080"/>
          </a:xfrm>
          <a:prstGeom prst="roundRect">
            <a:avLst>
              <a:gd name="adj" fmla="val 6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153399" y="969264"/>
            <a:ext cx="3715511" cy="329184"/>
          </a:xfrm>
          <a:prstGeom prst="rect">
            <a:avLst/>
          </a:prstGeom>
          <a:noFill/>
        </p:spPr>
        <p:txBody>
          <a:bodyPr wrap="square">
            <a:spAutoFit/>
          </a:bodyPr>
          <a:lstStyle/>
          <a:p>
            <a:pPr algn="ctr"/>
            <a:r>
              <a:rPr sz="1100" b="1" i="0">
                <a:solidFill>
                  <a:srgbClr val="FFFFFF"/>
                </a:solidFill>
                <a:latin typeface="Calibri"/>
              </a:rPr>
              <a:t>🔴 HIGH HITL</a:t>
            </a:r>
          </a:p>
        </p:txBody>
      </p:sp>
      <p:sp>
        <p:nvSpPr>
          <p:cNvPr id="82" name="TextBox 81"/>
          <p:cNvSpPr txBox="1"/>
          <p:nvPr/>
        </p:nvSpPr>
        <p:spPr>
          <a:xfrm>
            <a:off x="8153399" y="1298448"/>
            <a:ext cx="3715511" cy="219456"/>
          </a:xfrm>
          <a:prstGeom prst="rect">
            <a:avLst/>
          </a:prstGeom>
          <a:noFill/>
        </p:spPr>
        <p:txBody>
          <a:bodyPr wrap="square">
            <a:spAutoFit/>
          </a:bodyPr>
          <a:lstStyle/>
          <a:p>
            <a:pPr algn="ctr"/>
            <a:r>
              <a:rPr sz="900" b="0" i="0">
                <a:solidFill>
                  <a:srgbClr val="FFFFFF"/>
                </a:solidFill>
                <a:latin typeface="Calibri"/>
              </a:rPr>
              <a:t>7 Agents</a:t>
            </a:r>
          </a:p>
        </p:txBody>
      </p:sp>
      <p:sp>
        <p:nvSpPr>
          <p:cNvPr id="83" name="Rounded Rectangle 82"/>
          <p:cNvSpPr/>
          <p:nvPr/>
        </p:nvSpPr>
        <p:spPr>
          <a:xfrm>
            <a:off x="8080247" y="1627632"/>
            <a:ext cx="3852671" cy="475488"/>
          </a:xfrm>
          <a:prstGeom prst="roundRect">
            <a:avLst>
              <a:gd name="adj" fmla="val 5000"/>
            </a:avLst>
          </a:prstGeom>
          <a:solidFill>
            <a:srgbClr val="F4F6F9"/>
          </a:solidFill>
          <a:ln w="10160">
            <a:solidFill>
              <a:srgbClr val="A92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8080247" y="1627632"/>
            <a:ext cx="36576" cy="47548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8171687" y="1682496"/>
            <a:ext cx="3651503" cy="219456"/>
          </a:xfrm>
          <a:prstGeom prst="rect">
            <a:avLst/>
          </a:prstGeom>
          <a:noFill/>
        </p:spPr>
        <p:txBody>
          <a:bodyPr wrap="square">
            <a:spAutoFit/>
          </a:bodyPr>
          <a:lstStyle/>
          <a:p>
            <a:pPr algn="l"/>
            <a:r>
              <a:rPr sz="800" b="1" i="0">
                <a:solidFill>
                  <a:srgbClr val="0D1B3E"/>
                </a:solidFill>
                <a:latin typeface="Calibri"/>
              </a:rPr>
              <a:t>Requirements Elicitation</a:t>
            </a:r>
          </a:p>
        </p:txBody>
      </p:sp>
      <p:sp>
        <p:nvSpPr>
          <p:cNvPr id="86" name="TextBox 85"/>
          <p:cNvSpPr txBox="1"/>
          <p:nvPr/>
        </p:nvSpPr>
        <p:spPr>
          <a:xfrm>
            <a:off x="8171687" y="1883664"/>
            <a:ext cx="3651503" cy="182880"/>
          </a:xfrm>
          <a:prstGeom prst="rect">
            <a:avLst/>
          </a:prstGeom>
          <a:noFill/>
        </p:spPr>
        <p:txBody>
          <a:bodyPr wrap="square">
            <a:spAutoFit/>
          </a:bodyPr>
          <a:lstStyle/>
          <a:p>
            <a:pPr algn="l"/>
            <a:r>
              <a:rPr sz="650" b="0" i="0">
                <a:solidFill>
                  <a:srgbClr val="5D6D7E"/>
                </a:solidFill>
                <a:latin typeface="Calibri"/>
              </a:rPr>
              <a:t>Impact: HIGH  ·  Effort: MEDIUM  ·  Ph 1</a:t>
            </a:r>
          </a:p>
        </p:txBody>
      </p:sp>
      <p:sp>
        <p:nvSpPr>
          <p:cNvPr id="87" name="Rounded Rectangle 86"/>
          <p:cNvSpPr/>
          <p:nvPr/>
        </p:nvSpPr>
        <p:spPr>
          <a:xfrm>
            <a:off x="8080247" y="2157984"/>
            <a:ext cx="3852671" cy="475488"/>
          </a:xfrm>
          <a:prstGeom prst="roundRect">
            <a:avLst>
              <a:gd name="adj" fmla="val 5000"/>
            </a:avLst>
          </a:prstGeom>
          <a:solidFill>
            <a:srgbClr val="F4F6F9"/>
          </a:solidFill>
          <a:ln w="10160">
            <a:solidFill>
              <a:srgbClr val="A92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8080247" y="2157984"/>
            <a:ext cx="36576" cy="47548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8171687" y="2212848"/>
            <a:ext cx="3651503" cy="219456"/>
          </a:xfrm>
          <a:prstGeom prst="rect">
            <a:avLst/>
          </a:prstGeom>
          <a:noFill/>
        </p:spPr>
        <p:txBody>
          <a:bodyPr wrap="square">
            <a:spAutoFit/>
          </a:bodyPr>
          <a:lstStyle/>
          <a:p>
            <a:pPr algn="l"/>
            <a:r>
              <a:rPr sz="800" b="1" i="0">
                <a:solidFill>
                  <a:srgbClr val="0D1B3E"/>
                </a:solidFill>
                <a:latin typeface="Calibri"/>
              </a:rPr>
              <a:t>Architecture Advisor</a:t>
            </a:r>
          </a:p>
        </p:txBody>
      </p:sp>
      <p:sp>
        <p:nvSpPr>
          <p:cNvPr id="90" name="TextBox 89"/>
          <p:cNvSpPr txBox="1"/>
          <p:nvPr/>
        </p:nvSpPr>
        <p:spPr>
          <a:xfrm>
            <a:off x="8171687" y="2414016"/>
            <a:ext cx="3651503" cy="182880"/>
          </a:xfrm>
          <a:prstGeom prst="rect">
            <a:avLst/>
          </a:prstGeom>
          <a:noFill/>
        </p:spPr>
        <p:txBody>
          <a:bodyPr wrap="square">
            <a:spAutoFit/>
          </a:bodyPr>
          <a:lstStyle/>
          <a:p>
            <a:pPr algn="l"/>
            <a:r>
              <a:rPr sz="650" b="0" i="0">
                <a:solidFill>
                  <a:srgbClr val="5D6D7E"/>
                </a:solidFill>
                <a:latin typeface="Calibri"/>
              </a:rPr>
              <a:t>Impact: HIGH  ·  Effort: HIGH  ·  Ph 3</a:t>
            </a:r>
          </a:p>
        </p:txBody>
      </p:sp>
      <p:sp>
        <p:nvSpPr>
          <p:cNvPr id="91" name="Rounded Rectangle 90"/>
          <p:cNvSpPr/>
          <p:nvPr/>
        </p:nvSpPr>
        <p:spPr>
          <a:xfrm>
            <a:off x="8080247" y="2688336"/>
            <a:ext cx="3852671" cy="475488"/>
          </a:xfrm>
          <a:prstGeom prst="roundRect">
            <a:avLst>
              <a:gd name="adj" fmla="val 5000"/>
            </a:avLst>
          </a:prstGeom>
          <a:solidFill>
            <a:srgbClr val="F4F6F9"/>
          </a:solidFill>
          <a:ln w="10160">
            <a:solidFill>
              <a:srgbClr val="A92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8080247" y="2688336"/>
            <a:ext cx="36576" cy="475488"/>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8171687" y="2743200"/>
            <a:ext cx="3651503" cy="219456"/>
          </a:xfrm>
          <a:prstGeom prst="rect">
            <a:avLst/>
          </a:prstGeom>
          <a:noFill/>
        </p:spPr>
        <p:txBody>
          <a:bodyPr wrap="square">
            <a:spAutoFit/>
          </a:bodyPr>
          <a:lstStyle/>
          <a:p>
            <a:pPr algn="l"/>
            <a:r>
              <a:rPr sz="800" b="1" i="0">
                <a:solidFill>
                  <a:srgbClr val="0D1B3E"/>
                </a:solidFill>
                <a:latin typeface="Calibri"/>
              </a:rPr>
              <a:t>Sprint Planner</a:t>
            </a:r>
          </a:p>
        </p:txBody>
      </p:sp>
      <p:sp>
        <p:nvSpPr>
          <p:cNvPr id="94" name="TextBox 93"/>
          <p:cNvSpPr txBox="1"/>
          <p:nvPr/>
        </p:nvSpPr>
        <p:spPr>
          <a:xfrm>
            <a:off x="8171687" y="2944368"/>
            <a:ext cx="3651503" cy="182880"/>
          </a:xfrm>
          <a:prstGeom prst="rect">
            <a:avLst/>
          </a:prstGeom>
          <a:noFill/>
        </p:spPr>
        <p:txBody>
          <a:bodyPr wrap="square">
            <a:spAutoFit/>
          </a:bodyPr>
          <a:lstStyle/>
          <a:p>
            <a:pPr algn="l"/>
            <a:r>
              <a:rPr sz="650" b="0" i="0">
                <a:solidFill>
                  <a:srgbClr val="5D6D7E"/>
                </a:solidFill>
                <a:latin typeface="Calibri"/>
              </a:rPr>
              <a:t>Impact: MEDIUM  ·  Effort: MEDIUM  ·  Ph 2</a:t>
            </a:r>
          </a:p>
        </p:txBody>
      </p:sp>
      <p:sp>
        <p:nvSpPr>
          <p:cNvPr id="95" name="Rounded Rectangle 94"/>
          <p:cNvSpPr/>
          <p:nvPr/>
        </p:nvSpPr>
        <p:spPr>
          <a:xfrm>
            <a:off x="8080247" y="3218688"/>
            <a:ext cx="3852671" cy="475488"/>
          </a:xfrm>
          <a:prstGeom prst="roundRect">
            <a:avLst>
              <a:gd name="adj" fmla="val 5000"/>
            </a:avLst>
          </a:prstGeom>
          <a:solidFill>
            <a:srgbClr val="F4F6F9"/>
          </a:solidFill>
          <a:ln w="10160">
            <a:solidFill>
              <a:srgbClr val="A92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p:cNvSpPr/>
          <p:nvPr/>
        </p:nvSpPr>
        <p:spPr>
          <a:xfrm>
            <a:off x="8080247" y="3218688"/>
            <a:ext cx="36576" cy="47548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8171687" y="3273552"/>
            <a:ext cx="3651503" cy="219456"/>
          </a:xfrm>
          <a:prstGeom prst="rect">
            <a:avLst/>
          </a:prstGeom>
          <a:noFill/>
        </p:spPr>
        <p:txBody>
          <a:bodyPr wrap="square">
            <a:spAutoFit/>
          </a:bodyPr>
          <a:lstStyle/>
          <a:p>
            <a:pPr algn="l"/>
            <a:r>
              <a:rPr sz="800" b="1" i="0">
                <a:solidFill>
                  <a:srgbClr val="0D1B3E"/>
                </a:solidFill>
                <a:latin typeface="Calibri"/>
              </a:rPr>
              <a:t>Code Generation</a:t>
            </a:r>
          </a:p>
        </p:txBody>
      </p:sp>
      <p:sp>
        <p:nvSpPr>
          <p:cNvPr id="98" name="TextBox 97"/>
          <p:cNvSpPr txBox="1"/>
          <p:nvPr/>
        </p:nvSpPr>
        <p:spPr>
          <a:xfrm>
            <a:off x="8171687" y="3474720"/>
            <a:ext cx="3651503" cy="182880"/>
          </a:xfrm>
          <a:prstGeom prst="rect">
            <a:avLst/>
          </a:prstGeom>
          <a:noFill/>
        </p:spPr>
        <p:txBody>
          <a:bodyPr wrap="square">
            <a:spAutoFit/>
          </a:bodyPr>
          <a:lstStyle/>
          <a:p>
            <a:pPr algn="l"/>
            <a:r>
              <a:rPr sz="650" b="0" i="0">
                <a:solidFill>
                  <a:srgbClr val="5D6D7E"/>
                </a:solidFill>
                <a:latin typeface="Calibri"/>
              </a:rPr>
              <a:t>Impact: HIGH  ·  Effort: HIGH  ·  Ph 3</a:t>
            </a:r>
          </a:p>
        </p:txBody>
      </p:sp>
      <p:sp>
        <p:nvSpPr>
          <p:cNvPr id="99" name="Rounded Rectangle 98"/>
          <p:cNvSpPr/>
          <p:nvPr/>
        </p:nvSpPr>
        <p:spPr>
          <a:xfrm>
            <a:off x="8080247" y="3749040"/>
            <a:ext cx="3852671" cy="475488"/>
          </a:xfrm>
          <a:prstGeom prst="roundRect">
            <a:avLst>
              <a:gd name="adj" fmla="val 5000"/>
            </a:avLst>
          </a:prstGeom>
          <a:solidFill>
            <a:srgbClr val="F4F6F9"/>
          </a:solidFill>
          <a:ln w="10160">
            <a:solidFill>
              <a:srgbClr val="A92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8080247" y="3749040"/>
            <a:ext cx="36576" cy="47548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8171687" y="3803904"/>
            <a:ext cx="3651503" cy="219456"/>
          </a:xfrm>
          <a:prstGeom prst="rect">
            <a:avLst/>
          </a:prstGeom>
          <a:noFill/>
        </p:spPr>
        <p:txBody>
          <a:bodyPr wrap="square">
            <a:spAutoFit/>
          </a:bodyPr>
          <a:lstStyle/>
          <a:p>
            <a:pPr algn="l"/>
            <a:r>
              <a:rPr sz="800" b="1" i="0">
                <a:solidFill>
                  <a:srgbClr val="0D1B3E"/>
                </a:solidFill>
                <a:latin typeface="Calibri"/>
              </a:rPr>
              <a:t>Auto-Remediation</a:t>
            </a:r>
          </a:p>
        </p:txBody>
      </p:sp>
      <p:sp>
        <p:nvSpPr>
          <p:cNvPr id="102" name="TextBox 101"/>
          <p:cNvSpPr txBox="1"/>
          <p:nvPr/>
        </p:nvSpPr>
        <p:spPr>
          <a:xfrm>
            <a:off x="8171687" y="4005072"/>
            <a:ext cx="3651503" cy="182880"/>
          </a:xfrm>
          <a:prstGeom prst="rect">
            <a:avLst/>
          </a:prstGeom>
          <a:noFill/>
        </p:spPr>
        <p:txBody>
          <a:bodyPr wrap="square">
            <a:spAutoFit/>
          </a:bodyPr>
          <a:lstStyle/>
          <a:p>
            <a:pPr algn="l"/>
            <a:r>
              <a:rPr sz="650" b="0" i="0">
                <a:solidFill>
                  <a:srgbClr val="5D6D7E"/>
                </a:solidFill>
                <a:latin typeface="Calibri"/>
              </a:rPr>
              <a:t>Impact: HIGH  ·  Effort: HIGH  ·  Ph 3</a:t>
            </a:r>
          </a:p>
        </p:txBody>
      </p:sp>
      <p:sp>
        <p:nvSpPr>
          <p:cNvPr id="103" name="Rounded Rectangle 102"/>
          <p:cNvSpPr/>
          <p:nvPr/>
        </p:nvSpPr>
        <p:spPr>
          <a:xfrm>
            <a:off x="8080247" y="4279392"/>
            <a:ext cx="3852671" cy="475488"/>
          </a:xfrm>
          <a:prstGeom prst="roundRect">
            <a:avLst>
              <a:gd name="adj" fmla="val 5000"/>
            </a:avLst>
          </a:prstGeom>
          <a:solidFill>
            <a:srgbClr val="F4F6F9"/>
          </a:solidFill>
          <a:ln w="10160">
            <a:solidFill>
              <a:srgbClr val="A92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8080247" y="4279392"/>
            <a:ext cx="36576" cy="47548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8171687" y="4334256"/>
            <a:ext cx="3651503" cy="219456"/>
          </a:xfrm>
          <a:prstGeom prst="rect">
            <a:avLst/>
          </a:prstGeom>
          <a:noFill/>
        </p:spPr>
        <p:txBody>
          <a:bodyPr wrap="square">
            <a:spAutoFit/>
          </a:bodyPr>
          <a:lstStyle/>
          <a:p>
            <a:pPr algn="l"/>
            <a:r>
              <a:rPr sz="800" b="1" i="0">
                <a:solidFill>
                  <a:srgbClr val="0D1B3E"/>
                </a:solidFill>
                <a:latin typeface="Calibri"/>
              </a:rPr>
              <a:t>Access Provisioner</a:t>
            </a:r>
          </a:p>
        </p:txBody>
      </p:sp>
      <p:sp>
        <p:nvSpPr>
          <p:cNvPr id="106" name="TextBox 105"/>
          <p:cNvSpPr txBox="1"/>
          <p:nvPr/>
        </p:nvSpPr>
        <p:spPr>
          <a:xfrm>
            <a:off x="8171687" y="4535424"/>
            <a:ext cx="3651503" cy="182880"/>
          </a:xfrm>
          <a:prstGeom prst="rect">
            <a:avLst/>
          </a:prstGeom>
          <a:noFill/>
        </p:spPr>
        <p:txBody>
          <a:bodyPr wrap="square">
            <a:spAutoFit/>
          </a:bodyPr>
          <a:lstStyle/>
          <a:p>
            <a:pPr algn="l"/>
            <a:r>
              <a:rPr sz="650" b="0" i="0">
                <a:solidFill>
                  <a:srgbClr val="5D6D7E"/>
                </a:solidFill>
                <a:latin typeface="Calibri"/>
              </a:rPr>
              <a:t>Impact: HIGH  ·  Effort: HIGH  ·  Ph 3</a:t>
            </a:r>
          </a:p>
        </p:txBody>
      </p:sp>
      <p:sp>
        <p:nvSpPr>
          <p:cNvPr id="107" name="Rounded Rectangle 106"/>
          <p:cNvSpPr/>
          <p:nvPr/>
        </p:nvSpPr>
        <p:spPr>
          <a:xfrm>
            <a:off x="8080247" y="4809744"/>
            <a:ext cx="3852671" cy="475488"/>
          </a:xfrm>
          <a:prstGeom prst="roundRect">
            <a:avLst>
              <a:gd name="adj" fmla="val 5000"/>
            </a:avLst>
          </a:prstGeom>
          <a:solidFill>
            <a:srgbClr val="F4F6F9"/>
          </a:solidFill>
          <a:ln w="10160">
            <a:solidFill>
              <a:srgbClr val="A92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8080247" y="4809744"/>
            <a:ext cx="36576" cy="47548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8171687" y="4864608"/>
            <a:ext cx="3651503" cy="219456"/>
          </a:xfrm>
          <a:prstGeom prst="rect">
            <a:avLst/>
          </a:prstGeom>
          <a:noFill/>
        </p:spPr>
        <p:txBody>
          <a:bodyPr wrap="square">
            <a:spAutoFit/>
          </a:bodyPr>
          <a:lstStyle/>
          <a:p>
            <a:pPr algn="l"/>
            <a:r>
              <a:rPr sz="800" b="1" i="0">
                <a:solidFill>
                  <a:srgbClr val="0D1B3E"/>
                </a:solidFill>
                <a:latin typeface="Calibri"/>
              </a:rPr>
              <a:t>Legacy Migration</a:t>
            </a:r>
          </a:p>
        </p:txBody>
      </p:sp>
      <p:sp>
        <p:nvSpPr>
          <p:cNvPr id="110" name="TextBox 109"/>
          <p:cNvSpPr txBox="1"/>
          <p:nvPr/>
        </p:nvSpPr>
        <p:spPr>
          <a:xfrm>
            <a:off x="8171687" y="5065776"/>
            <a:ext cx="3651503" cy="182880"/>
          </a:xfrm>
          <a:prstGeom prst="rect">
            <a:avLst/>
          </a:prstGeom>
          <a:noFill/>
        </p:spPr>
        <p:txBody>
          <a:bodyPr wrap="square">
            <a:spAutoFit/>
          </a:bodyPr>
          <a:lstStyle/>
          <a:p>
            <a:pPr algn="l"/>
            <a:r>
              <a:rPr sz="650" b="0" i="0">
                <a:solidFill>
                  <a:srgbClr val="5D6D7E"/>
                </a:solidFill>
                <a:latin typeface="Calibri"/>
              </a:rPr>
              <a:t>Impact: HIGH  ·  Effort: HIGH  ·  Ph 3</a:t>
            </a:r>
          </a:p>
        </p:txBody>
      </p:sp>
      <p:sp>
        <p:nvSpPr>
          <p:cNvPr id="111" name="Rounded Rectangle 110"/>
          <p:cNvSpPr/>
          <p:nvPr/>
        </p:nvSpPr>
        <p:spPr>
          <a:xfrm>
            <a:off x="8080247" y="5120640"/>
            <a:ext cx="3852671" cy="1417320"/>
          </a:xfrm>
          <a:prstGeom prst="roundRect">
            <a:avLst>
              <a:gd name="adj" fmla="val 6000"/>
            </a:avLst>
          </a:prstGeom>
          <a:solidFill>
            <a:srgbClr val="F4F6F9"/>
          </a:solidFill>
          <a:ln w="12700">
            <a:solidFill>
              <a:srgbClr val="A92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8080247" y="5120640"/>
            <a:ext cx="3852671" cy="54864"/>
          </a:xfrm>
          <a:prstGeom prst="rect">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8153399" y="5212079"/>
            <a:ext cx="3715511" cy="201168"/>
          </a:xfrm>
          <a:prstGeom prst="rect">
            <a:avLst/>
          </a:prstGeom>
          <a:noFill/>
        </p:spPr>
        <p:txBody>
          <a:bodyPr wrap="square">
            <a:spAutoFit/>
          </a:bodyPr>
          <a:lstStyle/>
          <a:p>
            <a:pPr algn="ctr"/>
            <a:r>
              <a:rPr sz="700" b="1" i="0">
                <a:solidFill>
                  <a:srgbClr val="A92F22"/>
                </a:solidFill>
                <a:latin typeface="Calibri"/>
              </a:rPr>
              <a:t>EXECUTIVE INSIGHT</a:t>
            </a:r>
          </a:p>
        </p:txBody>
      </p:sp>
      <p:sp>
        <p:nvSpPr>
          <p:cNvPr id="114" name="TextBox 113"/>
          <p:cNvSpPr txBox="1"/>
          <p:nvPr/>
        </p:nvSpPr>
        <p:spPr>
          <a:xfrm>
            <a:off x="8153399" y="5413248"/>
            <a:ext cx="3715511" cy="256032"/>
          </a:xfrm>
          <a:prstGeom prst="rect">
            <a:avLst/>
          </a:prstGeom>
          <a:noFill/>
        </p:spPr>
        <p:txBody>
          <a:bodyPr wrap="square">
            <a:spAutoFit/>
          </a:bodyPr>
          <a:lstStyle/>
          <a:p>
            <a:pPr algn="ctr"/>
            <a:r>
              <a:rPr sz="900" b="1" i="0">
                <a:solidFill>
                  <a:srgbClr val="0D1B3E"/>
                </a:solidFill>
                <a:latin typeface="Calibri"/>
              </a:rPr>
              <a:t>Governed Decision-Making</a:t>
            </a:r>
          </a:p>
        </p:txBody>
      </p:sp>
      <p:sp>
        <p:nvSpPr>
          <p:cNvPr id="115" name="TextBox 114"/>
          <p:cNvSpPr txBox="1"/>
          <p:nvPr/>
        </p:nvSpPr>
        <p:spPr>
          <a:xfrm>
            <a:off x="8153399" y="5687568"/>
            <a:ext cx="3715511" cy="777240"/>
          </a:xfrm>
          <a:prstGeom prst="rect">
            <a:avLst/>
          </a:prstGeom>
          <a:noFill/>
        </p:spPr>
        <p:txBody>
          <a:bodyPr wrap="square">
            <a:spAutoFit/>
          </a:bodyPr>
          <a:lstStyle/>
          <a:p>
            <a:pPr algn="ctr"/>
            <a:r>
              <a:rPr sz="700" b="0" i="0">
                <a:solidFill>
                  <a:srgbClr val="2C3E50"/>
                </a:solidFill>
                <a:latin typeface="Calibri"/>
              </a:rPr>
              <a:t>Agents require explicit human approval before acting. Reserved for high-risk, compliance-sensitive, or irreversible operations.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73152"/>
            <a:ext cx="8229600" cy="347472"/>
          </a:xfrm>
          <a:prstGeom prst="rect">
            <a:avLst/>
          </a:prstGeom>
          <a:noFill/>
          <a:ln/>
        </p:spPr>
        <p:txBody>
          <a:bodyPr wrap="square" lIns="0" tIns="0" rIns="0" bIns="0" rtlCol="0" anchor="ctr"/>
          <a:lstStyle/>
          <a:p>
            <a:pPr marL="0" indent="0">
              <a:buNone/>
            </a:pPr>
            <a:r>
              <a:rPr lang="en-US" sz="1000" b="1" kern="0" spc="200" dirty="0">
                <a:solidFill>
                  <a:srgbClr val="00D4FF"/>
                </a:solidFill>
              </a:rPr>
              <a:t>TOP 3 ENTERPRISE PoCs</a:t>
            </a:r>
            <a:endParaRPr lang="en-US" sz="1000" dirty="0"/>
          </a:p>
        </p:txBody>
      </p:sp>
      <p:sp>
        <p:nvSpPr>
          <p:cNvPr id="4" name="Text 2"/>
          <p:cNvSpPr/>
          <p:nvPr/>
        </p:nvSpPr>
        <p:spPr>
          <a:xfrm>
            <a:off x="457200" y="402336"/>
            <a:ext cx="914400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Proof-of-Concept Canvas — High-Confidence Starting Points</a:t>
            </a:r>
            <a:endParaRPr lang="en-US" sz="1800" dirty="0"/>
          </a:p>
        </p:txBody>
      </p:sp>
      <p:sp>
        <p:nvSpPr>
          <p:cNvPr id="5" name="Shape 3"/>
          <p:cNvSpPr/>
          <p:nvPr/>
        </p:nvSpPr>
        <p:spPr>
          <a:xfrm>
            <a:off x="274320" y="1005840"/>
            <a:ext cx="11612880" cy="1783080"/>
          </a:xfrm>
          <a:prstGeom prst="roundRect">
            <a:avLst>
              <a:gd name="adj" fmla="val 5128"/>
            </a:avLst>
          </a:prstGeom>
          <a:solidFill>
            <a:srgbClr val="FFFFFF"/>
          </a:solidFill>
          <a:ln w="25400">
            <a:solidFill>
              <a:srgbClr val="8B5CF6"/>
            </a:solidFill>
            <a:prstDash val="solid"/>
          </a:ln>
          <a:effectLst>
            <a:outerShdw blurRad="63500" dist="25400" dir="2700000" algn="bl" rotWithShape="0">
              <a:srgbClr val="000000">
                <a:alpha val="10000"/>
              </a:srgbClr>
            </a:outerShdw>
          </a:effectLst>
        </p:spPr>
        <p:txBody>
          <a:bodyPr/>
          <a:lstStyle/>
          <a:p>
            <a:endParaRPr lang="en-US"/>
          </a:p>
        </p:txBody>
      </p:sp>
      <p:sp>
        <p:nvSpPr>
          <p:cNvPr id="6" name="Shape 4"/>
          <p:cNvSpPr/>
          <p:nvPr/>
        </p:nvSpPr>
        <p:spPr>
          <a:xfrm>
            <a:off x="274320" y="1005840"/>
            <a:ext cx="1371600" cy="1783080"/>
          </a:xfrm>
          <a:prstGeom prst="roundRect">
            <a:avLst>
              <a:gd name="adj" fmla="val 6667"/>
            </a:avLst>
          </a:prstGeom>
          <a:solidFill>
            <a:srgbClr val="8B5CF6"/>
          </a:solidFill>
          <a:ln w="12700">
            <a:solidFill>
              <a:srgbClr val="8B5CF6"/>
            </a:solidFill>
            <a:prstDash val="solid"/>
          </a:ln>
        </p:spPr>
        <p:txBody>
          <a:bodyPr/>
          <a:lstStyle/>
          <a:p>
            <a:endParaRPr lang="en-US"/>
          </a:p>
        </p:txBody>
      </p:sp>
      <p:sp>
        <p:nvSpPr>
          <p:cNvPr id="7" name="Text 5"/>
          <p:cNvSpPr/>
          <p:nvPr/>
        </p:nvSpPr>
        <p:spPr>
          <a:xfrm>
            <a:off x="274320" y="1005840"/>
            <a:ext cx="1371600" cy="548640"/>
          </a:xfrm>
          <a:prstGeom prst="rect">
            <a:avLst/>
          </a:prstGeom>
          <a:noFill/>
          <a:ln/>
        </p:spPr>
        <p:txBody>
          <a:bodyPr wrap="square" lIns="0" tIns="0" rIns="0" bIns="0" rtlCol="0" anchor="ctr"/>
          <a:lstStyle/>
          <a:p>
            <a:pPr marL="0" indent="0" algn="ctr">
              <a:buNone/>
            </a:pPr>
            <a:r>
              <a:rPr lang="en-US" sz="900" b="1" dirty="0">
                <a:solidFill>
                  <a:srgbClr val="FFFFFF"/>
                </a:solidFill>
              </a:rPr>
              <a:t>PoC 1</a:t>
            </a:r>
            <a:endParaRPr lang="en-US" sz="900" dirty="0"/>
          </a:p>
        </p:txBody>
      </p:sp>
      <p:sp>
        <p:nvSpPr>
          <p:cNvPr id="8" name="Text 6"/>
          <p:cNvSpPr/>
          <p:nvPr/>
        </p:nvSpPr>
        <p:spPr>
          <a:xfrm>
            <a:off x="274320" y="1508760"/>
            <a:ext cx="1371600" cy="365760"/>
          </a:xfrm>
          <a:prstGeom prst="rect">
            <a:avLst/>
          </a:prstGeom>
          <a:noFill/>
          <a:ln/>
        </p:spPr>
        <p:txBody>
          <a:bodyPr wrap="square" lIns="0" tIns="0" rIns="0" bIns="0" rtlCol="0" anchor="ctr"/>
          <a:lstStyle/>
          <a:p>
            <a:pPr marL="0" indent="0" algn="ctr">
              <a:buNone/>
            </a:pPr>
            <a:r>
              <a:rPr lang="en-US" sz="1100" b="1" dirty="0">
                <a:solidFill>
                  <a:srgbClr val="FFFFFF"/>
                </a:solidFill>
              </a:rPr>
              <a:t>8 weeks</a:t>
            </a:r>
            <a:endParaRPr lang="en-US" sz="1100" dirty="0"/>
          </a:p>
        </p:txBody>
      </p:sp>
      <p:sp>
        <p:nvSpPr>
          <p:cNvPr id="9" name="Text 7"/>
          <p:cNvSpPr/>
          <p:nvPr/>
        </p:nvSpPr>
        <p:spPr>
          <a:xfrm>
            <a:off x="274320" y="1828800"/>
            <a:ext cx="1371600" cy="274320"/>
          </a:xfrm>
          <a:prstGeom prst="rect">
            <a:avLst/>
          </a:prstGeom>
          <a:noFill/>
          <a:ln/>
        </p:spPr>
        <p:txBody>
          <a:bodyPr wrap="square" lIns="0" tIns="0" rIns="0" bIns="0" rtlCol="0" anchor="ctr"/>
          <a:lstStyle/>
          <a:p>
            <a:pPr marL="0" indent="0" algn="ctr">
              <a:buNone/>
            </a:pPr>
            <a:r>
              <a:rPr lang="en-US" sz="750" dirty="0">
                <a:solidFill>
                  <a:srgbClr val="FFFFFF"/>
                </a:solidFill>
              </a:rPr>
              <a:t>delivery</a:t>
            </a:r>
            <a:endParaRPr lang="en-US" sz="750" dirty="0"/>
          </a:p>
        </p:txBody>
      </p:sp>
      <p:sp>
        <p:nvSpPr>
          <p:cNvPr id="10" name="Text 8"/>
          <p:cNvSpPr/>
          <p:nvPr/>
        </p:nvSpPr>
        <p:spPr>
          <a:xfrm>
            <a:off x="1828800" y="1078992"/>
            <a:ext cx="9875520" cy="365760"/>
          </a:xfrm>
          <a:prstGeom prst="rect">
            <a:avLst/>
          </a:prstGeom>
          <a:noFill/>
          <a:ln/>
        </p:spPr>
        <p:txBody>
          <a:bodyPr wrap="square" lIns="0" tIns="0" rIns="0" bIns="0" rtlCol="0" anchor="ctr"/>
          <a:lstStyle/>
          <a:p>
            <a:pPr marL="0" indent="0">
              <a:buNone/>
            </a:pPr>
            <a:r>
              <a:rPr lang="en-US" sz="1300" b="1" dirty="0">
                <a:solidFill>
                  <a:srgbClr val="1E293B"/>
                </a:solidFill>
                <a:latin typeface="Cambria" pitchFamily="34" charset="0"/>
                <a:ea typeface="Cambria" pitchFamily="34" charset="-122"/>
                <a:cs typeface="Cambria" pitchFamily="34" charset="-120"/>
              </a:rPr>
              <a:t>Requirement-to-Code Agent</a:t>
            </a:r>
            <a:endParaRPr lang="en-US" sz="1300" dirty="0"/>
          </a:p>
        </p:txBody>
      </p:sp>
      <p:sp>
        <p:nvSpPr>
          <p:cNvPr id="11" name="Text 9"/>
          <p:cNvSpPr/>
          <p:nvPr/>
        </p:nvSpPr>
        <p:spPr>
          <a:xfrm>
            <a:off x="1828800" y="1481328"/>
            <a:ext cx="1920240" cy="256032"/>
          </a:xfrm>
          <a:prstGeom prst="rect">
            <a:avLst/>
          </a:prstGeom>
          <a:noFill/>
          <a:ln/>
        </p:spPr>
        <p:txBody>
          <a:bodyPr wrap="square" lIns="0" tIns="0" rIns="0" bIns="0" rtlCol="0" anchor="ctr"/>
          <a:lstStyle/>
          <a:p>
            <a:pPr marL="0" indent="0">
              <a:buNone/>
            </a:pPr>
            <a:r>
              <a:rPr lang="en-US" sz="750" b="1" dirty="0">
                <a:solidFill>
                  <a:srgbClr val="8B5CF6"/>
                </a:solidFill>
              </a:rPr>
              <a:t>PROBLEM</a:t>
            </a:r>
            <a:endParaRPr lang="en-US" sz="750" dirty="0"/>
          </a:p>
        </p:txBody>
      </p:sp>
      <p:sp>
        <p:nvSpPr>
          <p:cNvPr id="12" name="Text 10"/>
          <p:cNvSpPr/>
          <p:nvPr/>
        </p:nvSpPr>
        <p:spPr>
          <a:xfrm>
            <a:off x="1828800" y="1719072"/>
            <a:ext cx="1920240" cy="987552"/>
          </a:xfrm>
          <a:prstGeom prst="rect">
            <a:avLst/>
          </a:prstGeom>
          <a:noFill/>
          <a:ln/>
        </p:spPr>
        <p:txBody>
          <a:bodyPr wrap="square" lIns="0" tIns="0" rIns="0" bIns="0" rtlCol="0" anchor="ctr"/>
          <a:lstStyle/>
          <a:p>
            <a:pPr marL="0" indent="0">
              <a:buNone/>
            </a:pPr>
            <a:r>
              <a:rPr lang="en-US" sz="800" dirty="0">
                <a:solidFill>
                  <a:srgbClr val="1E293B"/>
                </a:solidFill>
              </a:rPr>
              <a:t>50% of dev time is requirements clarification &amp; rework across team handoffs</a:t>
            </a:r>
            <a:endParaRPr lang="en-US" sz="800" dirty="0"/>
          </a:p>
        </p:txBody>
      </p:sp>
      <p:sp>
        <p:nvSpPr>
          <p:cNvPr id="13" name="Text 11"/>
          <p:cNvSpPr/>
          <p:nvPr/>
        </p:nvSpPr>
        <p:spPr>
          <a:xfrm>
            <a:off x="3840480" y="1481328"/>
            <a:ext cx="1920240" cy="256032"/>
          </a:xfrm>
          <a:prstGeom prst="rect">
            <a:avLst/>
          </a:prstGeom>
          <a:noFill/>
          <a:ln/>
        </p:spPr>
        <p:txBody>
          <a:bodyPr wrap="square" lIns="0" tIns="0" rIns="0" bIns="0" rtlCol="0" anchor="ctr"/>
          <a:lstStyle/>
          <a:p>
            <a:pPr marL="0" indent="0">
              <a:buNone/>
            </a:pPr>
            <a:r>
              <a:rPr lang="en-US" sz="750" b="1" dirty="0">
                <a:solidFill>
                  <a:srgbClr val="8B5CF6"/>
                </a:solidFill>
              </a:rPr>
              <a:t>SOLUTION</a:t>
            </a:r>
            <a:endParaRPr lang="en-US" sz="750" dirty="0"/>
          </a:p>
        </p:txBody>
      </p:sp>
      <p:sp>
        <p:nvSpPr>
          <p:cNvPr id="14" name="Text 12"/>
          <p:cNvSpPr/>
          <p:nvPr/>
        </p:nvSpPr>
        <p:spPr>
          <a:xfrm>
            <a:off x="3840480" y="1719072"/>
            <a:ext cx="1920240" cy="987552"/>
          </a:xfrm>
          <a:prstGeom prst="rect">
            <a:avLst/>
          </a:prstGeom>
          <a:noFill/>
          <a:ln/>
        </p:spPr>
        <p:txBody>
          <a:bodyPr wrap="square" lIns="0" tIns="0" rIns="0" bIns="0" rtlCol="0" anchor="ctr"/>
          <a:lstStyle/>
          <a:p>
            <a:pPr marL="0" indent="0">
              <a:buNone/>
            </a:pPr>
            <a:r>
              <a:rPr lang="en-US" sz="800" dirty="0">
                <a:solidFill>
                  <a:srgbClr val="1E293B"/>
                </a:solidFill>
              </a:rPr>
              <a:t>Agent reads Jira epics → clarifies ambiguity → generates code stubs + unit tests → creates PR</a:t>
            </a:r>
            <a:endParaRPr lang="en-US" sz="800" dirty="0"/>
          </a:p>
        </p:txBody>
      </p:sp>
      <p:sp>
        <p:nvSpPr>
          <p:cNvPr id="15" name="Text 13"/>
          <p:cNvSpPr/>
          <p:nvPr/>
        </p:nvSpPr>
        <p:spPr>
          <a:xfrm>
            <a:off x="5852160" y="1481328"/>
            <a:ext cx="1920240" cy="256032"/>
          </a:xfrm>
          <a:prstGeom prst="rect">
            <a:avLst/>
          </a:prstGeom>
          <a:noFill/>
          <a:ln/>
        </p:spPr>
        <p:txBody>
          <a:bodyPr wrap="square" lIns="0" tIns="0" rIns="0" bIns="0" rtlCol="0" anchor="ctr"/>
          <a:lstStyle/>
          <a:p>
            <a:pPr marL="0" indent="0">
              <a:buNone/>
            </a:pPr>
            <a:r>
              <a:rPr lang="en-US" sz="750" b="1" dirty="0">
                <a:solidFill>
                  <a:srgbClr val="8B5CF6"/>
                </a:solidFill>
              </a:rPr>
              <a:t>ARCHITECTURE</a:t>
            </a:r>
            <a:endParaRPr lang="en-US" sz="750" dirty="0"/>
          </a:p>
        </p:txBody>
      </p:sp>
      <p:sp>
        <p:nvSpPr>
          <p:cNvPr id="16" name="Text 14"/>
          <p:cNvSpPr/>
          <p:nvPr/>
        </p:nvSpPr>
        <p:spPr>
          <a:xfrm>
            <a:off x="5852160" y="1719072"/>
            <a:ext cx="1920240" cy="987552"/>
          </a:xfrm>
          <a:prstGeom prst="rect">
            <a:avLst/>
          </a:prstGeom>
          <a:noFill/>
          <a:ln/>
        </p:spPr>
        <p:txBody>
          <a:bodyPr wrap="square" lIns="0" tIns="0" rIns="0" bIns="0" rtlCol="0" anchor="ctr"/>
          <a:lstStyle/>
          <a:p>
            <a:pPr marL="0" indent="0">
              <a:buNone/>
            </a:pPr>
            <a:r>
              <a:rPr lang="en-US" sz="800" dirty="0">
                <a:solidFill>
                  <a:srgbClr val="1E293B"/>
                </a:solidFill>
              </a:rPr>
              <a:t>Jira MCP → Requirements Agent → Developer Agent → GitHub MCP</a:t>
            </a:r>
            <a:endParaRPr lang="en-US" sz="800" dirty="0"/>
          </a:p>
        </p:txBody>
      </p:sp>
      <p:sp>
        <p:nvSpPr>
          <p:cNvPr id="17" name="Text 15"/>
          <p:cNvSpPr/>
          <p:nvPr/>
        </p:nvSpPr>
        <p:spPr>
          <a:xfrm>
            <a:off x="7863840" y="1481328"/>
            <a:ext cx="1920240" cy="256032"/>
          </a:xfrm>
          <a:prstGeom prst="rect">
            <a:avLst/>
          </a:prstGeom>
          <a:noFill/>
          <a:ln/>
        </p:spPr>
        <p:txBody>
          <a:bodyPr wrap="square" lIns="0" tIns="0" rIns="0" bIns="0" rtlCol="0" anchor="ctr"/>
          <a:lstStyle/>
          <a:p>
            <a:pPr marL="0" indent="0">
              <a:buNone/>
            </a:pPr>
            <a:r>
              <a:rPr lang="en-US" sz="750" b="1" dirty="0">
                <a:solidFill>
                  <a:srgbClr val="8B5CF6"/>
                </a:solidFill>
              </a:rPr>
              <a:t>EXPECTED ROI</a:t>
            </a:r>
            <a:endParaRPr lang="en-US" sz="750" dirty="0"/>
          </a:p>
        </p:txBody>
      </p:sp>
      <p:sp>
        <p:nvSpPr>
          <p:cNvPr id="18" name="Text 16"/>
          <p:cNvSpPr/>
          <p:nvPr/>
        </p:nvSpPr>
        <p:spPr>
          <a:xfrm>
            <a:off x="7863840" y="1719072"/>
            <a:ext cx="1920240" cy="987552"/>
          </a:xfrm>
          <a:prstGeom prst="rect">
            <a:avLst/>
          </a:prstGeom>
          <a:noFill/>
          <a:ln/>
        </p:spPr>
        <p:txBody>
          <a:bodyPr wrap="square" lIns="0" tIns="0" rIns="0" bIns="0" rtlCol="0" anchor="ctr"/>
          <a:lstStyle/>
          <a:p>
            <a:pPr marL="0" indent="0">
              <a:buNone/>
            </a:pPr>
            <a:r>
              <a:rPr lang="en-US" sz="800" dirty="0">
                <a:solidFill>
                  <a:srgbClr val="1E293B"/>
                </a:solidFill>
              </a:rPr>
              <a:t>35–55% faster story-to-PR</a:t>
            </a:r>
            <a:endParaRPr lang="en-US" sz="800" dirty="0"/>
          </a:p>
        </p:txBody>
      </p:sp>
      <p:sp>
        <p:nvSpPr>
          <p:cNvPr id="19" name="Text 17"/>
          <p:cNvSpPr/>
          <p:nvPr/>
        </p:nvSpPr>
        <p:spPr>
          <a:xfrm>
            <a:off x="9875520" y="1481328"/>
            <a:ext cx="1920240" cy="256032"/>
          </a:xfrm>
          <a:prstGeom prst="rect">
            <a:avLst/>
          </a:prstGeom>
          <a:noFill/>
          <a:ln/>
        </p:spPr>
        <p:txBody>
          <a:bodyPr wrap="square" lIns="0" tIns="0" rIns="0" bIns="0" rtlCol="0" anchor="ctr"/>
          <a:lstStyle/>
          <a:p>
            <a:pPr marL="0" indent="0">
              <a:buNone/>
            </a:pPr>
            <a:r>
              <a:rPr lang="en-US" sz="750" b="1" dirty="0">
                <a:solidFill>
                  <a:srgbClr val="8B5CF6"/>
                </a:solidFill>
              </a:rPr>
              <a:t>KPIs</a:t>
            </a:r>
            <a:endParaRPr lang="en-US" sz="750" dirty="0"/>
          </a:p>
        </p:txBody>
      </p:sp>
      <p:sp>
        <p:nvSpPr>
          <p:cNvPr id="20" name="Text 18"/>
          <p:cNvSpPr/>
          <p:nvPr/>
        </p:nvSpPr>
        <p:spPr>
          <a:xfrm>
            <a:off x="9875520" y="1719072"/>
            <a:ext cx="1920240" cy="987552"/>
          </a:xfrm>
          <a:prstGeom prst="rect">
            <a:avLst/>
          </a:prstGeom>
          <a:noFill/>
          <a:ln/>
        </p:spPr>
        <p:txBody>
          <a:bodyPr wrap="square" lIns="0" tIns="0" rIns="0" bIns="0" rtlCol="0" anchor="ctr"/>
          <a:lstStyle/>
          <a:p>
            <a:pPr marL="0" indent="0">
              <a:buNone/>
            </a:pPr>
            <a:r>
              <a:rPr lang="en-US" sz="800" dirty="0">
                <a:solidFill>
                  <a:srgbClr val="1E293B"/>
                </a:solidFill>
              </a:rPr>
              <a:t>Story lead time · Rework rate · PR quality score</a:t>
            </a:r>
            <a:endParaRPr lang="en-US" sz="800" dirty="0"/>
          </a:p>
        </p:txBody>
      </p:sp>
      <p:sp>
        <p:nvSpPr>
          <p:cNvPr id="21" name="Shape 19"/>
          <p:cNvSpPr/>
          <p:nvPr/>
        </p:nvSpPr>
        <p:spPr>
          <a:xfrm>
            <a:off x="274320" y="2926080"/>
            <a:ext cx="11612880" cy="1783080"/>
          </a:xfrm>
          <a:prstGeom prst="roundRect">
            <a:avLst>
              <a:gd name="adj" fmla="val 5128"/>
            </a:avLst>
          </a:prstGeom>
          <a:solidFill>
            <a:srgbClr val="FFFFFF"/>
          </a:solidFill>
          <a:ln w="25400">
            <a:solidFill>
              <a:srgbClr val="10B981"/>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20"/>
          <p:cNvSpPr/>
          <p:nvPr/>
        </p:nvSpPr>
        <p:spPr>
          <a:xfrm>
            <a:off x="274320" y="2926080"/>
            <a:ext cx="1371600" cy="1783080"/>
          </a:xfrm>
          <a:prstGeom prst="roundRect">
            <a:avLst>
              <a:gd name="adj" fmla="val 6667"/>
            </a:avLst>
          </a:prstGeom>
          <a:solidFill>
            <a:srgbClr val="10B981"/>
          </a:solidFill>
          <a:ln w="12700">
            <a:solidFill>
              <a:srgbClr val="10B981"/>
            </a:solidFill>
            <a:prstDash val="solid"/>
          </a:ln>
        </p:spPr>
        <p:txBody>
          <a:bodyPr/>
          <a:lstStyle/>
          <a:p>
            <a:endParaRPr lang="en-US"/>
          </a:p>
        </p:txBody>
      </p:sp>
      <p:sp>
        <p:nvSpPr>
          <p:cNvPr id="23" name="Text 21"/>
          <p:cNvSpPr/>
          <p:nvPr/>
        </p:nvSpPr>
        <p:spPr>
          <a:xfrm>
            <a:off x="274320" y="2926080"/>
            <a:ext cx="1371600" cy="548640"/>
          </a:xfrm>
          <a:prstGeom prst="rect">
            <a:avLst/>
          </a:prstGeom>
          <a:noFill/>
          <a:ln/>
        </p:spPr>
        <p:txBody>
          <a:bodyPr wrap="square" lIns="0" tIns="0" rIns="0" bIns="0" rtlCol="0" anchor="ctr"/>
          <a:lstStyle/>
          <a:p>
            <a:pPr marL="0" indent="0" algn="ctr">
              <a:buNone/>
            </a:pPr>
            <a:r>
              <a:rPr lang="en-US" sz="900" b="1" dirty="0">
                <a:solidFill>
                  <a:srgbClr val="FFFFFF"/>
                </a:solidFill>
              </a:rPr>
              <a:t>PoC 2</a:t>
            </a:r>
            <a:endParaRPr lang="en-US" sz="900" dirty="0"/>
          </a:p>
        </p:txBody>
      </p:sp>
      <p:sp>
        <p:nvSpPr>
          <p:cNvPr id="24" name="Text 22"/>
          <p:cNvSpPr/>
          <p:nvPr/>
        </p:nvSpPr>
        <p:spPr>
          <a:xfrm>
            <a:off x="274320" y="3429000"/>
            <a:ext cx="1371600" cy="365760"/>
          </a:xfrm>
          <a:prstGeom prst="rect">
            <a:avLst/>
          </a:prstGeom>
          <a:noFill/>
          <a:ln/>
        </p:spPr>
        <p:txBody>
          <a:bodyPr wrap="square" lIns="0" tIns="0" rIns="0" bIns="0" rtlCol="0" anchor="ctr"/>
          <a:lstStyle/>
          <a:p>
            <a:pPr marL="0" indent="0" algn="ctr">
              <a:buNone/>
            </a:pPr>
            <a:r>
              <a:rPr lang="en-US" sz="1100" b="1" dirty="0">
                <a:solidFill>
                  <a:srgbClr val="FFFFFF"/>
                </a:solidFill>
              </a:rPr>
              <a:t>6 weeks</a:t>
            </a:r>
            <a:endParaRPr lang="en-US" sz="1100" dirty="0"/>
          </a:p>
        </p:txBody>
      </p:sp>
      <p:sp>
        <p:nvSpPr>
          <p:cNvPr id="25" name="Text 23"/>
          <p:cNvSpPr/>
          <p:nvPr/>
        </p:nvSpPr>
        <p:spPr>
          <a:xfrm>
            <a:off x="274320" y="3749040"/>
            <a:ext cx="1371600" cy="274320"/>
          </a:xfrm>
          <a:prstGeom prst="rect">
            <a:avLst/>
          </a:prstGeom>
          <a:noFill/>
          <a:ln/>
        </p:spPr>
        <p:txBody>
          <a:bodyPr wrap="square" lIns="0" tIns="0" rIns="0" bIns="0" rtlCol="0" anchor="ctr"/>
          <a:lstStyle/>
          <a:p>
            <a:pPr marL="0" indent="0" algn="ctr">
              <a:buNone/>
            </a:pPr>
            <a:r>
              <a:rPr lang="en-US" sz="750" dirty="0">
                <a:solidFill>
                  <a:srgbClr val="FFFFFF"/>
                </a:solidFill>
              </a:rPr>
              <a:t>delivery</a:t>
            </a:r>
            <a:endParaRPr lang="en-US" sz="750" dirty="0"/>
          </a:p>
        </p:txBody>
      </p:sp>
      <p:sp>
        <p:nvSpPr>
          <p:cNvPr id="26" name="Text 24"/>
          <p:cNvSpPr/>
          <p:nvPr/>
        </p:nvSpPr>
        <p:spPr>
          <a:xfrm>
            <a:off x="1828800" y="2999232"/>
            <a:ext cx="9875520" cy="365760"/>
          </a:xfrm>
          <a:prstGeom prst="rect">
            <a:avLst/>
          </a:prstGeom>
          <a:noFill/>
          <a:ln/>
        </p:spPr>
        <p:txBody>
          <a:bodyPr wrap="square" lIns="0" tIns="0" rIns="0" bIns="0" rtlCol="0" anchor="ctr"/>
          <a:lstStyle/>
          <a:p>
            <a:pPr marL="0" indent="0">
              <a:buNone/>
            </a:pPr>
            <a:r>
              <a:rPr lang="en-US" sz="1300" b="1" dirty="0">
                <a:solidFill>
                  <a:srgbClr val="1E293B"/>
                </a:solidFill>
                <a:latin typeface="Cambria" pitchFamily="34" charset="0"/>
                <a:ea typeface="Cambria" pitchFamily="34" charset="-122"/>
                <a:cs typeface="Cambria" pitchFamily="34" charset="-120"/>
              </a:rPr>
              <a:t>AI Code Review Agent</a:t>
            </a:r>
            <a:endParaRPr lang="en-US" sz="1300" dirty="0"/>
          </a:p>
        </p:txBody>
      </p:sp>
      <p:sp>
        <p:nvSpPr>
          <p:cNvPr id="27" name="Text 25"/>
          <p:cNvSpPr/>
          <p:nvPr/>
        </p:nvSpPr>
        <p:spPr>
          <a:xfrm>
            <a:off x="1828800" y="3401568"/>
            <a:ext cx="1920240" cy="256032"/>
          </a:xfrm>
          <a:prstGeom prst="rect">
            <a:avLst/>
          </a:prstGeom>
          <a:noFill/>
          <a:ln/>
        </p:spPr>
        <p:txBody>
          <a:bodyPr wrap="square" lIns="0" tIns="0" rIns="0" bIns="0" rtlCol="0" anchor="ctr"/>
          <a:lstStyle/>
          <a:p>
            <a:pPr marL="0" indent="0">
              <a:buNone/>
            </a:pPr>
            <a:r>
              <a:rPr lang="en-US" sz="750" b="1" dirty="0">
                <a:solidFill>
                  <a:srgbClr val="10B981"/>
                </a:solidFill>
              </a:rPr>
              <a:t>PROBLEM</a:t>
            </a:r>
            <a:endParaRPr lang="en-US" sz="750" dirty="0"/>
          </a:p>
        </p:txBody>
      </p:sp>
      <p:sp>
        <p:nvSpPr>
          <p:cNvPr id="28" name="Text 26"/>
          <p:cNvSpPr/>
          <p:nvPr/>
        </p:nvSpPr>
        <p:spPr>
          <a:xfrm>
            <a:off x="1828800" y="3639312"/>
            <a:ext cx="1920240" cy="987552"/>
          </a:xfrm>
          <a:prstGeom prst="rect">
            <a:avLst/>
          </a:prstGeom>
          <a:noFill/>
          <a:ln/>
        </p:spPr>
        <p:txBody>
          <a:bodyPr wrap="square" lIns="0" tIns="0" rIns="0" bIns="0" rtlCol="0" anchor="ctr"/>
          <a:lstStyle/>
          <a:p>
            <a:pPr marL="0" indent="0">
              <a:buNone/>
            </a:pPr>
            <a:r>
              <a:rPr lang="en-US" sz="800" dirty="0">
                <a:solidFill>
                  <a:srgbClr val="1E293B"/>
                </a:solidFill>
              </a:rPr>
              <a:t>Code review is a bottleneck — avg 3.2 day wait time, inconsistent quality standards</a:t>
            </a:r>
            <a:endParaRPr lang="en-US" sz="800" dirty="0"/>
          </a:p>
        </p:txBody>
      </p:sp>
      <p:sp>
        <p:nvSpPr>
          <p:cNvPr id="29" name="Text 27"/>
          <p:cNvSpPr/>
          <p:nvPr/>
        </p:nvSpPr>
        <p:spPr>
          <a:xfrm>
            <a:off x="3840480" y="3401568"/>
            <a:ext cx="1920240" cy="256032"/>
          </a:xfrm>
          <a:prstGeom prst="rect">
            <a:avLst/>
          </a:prstGeom>
          <a:noFill/>
          <a:ln/>
        </p:spPr>
        <p:txBody>
          <a:bodyPr wrap="square" lIns="0" tIns="0" rIns="0" bIns="0" rtlCol="0" anchor="ctr"/>
          <a:lstStyle/>
          <a:p>
            <a:pPr marL="0" indent="0">
              <a:buNone/>
            </a:pPr>
            <a:r>
              <a:rPr lang="en-US" sz="750" b="1" dirty="0">
                <a:solidFill>
                  <a:srgbClr val="10B981"/>
                </a:solidFill>
              </a:rPr>
              <a:t>SOLUTION</a:t>
            </a:r>
            <a:endParaRPr lang="en-US" sz="750" dirty="0"/>
          </a:p>
        </p:txBody>
      </p:sp>
      <p:sp>
        <p:nvSpPr>
          <p:cNvPr id="30" name="Text 28"/>
          <p:cNvSpPr/>
          <p:nvPr/>
        </p:nvSpPr>
        <p:spPr>
          <a:xfrm>
            <a:off x="3840480" y="3639312"/>
            <a:ext cx="1920240" cy="987552"/>
          </a:xfrm>
          <a:prstGeom prst="rect">
            <a:avLst/>
          </a:prstGeom>
          <a:noFill/>
          <a:ln/>
        </p:spPr>
        <p:txBody>
          <a:bodyPr wrap="square" lIns="0" tIns="0" rIns="0" bIns="0" rtlCol="0" anchor="ctr"/>
          <a:lstStyle/>
          <a:p>
            <a:pPr marL="0" indent="0">
              <a:buNone/>
            </a:pPr>
            <a:r>
              <a:rPr lang="en-US" sz="800" dirty="0">
                <a:solidFill>
                  <a:srgbClr val="1E293B"/>
                </a:solidFill>
              </a:rPr>
              <a:t>Agent reviews every PR for bugs, security issues, standards violations; posts inline comments &amp; merge recommendation</a:t>
            </a:r>
            <a:endParaRPr lang="en-US" sz="800" dirty="0"/>
          </a:p>
        </p:txBody>
      </p:sp>
      <p:sp>
        <p:nvSpPr>
          <p:cNvPr id="31" name="Text 29"/>
          <p:cNvSpPr/>
          <p:nvPr/>
        </p:nvSpPr>
        <p:spPr>
          <a:xfrm>
            <a:off x="5852160" y="3401568"/>
            <a:ext cx="1920240" cy="256032"/>
          </a:xfrm>
          <a:prstGeom prst="rect">
            <a:avLst/>
          </a:prstGeom>
          <a:noFill/>
          <a:ln/>
        </p:spPr>
        <p:txBody>
          <a:bodyPr wrap="square" lIns="0" tIns="0" rIns="0" bIns="0" rtlCol="0" anchor="ctr"/>
          <a:lstStyle/>
          <a:p>
            <a:pPr marL="0" indent="0">
              <a:buNone/>
            </a:pPr>
            <a:r>
              <a:rPr lang="en-US" sz="750" b="1" dirty="0">
                <a:solidFill>
                  <a:srgbClr val="10B981"/>
                </a:solidFill>
              </a:rPr>
              <a:t>ARCHITECTURE</a:t>
            </a:r>
            <a:endParaRPr lang="en-US" sz="750" dirty="0"/>
          </a:p>
        </p:txBody>
      </p:sp>
      <p:sp>
        <p:nvSpPr>
          <p:cNvPr id="32" name="Text 30"/>
          <p:cNvSpPr/>
          <p:nvPr/>
        </p:nvSpPr>
        <p:spPr>
          <a:xfrm>
            <a:off x="5852160" y="3639312"/>
            <a:ext cx="1920240" cy="987552"/>
          </a:xfrm>
          <a:prstGeom prst="rect">
            <a:avLst/>
          </a:prstGeom>
          <a:noFill/>
          <a:ln/>
        </p:spPr>
        <p:txBody>
          <a:bodyPr wrap="square" lIns="0" tIns="0" rIns="0" bIns="0" rtlCol="0" anchor="ctr"/>
          <a:lstStyle/>
          <a:p>
            <a:pPr marL="0" indent="0">
              <a:buNone/>
            </a:pPr>
            <a:r>
              <a:rPr lang="en-US" sz="800" dirty="0">
                <a:solidFill>
                  <a:srgbClr val="1E293B"/>
                </a:solidFill>
              </a:rPr>
              <a:t>GitHub MCP → Code Review Agent → Jira MCP (create defects) → Slack notification</a:t>
            </a:r>
            <a:endParaRPr lang="en-US" sz="800" dirty="0"/>
          </a:p>
        </p:txBody>
      </p:sp>
      <p:sp>
        <p:nvSpPr>
          <p:cNvPr id="33" name="Text 31"/>
          <p:cNvSpPr/>
          <p:nvPr/>
        </p:nvSpPr>
        <p:spPr>
          <a:xfrm>
            <a:off x="7863840" y="3401568"/>
            <a:ext cx="1920240" cy="256032"/>
          </a:xfrm>
          <a:prstGeom prst="rect">
            <a:avLst/>
          </a:prstGeom>
          <a:noFill/>
          <a:ln/>
        </p:spPr>
        <p:txBody>
          <a:bodyPr wrap="square" lIns="0" tIns="0" rIns="0" bIns="0" rtlCol="0" anchor="ctr"/>
          <a:lstStyle/>
          <a:p>
            <a:pPr marL="0" indent="0">
              <a:buNone/>
            </a:pPr>
            <a:r>
              <a:rPr lang="en-US" sz="750" b="1" dirty="0">
                <a:solidFill>
                  <a:srgbClr val="10B981"/>
                </a:solidFill>
              </a:rPr>
              <a:t>EXPECTED ROI</a:t>
            </a:r>
            <a:endParaRPr lang="en-US" sz="750" dirty="0"/>
          </a:p>
        </p:txBody>
      </p:sp>
      <p:sp>
        <p:nvSpPr>
          <p:cNvPr id="34" name="Text 32"/>
          <p:cNvSpPr/>
          <p:nvPr/>
        </p:nvSpPr>
        <p:spPr>
          <a:xfrm>
            <a:off x="7863840" y="3639312"/>
            <a:ext cx="1920240" cy="987552"/>
          </a:xfrm>
          <a:prstGeom prst="rect">
            <a:avLst/>
          </a:prstGeom>
          <a:noFill/>
          <a:ln/>
        </p:spPr>
        <p:txBody>
          <a:bodyPr wrap="square" lIns="0" tIns="0" rIns="0" bIns="0" rtlCol="0" anchor="ctr"/>
          <a:lstStyle/>
          <a:p>
            <a:pPr marL="0" indent="0">
              <a:buNone/>
            </a:pPr>
            <a:r>
              <a:rPr lang="en-US" sz="800" dirty="0">
                <a:solidFill>
                  <a:srgbClr val="1E293B"/>
                </a:solidFill>
              </a:rPr>
              <a:t>80% of reviews in &lt;5 min</a:t>
            </a:r>
            <a:endParaRPr lang="en-US" sz="800" dirty="0"/>
          </a:p>
        </p:txBody>
      </p:sp>
      <p:sp>
        <p:nvSpPr>
          <p:cNvPr id="35" name="Text 33"/>
          <p:cNvSpPr/>
          <p:nvPr/>
        </p:nvSpPr>
        <p:spPr>
          <a:xfrm>
            <a:off x="9875520" y="3401568"/>
            <a:ext cx="1920240" cy="256032"/>
          </a:xfrm>
          <a:prstGeom prst="rect">
            <a:avLst/>
          </a:prstGeom>
          <a:noFill/>
          <a:ln/>
        </p:spPr>
        <p:txBody>
          <a:bodyPr wrap="square" lIns="0" tIns="0" rIns="0" bIns="0" rtlCol="0" anchor="ctr"/>
          <a:lstStyle/>
          <a:p>
            <a:pPr marL="0" indent="0">
              <a:buNone/>
            </a:pPr>
            <a:r>
              <a:rPr lang="en-US" sz="750" b="1" dirty="0">
                <a:solidFill>
                  <a:srgbClr val="10B981"/>
                </a:solidFill>
              </a:rPr>
              <a:t>KPIs</a:t>
            </a:r>
            <a:endParaRPr lang="en-US" sz="750" dirty="0"/>
          </a:p>
        </p:txBody>
      </p:sp>
      <p:sp>
        <p:nvSpPr>
          <p:cNvPr id="36" name="Text 34"/>
          <p:cNvSpPr/>
          <p:nvPr/>
        </p:nvSpPr>
        <p:spPr>
          <a:xfrm>
            <a:off x="9875520" y="3639312"/>
            <a:ext cx="1920240" cy="987552"/>
          </a:xfrm>
          <a:prstGeom prst="rect">
            <a:avLst/>
          </a:prstGeom>
          <a:noFill/>
          <a:ln/>
        </p:spPr>
        <p:txBody>
          <a:bodyPr wrap="square" lIns="0" tIns="0" rIns="0" bIns="0" rtlCol="0" anchor="ctr"/>
          <a:lstStyle/>
          <a:p>
            <a:pPr marL="0" indent="0">
              <a:buNone/>
            </a:pPr>
            <a:r>
              <a:rPr lang="en-US" sz="800" dirty="0">
                <a:solidFill>
                  <a:srgbClr val="1E293B"/>
                </a:solidFill>
              </a:rPr>
              <a:t>Review cycle time · Defect escape rate · Security findings</a:t>
            </a:r>
            <a:endParaRPr lang="en-US" sz="800" dirty="0"/>
          </a:p>
        </p:txBody>
      </p:sp>
      <p:sp>
        <p:nvSpPr>
          <p:cNvPr id="37" name="Shape 35"/>
          <p:cNvSpPr/>
          <p:nvPr/>
        </p:nvSpPr>
        <p:spPr>
          <a:xfrm>
            <a:off x="274320" y="4846320"/>
            <a:ext cx="11612880" cy="1783080"/>
          </a:xfrm>
          <a:prstGeom prst="roundRect">
            <a:avLst>
              <a:gd name="adj" fmla="val 5128"/>
            </a:avLst>
          </a:prstGeom>
          <a:solidFill>
            <a:srgbClr val="FFFFFF"/>
          </a:solidFill>
          <a:ln w="25400">
            <a:solidFill>
              <a:srgbClr val="0099BB"/>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6"/>
          <p:cNvSpPr/>
          <p:nvPr/>
        </p:nvSpPr>
        <p:spPr>
          <a:xfrm>
            <a:off x="274320" y="4846320"/>
            <a:ext cx="1371600" cy="1783080"/>
          </a:xfrm>
          <a:prstGeom prst="roundRect">
            <a:avLst>
              <a:gd name="adj" fmla="val 6667"/>
            </a:avLst>
          </a:prstGeom>
          <a:solidFill>
            <a:srgbClr val="0099BB"/>
          </a:solidFill>
          <a:ln w="12700">
            <a:solidFill>
              <a:srgbClr val="0099BB"/>
            </a:solidFill>
            <a:prstDash val="solid"/>
          </a:ln>
        </p:spPr>
        <p:txBody>
          <a:bodyPr/>
          <a:lstStyle/>
          <a:p>
            <a:endParaRPr lang="en-US"/>
          </a:p>
        </p:txBody>
      </p:sp>
      <p:sp>
        <p:nvSpPr>
          <p:cNvPr id="39" name="Text 37"/>
          <p:cNvSpPr/>
          <p:nvPr/>
        </p:nvSpPr>
        <p:spPr>
          <a:xfrm>
            <a:off x="274320" y="4846320"/>
            <a:ext cx="1371600" cy="548640"/>
          </a:xfrm>
          <a:prstGeom prst="rect">
            <a:avLst/>
          </a:prstGeom>
          <a:noFill/>
          <a:ln/>
        </p:spPr>
        <p:txBody>
          <a:bodyPr wrap="square" lIns="0" tIns="0" rIns="0" bIns="0" rtlCol="0" anchor="ctr"/>
          <a:lstStyle/>
          <a:p>
            <a:pPr marL="0" indent="0" algn="ctr">
              <a:buNone/>
            </a:pPr>
            <a:r>
              <a:rPr lang="en-US" sz="900" b="1" dirty="0">
                <a:solidFill>
                  <a:srgbClr val="FFFFFF"/>
                </a:solidFill>
              </a:rPr>
              <a:t>PoC 3</a:t>
            </a:r>
            <a:endParaRPr lang="en-US" sz="900" dirty="0"/>
          </a:p>
        </p:txBody>
      </p:sp>
      <p:sp>
        <p:nvSpPr>
          <p:cNvPr id="40" name="Text 38"/>
          <p:cNvSpPr/>
          <p:nvPr/>
        </p:nvSpPr>
        <p:spPr>
          <a:xfrm>
            <a:off x="274320" y="5349240"/>
            <a:ext cx="1371600" cy="365760"/>
          </a:xfrm>
          <a:prstGeom prst="rect">
            <a:avLst/>
          </a:prstGeom>
          <a:noFill/>
          <a:ln/>
        </p:spPr>
        <p:txBody>
          <a:bodyPr wrap="square" lIns="0" tIns="0" rIns="0" bIns="0" rtlCol="0" anchor="ctr"/>
          <a:lstStyle/>
          <a:p>
            <a:pPr marL="0" indent="0" algn="ctr">
              <a:buNone/>
            </a:pPr>
            <a:r>
              <a:rPr lang="en-US" sz="1100" b="1" dirty="0">
                <a:solidFill>
                  <a:srgbClr val="FFFFFF"/>
                </a:solidFill>
              </a:rPr>
              <a:t>10 weeks</a:t>
            </a:r>
            <a:endParaRPr lang="en-US" sz="1100" dirty="0"/>
          </a:p>
        </p:txBody>
      </p:sp>
      <p:sp>
        <p:nvSpPr>
          <p:cNvPr id="41" name="Text 39"/>
          <p:cNvSpPr/>
          <p:nvPr/>
        </p:nvSpPr>
        <p:spPr>
          <a:xfrm>
            <a:off x="274320" y="5669280"/>
            <a:ext cx="1371600" cy="274320"/>
          </a:xfrm>
          <a:prstGeom prst="rect">
            <a:avLst/>
          </a:prstGeom>
          <a:noFill/>
          <a:ln/>
        </p:spPr>
        <p:txBody>
          <a:bodyPr wrap="square" lIns="0" tIns="0" rIns="0" bIns="0" rtlCol="0" anchor="ctr"/>
          <a:lstStyle/>
          <a:p>
            <a:pPr marL="0" indent="0" algn="ctr">
              <a:buNone/>
            </a:pPr>
            <a:r>
              <a:rPr lang="en-US" sz="750" dirty="0">
                <a:solidFill>
                  <a:srgbClr val="FFFFFF"/>
                </a:solidFill>
              </a:rPr>
              <a:t>delivery</a:t>
            </a:r>
            <a:endParaRPr lang="en-US" sz="750" dirty="0"/>
          </a:p>
        </p:txBody>
      </p:sp>
      <p:sp>
        <p:nvSpPr>
          <p:cNvPr id="42" name="Text 40"/>
          <p:cNvSpPr/>
          <p:nvPr/>
        </p:nvSpPr>
        <p:spPr>
          <a:xfrm>
            <a:off x="1828800" y="4919472"/>
            <a:ext cx="9875520" cy="365760"/>
          </a:xfrm>
          <a:prstGeom prst="rect">
            <a:avLst/>
          </a:prstGeom>
          <a:noFill/>
          <a:ln/>
        </p:spPr>
        <p:txBody>
          <a:bodyPr wrap="square" lIns="0" tIns="0" rIns="0" bIns="0" rtlCol="0" anchor="ctr"/>
          <a:lstStyle/>
          <a:p>
            <a:pPr marL="0" indent="0">
              <a:buNone/>
            </a:pPr>
            <a:r>
              <a:rPr lang="en-US" sz="1300" b="1" dirty="0">
                <a:solidFill>
                  <a:srgbClr val="1E293B"/>
                </a:solidFill>
                <a:latin typeface="Cambria" pitchFamily="34" charset="0"/>
                <a:ea typeface="Cambria" pitchFamily="34" charset="-122"/>
                <a:cs typeface="Cambria" pitchFamily="34" charset="-120"/>
              </a:rPr>
              <a:t>Incident Resolution Agent</a:t>
            </a:r>
            <a:endParaRPr lang="en-US" sz="1300" dirty="0"/>
          </a:p>
        </p:txBody>
      </p:sp>
      <p:sp>
        <p:nvSpPr>
          <p:cNvPr id="43" name="Text 41"/>
          <p:cNvSpPr/>
          <p:nvPr/>
        </p:nvSpPr>
        <p:spPr>
          <a:xfrm>
            <a:off x="1828800" y="5321808"/>
            <a:ext cx="1920240" cy="256032"/>
          </a:xfrm>
          <a:prstGeom prst="rect">
            <a:avLst/>
          </a:prstGeom>
          <a:noFill/>
          <a:ln/>
        </p:spPr>
        <p:txBody>
          <a:bodyPr wrap="square" lIns="0" tIns="0" rIns="0" bIns="0" rtlCol="0" anchor="ctr"/>
          <a:lstStyle/>
          <a:p>
            <a:pPr marL="0" indent="0">
              <a:buNone/>
            </a:pPr>
            <a:r>
              <a:rPr lang="en-US" sz="750" b="1" dirty="0">
                <a:solidFill>
                  <a:srgbClr val="0099BB"/>
                </a:solidFill>
              </a:rPr>
              <a:t>PROBLEM</a:t>
            </a:r>
            <a:endParaRPr lang="en-US" sz="750" dirty="0"/>
          </a:p>
        </p:txBody>
      </p:sp>
      <p:sp>
        <p:nvSpPr>
          <p:cNvPr id="44" name="Text 42"/>
          <p:cNvSpPr/>
          <p:nvPr/>
        </p:nvSpPr>
        <p:spPr>
          <a:xfrm>
            <a:off x="1828800" y="5559552"/>
            <a:ext cx="1920240" cy="987552"/>
          </a:xfrm>
          <a:prstGeom prst="rect">
            <a:avLst/>
          </a:prstGeom>
          <a:noFill/>
          <a:ln/>
        </p:spPr>
        <p:txBody>
          <a:bodyPr wrap="square" lIns="0" tIns="0" rIns="0" bIns="0" rtlCol="0" anchor="ctr"/>
          <a:lstStyle/>
          <a:p>
            <a:pPr marL="0" indent="0">
              <a:buNone/>
            </a:pPr>
            <a:r>
              <a:rPr lang="en-US" sz="800" dirty="0">
                <a:solidFill>
                  <a:srgbClr val="1E293B"/>
                </a:solidFill>
              </a:rPr>
              <a:t>Mean time to resolve (MTTR) averages 4.2 hours; manual runbook execution is error-prone</a:t>
            </a:r>
            <a:endParaRPr lang="en-US" sz="800" dirty="0"/>
          </a:p>
        </p:txBody>
      </p:sp>
      <p:sp>
        <p:nvSpPr>
          <p:cNvPr id="45" name="Text 43"/>
          <p:cNvSpPr/>
          <p:nvPr/>
        </p:nvSpPr>
        <p:spPr>
          <a:xfrm>
            <a:off x="3840480" y="5321808"/>
            <a:ext cx="1920240" cy="256032"/>
          </a:xfrm>
          <a:prstGeom prst="rect">
            <a:avLst/>
          </a:prstGeom>
          <a:noFill/>
          <a:ln/>
        </p:spPr>
        <p:txBody>
          <a:bodyPr wrap="square" lIns="0" tIns="0" rIns="0" bIns="0" rtlCol="0" anchor="ctr"/>
          <a:lstStyle/>
          <a:p>
            <a:pPr marL="0" indent="0">
              <a:buNone/>
            </a:pPr>
            <a:r>
              <a:rPr lang="en-US" sz="750" b="1" dirty="0">
                <a:solidFill>
                  <a:srgbClr val="0099BB"/>
                </a:solidFill>
              </a:rPr>
              <a:t>SOLUTION</a:t>
            </a:r>
            <a:endParaRPr lang="en-US" sz="750" dirty="0"/>
          </a:p>
        </p:txBody>
      </p:sp>
      <p:sp>
        <p:nvSpPr>
          <p:cNvPr id="46" name="Text 44"/>
          <p:cNvSpPr/>
          <p:nvPr/>
        </p:nvSpPr>
        <p:spPr>
          <a:xfrm>
            <a:off x="3840480" y="5559552"/>
            <a:ext cx="1920240" cy="987552"/>
          </a:xfrm>
          <a:prstGeom prst="rect">
            <a:avLst/>
          </a:prstGeom>
          <a:noFill/>
          <a:ln/>
        </p:spPr>
        <p:txBody>
          <a:bodyPr wrap="square" lIns="0" tIns="0" rIns="0" bIns="0" rtlCol="0" anchor="ctr"/>
          <a:lstStyle/>
          <a:p>
            <a:pPr marL="0" indent="0">
              <a:buNone/>
            </a:pPr>
            <a:r>
              <a:rPr lang="en-US" sz="800" dirty="0">
                <a:solidFill>
                  <a:srgbClr val="1E293B"/>
                </a:solidFill>
              </a:rPr>
              <a:t>Agent monitors alerts → correlates with CMDB &amp; code changes → executes runbook steps → posts resolution summary</a:t>
            </a:r>
            <a:endParaRPr lang="en-US" sz="800" dirty="0"/>
          </a:p>
        </p:txBody>
      </p:sp>
      <p:sp>
        <p:nvSpPr>
          <p:cNvPr id="47" name="Text 45"/>
          <p:cNvSpPr/>
          <p:nvPr/>
        </p:nvSpPr>
        <p:spPr>
          <a:xfrm>
            <a:off x="5852160" y="5321808"/>
            <a:ext cx="1920240" cy="256032"/>
          </a:xfrm>
          <a:prstGeom prst="rect">
            <a:avLst/>
          </a:prstGeom>
          <a:noFill/>
          <a:ln/>
        </p:spPr>
        <p:txBody>
          <a:bodyPr wrap="square" lIns="0" tIns="0" rIns="0" bIns="0" rtlCol="0" anchor="ctr"/>
          <a:lstStyle/>
          <a:p>
            <a:pPr marL="0" indent="0">
              <a:buNone/>
            </a:pPr>
            <a:r>
              <a:rPr lang="en-US" sz="750" b="1" dirty="0">
                <a:solidFill>
                  <a:srgbClr val="0099BB"/>
                </a:solidFill>
              </a:rPr>
              <a:t>ARCHITECTURE</a:t>
            </a:r>
            <a:endParaRPr lang="en-US" sz="750" dirty="0"/>
          </a:p>
        </p:txBody>
      </p:sp>
      <p:sp>
        <p:nvSpPr>
          <p:cNvPr id="48" name="Text 46"/>
          <p:cNvSpPr/>
          <p:nvPr/>
        </p:nvSpPr>
        <p:spPr>
          <a:xfrm>
            <a:off x="5852160" y="5559552"/>
            <a:ext cx="1920240" cy="987552"/>
          </a:xfrm>
          <a:prstGeom prst="rect">
            <a:avLst/>
          </a:prstGeom>
          <a:noFill/>
          <a:ln/>
        </p:spPr>
        <p:txBody>
          <a:bodyPr wrap="square" lIns="0" tIns="0" rIns="0" bIns="0" rtlCol="0" anchor="ctr"/>
          <a:lstStyle/>
          <a:p>
            <a:pPr marL="0" indent="0">
              <a:buNone/>
            </a:pPr>
            <a:r>
              <a:rPr lang="en-US" sz="800" dirty="0">
                <a:solidFill>
                  <a:srgbClr val="1E293B"/>
                </a:solidFill>
              </a:rPr>
              <a:t>Datadog MCP → SRE Agent → ServiceNow MCP → Slack MCP</a:t>
            </a:r>
            <a:endParaRPr lang="en-US" sz="800" dirty="0"/>
          </a:p>
        </p:txBody>
      </p:sp>
      <p:sp>
        <p:nvSpPr>
          <p:cNvPr id="49" name="Text 47"/>
          <p:cNvSpPr/>
          <p:nvPr/>
        </p:nvSpPr>
        <p:spPr>
          <a:xfrm>
            <a:off x="7863840" y="5321808"/>
            <a:ext cx="1920240" cy="256032"/>
          </a:xfrm>
          <a:prstGeom prst="rect">
            <a:avLst/>
          </a:prstGeom>
          <a:noFill/>
          <a:ln/>
        </p:spPr>
        <p:txBody>
          <a:bodyPr wrap="square" lIns="0" tIns="0" rIns="0" bIns="0" rtlCol="0" anchor="ctr"/>
          <a:lstStyle/>
          <a:p>
            <a:pPr marL="0" indent="0">
              <a:buNone/>
            </a:pPr>
            <a:r>
              <a:rPr lang="en-US" sz="750" b="1" dirty="0">
                <a:solidFill>
                  <a:srgbClr val="0099BB"/>
                </a:solidFill>
              </a:rPr>
              <a:t>EXPECTED ROI</a:t>
            </a:r>
            <a:endParaRPr lang="en-US" sz="750" dirty="0"/>
          </a:p>
        </p:txBody>
      </p:sp>
      <p:sp>
        <p:nvSpPr>
          <p:cNvPr id="50" name="Text 48"/>
          <p:cNvSpPr/>
          <p:nvPr/>
        </p:nvSpPr>
        <p:spPr>
          <a:xfrm>
            <a:off x="7863840" y="5559552"/>
            <a:ext cx="1920240" cy="987552"/>
          </a:xfrm>
          <a:prstGeom prst="rect">
            <a:avLst/>
          </a:prstGeom>
          <a:noFill/>
          <a:ln/>
        </p:spPr>
        <p:txBody>
          <a:bodyPr wrap="square" lIns="0" tIns="0" rIns="0" bIns="0" rtlCol="0" anchor="ctr"/>
          <a:lstStyle/>
          <a:p>
            <a:pPr marL="0" indent="0">
              <a:buNone/>
            </a:pPr>
            <a:r>
              <a:rPr lang="en-US" sz="800" dirty="0">
                <a:solidFill>
                  <a:srgbClr val="1E293B"/>
                </a:solidFill>
              </a:rPr>
              <a:t>MTTR reduced to &lt;45 min</a:t>
            </a:r>
            <a:endParaRPr lang="en-US" sz="800" dirty="0"/>
          </a:p>
        </p:txBody>
      </p:sp>
      <p:sp>
        <p:nvSpPr>
          <p:cNvPr id="51" name="Text 49"/>
          <p:cNvSpPr/>
          <p:nvPr/>
        </p:nvSpPr>
        <p:spPr>
          <a:xfrm>
            <a:off x="9875520" y="5321808"/>
            <a:ext cx="1920240" cy="256032"/>
          </a:xfrm>
          <a:prstGeom prst="rect">
            <a:avLst/>
          </a:prstGeom>
          <a:noFill/>
          <a:ln/>
        </p:spPr>
        <p:txBody>
          <a:bodyPr wrap="square" lIns="0" tIns="0" rIns="0" bIns="0" rtlCol="0" anchor="ctr"/>
          <a:lstStyle/>
          <a:p>
            <a:pPr marL="0" indent="0">
              <a:buNone/>
            </a:pPr>
            <a:r>
              <a:rPr lang="en-US" sz="750" b="1" dirty="0">
                <a:solidFill>
                  <a:srgbClr val="0099BB"/>
                </a:solidFill>
              </a:rPr>
              <a:t>KPIs</a:t>
            </a:r>
            <a:endParaRPr lang="en-US" sz="750" dirty="0"/>
          </a:p>
        </p:txBody>
      </p:sp>
      <p:sp>
        <p:nvSpPr>
          <p:cNvPr id="52" name="Text 50"/>
          <p:cNvSpPr/>
          <p:nvPr/>
        </p:nvSpPr>
        <p:spPr>
          <a:xfrm>
            <a:off x="9875520" y="5559552"/>
            <a:ext cx="1920240" cy="987552"/>
          </a:xfrm>
          <a:prstGeom prst="rect">
            <a:avLst/>
          </a:prstGeom>
          <a:noFill/>
          <a:ln/>
        </p:spPr>
        <p:txBody>
          <a:bodyPr wrap="square" lIns="0" tIns="0" rIns="0" bIns="0" rtlCol="0" anchor="ctr"/>
          <a:lstStyle/>
          <a:p>
            <a:pPr marL="0" indent="0">
              <a:buNone/>
            </a:pPr>
            <a:r>
              <a:rPr lang="en-US" sz="800" dirty="0">
                <a:solidFill>
                  <a:srgbClr val="1E293B"/>
                </a:solidFill>
              </a:rPr>
              <a:t>MTTR · Incident recurrence · Toil hours/month</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1A2F5A"/>
          </a:solidFill>
          <a:ln w="12700">
            <a:solidFill>
              <a:srgbClr val="1A2F5A"/>
            </a:solidFill>
            <a:prstDash val="solid"/>
          </a:ln>
        </p:spPr>
        <p:txBody>
          <a:bodyPr/>
          <a:lstStyle/>
          <a:p>
            <a:endParaRPr lang="en-US"/>
          </a:p>
        </p:txBody>
      </p:sp>
      <p:sp>
        <p:nvSpPr>
          <p:cNvPr id="3" name="Text 1"/>
          <p:cNvSpPr/>
          <p:nvPr/>
        </p:nvSpPr>
        <p:spPr>
          <a:xfrm>
            <a:off x="457200" y="73152"/>
            <a:ext cx="8229600" cy="347472"/>
          </a:xfrm>
          <a:prstGeom prst="rect">
            <a:avLst/>
          </a:prstGeom>
          <a:noFill/>
          <a:ln/>
        </p:spPr>
        <p:txBody>
          <a:bodyPr wrap="square" lIns="0" tIns="0" rIns="0" bIns="0" rtlCol="0" anchor="ctr"/>
          <a:lstStyle/>
          <a:p>
            <a:pPr marL="0" indent="0">
              <a:buNone/>
            </a:pPr>
            <a:r>
              <a:rPr lang="en-US" sz="1000" b="1" kern="0" spc="200" dirty="0">
                <a:solidFill>
                  <a:srgbClr val="00D4FF"/>
                </a:solidFill>
              </a:rPr>
              <a:t>CONCEPTUAL SOLUTION ARCHITECTURE</a:t>
            </a:r>
            <a:endParaRPr lang="en-US" sz="1000" dirty="0"/>
          </a:p>
        </p:txBody>
      </p:sp>
      <p:sp>
        <p:nvSpPr>
          <p:cNvPr id="4" name="Text 2"/>
          <p:cNvSpPr/>
          <p:nvPr/>
        </p:nvSpPr>
        <p:spPr>
          <a:xfrm>
            <a:off x="457200" y="402336"/>
            <a:ext cx="914400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Layered Enterprise Agentic Platform</a:t>
            </a:r>
            <a:endParaRPr lang="en-US" sz="1800" dirty="0"/>
          </a:p>
        </p:txBody>
      </p:sp>
      <p:sp>
        <p:nvSpPr>
          <p:cNvPr id="5" name="Shape 3"/>
          <p:cNvSpPr/>
          <p:nvPr/>
        </p:nvSpPr>
        <p:spPr>
          <a:xfrm>
            <a:off x="274320" y="960120"/>
            <a:ext cx="11612880" cy="777240"/>
          </a:xfrm>
          <a:prstGeom prst="roundRect">
            <a:avLst>
              <a:gd name="adj" fmla="val 7059"/>
            </a:avLst>
          </a:prstGeom>
          <a:solidFill>
            <a:srgbClr val="0099BB">
              <a:alpha val="20000"/>
            </a:srgbClr>
          </a:solidFill>
          <a:ln w="25400">
            <a:solidFill>
              <a:srgbClr val="0099BB"/>
            </a:solidFill>
            <a:prstDash val="solid"/>
          </a:ln>
        </p:spPr>
        <p:txBody>
          <a:bodyPr/>
          <a:lstStyle/>
          <a:p>
            <a:endParaRPr lang="en-US"/>
          </a:p>
        </p:txBody>
      </p:sp>
      <p:sp>
        <p:nvSpPr>
          <p:cNvPr id="6" name="Text 4"/>
          <p:cNvSpPr/>
          <p:nvPr/>
        </p:nvSpPr>
        <p:spPr>
          <a:xfrm>
            <a:off x="365760" y="960120"/>
            <a:ext cx="3200400" cy="777240"/>
          </a:xfrm>
          <a:prstGeom prst="rect">
            <a:avLst/>
          </a:prstGeom>
          <a:noFill/>
          <a:ln/>
        </p:spPr>
        <p:txBody>
          <a:bodyPr wrap="square" lIns="38100" tIns="38100" rIns="38100" bIns="38100" rtlCol="0" anchor="ctr"/>
          <a:lstStyle/>
          <a:p>
            <a:pPr marL="0" indent="0">
              <a:buNone/>
            </a:pPr>
            <a:r>
              <a:rPr lang="en-US" sz="950" b="1" dirty="0">
                <a:solidFill>
                  <a:srgbClr val="0099BB"/>
                </a:solidFill>
              </a:rPr>
              <a:t>USER LAYER</a:t>
            </a:r>
            <a:endParaRPr lang="en-US" sz="950" dirty="0"/>
          </a:p>
        </p:txBody>
      </p:sp>
      <p:sp>
        <p:nvSpPr>
          <p:cNvPr id="7" name="Shape 5"/>
          <p:cNvSpPr/>
          <p:nvPr/>
        </p:nvSpPr>
        <p:spPr>
          <a:xfrm>
            <a:off x="3520440" y="1069848"/>
            <a:ext cx="1627632" cy="548640"/>
          </a:xfrm>
          <a:prstGeom prst="roundRect">
            <a:avLst>
              <a:gd name="adj" fmla="val 8333"/>
            </a:avLst>
          </a:prstGeom>
          <a:solidFill>
            <a:srgbClr val="0D1B3E"/>
          </a:solidFill>
          <a:ln w="12700">
            <a:solidFill>
              <a:srgbClr val="0099BB"/>
            </a:solidFill>
            <a:prstDash val="solid"/>
          </a:ln>
        </p:spPr>
        <p:txBody>
          <a:bodyPr/>
          <a:lstStyle/>
          <a:p>
            <a:endParaRPr lang="en-US"/>
          </a:p>
        </p:txBody>
      </p:sp>
      <p:sp>
        <p:nvSpPr>
          <p:cNvPr id="8" name="Text 6"/>
          <p:cNvSpPr/>
          <p:nvPr/>
        </p:nvSpPr>
        <p:spPr>
          <a:xfrm>
            <a:off x="3520440" y="1069848"/>
            <a:ext cx="1627632" cy="548640"/>
          </a:xfrm>
          <a:prstGeom prst="rect">
            <a:avLst/>
          </a:prstGeom>
          <a:noFill/>
          <a:ln/>
        </p:spPr>
        <p:txBody>
          <a:bodyPr wrap="square" lIns="0" tIns="0" rIns="0" bIns="0" rtlCol="0" anchor="ctr"/>
          <a:lstStyle/>
          <a:p>
            <a:pPr marL="0" indent="0" algn="ctr">
              <a:buNone/>
            </a:pPr>
            <a:r>
              <a:rPr lang="en-US" sz="800" dirty="0">
                <a:solidFill>
                  <a:srgbClr val="FFFFFF"/>
                </a:solidFill>
              </a:rPr>
              <a:t>Product Owner</a:t>
            </a:r>
            <a:endParaRPr lang="en-US" sz="800" dirty="0"/>
          </a:p>
        </p:txBody>
      </p:sp>
      <p:sp>
        <p:nvSpPr>
          <p:cNvPr id="9" name="Shape 7"/>
          <p:cNvSpPr/>
          <p:nvPr/>
        </p:nvSpPr>
        <p:spPr>
          <a:xfrm>
            <a:off x="5193792" y="1069848"/>
            <a:ext cx="1627632" cy="548640"/>
          </a:xfrm>
          <a:prstGeom prst="roundRect">
            <a:avLst>
              <a:gd name="adj" fmla="val 8333"/>
            </a:avLst>
          </a:prstGeom>
          <a:solidFill>
            <a:srgbClr val="0D1B3E"/>
          </a:solidFill>
          <a:ln w="12700">
            <a:solidFill>
              <a:srgbClr val="0099BB"/>
            </a:solidFill>
            <a:prstDash val="solid"/>
          </a:ln>
        </p:spPr>
        <p:txBody>
          <a:bodyPr/>
          <a:lstStyle/>
          <a:p>
            <a:endParaRPr lang="en-US"/>
          </a:p>
        </p:txBody>
      </p:sp>
      <p:sp>
        <p:nvSpPr>
          <p:cNvPr id="10" name="Text 8"/>
          <p:cNvSpPr/>
          <p:nvPr/>
        </p:nvSpPr>
        <p:spPr>
          <a:xfrm>
            <a:off x="5193792" y="1069848"/>
            <a:ext cx="1627632" cy="548640"/>
          </a:xfrm>
          <a:prstGeom prst="rect">
            <a:avLst/>
          </a:prstGeom>
          <a:noFill/>
          <a:ln/>
        </p:spPr>
        <p:txBody>
          <a:bodyPr wrap="square" lIns="0" tIns="0" rIns="0" bIns="0" rtlCol="0" anchor="ctr"/>
          <a:lstStyle/>
          <a:p>
            <a:pPr marL="0" indent="0" algn="ctr">
              <a:buNone/>
            </a:pPr>
            <a:r>
              <a:rPr lang="en-US" sz="800" dirty="0">
                <a:solidFill>
                  <a:srgbClr val="FFFFFF"/>
                </a:solidFill>
              </a:rPr>
              <a:t>Engineering Manager</a:t>
            </a:r>
            <a:endParaRPr lang="en-US" sz="800" dirty="0"/>
          </a:p>
        </p:txBody>
      </p:sp>
      <p:sp>
        <p:nvSpPr>
          <p:cNvPr id="11" name="Shape 9"/>
          <p:cNvSpPr/>
          <p:nvPr/>
        </p:nvSpPr>
        <p:spPr>
          <a:xfrm>
            <a:off x="6867144" y="1069848"/>
            <a:ext cx="1627632" cy="548640"/>
          </a:xfrm>
          <a:prstGeom prst="roundRect">
            <a:avLst>
              <a:gd name="adj" fmla="val 8333"/>
            </a:avLst>
          </a:prstGeom>
          <a:solidFill>
            <a:srgbClr val="0D1B3E"/>
          </a:solidFill>
          <a:ln w="12700">
            <a:solidFill>
              <a:srgbClr val="0099BB"/>
            </a:solidFill>
            <a:prstDash val="solid"/>
          </a:ln>
        </p:spPr>
        <p:txBody>
          <a:bodyPr/>
          <a:lstStyle/>
          <a:p>
            <a:endParaRPr lang="en-US"/>
          </a:p>
        </p:txBody>
      </p:sp>
      <p:sp>
        <p:nvSpPr>
          <p:cNvPr id="12" name="Text 10"/>
          <p:cNvSpPr/>
          <p:nvPr/>
        </p:nvSpPr>
        <p:spPr>
          <a:xfrm>
            <a:off x="6867144" y="1069848"/>
            <a:ext cx="1627632" cy="548640"/>
          </a:xfrm>
          <a:prstGeom prst="rect">
            <a:avLst/>
          </a:prstGeom>
          <a:noFill/>
          <a:ln/>
        </p:spPr>
        <p:txBody>
          <a:bodyPr wrap="square" lIns="0" tIns="0" rIns="0" bIns="0" rtlCol="0" anchor="ctr"/>
          <a:lstStyle/>
          <a:p>
            <a:pPr marL="0" indent="0" algn="ctr">
              <a:buNone/>
            </a:pPr>
            <a:r>
              <a:rPr lang="en-US" sz="800" dirty="0">
                <a:solidFill>
                  <a:srgbClr val="FFFFFF"/>
                </a:solidFill>
              </a:rPr>
              <a:t>Developer</a:t>
            </a:r>
            <a:endParaRPr lang="en-US" sz="800" dirty="0"/>
          </a:p>
        </p:txBody>
      </p:sp>
      <p:sp>
        <p:nvSpPr>
          <p:cNvPr id="13" name="Shape 11"/>
          <p:cNvSpPr/>
          <p:nvPr/>
        </p:nvSpPr>
        <p:spPr>
          <a:xfrm>
            <a:off x="8540496" y="1069848"/>
            <a:ext cx="1627632" cy="548640"/>
          </a:xfrm>
          <a:prstGeom prst="roundRect">
            <a:avLst>
              <a:gd name="adj" fmla="val 8333"/>
            </a:avLst>
          </a:prstGeom>
          <a:solidFill>
            <a:srgbClr val="0D1B3E"/>
          </a:solidFill>
          <a:ln w="12700">
            <a:solidFill>
              <a:srgbClr val="0099BB"/>
            </a:solidFill>
            <a:prstDash val="solid"/>
          </a:ln>
        </p:spPr>
        <p:txBody>
          <a:bodyPr/>
          <a:lstStyle/>
          <a:p>
            <a:endParaRPr lang="en-US"/>
          </a:p>
        </p:txBody>
      </p:sp>
      <p:sp>
        <p:nvSpPr>
          <p:cNvPr id="14" name="Text 12"/>
          <p:cNvSpPr/>
          <p:nvPr/>
        </p:nvSpPr>
        <p:spPr>
          <a:xfrm>
            <a:off x="8540496" y="1069848"/>
            <a:ext cx="1627632" cy="548640"/>
          </a:xfrm>
          <a:prstGeom prst="rect">
            <a:avLst/>
          </a:prstGeom>
          <a:noFill/>
          <a:ln/>
        </p:spPr>
        <p:txBody>
          <a:bodyPr wrap="square" lIns="0" tIns="0" rIns="0" bIns="0" rtlCol="0" anchor="ctr"/>
          <a:lstStyle/>
          <a:p>
            <a:pPr marL="0" indent="0" algn="ctr">
              <a:buNone/>
            </a:pPr>
            <a:r>
              <a:rPr lang="en-US" sz="800" dirty="0">
                <a:solidFill>
                  <a:srgbClr val="FFFFFF"/>
                </a:solidFill>
              </a:rPr>
              <a:t>Operations Team</a:t>
            </a:r>
            <a:endParaRPr lang="en-US" sz="800" dirty="0"/>
          </a:p>
        </p:txBody>
      </p:sp>
      <p:sp>
        <p:nvSpPr>
          <p:cNvPr id="15" name="Shape 13"/>
          <p:cNvSpPr/>
          <p:nvPr/>
        </p:nvSpPr>
        <p:spPr>
          <a:xfrm>
            <a:off x="10213848" y="1069848"/>
            <a:ext cx="1627632" cy="548640"/>
          </a:xfrm>
          <a:prstGeom prst="roundRect">
            <a:avLst>
              <a:gd name="adj" fmla="val 8333"/>
            </a:avLst>
          </a:prstGeom>
          <a:solidFill>
            <a:srgbClr val="0D1B3E"/>
          </a:solidFill>
          <a:ln w="12700">
            <a:solidFill>
              <a:srgbClr val="0099BB"/>
            </a:solidFill>
            <a:prstDash val="solid"/>
          </a:ln>
        </p:spPr>
        <p:txBody>
          <a:bodyPr/>
          <a:lstStyle/>
          <a:p>
            <a:endParaRPr lang="en-US"/>
          </a:p>
        </p:txBody>
      </p:sp>
      <p:sp>
        <p:nvSpPr>
          <p:cNvPr id="16" name="Text 14"/>
          <p:cNvSpPr/>
          <p:nvPr/>
        </p:nvSpPr>
        <p:spPr>
          <a:xfrm>
            <a:off x="10213848" y="1069848"/>
            <a:ext cx="1627632" cy="548640"/>
          </a:xfrm>
          <a:prstGeom prst="rect">
            <a:avLst/>
          </a:prstGeom>
          <a:noFill/>
          <a:ln/>
        </p:spPr>
        <p:txBody>
          <a:bodyPr wrap="square" lIns="0" tIns="0" rIns="0" bIns="0" rtlCol="0" anchor="ctr"/>
          <a:lstStyle/>
          <a:p>
            <a:pPr marL="0" indent="0" algn="ctr">
              <a:buNone/>
            </a:pPr>
            <a:r>
              <a:rPr lang="en-US" sz="800" dirty="0">
                <a:solidFill>
                  <a:srgbClr val="FFFFFF"/>
                </a:solidFill>
              </a:rPr>
              <a:t>Compliance Officer</a:t>
            </a:r>
            <a:endParaRPr lang="en-US" sz="800" dirty="0"/>
          </a:p>
        </p:txBody>
      </p:sp>
      <p:sp>
        <p:nvSpPr>
          <p:cNvPr id="17" name="Shape 15"/>
          <p:cNvSpPr/>
          <p:nvPr/>
        </p:nvSpPr>
        <p:spPr>
          <a:xfrm>
            <a:off x="6080760" y="1737360"/>
            <a:ext cx="0" cy="91440"/>
          </a:xfrm>
          <a:prstGeom prst="line">
            <a:avLst/>
          </a:prstGeom>
          <a:noFill/>
          <a:ln w="12700">
            <a:solidFill>
              <a:srgbClr val="64748B"/>
            </a:solidFill>
            <a:prstDash val="dot"/>
          </a:ln>
        </p:spPr>
        <p:txBody>
          <a:bodyPr/>
          <a:lstStyle/>
          <a:p>
            <a:endParaRPr lang="en-US"/>
          </a:p>
        </p:txBody>
      </p:sp>
      <p:sp>
        <p:nvSpPr>
          <p:cNvPr id="18" name="Shape 16"/>
          <p:cNvSpPr/>
          <p:nvPr/>
        </p:nvSpPr>
        <p:spPr>
          <a:xfrm>
            <a:off x="274320" y="1874520"/>
            <a:ext cx="11612880" cy="685800"/>
          </a:xfrm>
          <a:prstGeom prst="roundRect">
            <a:avLst>
              <a:gd name="adj" fmla="val 8000"/>
            </a:avLst>
          </a:prstGeom>
          <a:solidFill>
            <a:srgbClr val="00D4FF">
              <a:alpha val="20000"/>
            </a:srgbClr>
          </a:solidFill>
          <a:ln w="25400">
            <a:solidFill>
              <a:srgbClr val="00D4FF"/>
            </a:solidFill>
            <a:prstDash val="solid"/>
          </a:ln>
        </p:spPr>
        <p:txBody>
          <a:bodyPr/>
          <a:lstStyle/>
          <a:p>
            <a:endParaRPr lang="en-US"/>
          </a:p>
        </p:txBody>
      </p:sp>
      <p:sp>
        <p:nvSpPr>
          <p:cNvPr id="19" name="Text 17"/>
          <p:cNvSpPr/>
          <p:nvPr/>
        </p:nvSpPr>
        <p:spPr>
          <a:xfrm>
            <a:off x="365760" y="1874520"/>
            <a:ext cx="3200400" cy="685800"/>
          </a:xfrm>
          <a:prstGeom prst="rect">
            <a:avLst/>
          </a:prstGeom>
          <a:noFill/>
          <a:ln/>
        </p:spPr>
        <p:txBody>
          <a:bodyPr wrap="square" lIns="38100" tIns="38100" rIns="38100" bIns="38100" rtlCol="0" anchor="ctr"/>
          <a:lstStyle/>
          <a:p>
            <a:pPr marL="0" indent="0">
              <a:buNone/>
            </a:pPr>
            <a:r>
              <a:rPr lang="en-US" sz="950" b="1" dirty="0">
                <a:solidFill>
                  <a:srgbClr val="00D4FF"/>
                </a:solidFill>
              </a:rPr>
              <a:t>AGENT GATEWAY</a:t>
            </a:r>
            <a:endParaRPr lang="en-US" sz="950" dirty="0"/>
          </a:p>
        </p:txBody>
      </p:sp>
      <p:sp>
        <p:nvSpPr>
          <p:cNvPr id="20" name="Shape 18"/>
          <p:cNvSpPr/>
          <p:nvPr/>
        </p:nvSpPr>
        <p:spPr>
          <a:xfrm>
            <a:off x="3520440" y="1984248"/>
            <a:ext cx="2034540" cy="457200"/>
          </a:xfrm>
          <a:prstGeom prst="roundRect">
            <a:avLst>
              <a:gd name="adj" fmla="val 10000"/>
            </a:avLst>
          </a:prstGeom>
          <a:solidFill>
            <a:srgbClr val="0D1B3E"/>
          </a:solidFill>
          <a:ln w="12700">
            <a:solidFill>
              <a:srgbClr val="00D4FF"/>
            </a:solidFill>
            <a:prstDash val="solid"/>
          </a:ln>
        </p:spPr>
        <p:txBody>
          <a:bodyPr/>
          <a:lstStyle/>
          <a:p>
            <a:endParaRPr lang="en-US"/>
          </a:p>
        </p:txBody>
      </p:sp>
      <p:sp>
        <p:nvSpPr>
          <p:cNvPr id="21" name="Text 19"/>
          <p:cNvSpPr/>
          <p:nvPr/>
        </p:nvSpPr>
        <p:spPr>
          <a:xfrm>
            <a:off x="3520440" y="1984248"/>
            <a:ext cx="2034540" cy="457200"/>
          </a:xfrm>
          <a:prstGeom prst="rect">
            <a:avLst/>
          </a:prstGeom>
          <a:noFill/>
          <a:ln/>
        </p:spPr>
        <p:txBody>
          <a:bodyPr wrap="square" lIns="0" tIns="0" rIns="0" bIns="0" rtlCol="0" anchor="ctr"/>
          <a:lstStyle/>
          <a:p>
            <a:pPr marL="0" indent="0" algn="ctr">
              <a:buNone/>
            </a:pPr>
            <a:r>
              <a:rPr lang="en-US" sz="800" dirty="0">
                <a:solidFill>
                  <a:srgbClr val="FFFFFF"/>
                </a:solidFill>
              </a:rPr>
              <a:t>Auth &amp; AuthZ (IAM)</a:t>
            </a:r>
            <a:endParaRPr lang="en-US" sz="800" dirty="0"/>
          </a:p>
        </p:txBody>
      </p:sp>
      <p:sp>
        <p:nvSpPr>
          <p:cNvPr id="22" name="Shape 20"/>
          <p:cNvSpPr/>
          <p:nvPr/>
        </p:nvSpPr>
        <p:spPr>
          <a:xfrm>
            <a:off x="5600700" y="1984248"/>
            <a:ext cx="2034540" cy="457200"/>
          </a:xfrm>
          <a:prstGeom prst="roundRect">
            <a:avLst>
              <a:gd name="adj" fmla="val 10000"/>
            </a:avLst>
          </a:prstGeom>
          <a:solidFill>
            <a:srgbClr val="0D1B3E"/>
          </a:solidFill>
          <a:ln w="12700">
            <a:solidFill>
              <a:srgbClr val="00D4FF"/>
            </a:solidFill>
            <a:prstDash val="solid"/>
          </a:ln>
        </p:spPr>
        <p:txBody>
          <a:bodyPr/>
          <a:lstStyle/>
          <a:p>
            <a:endParaRPr lang="en-US"/>
          </a:p>
        </p:txBody>
      </p:sp>
      <p:sp>
        <p:nvSpPr>
          <p:cNvPr id="23" name="Text 21"/>
          <p:cNvSpPr/>
          <p:nvPr/>
        </p:nvSpPr>
        <p:spPr>
          <a:xfrm>
            <a:off x="5600700" y="1984248"/>
            <a:ext cx="2034540" cy="457200"/>
          </a:xfrm>
          <a:prstGeom prst="rect">
            <a:avLst/>
          </a:prstGeom>
          <a:noFill/>
          <a:ln/>
        </p:spPr>
        <p:txBody>
          <a:bodyPr wrap="square" lIns="0" tIns="0" rIns="0" bIns="0" rtlCol="0" anchor="ctr"/>
          <a:lstStyle/>
          <a:p>
            <a:pPr marL="0" indent="0" algn="ctr">
              <a:buNone/>
            </a:pPr>
            <a:r>
              <a:rPr lang="en-US" sz="800" dirty="0">
                <a:solidFill>
                  <a:srgbClr val="FFFFFF"/>
                </a:solidFill>
              </a:rPr>
              <a:t>Rate Limiting</a:t>
            </a:r>
            <a:endParaRPr lang="en-US" sz="800" dirty="0"/>
          </a:p>
        </p:txBody>
      </p:sp>
      <p:sp>
        <p:nvSpPr>
          <p:cNvPr id="24" name="Shape 22"/>
          <p:cNvSpPr/>
          <p:nvPr/>
        </p:nvSpPr>
        <p:spPr>
          <a:xfrm>
            <a:off x="7680960" y="1984248"/>
            <a:ext cx="2034540" cy="457200"/>
          </a:xfrm>
          <a:prstGeom prst="roundRect">
            <a:avLst>
              <a:gd name="adj" fmla="val 10000"/>
            </a:avLst>
          </a:prstGeom>
          <a:solidFill>
            <a:srgbClr val="0D1B3E"/>
          </a:solidFill>
          <a:ln w="12700">
            <a:solidFill>
              <a:srgbClr val="00D4FF"/>
            </a:solidFill>
            <a:prstDash val="solid"/>
          </a:ln>
        </p:spPr>
        <p:txBody>
          <a:bodyPr/>
          <a:lstStyle/>
          <a:p>
            <a:endParaRPr lang="en-US"/>
          </a:p>
        </p:txBody>
      </p:sp>
      <p:sp>
        <p:nvSpPr>
          <p:cNvPr id="25" name="Text 23"/>
          <p:cNvSpPr/>
          <p:nvPr/>
        </p:nvSpPr>
        <p:spPr>
          <a:xfrm>
            <a:off x="7680960" y="1984248"/>
            <a:ext cx="2034540" cy="457200"/>
          </a:xfrm>
          <a:prstGeom prst="rect">
            <a:avLst/>
          </a:prstGeom>
          <a:noFill/>
          <a:ln/>
        </p:spPr>
        <p:txBody>
          <a:bodyPr wrap="square" lIns="0" tIns="0" rIns="0" bIns="0" rtlCol="0" anchor="ctr"/>
          <a:lstStyle/>
          <a:p>
            <a:pPr marL="0" indent="0" algn="ctr">
              <a:buNone/>
            </a:pPr>
            <a:r>
              <a:rPr lang="en-US" sz="800" dirty="0">
                <a:solidFill>
                  <a:srgbClr val="FFFFFF"/>
                </a:solidFill>
              </a:rPr>
              <a:t>Audit Logging</a:t>
            </a:r>
            <a:endParaRPr lang="en-US" sz="800" dirty="0"/>
          </a:p>
        </p:txBody>
      </p:sp>
      <p:sp>
        <p:nvSpPr>
          <p:cNvPr id="26" name="Shape 24"/>
          <p:cNvSpPr/>
          <p:nvPr/>
        </p:nvSpPr>
        <p:spPr>
          <a:xfrm>
            <a:off x="9761220" y="1984248"/>
            <a:ext cx="2034540" cy="457200"/>
          </a:xfrm>
          <a:prstGeom prst="roundRect">
            <a:avLst>
              <a:gd name="adj" fmla="val 10000"/>
            </a:avLst>
          </a:prstGeom>
          <a:solidFill>
            <a:srgbClr val="0D1B3E"/>
          </a:solidFill>
          <a:ln w="12700">
            <a:solidFill>
              <a:srgbClr val="00D4FF"/>
            </a:solidFill>
            <a:prstDash val="solid"/>
          </a:ln>
        </p:spPr>
        <p:txBody>
          <a:bodyPr/>
          <a:lstStyle/>
          <a:p>
            <a:endParaRPr lang="en-US"/>
          </a:p>
        </p:txBody>
      </p:sp>
      <p:sp>
        <p:nvSpPr>
          <p:cNvPr id="27" name="Text 25"/>
          <p:cNvSpPr/>
          <p:nvPr/>
        </p:nvSpPr>
        <p:spPr>
          <a:xfrm>
            <a:off x="9761220" y="1984248"/>
            <a:ext cx="2034540" cy="457200"/>
          </a:xfrm>
          <a:prstGeom prst="rect">
            <a:avLst/>
          </a:prstGeom>
          <a:noFill/>
          <a:ln/>
        </p:spPr>
        <p:txBody>
          <a:bodyPr wrap="square" lIns="0" tIns="0" rIns="0" bIns="0" rtlCol="0" anchor="ctr"/>
          <a:lstStyle/>
          <a:p>
            <a:pPr marL="0" indent="0" algn="ctr">
              <a:buNone/>
            </a:pPr>
            <a:r>
              <a:rPr lang="en-US" sz="800" dirty="0">
                <a:solidFill>
                  <a:srgbClr val="FFFFFF"/>
                </a:solidFill>
              </a:rPr>
              <a:t>API Gateway</a:t>
            </a:r>
            <a:endParaRPr lang="en-US" sz="800" dirty="0"/>
          </a:p>
        </p:txBody>
      </p:sp>
      <p:sp>
        <p:nvSpPr>
          <p:cNvPr id="28" name="Shape 26"/>
          <p:cNvSpPr/>
          <p:nvPr/>
        </p:nvSpPr>
        <p:spPr>
          <a:xfrm>
            <a:off x="6080760" y="2560320"/>
            <a:ext cx="0" cy="91440"/>
          </a:xfrm>
          <a:prstGeom prst="line">
            <a:avLst/>
          </a:prstGeom>
          <a:noFill/>
          <a:ln w="12700">
            <a:solidFill>
              <a:srgbClr val="64748B"/>
            </a:solidFill>
            <a:prstDash val="dot"/>
          </a:ln>
        </p:spPr>
        <p:txBody>
          <a:bodyPr/>
          <a:lstStyle/>
          <a:p>
            <a:endParaRPr lang="en-US"/>
          </a:p>
        </p:txBody>
      </p:sp>
      <p:sp>
        <p:nvSpPr>
          <p:cNvPr id="29" name="Shape 27"/>
          <p:cNvSpPr/>
          <p:nvPr/>
        </p:nvSpPr>
        <p:spPr>
          <a:xfrm>
            <a:off x="274320" y="2697480"/>
            <a:ext cx="11612880" cy="777240"/>
          </a:xfrm>
          <a:prstGeom prst="roundRect">
            <a:avLst>
              <a:gd name="adj" fmla="val 7059"/>
            </a:avLst>
          </a:prstGeom>
          <a:solidFill>
            <a:srgbClr val="8B5CF6">
              <a:alpha val="20000"/>
            </a:srgbClr>
          </a:solidFill>
          <a:ln w="25400">
            <a:solidFill>
              <a:srgbClr val="8B5CF6"/>
            </a:solidFill>
            <a:prstDash val="solid"/>
          </a:ln>
        </p:spPr>
        <p:txBody>
          <a:bodyPr/>
          <a:lstStyle/>
          <a:p>
            <a:endParaRPr lang="en-US"/>
          </a:p>
        </p:txBody>
      </p:sp>
      <p:sp>
        <p:nvSpPr>
          <p:cNvPr id="30" name="Text 28"/>
          <p:cNvSpPr/>
          <p:nvPr/>
        </p:nvSpPr>
        <p:spPr>
          <a:xfrm>
            <a:off x="365760" y="2697480"/>
            <a:ext cx="3200400" cy="777240"/>
          </a:xfrm>
          <a:prstGeom prst="rect">
            <a:avLst/>
          </a:prstGeom>
          <a:noFill/>
          <a:ln/>
        </p:spPr>
        <p:txBody>
          <a:bodyPr wrap="square" lIns="38100" tIns="38100" rIns="38100" bIns="38100" rtlCol="0" anchor="ctr"/>
          <a:lstStyle/>
          <a:p>
            <a:pPr marL="0" indent="0">
              <a:buNone/>
            </a:pPr>
            <a:r>
              <a:rPr lang="en-US" sz="950" b="1" dirty="0">
                <a:solidFill>
                  <a:srgbClr val="8B5CF6"/>
                </a:solidFill>
              </a:rPr>
              <a:t>ORCHESTRATION (Embabel / Spring AI)</a:t>
            </a:r>
            <a:endParaRPr lang="en-US" sz="950" dirty="0"/>
          </a:p>
        </p:txBody>
      </p:sp>
      <p:sp>
        <p:nvSpPr>
          <p:cNvPr id="31" name="Shape 29"/>
          <p:cNvSpPr/>
          <p:nvPr/>
        </p:nvSpPr>
        <p:spPr>
          <a:xfrm>
            <a:off x="3520440" y="2807208"/>
            <a:ext cx="1627632" cy="548640"/>
          </a:xfrm>
          <a:prstGeom prst="roundRect">
            <a:avLst>
              <a:gd name="adj" fmla="val 8333"/>
            </a:avLst>
          </a:prstGeom>
          <a:solidFill>
            <a:srgbClr val="0D1B3E"/>
          </a:solidFill>
          <a:ln w="12700">
            <a:solidFill>
              <a:srgbClr val="8B5CF6"/>
            </a:solidFill>
            <a:prstDash val="solid"/>
          </a:ln>
        </p:spPr>
        <p:txBody>
          <a:bodyPr/>
          <a:lstStyle/>
          <a:p>
            <a:endParaRPr lang="en-US"/>
          </a:p>
        </p:txBody>
      </p:sp>
      <p:sp>
        <p:nvSpPr>
          <p:cNvPr id="32" name="Text 30"/>
          <p:cNvSpPr/>
          <p:nvPr/>
        </p:nvSpPr>
        <p:spPr>
          <a:xfrm>
            <a:off x="3520440" y="2807208"/>
            <a:ext cx="1627632" cy="548640"/>
          </a:xfrm>
          <a:prstGeom prst="rect">
            <a:avLst/>
          </a:prstGeom>
          <a:noFill/>
          <a:ln/>
        </p:spPr>
        <p:txBody>
          <a:bodyPr wrap="square" lIns="0" tIns="0" rIns="0" bIns="0" rtlCol="0" anchor="ctr"/>
          <a:lstStyle/>
          <a:p>
            <a:pPr marL="0" indent="0" algn="ctr">
              <a:buNone/>
            </a:pPr>
            <a:r>
              <a:rPr lang="en-US" sz="800" dirty="0">
                <a:solidFill>
                  <a:srgbClr val="FFFFFF"/>
                </a:solidFill>
              </a:rPr>
              <a:t>Goal Planning Engine</a:t>
            </a:r>
            <a:endParaRPr lang="en-US" sz="800" dirty="0"/>
          </a:p>
        </p:txBody>
      </p:sp>
      <p:sp>
        <p:nvSpPr>
          <p:cNvPr id="33" name="Shape 31"/>
          <p:cNvSpPr/>
          <p:nvPr/>
        </p:nvSpPr>
        <p:spPr>
          <a:xfrm>
            <a:off x="5193792" y="2807208"/>
            <a:ext cx="1627632" cy="548640"/>
          </a:xfrm>
          <a:prstGeom prst="roundRect">
            <a:avLst>
              <a:gd name="adj" fmla="val 8333"/>
            </a:avLst>
          </a:prstGeom>
          <a:solidFill>
            <a:srgbClr val="0D1B3E"/>
          </a:solidFill>
          <a:ln w="12700">
            <a:solidFill>
              <a:srgbClr val="8B5CF6"/>
            </a:solidFill>
            <a:prstDash val="solid"/>
          </a:ln>
        </p:spPr>
        <p:txBody>
          <a:bodyPr/>
          <a:lstStyle/>
          <a:p>
            <a:endParaRPr lang="en-US"/>
          </a:p>
        </p:txBody>
      </p:sp>
      <p:sp>
        <p:nvSpPr>
          <p:cNvPr id="34" name="Text 32"/>
          <p:cNvSpPr/>
          <p:nvPr/>
        </p:nvSpPr>
        <p:spPr>
          <a:xfrm>
            <a:off x="5193792" y="2807208"/>
            <a:ext cx="1627632" cy="548640"/>
          </a:xfrm>
          <a:prstGeom prst="rect">
            <a:avLst/>
          </a:prstGeom>
          <a:noFill/>
          <a:ln/>
        </p:spPr>
        <p:txBody>
          <a:bodyPr wrap="square" lIns="0" tIns="0" rIns="0" bIns="0" rtlCol="0" anchor="ctr"/>
          <a:lstStyle/>
          <a:p>
            <a:pPr marL="0" indent="0" algn="ctr">
              <a:buNone/>
            </a:pPr>
            <a:r>
              <a:rPr lang="en-US" sz="800" dirty="0">
                <a:solidFill>
                  <a:srgbClr val="FFFFFF"/>
                </a:solidFill>
              </a:rPr>
              <a:t>Agent Lifecycle Manager</a:t>
            </a:r>
            <a:endParaRPr lang="en-US" sz="800" dirty="0"/>
          </a:p>
        </p:txBody>
      </p:sp>
      <p:sp>
        <p:nvSpPr>
          <p:cNvPr id="35" name="Shape 33"/>
          <p:cNvSpPr/>
          <p:nvPr/>
        </p:nvSpPr>
        <p:spPr>
          <a:xfrm>
            <a:off x="6867144" y="2807208"/>
            <a:ext cx="1627632" cy="548640"/>
          </a:xfrm>
          <a:prstGeom prst="roundRect">
            <a:avLst>
              <a:gd name="adj" fmla="val 8333"/>
            </a:avLst>
          </a:prstGeom>
          <a:solidFill>
            <a:srgbClr val="0D1B3E"/>
          </a:solidFill>
          <a:ln w="12700">
            <a:solidFill>
              <a:srgbClr val="8B5CF6"/>
            </a:solidFill>
            <a:prstDash val="solid"/>
          </a:ln>
        </p:spPr>
        <p:txBody>
          <a:bodyPr/>
          <a:lstStyle/>
          <a:p>
            <a:endParaRPr lang="en-US"/>
          </a:p>
        </p:txBody>
      </p:sp>
      <p:sp>
        <p:nvSpPr>
          <p:cNvPr id="36" name="Text 34"/>
          <p:cNvSpPr/>
          <p:nvPr/>
        </p:nvSpPr>
        <p:spPr>
          <a:xfrm>
            <a:off x="6867144" y="2807208"/>
            <a:ext cx="1627632" cy="548640"/>
          </a:xfrm>
          <a:prstGeom prst="rect">
            <a:avLst/>
          </a:prstGeom>
          <a:noFill/>
          <a:ln/>
        </p:spPr>
        <p:txBody>
          <a:bodyPr wrap="square" lIns="0" tIns="0" rIns="0" bIns="0" rtlCol="0" anchor="ctr"/>
          <a:lstStyle/>
          <a:p>
            <a:pPr marL="0" indent="0" algn="ctr">
              <a:buNone/>
            </a:pPr>
            <a:r>
              <a:rPr lang="en-US" sz="800" dirty="0">
                <a:solidFill>
                  <a:srgbClr val="FFFFFF"/>
                </a:solidFill>
              </a:rPr>
              <a:t>Task Decomposer</a:t>
            </a:r>
            <a:endParaRPr lang="en-US" sz="800" dirty="0"/>
          </a:p>
        </p:txBody>
      </p:sp>
      <p:sp>
        <p:nvSpPr>
          <p:cNvPr id="37" name="Shape 35"/>
          <p:cNvSpPr/>
          <p:nvPr/>
        </p:nvSpPr>
        <p:spPr>
          <a:xfrm>
            <a:off x="8540496" y="2807208"/>
            <a:ext cx="1627632" cy="548640"/>
          </a:xfrm>
          <a:prstGeom prst="roundRect">
            <a:avLst>
              <a:gd name="adj" fmla="val 8333"/>
            </a:avLst>
          </a:prstGeom>
          <a:solidFill>
            <a:srgbClr val="0D1B3E"/>
          </a:solidFill>
          <a:ln w="12700">
            <a:solidFill>
              <a:srgbClr val="8B5CF6"/>
            </a:solidFill>
            <a:prstDash val="solid"/>
          </a:ln>
        </p:spPr>
        <p:txBody>
          <a:bodyPr/>
          <a:lstStyle/>
          <a:p>
            <a:endParaRPr lang="en-US"/>
          </a:p>
        </p:txBody>
      </p:sp>
      <p:sp>
        <p:nvSpPr>
          <p:cNvPr id="38" name="Text 36"/>
          <p:cNvSpPr/>
          <p:nvPr/>
        </p:nvSpPr>
        <p:spPr>
          <a:xfrm>
            <a:off x="8540496" y="2807208"/>
            <a:ext cx="1627632" cy="548640"/>
          </a:xfrm>
          <a:prstGeom prst="rect">
            <a:avLst/>
          </a:prstGeom>
          <a:noFill/>
          <a:ln/>
        </p:spPr>
        <p:txBody>
          <a:bodyPr wrap="square" lIns="0" tIns="0" rIns="0" bIns="0" rtlCol="0" anchor="ctr"/>
          <a:lstStyle/>
          <a:p>
            <a:pPr marL="0" indent="0" algn="ctr">
              <a:buNone/>
            </a:pPr>
            <a:r>
              <a:rPr lang="en-US" sz="800" dirty="0">
                <a:solidFill>
                  <a:srgbClr val="FFFFFF"/>
                </a:solidFill>
              </a:rPr>
              <a:t>State Machine</a:t>
            </a:r>
            <a:endParaRPr lang="en-US" sz="800" dirty="0"/>
          </a:p>
        </p:txBody>
      </p:sp>
      <p:sp>
        <p:nvSpPr>
          <p:cNvPr id="39" name="Shape 37"/>
          <p:cNvSpPr/>
          <p:nvPr/>
        </p:nvSpPr>
        <p:spPr>
          <a:xfrm>
            <a:off x="10213848" y="2807208"/>
            <a:ext cx="1627632" cy="548640"/>
          </a:xfrm>
          <a:prstGeom prst="roundRect">
            <a:avLst>
              <a:gd name="adj" fmla="val 8333"/>
            </a:avLst>
          </a:prstGeom>
          <a:solidFill>
            <a:srgbClr val="0D1B3E"/>
          </a:solidFill>
          <a:ln w="12700">
            <a:solidFill>
              <a:srgbClr val="8B5CF6"/>
            </a:solidFill>
            <a:prstDash val="solid"/>
          </a:ln>
        </p:spPr>
        <p:txBody>
          <a:bodyPr/>
          <a:lstStyle/>
          <a:p>
            <a:endParaRPr lang="en-US"/>
          </a:p>
        </p:txBody>
      </p:sp>
      <p:sp>
        <p:nvSpPr>
          <p:cNvPr id="40" name="Text 38"/>
          <p:cNvSpPr/>
          <p:nvPr/>
        </p:nvSpPr>
        <p:spPr>
          <a:xfrm>
            <a:off x="10213848" y="2807208"/>
            <a:ext cx="1627632" cy="548640"/>
          </a:xfrm>
          <a:prstGeom prst="rect">
            <a:avLst/>
          </a:prstGeom>
          <a:noFill/>
          <a:ln/>
        </p:spPr>
        <p:txBody>
          <a:bodyPr wrap="square" lIns="0" tIns="0" rIns="0" bIns="0" rtlCol="0" anchor="ctr"/>
          <a:lstStyle/>
          <a:p>
            <a:pPr marL="0" indent="0" algn="ctr">
              <a:buNone/>
            </a:pPr>
            <a:r>
              <a:rPr lang="en-US" sz="800" dirty="0">
                <a:solidFill>
                  <a:srgbClr val="FFFFFF"/>
                </a:solidFill>
              </a:rPr>
              <a:t>Feedback Loop</a:t>
            </a:r>
            <a:endParaRPr lang="en-US" sz="800" dirty="0"/>
          </a:p>
        </p:txBody>
      </p:sp>
      <p:sp>
        <p:nvSpPr>
          <p:cNvPr id="41" name="Shape 39"/>
          <p:cNvSpPr/>
          <p:nvPr/>
        </p:nvSpPr>
        <p:spPr>
          <a:xfrm>
            <a:off x="6080760" y="3474720"/>
            <a:ext cx="0" cy="91440"/>
          </a:xfrm>
          <a:prstGeom prst="line">
            <a:avLst/>
          </a:prstGeom>
          <a:noFill/>
          <a:ln w="12700">
            <a:solidFill>
              <a:srgbClr val="64748B"/>
            </a:solidFill>
            <a:prstDash val="dot"/>
          </a:ln>
        </p:spPr>
        <p:txBody>
          <a:bodyPr/>
          <a:lstStyle/>
          <a:p>
            <a:endParaRPr lang="en-US"/>
          </a:p>
        </p:txBody>
      </p:sp>
      <p:sp>
        <p:nvSpPr>
          <p:cNvPr id="42" name="Shape 40"/>
          <p:cNvSpPr/>
          <p:nvPr/>
        </p:nvSpPr>
        <p:spPr>
          <a:xfrm>
            <a:off x="274320" y="3611880"/>
            <a:ext cx="11612880" cy="777240"/>
          </a:xfrm>
          <a:prstGeom prst="roundRect">
            <a:avLst>
              <a:gd name="adj" fmla="val 7059"/>
            </a:avLst>
          </a:prstGeom>
          <a:solidFill>
            <a:srgbClr val="10B981">
              <a:alpha val="20000"/>
            </a:srgbClr>
          </a:solidFill>
          <a:ln w="25400">
            <a:solidFill>
              <a:srgbClr val="10B981"/>
            </a:solidFill>
            <a:prstDash val="solid"/>
          </a:ln>
        </p:spPr>
        <p:txBody>
          <a:bodyPr/>
          <a:lstStyle/>
          <a:p>
            <a:endParaRPr lang="en-US"/>
          </a:p>
        </p:txBody>
      </p:sp>
      <p:sp>
        <p:nvSpPr>
          <p:cNvPr id="43" name="Text 41"/>
          <p:cNvSpPr/>
          <p:nvPr/>
        </p:nvSpPr>
        <p:spPr>
          <a:xfrm>
            <a:off x="365760" y="3611880"/>
            <a:ext cx="3200400" cy="777240"/>
          </a:xfrm>
          <a:prstGeom prst="rect">
            <a:avLst/>
          </a:prstGeom>
          <a:noFill/>
          <a:ln/>
        </p:spPr>
        <p:txBody>
          <a:bodyPr wrap="square" lIns="38100" tIns="38100" rIns="38100" bIns="38100" rtlCol="0" anchor="ctr"/>
          <a:lstStyle/>
          <a:p>
            <a:pPr marL="0" indent="0">
              <a:buNone/>
            </a:pPr>
            <a:r>
              <a:rPr lang="en-US" sz="950" b="1" dirty="0">
                <a:solidFill>
                  <a:srgbClr val="10B981"/>
                </a:solidFill>
              </a:rPr>
              <a:t>AGENT LAYER</a:t>
            </a:r>
            <a:endParaRPr lang="en-US" sz="950" dirty="0"/>
          </a:p>
        </p:txBody>
      </p:sp>
      <p:sp>
        <p:nvSpPr>
          <p:cNvPr id="44" name="Shape 42"/>
          <p:cNvSpPr/>
          <p:nvPr/>
        </p:nvSpPr>
        <p:spPr>
          <a:xfrm>
            <a:off x="3520440" y="3721608"/>
            <a:ext cx="1356360" cy="548640"/>
          </a:xfrm>
          <a:prstGeom prst="roundRect">
            <a:avLst>
              <a:gd name="adj" fmla="val 8333"/>
            </a:avLst>
          </a:prstGeom>
          <a:solidFill>
            <a:srgbClr val="0D1B3E"/>
          </a:solidFill>
          <a:ln w="12700">
            <a:solidFill>
              <a:srgbClr val="10B981"/>
            </a:solidFill>
            <a:prstDash val="solid"/>
          </a:ln>
        </p:spPr>
        <p:txBody>
          <a:bodyPr/>
          <a:lstStyle/>
          <a:p>
            <a:endParaRPr lang="en-US"/>
          </a:p>
        </p:txBody>
      </p:sp>
      <p:sp>
        <p:nvSpPr>
          <p:cNvPr id="45" name="Text 43"/>
          <p:cNvSpPr/>
          <p:nvPr/>
        </p:nvSpPr>
        <p:spPr>
          <a:xfrm>
            <a:off x="3520440" y="3721608"/>
            <a:ext cx="1356360" cy="548640"/>
          </a:xfrm>
          <a:prstGeom prst="rect">
            <a:avLst/>
          </a:prstGeom>
          <a:noFill/>
          <a:ln/>
        </p:spPr>
        <p:txBody>
          <a:bodyPr wrap="square" lIns="0" tIns="0" rIns="0" bIns="0" rtlCol="0" anchor="ctr"/>
          <a:lstStyle/>
          <a:p>
            <a:pPr marL="0" indent="0" algn="ctr">
              <a:buNone/>
            </a:pPr>
            <a:r>
              <a:rPr lang="en-US" sz="800" dirty="0">
                <a:solidFill>
                  <a:srgbClr val="FFFFFF"/>
                </a:solidFill>
              </a:rPr>
              <a:t>Requirement Agent</a:t>
            </a:r>
            <a:endParaRPr lang="en-US" sz="800" dirty="0"/>
          </a:p>
        </p:txBody>
      </p:sp>
      <p:sp>
        <p:nvSpPr>
          <p:cNvPr id="46" name="Shape 44"/>
          <p:cNvSpPr/>
          <p:nvPr/>
        </p:nvSpPr>
        <p:spPr>
          <a:xfrm>
            <a:off x="4922520" y="3721608"/>
            <a:ext cx="1356360" cy="548640"/>
          </a:xfrm>
          <a:prstGeom prst="roundRect">
            <a:avLst>
              <a:gd name="adj" fmla="val 8333"/>
            </a:avLst>
          </a:prstGeom>
          <a:solidFill>
            <a:srgbClr val="0D1B3E"/>
          </a:solidFill>
          <a:ln w="12700">
            <a:solidFill>
              <a:srgbClr val="10B981"/>
            </a:solidFill>
            <a:prstDash val="solid"/>
          </a:ln>
        </p:spPr>
        <p:txBody>
          <a:bodyPr/>
          <a:lstStyle/>
          <a:p>
            <a:endParaRPr lang="en-US"/>
          </a:p>
        </p:txBody>
      </p:sp>
      <p:sp>
        <p:nvSpPr>
          <p:cNvPr id="47" name="Text 45"/>
          <p:cNvSpPr/>
          <p:nvPr/>
        </p:nvSpPr>
        <p:spPr>
          <a:xfrm>
            <a:off x="4922520" y="3721608"/>
            <a:ext cx="1356360" cy="548640"/>
          </a:xfrm>
          <a:prstGeom prst="rect">
            <a:avLst/>
          </a:prstGeom>
          <a:noFill/>
          <a:ln/>
        </p:spPr>
        <p:txBody>
          <a:bodyPr wrap="square" lIns="0" tIns="0" rIns="0" bIns="0" rtlCol="0" anchor="ctr"/>
          <a:lstStyle/>
          <a:p>
            <a:pPr marL="0" indent="0" algn="ctr">
              <a:buNone/>
            </a:pPr>
            <a:r>
              <a:rPr lang="en-US" sz="800" dirty="0">
                <a:solidFill>
                  <a:srgbClr val="FFFFFF"/>
                </a:solidFill>
              </a:rPr>
              <a:t>Developer Agent</a:t>
            </a:r>
            <a:endParaRPr lang="en-US" sz="800" dirty="0"/>
          </a:p>
        </p:txBody>
      </p:sp>
      <p:sp>
        <p:nvSpPr>
          <p:cNvPr id="48" name="Shape 46"/>
          <p:cNvSpPr/>
          <p:nvPr/>
        </p:nvSpPr>
        <p:spPr>
          <a:xfrm>
            <a:off x="6324600" y="3721608"/>
            <a:ext cx="1356360" cy="548640"/>
          </a:xfrm>
          <a:prstGeom prst="roundRect">
            <a:avLst>
              <a:gd name="adj" fmla="val 8333"/>
            </a:avLst>
          </a:prstGeom>
          <a:solidFill>
            <a:srgbClr val="0D1B3E"/>
          </a:solidFill>
          <a:ln w="12700">
            <a:solidFill>
              <a:srgbClr val="10B981"/>
            </a:solidFill>
            <a:prstDash val="solid"/>
          </a:ln>
        </p:spPr>
        <p:txBody>
          <a:bodyPr/>
          <a:lstStyle/>
          <a:p>
            <a:endParaRPr lang="en-US"/>
          </a:p>
        </p:txBody>
      </p:sp>
      <p:sp>
        <p:nvSpPr>
          <p:cNvPr id="49" name="Text 47"/>
          <p:cNvSpPr/>
          <p:nvPr/>
        </p:nvSpPr>
        <p:spPr>
          <a:xfrm>
            <a:off x="6324600" y="3721608"/>
            <a:ext cx="1356360" cy="548640"/>
          </a:xfrm>
          <a:prstGeom prst="rect">
            <a:avLst/>
          </a:prstGeom>
          <a:noFill/>
          <a:ln/>
        </p:spPr>
        <p:txBody>
          <a:bodyPr wrap="square" lIns="0" tIns="0" rIns="0" bIns="0" rtlCol="0" anchor="ctr"/>
          <a:lstStyle/>
          <a:p>
            <a:pPr marL="0" indent="0" algn="ctr">
              <a:buNone/>
            </a:pPr>
            <a:r>
              <a:rPr lang="en-US" sz="800" dirty="0">
                <a:solidFill>
                  <a:srgbClr val="FFFFFF"/>
                </a:solidFill>
              </a:rPr>
              <a:t>QA Agent</a:t>
            </a:r>
            <a:endParaRPr lang="en-US" sz="800" dirty="0"/>
          </a:p>
        </p:txBody>
      </p:sp>
      <p:sp>
        <p:nvSpPr>
          <p:cNvPr id="50" name="Shape 48"/>
          <p:cNvSpPr/>
          <p:nvPr/>
        </p:nvSpPr>
        <p:spPr>
          <a:xfrm>
            <a:off x="7726680" y="3721608"/>
            <a:ext cx="1356360" cy="548640"/>
          </a:xfrm>
          <a:prstGeom prst="roundRect">
            <a:avLst>
              <a:gd name="adj" fmla="val 8333"/>
            </a:avLst>
          </a:prstGeom>
          <a:solidFill>
            <a:srgbClr val="0D1B3E"/>
          </a:solidFill>
          <a:ln w="12700">
            <a:solidFill>
              <a:srgbClr val="10B981"/>
            </a:solidFill>
            <a:prstDash val="solid"/>
          </a:ln>
        </p:spPr>
        <p:txBody>
          <a:bodyPr/>
          <a:lstStyle/>
          <a:p>
            <a:endParaRPr lang="en-US"/>
          </a:p>
        </p:txBody>
      </p:sp>
      <p:sp>
        <p:nvSpPr>
          <p:cNvPr id="51" name="Text 49"/>
          <p:cNvSpPr/>
          <p:nvPr/>
        </p:nvSpPr>
        <p:spPr>
          <a:xfrm>
            <a:off x="7726680" y="3721608"/>
            <a:ext cx="1356360" cy="548640"/>
          </a:xfrm>
          <a:prstGeom prst="rect">
            <a:avLst/>
          </a:prstGeom>
          <a:noFill/>
          <a:ln/>
        </p:spPr>
        <p:txBody>
          <a:bodyPr wrap="square" lIns="0" tIns="0" rIns="0" bIns="0" rtlCol="0" anchor="ctr"/>
          <a:lstStyle/>
          <a:p>
            <a:pPr marL="0" indent="0" algn="ctr">
              <a:buNone/>
            </a:pPr>
            <a:r>
              <a:rPr lang="en-US" sz="800" dirty="0">
                <a:solidFill>
                  <a:srgbClr val="FFFFFF"/>
                </a:solidFill>
              </a:rPr>
              <a:t>SRE Agent</a:t>
            </a:r>
            <a:endParaRPr lang="en-US" sz="800" dirty="0"/>
          </a:p>
        </p:txBody>
      </p:sp>
      <p:sp>
        <p:nvSpPr>
          <p:cNvPr id="52" name="Shape 50"/>
          <p:cNvSpPr/>
          <p:nvPr/>
        </p:nvSpPr>
        <p:spPr>
          <a:xfrm>
            <a:off x="9128760" y="3721608"/>
            <a:ext cx="1356360" cy="548640"/>
          </a:xfrm>
          <a:prstGeom prst="roundRect">
            <a:avLst>
              <a:gd name="adj" fmla="val 8333"/>
            </a:avLst>
          </a:prstGeom>
          <a:solidFill>
            <a:srgbClr val="0D1B3E"/>
          </a:solidFill>
          <a:ln w="12700">
            <a:solidFill>
              <a:srgbClr val="10B981"/>
            </a:solidFill>
            <a:prstDash val="solid"/>
          </a:ln>
        </p:spPr>
        <p:txBody>
          <a:bodyPr/>
          <a:lstStyle/>
          <a:p>
            <a:endParaRPr lang="en-US"/>
          </a:p>
        </p:txBody>
      </p:sp>
      <p:sp>
        <p:nvSpPr>
          <p:cNvPr id="53" name="Text 51"/>
          <p:cNvSpPr/>
          <p:nvPr/>
        </p:nvSpPr>
        <p:spPr>
          <a:xfrm>
            <a:off x="9128760" y="3721608"/>
            <a:ext cx="1356360" cy="548640"/>
          </a:xfrm>
          <a:prstGeom prst="rect">
            <a:avLst/>
          </a:prstGeom>
          <a:noFill/>
          <a:ln/>
        </p:spPr>
        <p:txBody>
          <a:bodyPr wrap="square" lIns="0" tIns="0" rIns="0" bIns="0" rtlCol="0" anchor="ctr"/>
          <a:lstStyle/>
          <a:p>
            <a:pPr marL="0" indent="0" algn="ctr">
              <a:buNone/>
            </a:pPr>
            <a:r>
              <a:rPr lang="en-US" sz="800" dirty="0">
                <a:solidFill>
                  <a:srgbClr val="FFFFFF"/>
                </a:solidFill>
              </a:rPr>
              <a:t>Security Agent</a:t>
            </a:r>
            <a:endParaRPr lang="en-US" sz="800" dirty="0"/>
          </a:p>
        </p:txBody>
      </p:sp>
      <p:sp>
        <p:nvSpPr>
          <p:cNvPr id="54" name="Shape 52"/>
          <p:cNvSpPr/>
          <p:nvPr/>
        </p:nvSpPr>
        <p:spPr>
          <a:xfrm>
            <a:off x="10530840" y="3721608"/>
            <a:ext cx="1356360" cy="548640"/>
          </a:xfrm>
          <a:prstGeom prst="roundRect">
            <a:avLst>
              <a:gd name="adj" fmla="val 8333"/>
            </a:avLst>
          </a:prstGeom>
          <a:solidFill>
            <a:srgbClr val="0D1B3E"/>
          </a:solidFill>
          <a:ln w="12700">
            <a:solidFill>
              <a:srgbClr val="10B981"/>
            </a:solidFill>
            <a:prstDash val="solid"/>
          </a:ln>
        </p:spPr>
        <p:txBody>
          <a:bodyPr/>
          <a:lstStyle/>
          <a:p>
            <a:endParaRPr lang="en-US"/>
          </a:p>
        </p:txBody>
      </p:sp>
      <p:sp>
        <p:nvSpPr>
          <p:cNvPr id="55" name="Text 53"/>
          <p:cNvSpPr/>
          <p:nvPr/>
        </p:nvSpPr>
        <p:spPr>
          <a:xfrm>
            <a:off x="10530840" y="3721608"/>
            <a:ext cx="1356360" cy="548640"/>
          </a:xfrm>
          <a:prstGeom prst="rect">
            <a:avLst/>
          </a:prstGeom>
          <a:noFill/>
          <a:ln/>
        </p:spPr>
        <p:txBody>
          <a:bodyPr wrap="square" lIns="0" tIns="0" rIns="0" bIns="0" rtlCol="0" anchor="ctr"/>
          <a:lstStyle/>
          <a:p>
            <a:pPr marL="0" indent="0" algn="ctr">
              <a:buNone/>
            </a:pPr>
            <a:r>
              <a:rPr lang="en-US" sz="800" dirty="0">
                <a:solidFill>
                  <a:srgbClr val="FFFFFF"/>
                </a:solidFill>
              </a:rPr>
              <a:t>Knowledge Agent</a:t>
            </a:r>
            <a:endParaRPr lang="en-US" sz="800" dirty="0"/>
          </a:p>
        </p:txBody>
      </p:sp>
      <p:sp>
        <p:nvSpPr>
          <p:cNvPr id="56" name="Shape 54"/>
          <p:cNvSpPr/>
          <p:nvPr/>
        </p:nvSpPr>
        <p:spPr>
          <a:xfrm>
            <a:off x="6080760" y="4389120"/>
            <a:ext cx="0" cy="91440"/>
          </a:xfrm>
          <a:prstGeom prst="line">
            <a:avLst/>
          </a:prstGeom>
          <a:noFill/>
          <a:ln w="12700">
            <a:solidFill>
              <a:srgbClr val="64748B"/>
            </a:solidFill>
            <a:prstDash val="dot"/>
          </a:ln>
        </p:spPr>
        <p:txBody>
          <a:bodyPr/>
          <a:lstStyle/>
          <a:p>
            <a:endParaRPr lang="en-US"/>
          </a:p>
        </p:txBody>
      </p:sp>
      <p:sp>
        <p:nvSpPr>
          <p:cNvPr id="57" name="Shape 55"/>
          <p:cNvSpPr/>
          <p:nvPr/>
        </p:nvSpPr>
        <p:spPr>
          <a:xfrm>
            <a:off x="274320" y="4526280"/>
            <a:ext cx="11612880" cy="685800"/>
          </a:xfrm>
          <a:prstGeom prst="roundRect">
            <a:avLst>
              <a:gd name="adj" fmla="val 8000"/>
            </a:avLst>
          </a:prstGeom>
          <a:solidFill>
            <a:srgbClr val="F59E0B">
              <a:alpha val="20000"/>
            </a:srgbClr>
          </a:solidFill>
          <a:ln w="25400">
            <a:solidFill>
              <a:srgbClr val="F59E0B"/>
            </a:solidFill>
            <a:prstDash val="solid"/>
          </a:ln>
        </p:spPr>
        <p:txBody>
          <a:bodyPr/>
          <a:lstStyle/>
          <a:p>
            <a:endParaRPr lang="en-US"/>
          </a:p>
        </p:txBody>
      </p:sp>
      <p:sp>
        <p:nvSpPr>
          <p:cNvPr id="58" name="Text 56"/>
          <p:cNvSpPr/>
          <p:nvPr/>
        </p:nvSpPr>
        <p:spPr>
          <a:xfrm>
            <a:off x="365760" y="4526280"/>
            <a:ext cx="3200400" cy="685800"/>
          </a:xfrm>
          <a:prstGeom prst="rect">
            <a:avLst/>
          </a:prstGeom>
          <a:noFill/>
          <a:ln/>
        </p:spPr>
        <p:txBody>
          <a:bodyPr wrap="square" lIns="38100" tIns="38100" rIns="38100" bIns="38100" rtlCol="0" anchor="ctr"/>
          <a:lstStyle/>
          <a:p>
            <a:pPr marL="0" indent="0">
              <a:buNone/>
            </a:pPr>
            <a:r>
              <a:rPr lang="en-US" sz="950" b="1" dirty="0">
                <a:solidFill>
                  <a:srgbClr val="F59E0B"/>
                </a:solidFill>
              </a:rPr>
              <a:t>MCP INTEGRATION LAYER (Model Context Protocol)</a:t>
            </a:r>
            <a:endParaRPr lang="en-US" sz="950" dirty="0"/>
          </a:p>
        </p:txBody>
      </p:sp>
      <p:sp>
        <p:nvSpPr>
          <p:cNvPr id="59" name="Shape 57"/>
          <p:cNvSpPr/>
          <p:nvPr/>
        </p:nvSpPr>
        <p:spPr>
          <a:xfrm>
            <a:off x="3520440" y="4636008"/>
            <a:ext cx="1356360" cy="457200"/>
          </a:xfrm>
          <a:prstGeom prst="roundRect">
            <a:avLst>
              <a:gd name="adj" fmla="val 10000"/>
            </a:avLst>
          </a:prstGeom>
          <a:solidFill>
            <a:srgbClr val="0D1B3E"/>
          </a:solidFill>
          <a:ln w="12700">
            <a:solidFill>
              <a:srgbClr val="F59E0B"/>
            </a:solidFill>
            <a:prstDash val="solid"/>
          </a:ln>
        </p:spPr>
        <p:txBody>
          <a:bodyPr/>
          <a:lstStyle/>
          <a:p>
            <a:endParaRPr lang="en-US"/>
          </a:p>
        </p:txBody>
      </p:sp>
      <p:sp>
        <p:nvSpPr>
          <p:cNvPr id="60" name="Text 58"/>
          <p:cNvSpPr/>
          <p:nvPr/>
        </p:nvSpPr>
        <p:spPr>
          <a:xfrm>
            <a:off x="3520440" y="4636008"/>
            <a:ext cx="1356360" cy="457200"/>
          </a:xfrm>
          <a:prstGeom prst="rect">
            <a:avLst/>
          </a:prstGeom>
          <a:noFill/>
          <a:ln/>
        </p:spPr>
        <p:txBody>
          <a:bodyPr wrap="square" lIns="0" tIns="0" rIns="0" bIns="0" rtlCol="0" anchor="ctr"/>
          <a:lstStyle/>
          <a:p>
            <a:pPr marL="0" indent="0" algn="ctr">
              <a:buNone/>
            </a:pPr>
            <a:r>
              <a:rPr lang="en-US" sz="800" dirty="0">
                <a:solidFill>
                  <a:srgbClr val="FFFFFF"/>
                </a:solidFill>
              </a:rPr>
              <a:t>Jira MCP</a:t>
            </a:r>
            <a:endParaRPr lang="en-US" sz="800" dirty="0"/>
          </a:p>
        </p:txBody>
      </p:sp>
      <p:sp>
        <p:nvSpPr>
          <p:cNvPr id="61" name="Shape 59"/>
          <p:cNvSpPr/>
          <p:nvPr/>
        </p:nvSpPr>
        <p:spPr>
          <a:xfrm>
            <a:off x="4922520" y="4636008"/>
            <a:ext cx="1356360" cy="457200"/>
          </a:xfrm>
          <a:prstGeom prst="roundRect">
            <a:avLst>
              <a:gd name="adj" fmla="val 10000"/>
            </a:avLst>
          </a:prstGeom>
          <a:solidFill>
            <a:srgbClr val="0D1B3E"/>
          </a:solidFill>
          <a:ln w="12700">
            <a:solidFill>
              <a:srgbClr val="F59E0B"/>
            </a:solidFill>
            <a:prstDash val="solid"/>
          </a:ln>
        </p:spPr>
        <p:txBody>
          <a:bodyPr/>
          <a:lstStyle/>
          <a:p>
            <a:endParaRPr lang="en-US"/>
          </a:p>
        </p:txBody>
      </p:sp>
      <p:sp>
        <p:nvSpPr>
          <p:cNvPr id="62" name="Text 60"/>
          <p:cNvSpPr/>
          <p:nvPr/>
        </p:nvSpPr>
        <p:spPr>
          <a:xfrm>
            <a:off x="4922520" y="4636008"/>
            <a:ext cx="1356360" cy="457200"/>
          </a:xfrm>
          <a:prstGeom prst="rect">
            <a:avLst/>
          </a:prstGeom>
          <a:noFill/>
          <a:ln/>
        </p:spPr>
        <p:txBody>
          <a:bodyPr wrap="square" lIns="0" tIns="0" rIns="0" bIns="0" rtlCol="0" anchor="ctr"/>
          <a:lstStyle/>
          <a:p>
            <a:pPr marL="0" indent="0" algn="ctr">
              <a:buNone/>
            </a:pPr>
            <a:r>
              <a:rPr lang="en-US" sz="800" dirty="0">
                <a:solidFill>
                  <a:srgbClr val="FFFFFF"/>
                </a:solidFill>
              </a:rPr>
              <a:t>Confluence MCP</a:t>
            </a:r>
            <a:endParaRPr lang="en-US" sz="800" dirty="0"/>
          </a:p>
        </p:txBody>
      </p:sp>
      <p:sp>
        <p:nvSpPr>
          <p:cNvPr id="63" name="Shape 61"/>
          <p:cNvSpPr/>
          <p:nvPr/>
        </p:nvSpPr>
        <p:spPr>
          <a:xfrm>
            <a:off x="6324600" y="4636008"/>
            <a:ext cx="1356360" cy="457200"/>
          </a:xfrm>
          <a:prstGeom prst="roundRect">
            <a:avLst>
              <a:gd name="adj" fmla="val 10000"/>
            </a:avLst>
          </a:prstGeom>
          <a:solidFill>
            <a:srgbClr val="0D1B3E"/>
          </a:solidFill>
          <a:ln w="12700">
            <a:solidFill>
              <a:srgbClr val="F59E0B"/>
            </a:solidFill>
            <a:prstDash val="solid"/>
          </a:ln>
        </p:spPr>
        <p:txBody>
          <a:bodyPr/>
          <a:lstStyle/>
          <a:p>
            <a:endParaRPr lang="en-US"/>
          </a:p>
        </p:txBody>
      </p:sp>
      <p:sp>
        <p:nvSpPr>
          <p:cNvPr id="64" name="Text 62"/>
          <p:cNvSpPr/>
          <p:nvPr/>
        </p:nvSpPr>
        <p:spPr>
          <a:xfrm>
            <a:off x="6324600" y="4636008"/>
            <a:ext cx="1356360" cy="457200"/>
          </a:xfrm>
          <a:prstGeom prst="rect">
            <a:avLst/>
          </a:prstGeom>
          <a:noFill/>
          <a:ln/>
        </p:spPr>
        <p:txBody>
          <a:bodyPr wrap="square" lIns="0" tIns="0" rIns="0" bIns="0" rtlCol="0" anchor="ctr"/>
          <a:lstStyle/>
          <a:p>
            <a:pPr marL="0" indent="0" algn="ctr">
              <a:buNone/>
            </a:pPr>
            <a:r>
              <a:rPr lang="en-US" sz="800" dirty="0">
                <a:solidFill>
                  <a:srgbClr val="FFFFFF"/>
                </a:solidFill>
              </a:rPr>
              <a:t>GitHub MCP</a:t>
            </a:r>
            <a:endParaRPr lang="en-US" sz="800" dirty="0"/>
          </a:p>
        </p:txBody>
      </p:sp>
      <p:sp>
        <p:nvSpPr>
          <p:cNvPr id="65" name="Shape 63"/>
          <p:cNvSpPr/>
          <p:nvPr/>
        </p:nvSpPr>
        <p:spPr>
          <a:xfrm>
            <a:off x="7726680" y="4636008"/>
            <a:ext cx="1356360" cy="457200"/>
          </a:xfrm>
          <a:prstGeom prst="roundRect">
            <a:avLst>
              <a:gd name="adj" fmla="val 10000"/>
            </a:avLst>
          </a:prstGeom>
          <a:solidFill>
            <a:srgbClr val="0D1B3E"/>
          </a:solidFill>
          <a:ln w="12700">
            <a:solidFill>
              <a:srgbClr val="F59E0B"/>
            </a:solidFill>
            <a:prstDash val="solid"/>
          </a:ln>
        </p:spPr>
        <p:txBody>
          <a:bodyPr/>
          <a:lstStyle/>
          <a:p>
            <a:endParaRPr lang="en-US"/>
          </a:p>
        </p:txBody>
      </p:sp>
      <p:sp>
        <p:nvSpPr>
          <p:cNvPr id="66" name="Text 64"/>
          <p:cNvSpPr/>
          <p:nvPr/>
        </p:nvSpPr>
        <p:spPr>
          <a:xfrm>
            <a:off x="7726680" y="4636008"/>
            <a:ext cx="1356360" cy="457200"/>
          </a:xfrm>
          <a:prstGeom prst="rect">
            <a:avLst/>
          </a:prstGeom>
          <a:noFill/>
          <a:ln/>
        </p:spPr>
        <p:txBody>
          <a:bodyPr wrap="square" lIns="0" tIns="0" rIns="0" bIns="0" rtlCol="0" anchor="ctr"/>
          <a:lstStyle/>
          <a:p>
            <a:pPr marL="0" indent="0" algn="ctr">
              <a:buNone/>
            </a:pPr>
            <a:r>
              <a:rPr lang="en-US" sz="800" dirty="0">
                <a:solidFill>
                  <a:srgbClr val="FFFFFF"/>
                </a:solidFill>
              </a:rPr>
              <a:t>ServiceNow MCP</a:t>
            </a:r>
            <a:endParaRPr lang="en-US" sz="800" dirty="0"/>
          </a:p>
        </p:txBody>
      </p:sp>
      <p:sp>
        <p:nvSpPr>
          <p:cNvPr id="67" name="Shape 65"/>
          <p:cNvSpPr/>
          <p:nvPr/>
        </p:nvSpPr>
        <p:spPr>
          <a:xfrm>
            <a:off x="9128760" y="4636008"/>
            <a:ext cx="1356360" cy="457200"/>
          </a:xfrm>
          <a:prstGeom prst="roundRect">
            <a:avLst>
              <a:gd name="adj" fmla="val 10000"/>
            </a:avLst>
          </a:prstGeom>
          <a:solidFill>
            <a:srgbClr val="0D1B3E"/>
          </a:solidFill>
          <a:ln w="12700">
            <a:solidFill>
              <a:srgbClr val="F59E0B"/>
            </a:solidFill>
            <a:prstDash val="solid"/>
          </a:ln>
        </p:spPr>
        <p:txBody>
          <a:bodyPr/>
          <a:lstStyle/>
          <a:p>
            <a:endParaRPr lang="en-US"/>
          </a:p>
        </p:txBody>
      </p:sp>
      <p:sp>
        <p:nvSpPr>
          <p:cNvPr id="68" name="Text 66"/>
          <p:cNvSpPr/>
          <p:nvPr/>
        </p:nvSpPr>
        <p:spPr>
          <a:xfrm>
            <a:off x="9128760" y="4636008"/>
            <a:ext cx="1356360" cy="457200"/>
          </a:xfrm>
          <a:prstGeom prst="rect">
            <a:avLst/>
          </a:prstGeom>
          <a:noFill/>
          <a:ln/>
        </p:spPr>
        <p:txBody>
          <a:bodyPr wrap="square" lIns="0" tIns="0" rIns="0" bIns="0" rtlCol="0" anchor="ctr"/>
          <a:lstStyle/>
          <a:p>
            <a:pPr marL="0" indent="0" algn="ctr">
              <a:buNone/>
            </a:pPr>
            <a:r>
              <a:rPr lang="en-US" sz="800" dirty="0">
                <a:solidFill>
                  <a:srgbClr val="FFFFFF"/>
                </a:solidFill>
              </a:rPr>
              <a:t>Datadog MCP</a:t>
            </a:r>
            <a:endParaRPr lang="en-US" sz="800" dirty="0"/>
          </a:p>
        </p:txBody>
      </p:sp>
      <p:sp>
        <p:nvSpPr>
          <p:cNvPr id="69" name="Shape 67"/>
          <p:cNvSpPr/>
          <p:nvPr/>
        </p:nvSpPr>
        <p:spPr>
          <a:xfrm>
            <a:off x="10530840" y="4636008"/>
            <a:ext cx="1356360" cy="457200"/>
          </a:xfrm>
          <a:prstGeom prst="roundRect">
            <a:avLst>
              <a:gd name="adj" fmla="val 10000"/>
            </a:avLst>
          </a:prstGeom>
          <a:solidFill>
            <a:srgbClr val="0D1B3E"/>
          </a:solidFill>
          <a:ln w="12700">
            <a:solidFill>
              <a:srgbClr val="F59E0B"/>
            </a:solidFill>
            <a:prstDash val="solid"/>
          </a:ln>
        </p:spPr>
        <p:txBody>
          <a:bodyPr/>
          <a:lstStyle/>
          <a:p>
            <a:endParaRPr lang="en-US"/>
          </a:p>
        </p:txBody>
      </p:sp>
      <p:sp>
        <p:nvSpPr>
          <p:cNvPr id="70" name="Text 68"/>
          <p:cNvSpPr/>
          <p:nvPr/>
        </p:nvSpPr>
        <p:spPr>
          <a:xfrm>
            <a:off x="10530840" y="4636008"/>
            <a:ext cx="1356360" cy="457200"/>
          </a:xfrm>
          <a:prstGeom prst="rect">
            <a:avLst/>
          </a:prstGeom>
          <a:noFill/>
          <a:ln/>
        </p:spPr>
        <p:txBody>
          <a:bodyPr wrap="square" lIns="0" tIns="0" rIns="0" bIns="0" rtlCol="0" anchor="ctr"/>
          <a:lstStyle/>
          <a:p>
            <a:pPr marL="0" indent="0" algn="ctr">
              <a:buNone/>
            </a:pPr>
            <a:r>
              <a:rPr lang="en-US" sz="800" dirty="0">
                <a:solidFill>
                  <a:srgbClr val="FFFFFF"/>
                </a:solidFill>
              </a:rPr>
              <a:t>Vault MCP</a:t>
            </a:r>
            <a:endParaRPr lang="en-US" sz="800" dirty="0"/>
          </a:p>
        </p:txBody>
      </p:sp>
      <p:sp>
        <p:nvSpPr>
          <p:cNvPr id="71" name="Shape 69"/>
          <p:cNvSpPr/>
          <p:nvPr/>
        </p:nvSpPr>
        <p:spPr>
          <a:xfrm>
            <a:off x="6080760" y="5212080"/>
            <a:ext cx="0" cy="91440"/>
          </a:xfrm>
          <a:prstGeom prst="line">
            <a:avLst/>
          </a:prstGeom>
          <a:noFill/>
          <a:ln w="12700">
            <a:solidFill>
              <a:srgbClr val="64748B"/>
            </a:solidFill>
            <a:prstDash val="dot"/>
          </a:ln>
        </p:spPr>
        <p:txBody>
          <a:bodyPr/>
          <a:lstStyle/>
          <a:p>
            <a:endParaRPr lang="en-US"/>
          </a:p>
        </p:txBody>
      </p:sp>
      <p:sp>
        <p:nvSpPr>
          <p:cNvPr id="72" name="Shape 70"/>
          <p:cNvSpPr/>
          <p:nvPr/>
        </p:nvSpPr>
        <p:spPr>
          <a:xfrm>
            <a:off x="274320" y="5349240"/>
            <a:ext cx="11612880" cy="685800"/>
          </a:xfrm>
          <a:prstGeom prst="roundRect">
            <a:avLst>
              <a:gd name="adj" fmla="val 8000"/>
            </a:avLst>
          </a:prstGeom>
          <a:solidFill>
            <a:srgbClr val="64748B">
              <a:alpha val="20000"/>
            </a:srgbClr>
          </a:solidFill>
          <a:ln w="25400">
            <a:solidFill>
              <a:srgbClr val="64748B"/>
            </a:solidFill>
            <a:prstDash val="solid"/>
          </a:ln>
        </p:spPr>
        <p:txBody>
          <a:bodyPr/>
          <a:lstStyle/>
          <a:p>
            <a:endParaRPr lang="en-US"/>
          </a:p>
        </p:txBody>
      </p:sp>
      <p:sp>
        <p:nvSpPr>
          <p:cNvPr id="73" name="Text 71"/>
          <p:cNvSpPr/>
          <p:nvPr/>
        </p:nvSpPr>
        <p:spPr>
          <a:xfrm>
            <a:off x="365760" y="5349240"/>
            <a:ext cx="3200400" cy="685800"/>
          </a:xfrm>
          <a:prstGeom prst="rect">
            <a:avLst/>
          </a:prstGeom>
          <a:noFill/>
          <a:ln/>
        </p:spPr>
        <p:txBody>
          <a:bodyPr wrap="square" lIns="38100" tIns="38100" rIns="38100" bIns="38100" rtlCol="0" anchor="ctr"/>
          <a:lstStyle/>
          <a:p>
            <a:pPr marL="0" indent="0">
              <a:buNone/>
            </a:pPr>
            <a:r>
              <a:rPr lang="en-US" sz="950" b="1" dirty="0">
                <a:solidFill>
                  <a:srgbClr val="64748B"/>
                </a:solidFill>
              </a:rPr>
              <a:t>FOUNDATION LAYER</a:t>
            </a:r>
            <a:endParaRPr lang="en-US" sz="950" dirty="0"/>
          </a:p>
        </p:txBody>
      </p:sp>
      <p:sp>
        <p:nvSpPr>
          <p:cNvPr id="74" name="Shape 72"/>
          <p:cNvSpPr/>
          <p:nvPr/>
        </p:nvSpPr>
        <p:spPr>
          <a:xfrm>
            <a:off x="3520440" y="5458968"/>
            <a:ext cx="1627632" cy="457200"/>
          </a:xfrm>
          <a:prstGeom prst="roundRect">
            <a:avLst>
              <a:gd name="adj" fmla="val 10000"/>
            </a:avLst>
          </a:prstGeom>
          <a:solidFill>
            <a:srgbClr val="0D1B3E"/>
          </a:solidFill>
          <a:ln w="12700">
            <a:solidFill>
              <a:srgbClr val="64748B"/>
            </a:solidFill>
            <a:prstDash val="solid"/>
          </a:ln>
        </p:spPr>
        <p:txBody>
          <a:bodyPr/>
          <a:lstStyle/>
          <a:p>
            <a:endParaRPr lang="en-US"/>
          </a:p>
        </p:txBody>
      </p:sp>
      <p:sp>
        <p:nvSpPr>
          <p:cNvPr id="75" name="Text 73"/>
          <p:cNvSpPr/>
          <p:nvPr/>
        </p:nvSpPr>
        <p:spPr>
          <a:xfrm>
            <a:off x="3520440" y="5458968"/>
            <a:ext cx="1627632" cy="457200"/>
          </a:xfrm>
          <a:prstGeom prst="rect">
            <a:avLst/>
          </a:prstGeom>
          <a:noFill/>
          <a:ln/>
        </p:spPr>
        <p:txBody>
          <a:bodyPr wrap="square" lIns="0" tIns="0" rIns="0" bIns="0" rtlCol="0" anchor="ctr"/>
          <a:lstStyle/>
          <a:p>
            <a:pPr marL="0" indent="0" algn="ctr">
              <a:buNone/>
            </a:pPr>
            <a:r>
              <a:rPr lang="en-US" sz="800" dirty="0">
                <a:solidFill>
                  <a:srgbClr val="FFFFFF"/>
                </a:solidFill>
              </a:rPr>
              <a:t>LLM Gateway (GPT-4o / Claude)</a:t>
            </a:r>
            <a:endParaRPr lang="en-US" sz="800" dirty="0"/>
          </a:p>
        </p:txBody>
      </p:sp>
      <p:sp>
        <p:nvSpPr>
          <p:cNvPr id="76" name="Shape 74"/>
          <p:cNvSpPr/>
          <p:nvPr/>
        </p:nvSpPr>
        <p:spPr>
          <a:xfrm>
            <a:off x="5193792" y="5458968"/>
            <a:ext cx="1627632" cy="457200"/>
          </a:xfrm>
          <a:prstGeom prst="roundRect">
            <a:avLst>
              <a:gd name="adj" fmla="val 10000"/>
            </a:avLst>
          </a:prstGeom>
          <a:solidFill>
            <a:srgbClr val="0D1B3E"/>
          </a:solidFill>
          <a:ln w="12700">
            <a:solidFill>
              <a:srgbClr val="64748B"/>
            </a:solidFill>
            <a:prstDash val="solid"/>
          </a:ln>
        </p:spPr>
        <p:txBody>
          <a:bodyPr/>
          <a:lstStyle/>
          <a:p>
            <a:endParaRPr lang="en-US"/>
          </a:p>
        </p:txBody>
      </p:sp>
      <p:sp>
        <p:nvSpPr>
          <p:cNvPr id="77" name="Text 75"/>
          <p:cNvSpPr/>
          <p:nvPr/>
        </p:nvSpPr>
        <p:spPr>
          <a:xfrm>
            <a:off x="5193792" y="5458968"/>
            <a:ext cx="1627632" cy="457200"/>
          </a:xfrm>
          <a:prstGeom prst="rect">
            <a:avLst/>
          </a:prstGeom>
          <a:noFill/>
          <a:ln/>
        </p:spPr>
        <p:txBody>
          <a:bodyPr wrap="square" lIns="0" tIns="0" rIns="0" bIns="0" rtlCol="0" anchor="ctr"/>
          <a:lstStyle/>
          <a:p>
            <a:pPr marL="0" indent="0" algn="ctr">
              <a:buNone/>
            </a:pPr>
            <a:r>
              <a:rPr lang="en-US" sz="800" dirty="0">
                <a:solidFill>
                  <a:srgbClr val="FFFFFF"/>
                </a:solidFill>
              </a:rPr>
              <a:t>Vector Database (embeddings)</a:t>
            </a:r>
            <a:endParaRPr lang="en-US" sz="800" dirty="0"/>
          </a:p>
        </p:txBody>
      </p:sp>
      <p:sp>
        <p:nvSpPr>
          <p:cNvPr id="78" name="Shape 76"/>
          <p:cNvSpPr/>
          <p:nvPr/>
        </p:nvSpPr>
        <p:spPr>
          <a:xfrm>
            <a:off x="6867144" y="5458968"/>
            <a:ext cx="1627632" cy="457200"/>
          </a:xfrm>
          <a:prstGeom prst="roundRect">
            <a:avLst>
              <a:gd name="adj" fmla="val 10000"/>
            </a:avLst>
          </a:prstGeom>
          <a:solidFill>
            <a:srgbClr val="0D1B3E"/>
          </a:solidFill>
          <a:ln w="12700">
            <a:solidFill>
              <a:srgbClr val="64748B"/>
            </a:solidFill>
            <a:prstDash val="solid"/>
          </a:ln>
        </p:spPr>
        <p:txBody>
          <a:bodyPr/>
          <a:lstStyle/>
          <a:p>
            <a:endParaRPr lang="en-US"/>
          </a:p>
        </p:txBody>
      </p:sp>
      <p:sp>
        <p:nvSpPr>
          <p:cNvPr id="79" name="Text 77"/>
          <p:cNvSpPr/>
          <p:nvPr/>
        </p:nvSpPr>
        <p:spPr>
          <a:xfrm>
            <a:off x="6867144" y="5458968"/>
            <a:ext cx="1627632" cy="457200"/>
          </a:xfrm>
          <a:prstGeom prst="rect">
            <a:avLst/>
          </a:prstGeom>
          <a:noFill/>
          <a:ln/>
        </p:spPr>
        <p:txBody>
          <a:bodyPr wrap="square" lIns="0" tIns="0" rIns="0" bIns="0" rtlCol="0" anchor="ctr"/>
          <a:lstStyle/>
          <a:p>
            <a:pPr marL="0" indent="0" algn="ctr">
              <a:buNone/>
            </a:pPr>
            <a:r>
              <a:rPr lang="en-US" sz="800" dirty="0">
                <a:solidFill>
                  <a:srgbClr val="FFFFFF"/>
                </a:solidFill>
              </a:rPr>
              <a:t>Enterprise CMDB</a:t>
            </a:r>
            <a:endParaRPr lang="en-US" sz="800" dirty="0"/>
          </a:p>
        </p:txBody>
      </p:sp>
      <p:sp>
        <p:nvSpPr>
          <p:cNvPr id="80" name="Shape 78"/>
          <p:cNvSpPr/>
          <p:nvPr/>
        </p:nvSpPr>
        <p:spPr>
          <a:xfrm>
            <a:off x="8540496" y="5458968"/>
            <a:ext cx="1627632" cy="457200"/>
          </a:xfrm>
          <a:prstGeom prst="roundRect">
            <a:avLst>
              <a:gd name="adj" fmla="val 10000"/>
            </a:avLst>
          </a:prstGeom>
          <a:solidFill>
            <a:srgbClr val="0D1B3E"/>
          </a:solidFill>
          <a:ln w="12700">
            <a:solidFill>
              <a:srgbClr val="64748B"/>
            </a:solidFill>
            <a:prstDash val="solid"/>
          </a:ln>
        </p:spPr>
        <p:txBody>
          <a:bodyPr/>
          <a:lstStyle/>
          <a:p>
            <a:endParaRPr lang="en-US"/>
          </a:p>
        </p:txBody>
      </p:sp>
      <p:sp>
        <p:nvSpPr>
          <p:cNvPr id="81" name="Text 79"/>
          <p:cNvSpPr/>
          <p:nvPr/>
        </p:nvSpPr>
        <p:spPr>
          <a:xfrm>
            <a:off x="8540496" y="5458968"/>
            <a:ext cx="1627632" cy="457200"/>
          </a:xfrm>
          <a:prstGeom prst="rect">
            <a:avLst/>
          </a:prstGeom>
          <a:noFill/>
          <a:ln/>
        </p:spPr>
        <p:txBody>
          <a:bodyPr wrap="square" lIns="0" tIns="0" rIns="0" bIns="0" rtlCol="0" anchor="ctr"/>
          <a:lstStyle/>
          <a:p>
            <a:pPr marL="0" indent="0" algn="ctr">
              <a:buNone/>
            </a:pPr>
            <a:r>
              <a:rPr lang="en-US" sz="800" dirty="0">
                <a:solidFill>
                  <a:srgbClr val="FFFFFF"/>
                </a:solidFill>
              </a:rPr>
              <a:t>Observability Stack</a:t>
            </a:r>
            <a:endParaRPr lang="en-US" sz="800" dirty="0"/>
          </a:p>
        </p:txBody>
      </p:sp>
      <p:sp>
        <p:nvSpPr>
          <p:cNvPr id="82" name="Shape 80"/>
          <p:cNvSpPr/>
          <p:nvPr/>
        </p:nvSpPr>
        <p:spPr>
          <a:xfrm>
            <a:off x="10213848" y="5458968"/>
            <a:ext cx="1627632" cy="457200"/>
          </a:xfrm>
          <a:prstGeom prst="roundRect">
            <a:avLst>
              <a:gd name="adj" fmla="val 10000"/>
            </a:avLst>
          </a:prstGeom>
          <a:solidFill>
            <a:srgbClr val="0D1B3E"/>
          </a:solidFill>
          <a:ln w="12700">
            <a:solidFill>
              <a:srgbClr val="64748B"/>
            </a:solidFill>
            <a:prstDash val="solid"/>
          </a:ln>
        </p:spPr>
        <p:txBody>
          <a:bodyPr/>
          <a:lstStyle/>
          <a:p>
            <a:endParaRPr lang="en-US"/>
          </a:p>
        </p:txBody>
      </p:sp>
      <p:sp>
        <p:nvSpPr>
          <p:cNvPr id="83" name="Text 81"/>
          <p:cNvSpPr/>
          <p:nvPr/>
        </p:nvSpPr>
        <p:spPr>
          <a:xfrm>
            <a:off x="10213848" y="5458968"/>
            <a:ext cx="1627632" cy="457200"/>
          </a:xfrm>
          <a:prstGeom prst="rect">
            <a:avLst/>
          </a:prstGeom>
          <a:noFill/>
          <a:ln/>
        </p:spPr>
        <p:txBody>
          <a:bodyPr wrap="square" lIns="0" tIns="0" rIns="0" bIns="0" rtlCol="0" anchor="ctr"/>
          <a:lstStyle/>
          <a:p>
            <a:pPr marL="0" indent="0" algn="ctr">
              <a:buNone/>
            </a:pPr>
            <a:r>
              <a:rPr lang="en-US" sz="800" dirty="0">
                <a:solidFill>
                  <a:srgbClr val="FFFFFF"/>
                </a:solidFill>
              </a:rPr>
              <a:t>Security &amp; Compliance</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73152"/>
            <a:ext cx="8229600" cy="347472"/>
          </a:xfrm>
          <a:prstGeom prst="rect">
            <a:avLst/>
          </a:prstGeom>
          <a:noFill/>
          <a:ln/>
        </p:spPr>
        <p:txBody>
          <a:bodyPr wrap="square" lIns="0" tIns="0" rIns="0" bIns="0" rtlCol="0" anchor="ctr"/>
          <a:lstStyle/>
          <a:p>
            <a:pPr marL="0" indent="0">
              <a:buNone/>
            </a:pPr>
            <a:r>
              <a:rPr lang="en-US" sz="1000" b="1" kern="0" spc="200" dirty="0">
                <a:solidFill>
                  <a:srgbClr val="00D4FF"/>
                </a:solidFill>
              </a:rPr>
              <a:t>BUSINESS CASE</a:t>
            </a:r>
            <a:endParaRPr lang="en-US" sz="1000" dirty="0"/>
          </a:p>
        </p:txBody>
      </p:sp>
      <p:sp>
        <p:nvSpPr>
          <p:cNvPr id="4" name="Text 2"/>
          <p:cNvSpPr/>
          <p:nvPr/>
        </p:nvSpPr>
        <p:spPr>
          <a:xfrm>
            <a:off x="457200" y="402336"/>
            <a:ext cx="1097280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Productivity, Quality &amp; Cost Impact — Indicative Model (500-person Engineering Org)</a:t>
            </a:r>
            <a:endParaRPr lang="en-US" sz="1500" dirty="0"/>
          </a:p>
        </p:txBody>
      </p:sp>
      <p:sp>
        <p:nvSpPr>
          <p:cNvPr id="5" name="Shape 3"/>
          <p:cNvSpPr/>
          <p:nvPr/>
        </p:nvSpPr>
        <p:spPr>
          <a:xfrm>
            <a:off x="457200" y="3657600"/>
            <a:ext cx="11978640" cy="0"/>
          </a:xfrm>
          <a:prstGeom prst="line">
            <a:avLst/>
          </a:prstGeom>
          <a:noFill/>
          <a:ln w="12700">
            <a:solidFill>
              <a:srgbClr val="64748B"/>
            </a:solidFill>
            <a:prstDash val="solid"/>
          </a:ln>
        </p:spPr>
        <p:txBody>
          <a:bodyPr/>
          <a:lstStyle/>
          <a:p>
            <a:endParaRPr lang="en-US"/>
          </a:p>
        </p:txBody>
      </p:sp>
      <p:sp>
        <p:nvSpPr>
          <p:cNvPr id="6" name="Shape 4"/>
          <p:cNvSpPr/>
          <p:nvPr/>
        </p:nvSpPr>
        <p:spPr>
          <a:xfrm>
            <a:off x="457200" y="1097280"/>
            <a:ext cx="1325880" cy="2569464"/>
          </a:xfrm>
          <a:prstGeom prst="roundRect">
            <a:avLst>
              <a:gd name="adj" fmla="val 3448"/>
            </a:avLst>
          </a:prstGeom>
          <a:solidFill>
            <a:srgbClr val="0D1B3E"/>
          </a:solidFill>
          <a:ln w="12700">
            <a:solidFill>
              <a:srgbClr val="0D1B3E"/>
            </a:solidFill>
            <a:prstDash val="solid"/>
          </a:ln>
        </p:spPr>
        <p:txBody>
          <a:bodyPr/>
          <a:lstStyle/>
          <a:p>
            <a:endParaRPr lang="en-US"/>
          </a:p>
        </p:txBody>
      </p:sp>
      <p:sp>
        <p:nvSpPr>
          <p:cNvPr id="7" name="Text 5"/>
          <p:cNvSpPr/>
          <p:nvPr/>
        </p:nvSpPr>
        <p:spPr>
          <a:xfrm>
            <a:off x="457200" y="777240"/>
            <a:ext cx="1325880" cy="274320"/>
          </a:xfrm>
          <a:prstGeom prst="rect">
            <a:avLst/>
          </a:prstGeom>
          <a:noFill/>
          <a:ln/>
        </p:spPr>
        <p:txBody>
          <a:bodyPr wrap="square" lIns="0" tIns="0" rIns="0" bIns="0" rtlCol="0" anchor="ctr"/>
          <a:lstStyle/>
          <a:p>
            <a:pPr marL="0" indent="0" algn="ctr">
              <a:buNone/>
            </a:pPr>
            <a:r>
              <a:rPr lang="en-US" sz="900" b="1" dirty="0">
                <a:solidFill>
                  <a:srgbClr val="0D1B3E"/>
                </a:solidFill>
              </a:rPr>
              <a:t>Baseline</a:t>
            </a:r>
            <a:endParaRPr lang="en-US" sz="900" dirty="0"/>
          </a:p>
        </p:txBody>
      </p:sp>
      <p:sp>
        <p:nvSpPr>
          <p:cNvPr id="8" name="Text 6"/>
          <p:cNvSpPr/>
          <p:nvPr/>
        </p:nvSpPr>
        <p:spPr>
          <a:xfrm>
            <a:off x="457200" y="3749040"/>
            <a:ext cx="1325880" cy="457200"/>
          </a:xfrm>
          <a:prstGeom prst="rect">
            <a:avLst/>
          </a:prstGeom>
          <a:noFill/>
          <a:ln/>
        </p:spPr>
        <p:txBody>
          <a:bodyPr wrap="square" lIns="0" tIns="0" rIns="0" bIns="0" rtlCol="0" anchor="ctr"/>
          <a:lstStyle/>
          <a:p>
            <a:pPr marL="0" indent="0" algn="ctr">
              <a:buNone/>
            </a:pPr>
            <a:r>
              <a:rPr lang="en-US" sz="800" dirty="0">
                <a:solidFill>
                  <a:srgbClr val="1E293B"/>
                </a:solidFill>
              </a:rPr>
              <a:t>Current</a:t>
            </a:r>
            <a:endParaRPr lang="en-US" sz="800" dirty="0"/>
          </a:p>
          <a:p>
            <a:pPr marL="0" indent="0" algn="ctr">
              <a:buNone/>
            </a:pPr>
            <a:r>
              <a:rPr lang="en-US" sz="800" dirty="0">
                <a:solidFill>
                  <a:srgbClr val="1E293B"/>
                </a:solidFill>
              </a:rPr>
              <a:t>Annual Cost</a:t>
            </a:r>
            <a:endParaRPr lang="en-US" sz="800" dirty="0"/>
          </a:p>
        </p:txBody>
      </p:sp>
      <p:sp>
        <p:nvSpPr>
          <p:cNvPr id="9" name="Shape 7"/>
          <p:cNvSpPr/>
          <p:nvPr/>
        </p:nvSpPr>
        <p:spPr>
          <a:xfrm>
            <a:off x="2103120" y="3094330"/>
            <a:ext cx="1325880" cy="572414"/>
          </a:xfrm>
          <a:prstGeom prst="roundRect">
            <a:avLst>
              <a:gd name="adj" fmla="val 7987"/>
            </a:avLst>
          </a:prstGeom>
          <a:solidFill>
            <a:srgbClr val="10B981">
              <a:alpha val="80000"/>
            </a:srgbClr>
          </a:solidFill>
          <a:ln w="12700">
            <a:solidFill>
              <a:srgbClr val="10B981"/>
            </a:solidFill>
            <a:prstDash val="solid"/>
          </a:ln>
        </p:spPr>
        <p:txBody>
          <a:bodyPr/>
          <a:lstStyle/>
          <a:p>
            <a:endParaRPr lang="en-US"/>
          </a:p>
        </p:txBody>
      </p:sp>
      <p:sp>
        <p:nvSpPr>
          <p:cNvPr id="10" name="Text 8"/>
          <p:cNvSpPr/>
          <p:nvPr/>
        </p:nvSpPr>
        <p:spPr>
          <a:xfrm>
            <a:off x="2103120" y="2774290"/>
            <a:ext cx="1325880" cy="274320"/>
          </a:xfrm>
          <a:prstGeom prst="rect">
            <a:avLst/>
          </a:prstGeom>
          <a:noFill/>
          <a:ln/>
        </p:spPr>
        <p:txBody>
          <a:bodyPr wrap="square" lIns="0" tIns="0" rIns="0" bIns="0" rtlCol="0" anchor="ctr"/>
          <a:lstStyle/>
          <a:p>
            <a:pPr marL="0" indent="0" algn="ctr">
              <a:buNone/>
            </a:pPr>
            <a:r>
              <a:rPr lang="en-US" sz="900" b="1" dirty="0">
                <a:solidFill>
                  <a:srgbClr val="10B981"/>
                </a:solidFill>
              </a:rPr>
              <a:t>-22%</a:t>
            </a:r>
            <a:endParaRPr lang="en-US" sz="900" dirty="0"/>
          </a:p>
        </p:txBody>
      </p:sp>
      <p:sp>
        <p:nvSpPr>
          <p:cNvPr id="11" name="Text 9"/>
          <p:cNvSpPr/>
          <p:nvPr/>
        </p:nvSpPr>
        <p:spPr>
          <a:xfrm>
            <a:off x="2103120" y="3749040"/>
            <a:ext cx="1325880" cy="457200"/>
          </a:xfrm>
          <a:prstGeom prst="rect">
            <a:avLst/>
          </a:prstGeom>
          <a:noFill/>
          <a:ln/>
        </p:spPr>
        <p:txBody>
          <a:bodyPr wrap="square" lIns="0" tIns="0" rIns="0" bIns="0" rtlCol="0" anchor="ctr"/>
          <a:lstStyle/>
          <a:p>
            <a:pPr marL="0" indent="0" algn="ctr">
              <a:buNone/>
            </a:pPr>
            <a:r>
              <a:rPr lang="en-US" sz="800" dirty="0">
                <a:solidFill>
                  <a:srgbClr val="1E293B"/>
                </a:solidFill>
              </a:rPr>
              <a:t>Dev Effort</a:t>
            </a:r>
            <a:endParaRPr lang="en-US" sz="800" dirty="0"/>
          </a:p>
          <a:p>
            <a:pPr marL="0" indent="0" algn="ctr">
              <a:buNone/>
            </a:pPr>
            <a:r>
              <a:rPr lang="en-US" sz="800" dirty="0">
                <a:solidFill>
                  <a:srgbClr val="1E293B"/>
                </a:solidFill>
              </a:rPr>
              <a:t>Reduction</a:t>
            </a:r>
            <a:endParaRPr lang="en-US" sz="800" dirty="0"/>
          </a:p>
        </p:txBody>
      </p:sp>
      <p:sp>
        <p:nvSpPr>
          <p:cNvPr id="12" name="Shape 10"/>
          <p:cNvSpPr/>
          <p:nvPr/>
        </p:nvSpPr>
        <p:spPr>
          <a:xfrm>
            <a:off x="3749040" y="3299155"/>
            <a:ext cx="1325880" cy="367589"/>
          </a:xfrm>
          <a:prstGeom prst="roundRect">
            <a:avLst>
              <a:gd name="adj" fmla="val 12438"/>
            </a:avLst>
          </a:prstGeom>
          <a:solidFill>
            <a:srgbClr val="10B981">
              <a:alpha val="80000"/>
            </a:srgbClr>
          </a:solidFill>
          <a:ln w="12700">
            <a:solidFill>
              <a:srgbClr val="10B981"/>
            </a:solidFill>
            <a:prstDash val="solid"/>
          </a:ln>
        </p:spPr>
        <p:txBody>
          <a:bodyPr/>
          <a:lstStyle/>
          <a:p>
            <a:endParaRPr lang="en-US"/>
          </a:p>
        </p:txBody>
      </p:sp>
      <p:sp>
        <p:nvSpPr>
          <p:cNvPr id="13" name="Text 11"/>
          <p:cNvSpPr/>
          <p:nvPr/>
        </p:nvSpPr>
        <p:spPr>
          <a:xfrm>
            <a:off x="3749040" y="2979115"/>
            <a:ext cx="1325880" cy="274320"/>
          </a:xfrm>
          <a:prstGeom prst="rect">
            <a:avLst/>
          </a:prstGeom>
          <a:noFill/>
          <a:ln/>
        </p:spPr>
        <p:txBody>
          <a:bodyPr wrap="square" lIns="0" tIns="0" rIns="0" bIns="0" rtlCol="0" anchor="ctr"/>
          <a:lstStyle/>
          <a:p>
            <a:pPr marL="0" indent="0" algn="ctr">
              <a:buNone/>
            </a:pPr>
            <a:r>
              <a:rPr lang="en-US" sz="900" b="1" dirty="0">
                <a:solidFill>
                  <a:srgbClr val="10B981"/>
                </a:solidFill>
              </a:rPr>
              <a:t>-14%</a:t>
            </a:r>
            <a:endParaRPr lang="en-US" sz="900" dirty="0"/>
          </a:p>
        </p:txBody>
      </p:sp>
      <p:sp>
        <p:nvSpPr>
          <p:cNvPr id="14" name="Text 12"/>
          <p:cNvSpPr/>
          <p:nvPr/>
        </p:nvSpPr>
        <p:spPr>
          <a:xfrm>
            <a:off x="3749040" y="3749040"/>
            <a:ext cx="1325880" cy="457200"/>
          </a:xfrm>
          <a:prstGeom prst="rect">
            <a:avLst/>
          </a:prstGeom>
          <a:noFill/>
          <a:ln/>
        </p:spPr>
        <p:txBody>
          <a:bodyPr wrap="square" lIns="0" tIns="0" rIns="0" bIns="0" rtlCol="0" anchor="ctr"/>
          <a:lstStyle/>
          <a:p>
            <a:pPr marL="0" indent="0" algn="ctr">
              <a:buNone/>
            </a:pPr>
            <a:r>
              <a:rPr lang="en-US" sz="800" dirty="0">
                <a:solidFill>
                  <a:srgbClr val="1E293B"/>
                </a:solidFill>
              </a:rPr>
              <a:t>Test Effort</a:t>
            </a:r>
            <a:endParaRPr lang="en-US" sz="800" dirty="0"/>
          </a:p>
          <a:p>
            <a:pPr marL="0" indent="0" algn="ctr">
              <a:buNone/>
            </a:pPr>
            <a:r>
              <a:rPr lang="en-US" sz="800" dirty="0">
                <a:solidFill>
                  <a:srgbClr val="1E293B"/>
                </a:solidFill>
              </a:rPr>
              <a:t>Reduction</a:t>
            </a:r>
            <a:endParaRPr lang="en-US" sz="800" dirty="0"/>
          </a:p>
        </p:txBody>
      </p:sp>
      <p:sp>
        <p:nvSpPr>
          <p:cNvPr id="15" name="Shape 13"/>
          <p:cNvSpPr/>
          <p:nvPr/>
        </p:nvSpPr>
        <p:spPr>
          <a:xfrm>
            <a:off x="5394960" y="3401568"/>
            <a:ext cx="1325880" cy="265176"/>
          </a:xfrm>
          <a:prstGeom prst="roundRect">
            <a:avLst>
              <a:gd name="adj" fmla="val 17241"/>
            </a:avLst>
          </a:prstGeom>
          <a:solidFill>
            <a:srgbClr val="10B981">
              <a:alpha val="80000"/>
            </a:srgbClr>
          </a:solidFill>
          <a:ln w="12700">
            <a:solidFill>
              <a:srgbClr val="10B981"/>
            </a:solidFill>
            <a:prstDash val="solid"/>
          </a:ln>
        </p:spPr>
        <p:txBody>
          <a:bodyPr/>
          <a:lstStyle/>
          <a:p>
            <a:endParaRPr lang="en-US"/>
          </a:p>
        </p:txBody>
      </p:sp>
      <p:sp>
        <p:nvSpPr>
          <p:cNvPr id="16" name="Text 14"/>
          <p:cNvSpPr/>
          <p:nvPr/>
        </p:nvSpPr>
        <p:spPr>
          <a:xfrm>
            <a:off x="5394960" y="3081528"/>
            <a:ext cx="1325880" cy="274320"/>
          </a:xfrm>
          <a:prstGeom prst="rect">
            <a:avLst/>
          </a:prstGeom>
          <a:noFill/>
          <a:ln/>
        </p:spPr>
        <p:txBody>
          <a:bodyPr wrap="square" lIns="0" tIns="0" rIns="0" bIns="0" rtlCol="0" anchor="ctr"/>
          <a:lstStyle/>
          <a:p>
            <a:pPr marL="0" indent="0" algn="ctr">
              <a:buNone/>
            </a:pPr>
            <a:r>
              <a:rPr lang="en-US" sz="900" b="1" dirty="0">
                <a:solidFill>
                  <a:srgbClr val="10B981"/>
                </a:solidFill>
              </a:rPr>
              <a:t>-10%</a:t>
            </a:r>
            <a:endParaRPr lang="en-US" sz="900" dirty="0"/>
          </a:p>
        </p:txBody>
      </p:sp>
      <p:sp>
        <p:nvSpPr>
          <p:cNvPr id="17" name="Text 15"/>
          <p:cNvSpPr/>
          <p:nvPr/>
        </p:nvSpPr>
        <p:spPr>
          <a:xfrm>
            <a:off x="5394960" y="3749040"/>
            <a:ext cx="1325880" cy="457200"/>
          </a:xfrm>
          <a:prstGeom prst="rect">
            <a:avLst/>
          </a:prstGeom>
          <a:noFill/>
          <a:ln/>
        </p:spPr>
        <p:txBody>
          <a:bodyPr wrap="square" lIns="0" tIns="0" rIns="0" bIns="0" rtlCol="0" anchor="ctr"/>
          <a:lstStyle/>
          <a:p>
            <a:pPr marL="0" indent="0" algn="ctr">
              <a:buNone/>
            </a:pPr>
            <a:r>
              <a:rPr lang="en-US" sz="800" dirty="0">
                <a:solidFill>
                  <a:srgbClr val="1E293B"/>
                </a:solidFill>
              </a:rPr>
              <a:t>Ops Toil</a:t>
            </a:r>
            <a:endParaRPr lang="en-US" sz="800" dirty="0"/>
          </a:p>
          <a:p>
            <a:pPr marL="0" indent="0" algn="ctr">
              <a:buNone/>
            </a:pPr>
            <a:r>
              <a:rPr lang="en-US" sz="800" dirty="0">
                <a:solidFill>
                  <a:srgbClr val="1E293B"/>
                </a:solidFill>
              </a:rPr>
              <a:t>Reduction</a:t>
            </a:r>
            <a:endParaRPr lang="en-US" sz="800" dirty="0"/>
          </a:p>
        </p:txBody>
      </p:sp>
      <p:sp>
        <p:nvSpPr>
          <p:cNvPr id="18" name="Shape 16"/>
          <p:cNvSpPr/>
          <p:nvPr/>
        </p:nvSpPr>
        <p:spPr>
          <a:xfrm>
            <a:off x="7040880" y="3452774"/>
            <a:ext cx="1325880" cy="213970"/>
          </a:xfrm>
          <a:prstGeom prst="roundRect">
            <a:avLst>
              <a:gd name="adj" fmla="val 21367"/>
            </a:avLst>
          </a:prstGeom>
          <a:solidFill>
            <a:srgbClr val="0099BB">
              <a:alpha val="80000"/>
            </a:srgbClr>
          </a:solidFill>
          <a:ln w="12700">
            <a:solidFill>
              <a:srgbClr val="0099BB"/>
            </a:solidFill>
            <a:prstDash val="solid"/>
          </a:ln>
        </p:spPr>
        <p:txBody>
          <a:bodyPr/>
          <a:lstStyle/>
          <a:p>
            <a:endParaRPr lang="en-US"/>
          </a:p>
        </p:txBody>
      </p:sp>
      <p:sp>
        <p:nvSpPr>
          <p:cNvPr id="19" name="Text 17"/>
          <p:cNvSpPr/>
          <p:nvPr/>
        </p:nvSpPr>
        <p:spPr>
          <a:xfrm>
            <a:off x="7040880" y="3132734"/>
            <a:ext cx="1325880" cy="274320"/>
          </a:xfrm>
          <a:prstGeom prst="rect">
            <a:avLst/>
          </a:prstGeom>
          <a:noFill/>
          <a:ln/>
        </p:spPr>
        <p:txBody>
          <a:bodyPr wrap="square" lIns="0" tIns="0" rIns="0" bIns="0" rtlCol="0" anchor="ctr"/>
          <a:lstStyle/>
          <a:p>
            <a:pPr marL="0" indent="0" algn="ctr">
              <a:buNone/>
            </a:pPr>
            <a:r>
              <a:rPr lang="en-US" sz="900" b="1" dirty="0">
                <a:solidFill>
                  <a:srgbClr val="0099BB"/>
                </a:solidFill>
              </a:rPr>
              <a:t>-8%</a:t>
            </a:r>
            <a:endParaRPr lang="en-US" sz="900" dirty="0"/>
          </a:p>
        </p:txBody>
      </p:sp>
      <p:sp>
        <p:nvSpPr>
          <p:cNvPr id="20" name="Text 18"/>
          <p:cNvSpPr/>
          <p:nvPr/>
        </p:nvSpPr>
        <p:spPr>
          <a:xfrm>
            <a:off x="7040880" y="3749040"/>
            <a:ext cx="1325880" cy="457200"/>
          </a:xfrm>
          <a:prstGeom prst="rect">
            <a:avLst/>
          </a:prstGeom>
          <a:noFill/>
          <a:ln/>
        </p:spPr>
        <p:txBody>
          <a:bodyPr wrap="square" lIns="0" tIns="0" rIns="0" bIns="0" rtlCol="0" anchor="ctr"/>
          <a:lstStyle/>
          <a:p>
            <a:pPr marL="0" indent="0" algn="ctr">
              <a:buNone/>
            </a:pPr>
            <a:r>
              <a:rPr lang="en-US" sz="800" dirty="0">
                <a:solidFill>
                  <a:srgbClr val="1E293B"/>
                </a:solidFill>
              </a:rPr>
              <a:t>Quality</a:t>
            </a:r>
            <a:endParaRPr lang="en-US" sz="800" dirty="0"/>
          </a:p>
          <a:p>
            <a:pPr marL="0" indent="0" algn="ctr">
              <a:buNone/>
            </a:pPr>
            <a:r>
              <a:rPr lang="en-US" sz="800" dirty="0">
                <a:solidFill>
                  <a:srgbClr val="1E293B"/>
                </a:solidFill>
              </a:rPr>
              <a:t>Improvement</a:t>
            </a:r>
            <a:endParaRPr lang="en-US" sz="800" dirty="0"/>
          </a:p>
        </p:txBody>
      </p:sp>
      <p:sp>
        <p:nvSpPr>
          <p:cNvPr id="21" name="Shape 19"/>
          <p:cNvSpPr/>
          <p:nvPr/>
        </p:nvSpPr>
        <p:spPr>
          <a:xfrm>
            <a:off x="8686800" y="3350362"/>
            <a:ext cx="1325880" cy="316382"/>
          </a:xfrm>
          <a:prstGeom prst="roundRect">
            <a:avLst>
              <a:gd name="adj" fmla="val 14451"/>
            </a:avLst>
          </a:prstGeom>
          <a:solidFill>
            <a:srgbClr val="EF4444">
              <a:alpha val="80000"/>
            </a:srgbClr>
          </a:solidFill>
          <a:ln w="12700">
            <a:solidFill>
              <a:srgbClr val="EF4444"/>
            </a:solidFill>
            <a:prstDash val="solid"/>
          </a:ln>
        </p:spPr>
        <p:txBody>
          <a:bodyPr/>
          <a:lstStyle/>
          <a:p>
            <a:endParaRPr lang="en-US"/>
          </a:p>
        </p:txBody>
      </p:sp>
      <p:sp>
        <p:nvSpPr>
          <p:cNvPr id="22" name="Text 20"/>
          <p:cNvSpPr/>
          <p:nvPr/>
        </p:nvSpPr>
        <p:spPr>
          <a:xfrm>
            <a:off x="8686800" y="3030322"/>
            <a:ext cx="1325880" cy="274320"/>
          </a:xfrm>
          <a:prstGeom prst="rect">
            <a:avLst/>
          </a:prstGeom>
          <a:noFill/>
          <a:ln/>
        </p:spPr>
        <p:txBody>
          <a:bodyPr wrap="square" lIns="0" tIns="0" rIns="0" bIns="0" rtlCol="0" anchor="ctr"/>
          <a:lstStyle/>
          <a:p>
            <a:pPr marL="0" indent="0" algn="ctr">
              <a:buNone/>
            </a:pPr>
            <a:r>
              <a:rPr lang="en-US" sz="900" b="1" dirty="0">
                <a:solidFill>
                  <a:srgbClr val="EF4444"/>
                </a:solidFill>
              </a:rPr>
              <a:t>+12%</a:t>
            </a:r>
            <a:endParaRPr lang="en-US" sz="900" dirty="0"/>
          </a:p>
        </p:txBody>
      </p:sp>
      <p:sp>
        <p:nvSpPr>
          <p:cNvPr id="23" name="Text 21"/>
          <p:cNvSpPr/>
          <p:nvPr/>
        </p:nvSpPr>
        <p:spPr>
          <a:xfrm>
            <a:off x="8686800" y="3749040"/>
            <a:ext cx="1325880" cy="457200"/>
          </a:xfrm>
          <a:prstGeom prst="rect">
            <a:avLst/>
          </a:prstGeom>
          <a:noFill/>
          <a:ln/>
        </p:spPr>
        <p:txBody>
          <a:bodyPr wrap="square" lIns="0" tIns="0" rIns="0" bIns="0" rtlCol="0" anchor="ctr"/>
          <a:lstStyle/>
          <a:p>
            <a:pPr marL="0" indent="0" algn="ctr">
              <a:buNone/>
            </a:pPr>
            <a:r>
              <a:rPr lang="en-US" sz="800" dirty="0">
                <a:solidFill>
                  <a:srgbClr val="1E293B"/>
                </a:solidFill>
              </a:rPr>
              <a:t>Platform</a:t>
            </a:r>
            <a:endParaRPr lang="en-US" sz="800" dirty="0"/>
          </a:p>
          <a:p>
            <a:pPr marL="0" indent="0" algn="ctr">
              <a:buNone/>
            </a:pPr>
            <a:r>
              <a:rPr lang="en-US" sz="800" dirty="0">
                <a:solidFill>
                  <a:srgbClr val="1E293B"/>
                </a:solidFill>
              </a:rPr>
              <a:t>Investment</a:t>
            </a:r>
            <a:endParaRPr lang="en-US" sz="800" dirty="0"/>
          </a:p>
        </p:txBody>
      </p:sp>
      <p:sp>
        <p:nvSpPr>
          <p:cNvPr id="24" name="Shape 22"/>
          <p:cNvSpPr/>
          <p:nvPr/>
        </p:nvSpPr>
        <p:spPr>
          <a:xfrm>
            <a:off x="10332720" y="2275027"/>
            <a:ext cx="1325880" cy="1391717"/>
          </a:xfrm>
          <a:prstGeom prst="roundRect">
            <a:avLst>
              <a:gd name="adj" fmla="val 3448"/>
            </a:avLst>
          </a:prstGeom>
          <a:solidFill>
            <a:srgbClr val="8B5CF6">
              <a:alpha val="80000"/>
            </a:srgbClr>
          </a:solidFill>
          <a:ln w="12700">
            <a:solidFill>
              <a:srgbClr val="8B5CF6"/>
            </a:solidFill>
            <a:prstDash val="solid"/>
          </a:ln>
        </p:spPr>
        <p:txBody>
          <a:bodyPr/>
          <a:lstStyle/>
          <a:p>
            <a:endParaRPr lang="en-US"/>
          </a:p>
        </p:txBody>
      </p:sp>
      <p:sp>
        <p:nvSpPr>
          <p:cNvPr id="25" name="Text 23"/>
          <p:cNvSpPr/>
          <p:nvPr/>
        </p:nvSpPr>
        <p:spPr>
          <a:xfrm>
            <a:off x="10332720" y="1954987"/>
            <a:ext cx="1325880" cy="274320"/>
          </a:xfrm>
          <a:prstGeom prst="rect">
            <a:avLst/>
          </a:prstGeom>
          <a:noFill/>
          <a:ln/>
        </p:spPr>
        <p:txBody>
          <a:bodyPr wrap="square" lIns="0" tIns="0" rIns="0" bIns="0" rtlCol="0" anchor="ctr"/>
          <a:lstStyle/>
          <a:p>
            <a:pPr marL="0" indent="0" algn="ctr">
              <a:buNone/>
            </a:pPr>
            <a:r>
              <a:rPr lang="en-US" sz="900" b="1" dirty="0">
                <a:solidFill>
                  <a:srgbClr val="8B5CF6"/>
                </a:solidFill>
              </a:rPr>
              <a:t>54% net savings</a:t>
            </a:r>
            <a:endParaRPr lang="en-US" sz="900" dirty="0"/>
          </a:p>
        </p:txBody>
      </p:sp>
      <p:sp>
        <p:nvSpPr>
          <p:cNvPr id="26" name="Text 24"/>
          <p:cNvSpPr/>
          <p:nvPr/>
        </p:nvSpPr>
        <p:spPr>
          <a:xfrm>
            <a:off x="10332720" y="3749040"/>
            <a:ext cx="1325880" cy="457200"/>
          </a:xfrm>
          <a:prstGeom prst="rect">
            <a:avLst/>
          </a:prstGeom>
          <a:noFill/>
          <a:ln/>
        </p:spPr>
        <p:txBody>
          <a:bodyPr wrap="square" lIns="0" tIns="0" rIns="0" bIns="0" rtlCol="0" anchor="ctr"/>
          <a:lstStyle/>
          <a:p>
            <a:pPr marL="0" indent="0" algn="ctr">
              <a:buNone/>
            </a:pPr>
            <a:r>
              <a:rPr lang="en-US" sz="800" dirty="0">
                <a:solidFill>
                  <a:srgbClr val="1E293B"/>
                </a:solidFill>
              </a:rPr>
              <a:t>Net Annual</a:t>
            </a:r>
            <a:endParaRPr lang="en-US" sz="800" dirty="0"/>
          </a:p>
          <a:p>
            <a:pPr marL="0" indent="0" algn="ctr">
              <a:buNone/>
            </a:pPr>
            <a:r>
              <a:rPr lang="en-US" sz="800" dirty="0">
                <a:solidFill>
                  <a:srgbClr val="1E293B"/>
                </a:solidFill>
              </a:rPr>
              <a:t>Savings</a:t>
            </a:r>
            <a:endParaRPr lang="en-US" sz="800" dirty="0"/>
          </a:p>
        </p:txBody>
      </p:sp>
      <p:sp>
        <p:nvSpPr>
          <p:cNvPr id="27" name="Shape 25"/>
          <p:cNvSpPr/>
          <p:nvPr/>
        </p:nvSpPr>
        <p:spPr>
          <a:xfrm>
            <a:off x="274320" y="4434840"/>
            <a:ext cx="2148840" cy="1417320"/>
          </a:xfrm>
          <a:prstGeom prst="roundRect">
            <a:avLst>
              <a:gd name="adj" fmla="val 5161"/>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28" name="Text 26"/>
          <p:cNvSpPr/>
          <p:nvPr/>
        </p:nvSpPr>
        <p:spPr>
          <a:xfrm>
            <a:off x="274320" y="4480560"/>
            <a:ext cx="2148840" cy="685800"/>
          </a:xfrm>
          <a:prstGeom prst="rect">
            <a:avLst/>
          </a:prstGeom>
          <a:noFill/>
          <a:ln/>
        </p:spPr>
        <p:txBody>
          <a:bodyPr wrap="square" lIns="0" tIns="0" rIns="0" bIns="0" rtlCol="0" anchor="ctr"/>
          <a:lstStyle/>
          <a:p>
            <a:pPr marL="0" indent="0" algn="ctr">
              <a:buNone/>
            </a:pPr>
            <a:r>
              <a:rPr lang="en-US" sz="2400" b="1" dirty="0">
                <a:solidFill>
                  <a:srgbClr val="0D1B3E"/>
                </a:solidFill>
                <a:latin typeface="Cambria" pitchFamily="34" charset="0"/>
                <a:ea typeface="Cambria" pitchFamily="34" charset="-122"/>
                <a:cs typeface="Cambria" pitchFamily="34" charset="-120"/>
              </a:rPr>
              <a:t>40–55%</a:t>
            </a:r>
            <a:endParaRPr lang="en-US" sz="2400" dirty="0"/>
          </a:p>
        </p:txBody>
      </p:sp>
      <p:sp>
        <p:nvSpPr>
          <p:cNvPr id="29" name="Text 27"/>
          <p:cNvSpPr/>
          <p:nvPr/>
        </p:nvSpPr>
        <p:spPr>
          <a:xfrm>
            <a:off x="274320" y="5138928"/>
            <a:ext cx="2148840" cy="320040"/>
          </a:xfrm>
          <a:prstGeom prst="rect">
            <a:avLst/>
          </a:prstGeom>
          <a:noFill/>
          <a:ln/>
        </p:spPr>
        <p:txBody>
          <a:bodyPr wrap="square" lIns="0" tIns="0" rIns="0" bIns="0" rtlCol="0" anchor="ctr"/>
          <a:lstStyle/>
          <a:p>
            <a:pPr marL="0" indent="0" algn="ctr">
              <a:buNone/>
            </a:pPr>
            <a:r>
              <a:rPr lang="en-US" sz="850" b="1" dirty="0">
                <a:solidFill>
                  <a:srgbClr val="1E293B"/>
                </a:solidFill>
              </a:rPr>
              <a:t>Productivity Gain</a:t>
            </a:r>
            <a:endParaRPr lang="en-US" sz="850" dirty="0"/>
          </a:p>
        </p:txBody>
      </p:sp>
      <p:sp>
        <p:nvSpPr>
          <p:cNvPr id="30" name="Text 28"/>
          <p:cNvSpPr/>
          <p:nvPr/>
        </p:nvSpPr>
        <p:spPr>
          <a:xfrm>
            <a:off x="274320" y="5440680"/>
            <a:ext cx="2148840" cy="274320"/>
          </a:xfrm>
          <a:prstGeom prst="rect">
            <a:avLst/>
          </a:prstGeom>
          <a:noFill/>
          <a:ln/>
        </p:spPr>
        <p:txBody>
          <a:bodyPr wrap="square" lIns="0" tIns="0" rIns="0" bIns="0" rtlCol="0" anchor="ctr"/>
          <a:lstStyle/>
          <a:p>
            <a:pPr marL="0" indent="0" algn="ctr">
              <a:buNone/>
            </a:pPr>
            <a:r>
              <a:rPr lang="en-US" sz="750" dirty="0">
                <a:solidFill>
                  <a:srgbClr val="64748B"/>
                </a:solidFill>
              </a:rPr>
              <a:t>per developer FTE</a:t>
            </a:r>
            <a:endParaRPr lang="en-US" sz="750" dirty="0"/>
          </a:p>
        </p:txBody>
      </p:sp>
      <p:sp>
        <p:nvSpPr>
          <p:cNvPr id="31" name="Shape 29"/>
          <p:cNvSpPr/>
          <p:nvPr/>
        </p:nvSpPr>
        <p:spPr>
          <a:xfrm>
            <a:off x="2560320" y="4434840"/>
            <a:ext cx="2148840" cy="1417320"/>
          </a:xfrm>
          <a:prstGeom prst="roundRect">
            <a:avLst>
              <a:gd name="adj" fmla="val 5161"/>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32" name="Text 30"/>
          <p:cNvSpPr/>
          <p:nvPr/>
        </p:nvSpPr>
        <p:spPr>
          <a:xfrm>
            <a:off x="2560320" y="4480560"/>
            <a:ext cx="2148840" cy="685800"/>
          </a:xfrm>
          <a:prstGeom prst="rect">
            <a:avLst/>
          </a:prstGeom>
          <a:noFill/>
          <a:ln/>
        </p:spPr>
        <p:txBody>
          <a:bodyPr wrap="square" lIns="0" tIns="0" rIns="0" bIns="0" rtlCol="0" anchor="ctr"/>
          <a:lstStyle/>
          <a:p>
            <a:pPr marL="0" indent="0" algn="ctr">
              <a:buNone/>
            </a:pPr>
            <a:r>
              <a:rPr lang="en-US" sz="2400" b="1" dirty="0">
                <a:solidFill>
                  <a:srgbClr val="0D1B3E"/>
                </a:solidFill>
                <a:latin typeface="Cambria" pitchFamily="34" charset="0"/>
                <a:ea typeface="Cambria" pitchFamily="34" charset="-122"/>
                <a:cs typeface="Cambria" pitchFamily="34" charset="-120"/>
              </a:rPr>
              <a:t>50%</a:t>
            </a:r>
            <a:endParaRPr lang="en-US" sz="2400" dirty="0"/>
          </a:p>
        </p:txBody>
      </p:sp>
      <p:sp>
        <p:nvSpPr>
          <p:cNvPr id="33" name="Text 31"/>
          <p:cNvSpPr/>
          <p:nvPr/>
        </p:nvSpPr>
        <p:spPr>
          <a:xfrm>
            <a:off x="2560320" y="5138928"/>
            <a:ext cx="2148840" cy="320040"/>
          </a:xfrm>
          <a:prstGeom prst="rect">
            <a:avLst/>
          </a:prstGeom>
          <a:noFill/>
          <a:ln/>
        </p:spPr>
        <p:txBody>
          <a:bodyPr wrap="square" lIns="0" tIns="0" rIns="0" bIns="0" rtlCol="0" anchor="ctr"/>
          <a:lstStyle/>
          <a:p>
            <a:pPr marL="0" indent="0" algn="ctr">
              <a:buNone/>
            </a:pPr>
            <a:r>
              <a:rPr lang="en-US" sz="850" b="1" dirty="0">
                <a:solidFill>
                  <a:srgbClr val="1E293B"/>
                </a:solidFill>
              </a:rPr>
              <a:t>Cycle Time Reduction</a:t>
            </a:r>
            <a:endParaRPr lang="en-US" sz="850" dirty="0"/>
          </a:p>
        </p:txBody>
      </p:sp>
      <p:sp>
        <p:nvSpPr>
          <p:cNvPr id="34" name="Text 32"/>
          <p:cNvSpPr/>
          <p:nvPr/>
        </p:nvSpPr>
        <p:spPr>
          <a:xfrm>
            <a:off x="2560320" y="5440680"/>
            <a:ext cx="2148840" cy="274320"/>
          </a:xfrm>
          <a:prstGeom prst="rect">
            <a:avLst/>
          </a:prstGeom>
          <a:noFill/>
          <a:ln/>
        </p:spPr>
        <p:txBody>
          <a:bodyPr wrap="square" lIns="0" tIns="0" rIns="0" bIns="0" rtlCol="0" anchor="ctr"/>
          <a:lstStyle/>
          <a:p>
            <a:pPr marL="0" indent="0" algn="ctr">
              <a:buNone/>
            </a:pPr>
            <a:r>
              <a:rPr lang="en-US" sz="750" dirty="0">
                <a:solidFill>
                  <a:srgbClr val="64748B"/>
                </a:solidFill>
              </a:rPr>
              <a:t>requirement to production</a:t>
            </a:r>
            <a:endParaRPr lang="en-US" sz="750" dirty="0"/>
          </a:p>
        </p:txBody>
      </p:sp>
      <p:sp>
        <p:nvSpPr>
          <p:cNvPr id="35" name="Shape 33"/>
          <p:cNvSpPr/>
          <p:nvPr/>
        </p:nvSpPr>
        <p:spPr>
          <a:xfrm>
            <a:off x="4846320" y="4434840"/>
            <a:ext cx="2148840" cy="1417320"/>
          </a:xfrm>
          <a:prstGeom prst="roundRect">
            <a:avLst>
              <a:gd name="adj" fmla="val 5161"/>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36" name="Text 34"/>
          <p:cNvSpPr/>
          <p:nvPr/>
        </p:nvSpPr>
        <p:spPr>
          <a:xfrm>
            <a:off x="4846320" y="4480560"/>
            <a:ext cx="2148840" cy="685800"/>
          </a:xfrm>
          <a:prstGeom prst="rect">
            <a:avLst/>
          </a:prstGeom>
          <a:noFill/>
          <a:ln/>
        </p:spPr>
        <p:txBody>
          <a:bodyPr wrap="square" lIns="0" tIns="0" rIns="0" bIns="0" rtlCol="0" anchor="ctr"/>
          <a:lstStyle/>
          <a:p>
            <a:pPr marL="0" indent="0" algn="ctr">
              <a:buNone/>
            </a:pPr>
            <a:r>
              <a:rPr lang="en-US" sz="2400" b="1" dirty="0">
                <a:solidFill>
                  <a:srgbClr val="0D1B3E"/>
                </a:solidFill>
                <a:latin typeface="Cambria" pitchFamily="34" charset="0"/>
                <a:ea typeface="Cambria" pitchFamily="34" charset="-122"/>
                <a:cs typeface="Cambria" pitchFamily="34" charset="-120"/>
              </a:rPr>
              <a:t>−65%</a:t>
            </a:r>
            <a:endParaRPr lang="en-US" sz="2400" dirty="0"/>
          </a:p>
        </p:txBody>
      </p:sp>
      <p:sp>
        <p:nvSpPr>
          <p:cNvPr id="37" name="Text 35"/>
          <p:cNvSpPr/>
          <p:nvPr/>
        </p:nvSpPr>
        <p:spPr>
          <a:xfrm>
            <a:off x="4846320" y="5138928"/>
            <a:ext cx="2148840" cy="320040"/>
          </a:xfrm>
          <a:prstGeom prst="rect">
            <a:avLst/>
          </a:prstGeom>
          <a:noFill/>
          <a:ln/>
        </p:spPr>
        <p:txBody>
          <a:bodyPr wrap="square" lIns="0" tIns="0" rIns="0" bIns="0" rtlCol="0" anchor="ctr"/>
          <a:lstStyle/>
          <a:p>
            <a:pPr marL="0" indent="0" algn="ctr">
              <a:buNone/>
            </a:pPr>
            <a:r>
              <a:rPr lang="en-US" sz="850" b="1" dirty="0">
                <a:solidFill>
                  <a:srgbClr val="1E293B"/>
                </a:solidFill>
              </a:rPr>
              <a:t>MTTR Improvement</a:t>
            </a:r>
            <a:endParaRPr lang="en-US" sz="850" dirty="0"/>
          </a:p>
        </p:txBody>
      </p:sp>
      <p:sp>
        <p:nvSpPr>
          <p:cNvPr id="38" name="Text 36"/>
          <p:cNvSpPr/>
          <p:nvPr/>
        </p:nvSpPr>
        <p:spPr>
          <a:xfrm>
            <a:off x="4846320" y="5440680"/>
            <a:ext cx="2148840" cy="274320"/>
          </a:xfrm>
          <a:prstGeom prst="rect">
            <a:avLst/>
          </a:prstGeom>
          <a:noFill/>
          <a:ln/>
        </p:spPr>
        <p:txBody>
          <a:bodyPr wrap="square" lIns="0" tIns="0" rIns="0" bIns="0" rtlCol="0" anchor="ctr"/>
          <a:lstStyle/>
          <a:p>
            <a:pPr marL="0" indent="0" algn="ctr">
              <a:buNone/>
            </a:pPr>
            <a:r>
              <a:rPr lang="en-US" sz="750" dirty="0">
                <a:solidFill>
                  <a:srgbClr val="64748B"/>
                </a:solidFill>
              </a:rPr>
              <a:t>for P1/P2 incidents</a:t>
            </a:r>
            <a:endParaRPr lang="en-US" sz="750" dirty="0"/>
          </a:p>
        </p:txBody>
      </p:sp>
      <p:sp>
        <p:nvSpPr>
          <p:cNvPr id="39" name="Shape 37"/>
          <p:cNvSpPr/>
          <p:nvPr/>
        </p:nvSpPr>
        <p:spPr>
          <a:xfrm>
            <a:off x="7132320" y="4434840"/>
            <a:ext cx="2148840" cy="1417320"/>
          </a:xfrm>
          <a:prstGeom prst="roundRect">
            <a:avLst>
              <a:gd name="adj" fmla="val 5161"/>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40" name="Text 38"/>
          <p:cNvSpPr/>
          <p:nvPr/>
        </p:nvSpPr>
        <p:spPr>
          <a:xfrm>
            <a:off x="7132320" y="4480560"/>
            <a:ext cx="2148840" cy="685800"/>
          </a:xfrm>
          <a:prstGeom prst="rect">
            <a:avLst/>
          </a:prstGeom>
          <a:noFill/>
          <a:ln/>
        </p:spPr>
        <p:txBody>
          <a:bodyPr wrap="square" lIns="0" tIns="0" rIns="0" bIns="0" rtlCol="0" anchor="ctr"/>
          <a:lstStyle/>
          <a:p>
            <a:pPr marL="0" indent="0" algn="ctr">
              <a:buNone/>
            </a:pPr>
            <a:r>
              <a:rPr lang="en-US" sz="2400" b="1" dirty="0">
                <a:solidFill>
                  <a:srgbClr val="0D1B3E"/>
                </a:solidFill>
                <a:latin typeface="Cambria" pitchFamily="34" charset="0"/>
                <a:ea typeface="Cambria" pitchFamily="34" charset="-122"/>
                <a:cs typeface="Cambria" pitchFamily="34" charset="-120"/>
              </a:rPr>
              <a:t>8–14 mo</a:t>
            </a:r>
            <a:endParaRPr lang="en-US" sz="2400" dirty="0"/>
          </a:p>
        </p:txBody>
      </p:sp>
      <p:sp>
        <p:nvSpPr>
          <p:cNvPr id="41" name="Text 39"/>
          <p:cNvSpPr/>
          <p:nvPr/>
        </p:nvSpPr>
        <p:spPr>
          <a:xfrm>
            <a:off x="7132320" y="5138928"/>
            <a:ext cx="2148840" cy="320040"/>
          </a:xfrm>
          <a:prstGeom prst="rect">
            <a:avLst/>
          </a:prstGeom>
          <a:noFill/>
          <a:ln/>
        </p:spPr>
        <p:txBody>
          <a:bodyPr wrap="square" lIns="0" tIns="0" rIns="0" bIns="0" rtlCol="0" anchor="ctr"/>
          <a:lstStyle/>
          <a:p>
            <a:pPr marL="0" indent="0" algn="ctr">
              <a:buNone/>
            </a:pPr>
            <a:r>
              <a:rPr lang="en-US" sz="850" b="1" dirty="0">
                <a:solidFill>
                  <a:srgbClr val="1E293B"/>
                </a:solidFill>
              </a:rPr>
              <a:t>Payback Period</a:t>
            </a:r>
            <a:endParaRPr lang="en-US" sz="850" dirty="0"/>
          </a:p>
        </p:txBody>
      </p:sp>
      <p:sp>
        <p:nvSpPr>
          <p:cNvPr id="42" name="Text 40"/>
          <p:cNvSpPr/>
          <p:nvPr/>
        </p:nvSpPr>
        <p:spPr>
          <a:xfrm>
            <a:off x="7132320" y="5440680"/>
            <a:ext cx="2148840" cy="274320"/>
          </a:xfrm>
          <a:prstGeom prst="rect">
            <a:avLst/>
          </a:prstGeom>
          <a:noFill/>
          <a:ln/>
        </p:spPr>
        <p:txBody>
          <a:bodyPr wrap="square" lIns="0" tIns="0" rIns="0" bIns="0" rtlCol="0" anchor="ctr"/>
          <a:lstStyle/>
          <a:p>
            <a:pPr marL="0" indent="0" algn="ctr">
              <a:buNone/>
            </a:pPr>
            <a:r>
              <a:rPr lang="en-US" sz="750" dirty="0">
                <a:solidFill>
                  <a:srgbClr val="64748B"/>
                </a:solidFill>
              </a:rPr>
              <a:t>for full platform investment</a:t>
            </a:r>
            <a:endParaRPr lang="en-US" sz="750" dirty="0"/>
          </a:p>
        </p:txBody>
      </p:sp>
      <p:sp>
        <p:nvSpPr>
          <p:cNvPr id="43" name="Shape 41"/>
          <p:cNvSpPr/>
          <p:nvPr/>
        </p:nvSpPr>
        <p:spPr>
          <a:xfrm>
            <a:off x="9418320" y="4434840"/>
            <a:ext cx="2148840" cy="1417320"/>
          </a:xfrm>
          <a:prstGeom prst="roundRect">
            <a:avLst>
              <a:gd name="adj" fmla="val 5161"/>
            </a:avLst>
          </a:prstGeom>
          <a:solidFill>
            <a:srgbClr val="FFFFFF"/>
          </a:solidFill>
          <a:ln w="1270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44" name="Text 42"/>
          <p:cNvSpPr/>
          <p:nvPr/>
        </p:nvSpPr>
        <p:spPr>
          <a:xfrm>
            <a:off x="9418320" y="4480560"/>
            <a:ext cx="2148840" cy="685800"/>
          </a:xfrm>
          <a:prstGeom prst="rect">
            <a:avLst/>
          </a:prstGeom>
          <a:noFill/>
          <a:ln/>
        </p:spPr>
        <p:txBody>
          <a:bodyPr wrap="square" lIns="0" tIns="0" rIns="0" bIns="0" rtlCol="0" anchor="ctr"/>
          <a:lstStyle/>
          <a:p>
            <a:pPr marL="0" indent="0" algn="ctr">
              <a:buNone/>
            </a:pPr>
            <a:r>
              <a:rPr lang="en-US" sz="2400" b="1" dirty="0">
                <a:solidFill>
                  <a:srgbClr val="0D1B3E"/>
                </a:solidFill>
                <a:latin typeface="Cambria" pitchFamily="34" charset="0"/>
                <a:ea typeface="Cambria" pitchFamily="34" charset="-122"/>
                <a:cs typeface="Cambria" pitchFamily="34" charset="-120"/>
              </a:rPr>
              <a:t>$18–42M</a:t>
            </a:r>
            <a:endParaRPr lang="en-US" sz="2400" dirty="0"/>
          </a:p>
        </p:txBody>
      </p:sp>
      <p:sp>
        <p:nvSpPr>
          <p:cNvPr id="45" name="Text 43"/>
          <p:cNvSpPr/>
          <p:nvPr/>
        </p:nvSpPr>
        <p:spPr>
          <a:xfrm>
            <a:off x="9418320" y="5138928"/>
            <a:ext cx="2148840" cy="320040"/>
          </a:xfrm>
          <a:prstGeom prst="rect">
            <a:avLst/>
          </a:prstGeom>
          <a:noFill/>
          <a:ln/>
        </p:spPr>
        <p:txBody>
          <a:bodyPr wrap="square" lIns="0" tIns="0" rIns="0" bIns="0" rtlCol="0" anchor="ctr"/>
          <a:lstStyle/>
          <a:p>
            <a:pPr marL="0" indent="0" algn="ctr">
              <a:buNone/>
            </a:pPr>
            <a:r>
              <a:rPr lang="en-US" sz="850" b="1" dirty="0">
                <a:solidFill>
                  <a:srgbClr val="1E293B"/>
                </a:solidFill>
              </a:rPr>
              <a:t>5-Year NPV</a:t>
            </a:r>
            <a:endParaRPr lang="en-US" sz="850" dirty="0"/>
          </a:p>
        </p:txBody>
      </p:sp>
      <p:sp>
        <p:nvSpPr>
          <p:cNvPr id="46" name="Text 44"/>
          <p:cNvSpPr/>
          <p:nvPr/>
        </p:nvSpPr>
        <p:spPr>
          <a:xfrm>
            <a:off x="9418320" y="5440680"/>
            <a:ext cx="2148840" cy="274320"/>
          </a:xfrm>
          <a:prstGeom prst="rect">
            <a:avLst/>
          </a:prstGeom>
          <a:noFill/>
          <a:ln/>
        </p:spPr>
        <p:txBody>
          <a:bodyPr wrap="square" lIns="0" tIns="0" rIns="0" bIns="0" rtlCol="0" anchor="ctr"/>
          <a:lstStyle/>
          <a:p>
            <a:pPr marL="0" indent="0" algn="ctr">
              <a:buNone/>
            </a:pPr>
            <a:r>
              <a:rPr lang="en-US" sz="750" dirty="0">
                <a:solidFill>
                  <a:srgbClr val="64748B"/>
                </a:solidFill>
              </a:rPr>
              <a:t>for 500-person org (modeled)</a:t>
            </a:r>
            <a:endParaRPr lang="en-US" sz="750" dirty="0"/>
          </a:p>
        </p:txBody>
      </p:sp>
      <p:sp>
        <p:nvSpPr>
          <p:cNvPr id="47" name="Text 45"/>
          <p:cNvSpPr/>
          <p:nvPr/>
        </p:nvSpPr>
        <p:spPr>
          <a:xfrm>
            <a:off x="274320" y="6263640"/>
            <a:ext cx="11612880" cy="274320"/>
          </a:xfrm>
          <a:prstGeom prst="rect">
            <a:avLst/>
          </a:prstGeom>
          <a:noFill/>
          <a:ln/>
        </p:spPr>
        <p:txBody>
          <a:bodyPr wrap="square" lIns="0" tIns="0" rIns="0" bIns="0" rtlCol="0" anchor="ctr"/>
          <a:lstStyle/>
          <a:p>
            <a:pPr marL="0" indent="0">
              <a:buNone/>
            </a:pPr>
            <a:r>
              <a:rPr lang="en-US" sz="750" i="1" dirty="0">
                <a:solidFill>
                  <a:srgbClr val="64748B"/>
                </a:solidFill>
              </a:rPr>
              <a:t>* Model based on industry benchmarks. Calibrate with client-specific headcount, fully-loaded cost, and current productivity baselines in discovery phase.</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0"/>
            <a:ext cx="12191695" cy="36576"/>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73152"/>
            <a:ext cx="9144000" cy="502920"/>
          </a:xfrm>
          <a:prstGeom prst="rect">
            <a:avLst/>
          </a:prstGeom>
          <a:noFill/>
        </p:spPr>
        <p:txBody>
          <a:bodyPr wrap="square">
            <a:spAutoFit/>
          </a:bodyPr>
          <a:lstStyle/>
          <a:p>
            <a:pPr algn="l"/>
            <a:r>
              <a:rPr sz="2200" b="1" i="0">
                <a:solidFill>
                  <a:srgbClr val="FFFFFF"/>
                </a:solidFill>
                <a:latin typeface="Cambria"/>
              </a:rPr>
              <a:t>AGENT DEPLOYMENT PRIORITIZATION</a:t>
            </a:r>
          </a:p>
        </p:txBody>
      </p:sp>
      <p:sp>
        <p:nvSpPr>
          <p:cNvPr id="5" name="TextBox 4"/>
          <p:cNvSpPr txBox="1"/>
          <p:nvPr/>
        </p:nvSpPr>
        <p:spPr>
          <a:xfrm>
            <a:off x="274320" y="548640"/>
            <a:ext cx="10972800" cy="320040"/>
          </a:xfrm>
          <a:prstGeom prst="rect">
            <a:avLst/>
          </a:prstGeom>
          <a:noFill/>
        </p:spPr>
        <p:txBody>
          <a:bodyPr wrap="square">
            <a:spAutoFit/>
          </a:bodyPr>
          <a:lstStyle/>
          <a:p>
            <a:pPr algn="l"/>
            <a:r>
              <a:rPr sz="1100" b="0" i="0">
                <a:solidFill>
                  <a:srgbClr val="A0C8FF"/>
                </a:solidFill>
                <a:latin typeface="Calibri"/>
              </a:rPr>
              <a:t>Structured Heatmap — All 24 Agents Ranked by Effort · Impact · HITL · Phase</a:t>
            </a:r>
          </a:p>
        </p:txBody>
      </p:sp>
      <p:sp>
        <p:nvSpPr>
          <p:cNvPr id="6" name="Rectangle 5"/>
          <p:cNvSpPr/>
          <p:nvPr/>
        </p:nvSpPr>
        <p:spPr>
          <a:xfrm>
            <a:off x="0" y="6675120"/>
            <a:ext cx="12191695" cy="182880"/>
          </a:xfrm>
          <a:prstGeom prst="rect">
            <a:avLst/>
          </a:prstGeom>
          <a:solidFill>
            <a:srgbClr val="EC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84264"/>
            <a:ext cx="10972800" cy="164592"/>
          </a:xfrm>
          <a:prstGeom prst="rect">
            <a:avLst/>
          </a:prstGeom>
          <a:noFill/>
        </p:spPr>
        <p:txBody>
          <a:bodyPr wrap="square">
            <a:spAutoFit/>
          </a:bodyPr>
          <a:lstStyle/>
          <a:p>
            <a:pPr algn="l"/>
            <a:r>
              <a:rPr sz="700" b="0" i="0">
                <a:solidFill>
                  <a:srgbClr val="5D6D7E"/>
                </a:solidFill>
                <a:latin typeface="Calibri"/>
              </a:rPr>
              <a:t>CONFIDENTIAL  |  Technology Strategy Practice  |  Not for Distribution</a:t>
            </a:r>
          </a:p>
        </p:txBody>
      </p:sp>
      <p:sp>
        <p:nvSpPr>
          <p:cNvPr id="8" name="Rectangle 7"/>
          <p:cNvSpPr/>
          <p:nvPr/>
        </p:nvSpPr>
        <p:spPr>
          <a:xfrm>
            <a:off x="182880" y="896112"/>
            <a:ext cx="11887200" cy="310896"/>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950976"/>
            <a:ext cx="3383280" cy="219456"/>
          </a:xfrm>
          <a:prstGeom prst="rect">
            <a:avLst/>
          </a:prstGeom>
          <a:noFill/>
        </p:spPr>
        <p:txBody>
          <a:bodyPr wrap="square">
            <a:spAutoFit/>
          </a:bodyPr>
          <a:lstStyle/>
          <a:p>
            <a:pPr algn="l"/>
            <a:r>
              <a:rPr sz="750" b="1" i="0">
                <a:solidFill>
                  <a:srgbClr val="A0C8FF"/>
                </a:solidFill>
                <a:latin typeface="Calibri"/>
              </a:rPr>
              <a:t>AGENT NAME</a:t>
            </a:r>
          </a:p>
        </p:txBody>
      </p:sp>
      <p:sp>
        <p:nvSpPr>
          <p:cNvPr id="10" name="TextBox 9"/>
          <p:cNvSpPr txBox="1"/>
          <p:nvPr/>
        </p:nvSpPr>
        <p:spPr>
          <a:xfrm>
            <a:off x="3657600" y="950976"/>
            <a:ext cx="1371600" cy="219456"/>
          </a:xfrm>
          <a:prstGeom prst="rect">
            <a:avLst/>
          </a:prstGeom>
          <a:noFill/>
        </p:spPr>
        <p:txBody>
          <a:bodyPr wrap="square">
            <a:spAutoFit/>
          </a:bodyPr>
          <a:lstStyle/>
          <a:p>
            <a:pPr algn="l"/>
            <a:r>
              <a:rPr sz="750" b="1" i="0">
                <a:solidFill>
                  <a:srgbClr val="A0C8FF"/>
                </a:solidFill>
                <a:latin typeface="Calibri"/>
              </a:rPr>
              <a:t>CATEGORY</a:t>
            </a:r>
          </a:p>
        </p:txBody>
      </p:sp>
      <p:sp>
        <p:nvSpPr>
          <p:cNvPr id="11" name="TextBox 10"/>
          <p:cNvSpPr txBox="1"/>
          <p:nvPr/>
        </p:nvSpPr>
        <p:spPr>
          <a:xfrm>
            <a:off x="5074920" y="950976"/>
            <a:ext cx="914400" cy="219456"/>
          </a:xfrm>
          <a:prstGeom prst="rect">
            <a:avLst/>
          </a:prstGeom>
          <a:noFill/>
        </p:spPr>
        <p:txBody>
          <a:bodyPr wrap="square">
            <a:spAutoFit/>
          </a:bodyPr>
          <a:lstStyle/>
          <a:p>
            <a:pPr algn="l"/>
            <a:r>
              <a:rPr sz="750" b="1" i="0">
                <a:solidFill>
                  <a:srgbClr val="A0C8FF"/>
                </a:solidFill>
                <a:latin typeface="Calibri"/>
              </a:rPr>
              <a:t>EFFORT</a:t>
            </a:r>
          </a:p>
        </p:txBody>
      </p:sp>
      <p:sp>
        <p:nvSpPr>
          <p:cNvPr id="12" name="TextBox 11"/>
          <p:cNvSpPr txBox="1"/>
          <p:nvPr/>
        </p:nvSpPr>
        <p:spPr>
          <a:xfrm>
            <a:off x="6035040" y="950976"/>
            <a:ext cx="914400" cy="219456"/>
          </a:xfrm>
          <a:prstGeom prst="rect">
            <a:avLst/>
          </a:prstGeom>
          <a:noFill/>
        </p:spPr>
        <p:txBody>
          <a:bodyPr wrap="square">
            <a:spAutoFit/>
          </a:bodyPr>
          <a:lstStyle/>
          <a:p>
            <a:pPr algn="l"/>
            <a:r>
              <a:rPr sz="750" b="1" i="0">
                <a:solidFill>
                  <a:srgbClr val="A0C8FF"/>
                </a:solidFill>
                <a:latin typeface="Calibri"/>
              </a:rPr>
              <a:t>IMPACT</a:t>
            </a:r>
          </a:p>
        </p:txBody>
      </p:sp>
      <p:sp>
        <p:nvSpPr>
          <p:cNvPr id="13" name="TextBox 12"/>
          <p:cNvSpPr txBox="1"/>
          <p:nvPr/>
        </p:nvSpPr>
        <p:spPr>
          <a:xfrm>
            <a:off x="6995159" y="950976"/>
            <a:ext cx="914400" cy="219456"/>
          </a:xfrm>
          <a:prstGeom prst="rect">
            <a:avLst/>
          </a:prstGeom>
          <a:noFill/>
        </p:spPr>
        <p:txBody>
          <a:bodyPr wrap="square">
            <a:spAutoFit/>
          </a:bodyPr>
          <a:lstStyle/>
          <a:p>
            <a:pPr algn="l"/>
            <a:r>
              <a:rPr sz="750" b="1" i="0">
                <a:solidFill>
                  <a:srgbClr val="A0C8FF"/>
                </a:solidFill>
                <a:latin typeface="Calibri"/>
              </a:rPr>
              <a:t>HITL</a:t>
            </a:r>
          </a:p>
        </p:txBody>
      </p:sp>
      <p:sp>
        <p:nvSpPr>
          <p:cNvPr id="14" name="TextBox 13"/>
          <p:cNvSpPr txBox="1"/>
          <p:nvPr/>
        </p:nvSpPr>
        <p:spPr>
          <a:xfrm>
            <a:off x="7955280" y="950976"/>
            <a:ext cx="914400" cy="219456"/>
          </a:xfrm>
          <a:prstGeom prst="rect">
            <a:avLst/>
          </a:prstGeom>
          <a:noFill/>
        </p:spPr>
        <p:txBody>
          <a:bodyPr wrap="square">
            <a:spAutoFit/>
          </a:bodyPr>
          <a:lstStyle/>
          <a:p>
            <a:pPr algn="l"/>
            <a:r>
              <a:rPr sz="750" b="1" i="0">
                <a:solidFill>
                  <a:srgbClr val="A0C8FF"/>
                </a:solidFill>
                <a:latin typeface="Calibri"/>
              </a:rPr>
              <a:t>PHASE</a:t>
            </a:r>
          </a:p>
        </p:txBody>
      </p:sp>
      <p:sp>
        <p:nvSpPr>
          <p:cNvPr id="15" name="TextBox 14"/>
          <p:cNvSpPr txBox="1"/>
          <p:nvPr/>
        </p:nvSpPr>
        <p:spPr>
          <a:xfrm>
            <a:off x="8915400" y="950976"/>
            <a:ext cx="1005840" cy="219456"/>
          </a:xfrm>
          <a:prstGeom prst="rect">
            <a:avLst/>
          </a:prstGeom>
          <a:noFill/>
        </p:spPr>
        <p:txBody>
          <a:bodyPr wrap="square">
            <a:spAutoFit/>
          </a:bodyPr>
          <a:lstStyle/>
          <a:p>
            <a:pPr algn="l"/>
            <a:r>
              <a:rPr sz="750" b="1" i="0">
                <a:solidFill>
                  <a:srgbClr val="A0C8FF"/>
                </a:solidFill>
                <a:latin typeface="Calibri"/>
              </a:rPr>
              <a:t>PRIORITY</a:t>
            </a:r>
          </a:p>
        </p:txBody>
      </p:sp>
      <p:sp>
        <p:nvSpPr>
          <p:cNvPr id="16" name="TextBox 15"/>
          <p:cNvSpPr txBox="1"/>
          <p:nvPr/>
        </p:nvSpPr>
        <p:spPr>
          <a:xfrm>
            <a:off x="9966960" y="950976"/>
            <a:ext cx="1371600" cy="219456"/>
          </a:xfrm>
          <a:prstGeom prst="rect">
            <a:avLst/>
          </a:prstGeom>
          <a:noFill/>
        </p:spPr>
        <p:txBody>
          <a:bodyPr wrap="square">
            <a:spAutoFit/>
          </a:bodyPr>
          <a:lstStyle/>
          <a:p>
            <a:pPr algn="l"/>
            <a:r>
              <a:rPr sz="750" b="1" i="0">
                <a:solidFill>
                  <a:srgbClr val="A0C8FF"/>
                </a:solidFill>
                <a:latin typeface="Calibri"/>
              </a:rPr>
              <a:t>ACTION</a:t>
            </a:r>
          </a:p>
        </p:txBody>
      </p:sp>
      <p:sp>
        <p:nvSpPr>
          <p:cNvPr id="17" name="Rectangle 16"/>
          <p:cNvSpPr/>
          <p:nvPr/>
        </p:nvSpPr>
        <p:spPr>
          <a:xfrm>
            <a:off x="182880" y="1207008"/>
            <a:ext cx="11887200" cy="22860"/>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82880" y="1243584"/>
            <a:ext cx="11887200" cy="224028"/>
          </a:xfrm>
          <a:prstGeom prst="rect">
            <a:avLst/>
          </a:prstGeom>
          <a:solidFill>
            <a:srgbClr val="F0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82880" y="1243584"/>
            <a:ext cx="32004" cy="22402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28600" y="1280160"/>
            <a:ext cx="3383280" cy="160020"/>
          </a:xfrm>
          <a:prstGeom prst="rect">
            <a:avLst/>
          </a:prstGeom>
          <a:noFill/>
        </p:spPr>
        <p:txBody>
          <a:bodyPr wrap="square">
            <a:spAutoFit/>
          </a:bodyPr>
          <a:lstStyle/>
          <a:p>
            <a:pPr algn="l"/>
            <a:r>
              <a:rPr sz="750" b="1" i="0">
                <a:solidFill>
                  <a:srgbClr val="0D1B3E"/>
                </a:solidFill>
                <a:latin typeface="Calibri"/>
              </a:rPr>
              <a:t>Documentation Agent</a:t>
            </a:r>
          </a:p>
        </p:txBody>
      </p:sp>
      <p:sp>
        <p:nvSpPr>
          <p:cNvPr id="21" name="TextBox 20"/>
          <p:cNvSpPr txBox="1"/>
          <p:nvPr/>
        </p:nvSpPr>
        <p:spPr>
          <a:xfrm>
            <a:off x="3630168" y="1280160"/>
            <a:ext cx="1371600" cy="160020"/>
          </a:xfrm>
          <a:prstGeom prst="rect">
            <a:avLst/>
          </a:prstGeom>
          <a:noFill/>
        </p:spPr>
        <p:txBody>
          <a:bodyPr wrap="square">
            <a:spAutoFit/>
          </a:bodyPr>
          <a:lstStyle/>
          <a:p>
            <a:pPr algn="l"/>
            <a:r>
              <a:rPr sz="650" b="0" i="0">
                <a:solidFill>
                  <a:srgbClr val="5D6D7E"/>
                </a:solidFill>
                <a:latin typeface="Calibri"/>
              </a:rPr>
              <a:t>Development &amp; Codi</a:t>
            </a:r>
          </a:p>
        </p:txBody>
      </p:sp>
      <p:sp>
        <p:nvSpPr>
          <p:cNvPr id="22" name="Rounded Rectangle 21"/>
          <p:cNvSpPr/>
          <p:nvPr/>
        </p:nvSpPr>
        <p:spPr>
          <a:xfrm>
            <a:off x="5047488" y="1280160"/>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47488" y="1289304"/>
            <a:ext cx="822960" cy="132588"/>
          </a:xfrm>
          <a:prstGeom prst="rect">
            <a:avLst/>
          </a:prstGeom>
          <a:noFill/>
        </p:spPr>
        <p:txBody>
          <a:bodyPr wrap="square">
            <a:spAutoFit/>
          </a:bodyPr>
          <a:lstStyle/>
          <a:p>
            <a:pPr algn="ctr"/>
            <a:r>
              <a:rPr sz="700" b="1" i="0">
                <a:solidFill>
                  <a:srgbClr val="FFFFFF"/>
                </a:solidFill>
                <a:latin typeface="Calibri"/>
              </a:rPr>
              <a:t>L</a:t>
            </a:r>
          </a:p>
        </p:txBody>
      </p:sp>
      <p:sp>
        <p:nvSpPr>
          <p:cNvPr id="24" name="Rounded Rectangle 23"/>
          <p:cNvSpPr/>
          <p:nvPr/>
        </p:nvSpPr>
        <p:spPr>
          <a:xfrm>
            <a:off x="6007607" y="1280160"/>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007607" y="1289304"/>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26" name="Rounded Rectangle 25"/>
          <p:cNvSpPr/>
          <p:nvPr/>
        </p:nvSpPr>
        <p:spPr>
          <a:xfrm>
            <a:off x="6967727" y="1280160"/>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67727" y="1289304"/>
            <a:ext cx="822960" cy="132588"/>
          </a:xfrm>
          <a:prstGeom prst="rect">
            <a:avLst/>
          </a:prstGeom>
          <a:noFill/>
        </p:spPr>
        <p:txBody>
          <a:bodyPr wrap="square">
            <a:spAutoFit/>
          </a:bodyPr>
          <a:lstStyle/>
          <a:p>
            <a:pPr algn="ctr"/>
            <a:r>
              <a:rPr sz="700" b="1" i="0">
                <a:solidFill>
                  <a:srgbClr val="FFFFFF"/>
                </a:solidFill>
                <a:latin typeface="Calibri"/>
              </a:rPr>
              <a:t>L</a:t>
            </a:r>
          </a:p>
        </p:txBody>
      </p:sp>
      <p:sp>
        <p:nvSpPr>
          <p:cNvPr id="28" name="Rounded Rectangle 27"/>
          <p:cNvSpPr/>
          <p:nvPr/>
        </p:nvSpPr>
        <p:spPr>
          <a:xfrm>
            <a:off x="7927848" y="1280160"/>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927848" y="1289304"/>
            <a:ext cx="822960" cy="132588"/>
          </a:xfrm>
          <a:prstGeom prst="rect">
            <a:avLst/>
          </a:prstGeom>
          <a:noFill/>
        </p:spPr>
        <p:txBody>
          <a:bodyPr wrap="square">
            <a:spAutoFit/>
          </a:bodyPr>
          <a:lstStyle/>
          <a:p>
            <a:pPr algn="ctr"/>
            <a:r>
              <a:rPr sz="700" b="1" i="0">
                <a:solidFill>
                  <a:srgbClr val="FFFFFF"/>
                </a:solidFill>
                <a:latin typeface="Calibri"/>
              </a:rPr>
              <a:t>1</a:t>
            </a:r>
          </a:p>
        </p:txBody>
      </p:sp>
      <p:sp>
        <p:nvSpPr>
          <p:cNvPr id="30" name="Rounded Rectangle 29"/>
          <p:cNvSpPr/>
          <p:nvPr/>
        </p:nvSpPr>
        <p:spPr>
          <a:xfrm>
            <a:off x="8887968" y="1280160"/>
            <a:ext cx="91440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887968" y="1289304"/>
            <a:ext cx="914400" cy="132588"/>
          </a:xfrm>
          <a:prstGeom prst="rect">
            <a:avLst/>
          </a:prstGeom>
          <a:noFill/>
        </p:spPr>
        <p:txBody>
          <a:bodyPr wrap="square">
            <a:spAutoFit/>
          </a:bodyPr>
          <a:lstStyle/>
          <a:p>
            <a:pPr algn="ctr"/>
            <a:r>
              <a:rPr sz="650" b="1" i="0">
                <a:solidFill>
                  <a:srgbClr val="FFFFFF"/>
                </a:solidFill>
                <a:latin typeface="Calibri"/>
              </a:rPr>
              <a:t>Quick Win</a:t>
            </a:r>
          </a:p>
        </p:txBody>
      </p:sp>
      <p:sp>
        <p:nvSpPr>
          <p:cNvPr id="32" name="TextBox 31"/>
          <p:cNvSpPr txBox="1"/>
          <p:nvPr/>
        </p:nvSpPr>
        <p:spPr>
          <a:xfrm>
            <a:off x="9966960" y="1289304"/>
            <a:ext cx="1371600" cy="160020"/>
          </a:xfrm>
          <a:prstGeom prst="rect">
            <a:avLst/>
          </a:prstGeom>
          <a:noFill/>
        </p:spPr>
        <p:txBody>
          <a:bodyPr wrap="square">
            <a:spAutoFit/>
          </a:bodyPr>
          <a:lstStyle/>
          <a:p>
            <a:pPr algn="l"/>
            <a:r>
              <a:rPr sz="700" b="1" i="0">
                <a:solidFill>
                  <a:srgbClr val="1E8B4C"/>
                </a:solidFill>
                <a:latin typeface="Calibri"/>
              </a:rPr>
              <a:t>Deploy Now</a:t>
            </a:r>
          </a:p>
        </p:txBody>
      </p:sp>
      <p:sp>
        <p:nvSpPr>
          <p:cNvPr id="33" name="Rectangle 32"/>
          <p:cNvSpPr/>
          <p:nvPr/>
        </p:nvSpPr>
        <p:spPr>
          <a:xfrm>
            <a:off x="182880" y="1476755"/>
            <a:ext cx="11887200" cy="224028"/>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182880" y="1476755"/>
            <a:ext cx="32004" cy="22402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28600" y="1513331"/>
            <a:ext cx="3383280" cy="160020"/>
          </a:xfrm>
          <a:prstGeom prst="rect">
            <a:avLst/>
          </a:prstGeom>
          <a:noFill/>
        </p:spPr>
        <p:txBody>
          <a:bodyPr wrap="square">
            <a:spAutoFit/>
          </a:bodyPr>
          <a:lstStyle/>
          <a:p>
            <a:pPr algn="l"/>
            <a:r>
              <a:rPr sz="750" b="1" i="0">
                <a:solidFill>
                  <a:srgbClr val="0D1B3E"/>
                </a:solidFill>
                <a:latin typeface="Calibri"/>
              </a:rPr>
              <a:t>Meeting Intelligence Agent</a:t>
            </a:r>
          </a:p>
        </p:txBody>
      </p:sp>
      <p:sp>
        <p:nvSpPr>
          <p:cNvPr id="36" name="TextBox 35"/>
          <p:cNvSpPr txBox="1"/>
          <p:nvPr/>
        </p:nvSpPr>
        <p:spPr>
          <a:xfrm>
            <a:off x="3630168" y="1513331"/>
            <a:ext cx="1371600" cy="160020"/>
          </a:xfrm>
          <a:prstGeom prst="rect">
            <a:avLst/>
          </a:prstGeom>
          <a:noFill/>
        </p:spPr>
        <p:txBody>
          <a:bodyPr wrap="square">
            <a:spAutoFit/>
          </a:bodyPr>
          <a:lstStyle/>
          <a:p>
            <a:pPr algn="l"/>
            <a:r>
              <a:rPr sz="650" b="0" i="0">
                <a:solidFill>
                  <a:srgbClr val="5D6D7E"/>
                </a:solidFill>
                <a:latin typeface="Calibri"/>
              </a:rPr>
              <a:t>Knowledge &amp; Collab</a:t>
            </a:r>
          </a:p>
        </p:txBody>
      </p:sp>
      <p:sp>
        <p:nvSpPr>
          <p:cNvPr id="37" name="Rounded Rectangle 36"/>
          <p:cNvSpPr/>
          <p:nvPr/>
        </p:nvSpPr>
        <p:spPr>
          <a:xfrm>
            <a:off x="5047488" y="1513331"/>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047488" y="1522475"/>
            <a:ext cx="822960" cy="132588"/>
          </a:xfrm>
          <a:prstGeom prst="rect">
            <a:avLst/>
          </a:prstGeom>
          <a:noFill/>
        </p:spPr>
        <p:txBody>
          <a:bodyPr wrap="square">
            <a:spAutoFit/>
          </a:bodyPr>
          <a:lstStyle/>
          <a:p>
            <a:pPr algn="ctr"/>
            <a:r>
              <a:rPr sz="700" b="1" i="0">
                <a:solidFill>
                  <a:srgbClr val="FFFFFF"/>
                </a:solidFill>
                <a:latin typeface="Calibri"/>
              </a:rPr>
              <a:t>L</a:t>
            </a:r>
          </a:p>
        </p:txBody>
      </p:sp>
      <p:sp>
        <p:nvSpPr>
          <p:cNvPr id="39" name="Rounded Rectangle 38"/>
          <p:cNvSpPr/>
          <p:nvPr/>
        </p:nvSpPr>
        <p:spPr>
          <a:xfrm>
            <a:off x="6007607" y="1513331"/>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007607" y="1522475"/>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41" name="Rounded Rectangle 40"/>
          <p:cNvSpPr/>
          <p:nvPr/>
        </p:nvSpPr>
        <p:spPr>
          <a:xfrm>
            <a:off x="6967727" y="1513331"/>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967727" y="1522475"/>
            <a:ext cx="822960" cy="132588"/>
          </a:xfrm>
          <a:prstGeom prst="rect">
            <a:avLst/>
          </a:prstGeom>
          <a:noFill/>
        </p:spPr>
        <p:txBody>
          <a:bodyPr wrap="square">
            <a:spAutoFit/>
          </a:bodyPr>
          <a:lstStyle/>
          <a:p>
            <a:pPr algn="ctr"/>
            <a:r>
              <a:rPr sz="700" b="1" i="0">
                <a:solidFill>
                  <a:srgbClr val="FFFFFF"/>
                </a:solidFill>
                <a:latin typeface="Calibri"/>
              </a:rPr>
              <a:t>L</a:t>
            </a:r>
          </a:p>
        </p:txBody>
      </p:sp>
      <p:sp>
        <p:nvSpPr>
          <p:cNvPr id="43" name="Rounded Rectangle 42"/>
          <p:cNvSpPr/>
          <p:nvPr/>
        </p:nvSpPr>
        <p:spPr>
          <a:xfrm>
            <a:off x="7927848" y="1513331"/>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927848" y="1522475"/>
            <a:ext cx="822960" cy="132588"/>
          </a:xfrm>
          <a:prstGeom prst="rect">
            <a:avLst/>
          </a:prstGeom>
          <a:noFill/>
        </p:spPr>
        <p:txBody>
          <a:bodyPr wrap="square">
            <a:spAutoFit/>
          </a:bodyPr>
          <a:lstStyle/>
          <a:p>
            <a:pPr algn="ctr"/>
            <a:r>
              <a:rPr sz="700" b="1" i="0">
                <a:solidFill>
                  <a:srgbClr val="FFFFFF"/>
                </a:solidFill>
                <a:latin typeface="Calibri"/>
              </a:rPr>
              <a:t>1</a:t>
            </a:r>
          </a:p>
        </p:txBody>
      </p:sp>
      <p:sp>
        <p:nvSpPr>
          <p:cNvPr id="45" name="Rounded Rectangle 44"/>
          <p:cNvSpPr/>
          <p:nvPr/>
        </p:nvSpPr>
        <p:spPr>
          <a:xfrm>
            <a:off x="8887968" y="1513331"/>
            <a:ext cx="91440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887968" y="1522475"/>
            <a:ext cx="914400" cy="132588"/>
          </a:xfrm>
          <a:prstGeom prst="rect">
            <a:avLst/>
          </a:prstGeom>
          <a:noFill/>
        </p:spPr>
        <p:txBody>
          <a:bodyPr wrap="square">
            <a:spAutoFit/>
          </a:bodyPr>
          <a:lstStyle/>
          <a:p>
            <a:pPr algn="ctr"/>
            <a:r>
              <a:rPr sz="650" b="1" i="0">
                <a:solidFill>
                  <a:srgbClr val="FFFFFF"/>
                </a:solidFill>
                <a:latin typeface="Calibri"/>
              </a:rPr>
              <a:t>Quick Win</a:t>
            </a:r>
          </a:p>
        </p:txBody>
      </p:sp>
      <p:sp>
        <p:nvSpPr>
          <p:cNvPr id="47" name="TextBox 46"/>
          <p:cNvSpPr txBox="1"/>
          <p:nvPr/>
        </p:nvSpPr>
        <p:spPr>
          <a:xfrm>
            <a:off x="9966960" y="1522475"/>
            <a:ext cx="1371600" cy="160020"/>
          </a:xfrm>
          <a:prstGeom prst="rect">
            <a:avLst/>
          </a:prstGeom>
          <a:noFill/>
        </p:spPr>
        <p:txBody>
          <a:bodyPr wrap="square">
            <a:spAutoFit/>
          </a:bodyPr>
          <a:lstStyle/>
          <a:p>
            <a:pPr algn="l"/>
            <a:r>
              <a:rPr sz="700" b="1" i="0">
                <a:solidFill>
                  <a:srgbClr val="1E8B4C"/>
                </a:solidFill>
                <a:latin typeface="Calibri"/>
              </a:rPr>
              <a:t>Deploy Now</a:t>
            </a:r>
          </a:p>
        </p:txBody>
      </p:sp>
      <p:sp>
        <p:nvSpPr>
          <p:cNvPr id="48" name="Rectangle 47"/>
          <p:cNvSpPr/>
          <p:nvPr/>
        </p:nvSpPr>
        <p:spPr>
          <a:xfrm>
            <a:off x="182880" y="1709928"/>
            <a:ext cx="11887200" cy="224028"/>
          </a:xfrm>
          <a:prstGeom prst="rect">
            <a:avLst/>
          </a:prstGeom>
          <a:solidFill>
            <a:srgbClr val="F0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182880" y="1709928"/>
            <a:ext cx="32004" cy="22402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28600" y="1746504"/>
            <a:ext cx="3383280" cy="160020"/>
          </a:xfrm>
          <a:prstGeom prst="rect">
            <a:avLst/>
          </a:prstGeom>
          <a:noFill/>
        </p:spPr>
        <p:txBody>
          <a:bodyPr wrap="square">
            <a:spAutoFit/>
          </a:bodyPr>
          <a:lstStyle/>
          <a:p>
            <a:pPr algn="l"/>
            <a:r>
              <a:rPr sz="750" b="1" i="0">
                <a:solidFill>
                  <a:srgbClr val="0D1B3E"/>
                </a:solidFill>
                <a:latin typeface="Calibri"/>
              </a:rPr>
              <a:t>Requirements Elicitation Agent</a:t>
            </a:r>
          </a:p>
        </p:txBody>
      </p:sp>
      <p:sp>
        <p:nvSpPr>
          <p:cNvPr id="51" name="TextBox 50"/>
          <p:cNvSpPr txBox="1"/>
          <p:nvPr/>
        </p:nvSpPr>
        <p:spPr>
          <a:xfrm>
            <a:off x="3630168" y="1746504"/>
            <a:ext cx="1371600" cy="160020"/>
          </a:xfrm>
          <a:prstGeom prst="rect">
            <a:avLst/>
          </a:prstGeom>
          <a:noFill/>
        </p:spPr>
        <p:txBody>
          <a:bodyPr wrap="square">
            <a:spAutoFit/>
          </a:bodyPr>
          <a:lstStyle/>
          <a:p>
            <a:pPr algn="l"/>
            <a:r>
              <a:rPr sz="650" b="0" i="0">
                <a:solidFill>
                  <a:srgbClr val="5D6D7E"/>
                </a:solidFill>
                <a:latin typeface="Calibri"/>
              </a:rPr>
              <a:t>Requirement Analys</a:t>
            </a:r>
          </a:p>
        </p:txBody>
      </p:sp>
      <p:sp>
        <p:nvSpPr>
          <p:cNvPr id="52" name="Rounded Rectangle 51"/>
          <p:cNvSpPr/>
          <p:nvPr/>
        </p:nvSpPr>
        <p:spPr>
          <a:xfrm>
            <a:off x="5047488" y="1746504"/>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47488" y="1755648"/>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54" name="Rounded Rectangle 53"/>
          <p:cNvSpPr/>
          <p:nvPr/>
        </p:nvSpPr>
        <p:spPr>
          <a:xfrm>
            <a:off x="6007607" y="1746504"/>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007607" y="1755648"/>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56" name="Rounded Rectangle 55"/>
          <p:cNvSpPr/>
          <p:nvPr/>
        </p:nvSpPr>
        <p:spPr>
          <a:xfrm>
            <a:off x="6967727" y="1746504"/>
            <a:ext cx="822960" cy="150876"/>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967727" y="1755648"/>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58" name="Rounded Rectangle 57"/>
          <p:cNvSpPr/>
          <p:nvPr/>
        </p:nvSpPr>
        <p:spPr>
          <a:xfrm>
            <a:off x="7927848" y="1746504"/>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927848" y="1755648"/>
            <a:ext cx="822960" cy="132588"/>
          </a:xfrm>
          <a:prstGeom prst="rect">
            <a:avLst/>
          </a:prstGeom>
          <a:noFill/>
        </p:spPr>
        <p:txBody>
          <a:bodyPr wrap="square">
            <a:spAutoFit/>
          </a:bodyPr>
          <a:lstStyle/>
          <a:p>
            <a:pPr algn="ctr"/>
            <a:r>
              <a:rPr sz="700" b="1" i="0">
                <a:solidFill>
                  <a:srgbClr val="FFFFFF"/>
                </a:solidFill>
                <a:latin typeface="Calibri"/>
              </a:rPr>
              <a:t>1</a:t>
            </a:r>
          </a:p>
        </p:txBody>
      </p:sp>
      <p:sp>
        <p:nvSpPr>
          <p:cNvPr id="60" name="Rounded Rectangle 59"/>
          <p:cNvSpPr/>
          <p:nvPr/>
        </p:nvSpPr>
        <p:spPr>
          <a:xfrm>
            <a:off x="8887968" y="1746504"/>
            <a:ext cx="91440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887968" y="1755648"/>
            <a:ext cx="914400" cy="132588"/>
          </a:xfrm>
          <a:prstGeom prst="rect">
            <a:avLst/>
          </a:prstGeom>
          <a:noFill/>
        </p:spPr>
        <p:txBody>
          <a:bodyPr wrap="square">
            <a:spAutoFit/>
          </a:bodyPr>
          <a:lstStyle/>
          <a:p>
            <a:pPr algn="ctr"/>
            <a:r>
              <a:rPr sz="650" b="1" i="0">
                <a:solidFill>
                  <a:srgbClr val="FFFFFF"/>
                </a:solidFill>
                <a:latin typeface="Calibri"/>
              </a:rPr>
              <a:t>Quick Win</a:t>
            </a:r>
          </a:p>
        </p:txBody>
      </p:sp>
      <p:sp>
        <p:nvSpPr>
          <p:cNvPr id="62" name="TextBox 61"/>
          <p:cNvSpPr txBox="1"/>
          <p:nvPr/>
        </p:nvSpPr>
        <p:spPr>
          <a:xfrm>
            <a:off x="9966960" y="1755648"/>
            <a:ext cx="1371600" cy="160020"/>
          </a:xfrm>
          <a:prstGeom prst="rect">
            <a:avLst/>
          </a:prstGeom>
          <a:noFill/>
        </p:spPr>
        <p:txBody>
          <a:bodyPr wrap="square">
            <a:spAutoFit/>
          </a:bodyPr>
          <a:lstStyle/>
          <a:p>
            <a:pPr algn="l"/>
            <a:r>
              <a:rPr sz="700" b="1" i="0">
                <a:solidFill>
                  <a:srgbClr val="1E8B4C"/>
                </a:solidFill>
                <a:latin typeface="Calibri"/>
              </a:rPr>
              <a:t>Deploy Now</a:t>
            </a:r>
          </a:p>
        </p:txBody>
      </p:sp>
      <p:sp>
        <p:nvSpPr>
          <p:cNvPr id="63" name="Rectangle 62"/>
          <p:cNvSpPr/>
          <p:nvPr/>
        </p:nvSpPr>
        <p:spPr>
          <a:xfrm>
            <a:off x="182880" y="1943100"/>
            <a:ext cx="11887200" cy="224028"/>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182880" y="1943100"/>
            <a:ext cx="32004" cy="22402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28600" y="1979676"/>
            <a:ext cx="3383280" cy="160020"/>
          </a:xfrm>
          <a:prstGeom prst="rect">
            <a:avLst/>
          </a:prstGeom>
          <a:noFill/>
        </p:spPr>
        <p:txBody>
          <a:bodyPr wrap="square">
            <a:spAutoFit/>
          </a:bodyPr>
          <a:lstStyle/>
          <a:p>
            <a:pPr algn="l"/>
            <a:r>
              <a:rPr sz="750" b="1" i="0">
                <a:solidFill>
                  <a:srgbClr val="0D1B3E"/>
                </a:solidFill>
                <a:latin typeface="Calibri"/>
              </a:rPr>
              <a:t>User Story Generator Agent</a:t>
            </a:r>
          </a:p>
        </p:txBody>
      </p:sp>
      <p:sp>
        <p:nvSpPr>
          <p:cNvPr id="66" name="TextBox 65"/>
          <p:cNvSpPr txBox="1"/>
          <p:nvPr/>
        </p:nvSpPr>
        <p:spPr>
          <a:xfrm>
            <a:off x="3630168" y="1979676"/>
            <a:ext cx="1371600" cy="160020"/>
          </a:xfrm>
          <a:prstGeom prst="rect">
            <a:avLst/>
          </a:prstGeom>
          <a:noFill/>
        </p:spPr>
        <p:txBody>
          <a:bodyPr wrap="square">
            <a:spAutoFit/>
          </a:bodyPr>
          <a:lstStyle/>
          <a:p>
            <a:pPr algn="l"/>
            <a:r>
              <a:rPr sz="650" b="0" i="0">
                <a:solidFill>
                  <a:srgbClr val="5D6D7E"/>
                </a:solidFill>
                <a:latin typeface="Calibri"/>
              </a:rPr>
              <a:t>Requirement Analys</a:t>
            </a:r>
          </a:p>
        </p:txBody>
      </p:sp>
      <p:sp>
        <p:nvSpPr>
          <p:cNvPr id="67" name="Rounded Rectangle 66"/>
          <p:cNvSpPr/>
          <p:nvPr/>
        </p:nvSpPr>
        <p:spPr>
          <a:xfrm>
            <a:off x="5047488" y="1979676"/>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5047488" y="1988819"/>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69" name="Rounded Rectangle 68"/>
          <p:cNvSpPr/>
          <p:nvPr/>
        </p:nvSpPr>
        <p:spPr>
          <a:xfrm>
            <a:off x="6007607" y="1979676"/>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007607" y="1988819"/>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71" name="Rounded Rectangle 70"/>
          <p:cNvSpPr/>
          <p:nvPr/>
        </p:nvSpPr>
        <p:spPr>
          <a:xfrm>
            <a:off x="6967727" y="1979676"/>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967727" y="1988819"/>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73" name="Rounded Rectangle 72"/>
          <p:cNvSpPr/>
          <p:nvPr/>
        </p:nvSpPr>
        <p:spPr>
          <a:xfrm>
            <a:off x="7927848" y="1979676"/>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927848" y="1988819"/>
            <a:ext cx="822960" cy="132588"/>
          </a:xfrm>
          <a:prstGeom prst="rect">
            <a:avLst/>
          </a:prstGeom>
          <a:noFill/>
        </p:spPr>
        <p:txBody>
          <a:bodyPr wrap="square">
            <a:spAutoFit/>
          </a:bodyPr>
          <a:lstStyle/>
          <a:p>
            <a:pPr algn="ctr"/>
            <a:r>
              <a:rPr sz="700" b="1" i="0">
                <a:solidFill>
                  <a:srgbClr val="FFFFFF"/>
                </a:solidFill>
                <a:latin typeface="Calibri"/>
              </a:rPr>
              <a:t>1</a:t>
            </a:r>
          </a:p>
        </p:txBody>
      </p:sp>
      <p:sp>
        <p:nvSpPr>
          <p:cNvPr id="75" name="Rounded Rectangle 74"/>
          <p:cNvSpPr/>
          <p:nvPr/>
        </p:nvSpPr>
        <p:spPr>
          <a:xfrm>
            <a:off x="8887968" y="1979676"/>
            <a:ext cx="91440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887968" y="1988819"/>
            <a:ext cx="914400" cy="132588"/>
          </a:xfrm>
          <a:prstGeom prst="rect">
            <a:avLst/>
          </a:prstGeom>
          <a:noFill/>
        </p:spPr>
        <p:txBody>
          <a:bodyPr wrap="square">
            <a:spAutoFit/>
          </a:bodyPr>
          <a:lstStyle/>
          <a:p>
            <a:pPr algn="ctr"/>
            <a:r>
              <a:rPr sz="650" b="1" i="0">
                <a:solidFill>
                  <a:srgbClr val="FFFFFF"/>
                </a:solidFill>
                <a:latin typeface="Calibri"/>
              </a:rPr>
              <a:t>Quick Win</a:t>
            </a:r>
          </a:p>
        </p:txBody>
      </p:sp>
      <p:sp>
        <p:nvSpPr>
          <p:cNvPr id="77" name="TextBox 76"/>
          <p:cNvSpPr txBox="1"/>
          <p:nvPr/>
        </p:nvSpPr>
        <p:spPr>
          <a:xfrm>
            <a:off x="9966960" y="1988819"/>
            <a:ext cx="1371600" cy="160020"/>
          </a:xfrm>
          <a:prstGeom prst="rect">
            <a:avLst/>
          </a:prstGeom>
          <a:noFill/>
        </p:spPr>
        <p:txBody>
          <a:bodyPr wrap="square">
            <a:spAutoFit/>
          </a:bodyPr>
          <a:lstStyle/>
          <a:p>
            <a:pPr algn="l"/>
            <a:r>
              <a:rPr sz="700" b="1" i="0">
                <a:solidFill>
                  <a:srgbClr val="1E8B4C"/>
                </a:solidFill>
                <a:latin typeface="Calibri"/>
              </a:rPr>
              <a:t>Deploy Now</a:t>
            </a:r>
          </a:p>
        </p:txBody>
      </p:sp>
      <p:sp>
        <p:nvSpPr>
          <p:cNvPr id="78" name="Rectangle 77"/>
          <p:cNvSpPr/>
          <p:nvPr/>
        </p:nvSpPr>
        <p:spPr>
          <a:xfrm>
            <a:off x="182880" y="2176272"/>
            <a:ext cx="11887200" cy="224028"/>
          </a:xfrm>
          <a:prstGeom prst="rect">
            <a:avLst/>
          </a:prstGeom>
          <a:solidFill>
            <a:srgbClr val="F0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182880" y="2176272"/>
            <a:ext cx="32004" cy="22402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28600" y="2212848"/>
            <a:ext cx="3383280" cy="160020"/>
          </a:xfrm>
          <a:prstGeom prst="rect">
            <a:avLst/>
          </a:prstGeom>
          <a:noFill/>
        </p:spPr>
        <p:txBody>
          <a:bodyPr wrap="square">
            <a:spAutoFit/>
          </a:bodyPr>
          <a:lstStyle/>
          <a:p>
            <a:pPr algn="l"/>
            <a:r>
              <a:rPr sz="750" b="1" i="0">
                <a:solidFill>
                  <a:srgbClr val="0D1B3E"/>
                </a:solidFill>
                <a:latin typeface="Calibri"/>
              </a:rPr>
              <a:t>Peer Review Agent</a:t>
            </a:r>
          </a:p>
        </p:txBody>
      </p:sp>
      <p:sp>
        <p:nvSpPr>
          <p:cNvPr id="81" name="TextBox 80"/>
          <p:cNvSpPr txBox="1"/>
          <p:nvPr/>
        </p:nvSpPr>
        <p:spPr>
          <a:xfrm>
            <a:off x="3630168" y="2212848"/>
            <a:ext cx="1371600" cy="160020"/>
          </a:xfrm>
          <a:prstGeom prst="rect">
            <a:avLst/>
          </a:prstGeom>
          <a:noFill/>
        </p:spPr>
        <p:txBody>
          <a:bodyPr wrap="square">
            <a:spAutoFit/>
          </a:bodyPr>
          <a:lstStyle/>
          <a:p>
            <a:pPr algn="l"/>
            <a:r>
              <a:rPr sz="650" b="0" i="0">
                <a:solidFill>
                  <a:srgbClr val="5D6D7E"/>
                </a:solidFill>
                <a:latin typeface="Calibri"/>
              </a:rPr>
              <a:t>Code Review</a:t>
            </a:r>
          </a:p>
        </p:txBody>
      </p:sp>
      <p:sp>
        <p:nvSpPr>
          <p:cNvPr id="82" name="Rounded Rectangle 81"/>
          <p:cNvSpPr/>
          <p:nvPr/>
        </p:nvSpPr>
        <p:spPr>
          <a:xfrm>
            <a:off x="5047488" y="2212848"/>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047488" y="2221991"/>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84" name="Rounded Rectangle 83"/>
          <p:cNvSpPr/>
          <p:nvPr/>
        </p:nvSpPr>
        <p:spPr>
          <a:xfrm>
            <a:off x="6007607" y="2212848"/>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007607" y="2221991"/>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86" name="Rounded Rectangle 85"/>
          <p:cNvSpPr/>
          <p:nvPr/>
        </p:nvSpPr>
        <p:spPr>
          <a:xfrm>
            <a:off x="6967727" y="2212848"/>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967727" y="2221991"/>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88" name="Rounded Rectangle 87"/>
          <p:cNvSpPr/>
          <p:nvPr/>
        </p:nvSpPr>
        <p:spPr>
          <a:xfrm>
            <a:off x="7927848" y="2212848"/>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7927848" y="2221991"/>
            <a:ext cx="822960" cy="132588"/>
          </a:xfrm>
          <a:prstGeom prst="rect">
            <a:avLst/>
          </a:prstGeom>
          <a:noFill/>
        </p:spPr>
        <p:txBody>
          <a:bodyPr wrap="square">
            <a:spAutoFit/>
          </a:bodyPr>
          <a:lstStyle/>
          <a:p>
            <a:pPr algn="ctr"/>
            <a:r>
              <a:rPr sz="700" b="1" i="0">
                <a:solidFill>
                  <a:srgbClr val="FFFFFF"/>
                </a:solidFill>
                <a:latin typeface="Calibri"/>
              </a:rPr>
              <a:t>1</a:t>
            </a:r>
          </a:p>
        </p:txBody>
      </p:sp>
      <p:sp>
        <p:nvSpPr>
          <p:cNvPr id="90" name="Rounded Rectangle 89"/>
          <p:cNvSpPr/>
          <p:nvPr/>
        </p:nvSpPr>
        <p:spPr>
          <a:xfrm>
            <a:off x="8887968" y="2212848"/>
            <a:ext cx="91440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8887968" y="2221991"/>
            <a:ext cx="914400" cy="132588"/>
          </a:xfrm>
          <a:prstGeom prst="rect">
            <a:avLst/>
          </a:prstGeom>
          <a:noFill/>
        </p:spPr>
        <p:txBody>
          <a:bodyPr wrap="square">
            <a:spAutoFit/>
          </a:bodyPr>
          <a:lstStyle/>
          <a:p>
            <a:pPr algn="ctr"/>
            <a:r>
              <a:rPr sz="650" b="1" i="0">
                <a:solidFill>
                  <a:srgbClr val="FFFFFF"/>
                </a:solidFill>
                <a:latin typeface="Calibri"/>
              </a:rPr>
              <a:t>Quick Win</a:t>
            </a:r>
          </a:p>
        </p:txBody>
      </p:sp>
      <p:sp>
        <p:nvSpPr>
          <p:cNvPr id="92" name="TextBox 91"/>
          <p:cNvSpPr txBox="1"/>
          <p:nvPr/>
        </p:nvSpPr>
        <p:spPr>
          <a:xfrm>
            <a:off x="9966960" y="2221991"/>
            <a:ext cx="1371600" cy="160020"/>
          </a:xfrm>
          <a:prstGeom prst="rect">
            <a:avLst/>
          </a:prstGeom>
          <a:noFill/>
        </p:spPr>
        <p:txBody>
          <a:bodyPr wrap="square">
            <a:spAutoFit/>
          </a:bodyPr>
          <a:lstStyle/>
          <a:p>
            <a:pPr algn="l"/>
            <a:r>
              <a:rPr sz="700" b="1" i="0">
                <a:solidFill>
                  <a:srgbClr val="1E8B4C"/>
                </a:solidFill>
                <a:latin typeface="Calibri"/>
              </a:rPr>
              <a:t>Deploy Now</a:t>
            </a:r>
          </a:p>
        </p:txBody>
      </p:sp>
      <p:sp>
        <p:nvSpPr>
          <p:cNvPr id="93" name="Rectangle 92"/>
          <p:cNvSpPr/>
          <p:nvPr/>
        </p:nvSpPr>
        <p:spPr>
          <a:xfrm>
            <a:off x="182880" y="2409444"/>
            <a:ext cx="11887200" cy="224028"/>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182880" y="2409444"/>
            <a:ext cx="32004" cy="22402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228600" y="2446020"/>
            <a:ext cx="3383280" cy="160020"/>
          </a:xfrm>
          <a:prstGeom prst="rect">
            <a:avLst/>
          </a:prstGeom>
          <a:noFill/>
        </p:spPr>
        <p:txBody>
          <a:bodyPr wrap="square">
            <a:spAutoFit/>
          </a:bodyPr>
          <a:lstStyle/>
          <a:p>
            <a:pPr algn="l"/>
            <a:r>
              <a:rPr sz="750" b="1" i="0">
                <a:solidFill>
                  <a:srgbClr val="0D1B3E"/>
                </a:solidFill>
                <a:latin typeface="Calibri"/>
              </a:rPr>
              <a:t>Test Generation Agent</a:t>
            </a:r>
          </a:p>
        </p:txBody>
      </p:sp>
      <p:sp>
        <p:nvSpPr>
          <p:cNvPr id="96" name="TextBox 95"/>
          <p:cNvSpPr txBox="1"/>
          <p:nvPr/>
        </p:nvSpPr>
        <p:spPr>
          <a:xfrm>
            <a:off x="3630168" y="2446020"/>
            <a:ext cx="1371600" cy="160020"/>
          </a:xfrm>
          <a:prstGeom prst="rect">
            <a:avLst/>
          </a:prstGeom>
          <a:noFill/>
        </p:spPr>
        <p:txBody>
          <a:bodyPr wrap="square">
            <a:spAutoFit/>
          </a:bodyPr>
          <a:lstStyle/>
          <a:p>
            <a:pPr algn="l"/>
            <a:r>
              <a:rPr sz="650" b="0" i="0">
                <a:solidFill>
                  <a:srgbClr val="5D6D7E"/>
                </a:solidFill>
                <a:latin typeface="Calibri"/>
              </a:rPr>
              <a:t>Testing &amp; Validati</a:t>
            </a:r>
          </a:p>
        </p:txBody>
      </p:sp>
      <p:sp>
        <p:nvSpPr>
          <p:cNvPr id="97" name="Rounded Rectangle 96"/>
          <p:cNvSpPr/>
          <p:nvPr/>
        </p:nvSpPr>
        <p:spPr>
          <a:xfrm>
            <a:off x="5047488" y="2446020"/>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5047488" y="2455163"/>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99" name="Rounded Rectangle 98"/>
          <p:cNvSpPr/>
          <p:nvPr/>
        </p:nvSpPr>
        <p:spPr>
          <a:xfrm>
            <a:off x="6007607" y="2446020"/>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6007607" y="2455163"/>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101" name="Rounded Rectangle 100"/>
          <p:cNvSpPr/>
          <p:nvPr/>
        </p:nvSpPr>
        <p:spPr>
          <a:xfrm>
            <a:off x="6967727" y="2446020"/>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6967727" y="2455163"/>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103" name="Rounded Rectangle 102"/>
          <p:cNvSpPr/>
          <p:nvPr/>
        </p:nvSpPr>
        <p:spPr>
          <a:xfrm>
            <a:off x="7927848" y="2446020"/>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7927848" y="2455163"/>
            <a:ext cx="822960" cy="132588"/>
          </a:xfrm>
          <a:prstGeom prst="rect">
            <a:avLst/>
          </a:prstGeom>
          <a:noFill/>
        </p:spPr>
        <p:txBody>
          <a:bodyPr wrap="square">
            <a:spAutoFit/>
          </a:bodyPr>
          <a:lstStyle/>
          <a:p>
            <a:pPr algn="ctr"/>
            <a:r>
              <a:rPr sz="700" b="1" i="0">
                <a:solidFill>
                  <a:srgbClr val="FFFFFF"/>
                </a:solidFill>
                <a:latin typeface="Calibri"/>
              </a:rPr>
              <a:t>1</a:t>
            </a:r>
          </a:p>
        </p:txBody>
      </p:sp>
      <p:sp>
        <p:nvSpPr>
          <p:cNvPr id="105" name="Rounded Rectangle 104"/>
          <p:cNvSpPr/>
          <p:nvPr/>
        </p:nvSpPr>
        <p:spPr>
          <a:xfrm>
            <a:off x="8887968" y="2446020"/>
            <a:ext cx="91440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8887968" y="2455163"/>
            <a:ext cx="914400" cy="132588"/>
          </a:xfrm>
          <a:prstGeom prst="rect">
            <a:avLst/>
          </a:prstGeom>
          <a:noFill/>
        </p:spPr>
        <p:txBody>
          <a:bodyPr wrap="square">
            <a:spAutoFit/>
          </a:bodyPr>
          <a:lstStyle/>
          <a:p>
            <a:pPr algn="ctr"/>
            <a:r>
              <a:rPr sz="650" b="1" i="0">
                <a:solidFill>
                  <a:srgbClr val="FFFFFF"/>
                </a:solidFill>
                <a:latin typeface="Calibri"/>
              </a:rPr>
              <a:t>Quick Win</a:t>
            </a:r>
          </a:p>
        </p:txBody>
      </p:sp>
      <p:sp>
        <p:nvSpPr>
          <p:cNvPr id="107" name="TextBox 106"/>
          <p:cNvSpPr txBox="1"/>
          <p:nvPr/>
        </p:nvSpPr>
        <p:spPr>
          <a:xfrm>
            <a:off x="9966960" y="2455163"/>
            <a:ext cx="1371600" cy="160020"/>
          </a:xfrm>
          <a:prstGeom prst="rect">
            <a:avLst/>
          </a:prstGeom>
          <a:noFill/>
        </p:spPr>
        <p:txBody>
          <a:bodyPr wrap="square">
            <a:spAutoFit/>
          </a:bodyPr>
          <a:lstStyle/>
          <a:p>
            <a:pPr algn="l"/>
            <a:r>
              <a:rPr sz="700" b="1" i="0">
                <a:solidFill>
                  <a:srgbClr val="1E8B4C"/>
                </a:solidFill>
                <a:latin typeface="Calibri"/>
              </a:rPr>
              <a:t>Deploy Now</a:t>
            </a:r>
          </a:p>
        </p:txBody>
      </p:sp>
      <p:sp>
        <p:nvSpPr>
          <p:cNvPr id="108" name="Rectangle 107"/>
          <p:cNvSpPr/>
          <p:nvPr/>
        </p:nvSpPr>
        <p:spPr>
          <a:xfrm>
            <a:off x="182880" y="2642615"/>
            <a:ext cx="11887200" cy="224028"/>
          </a:xfrm>
          <a:prstGeom prst="rect">
            <a:avLst/>
          </a:prstGeom>
          <a:solidFill>
            <a:srgbClr val="FF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182880" y="2642615"/>
            <a:ext cx="32004" cy="22402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228600" y="2679191"/>
            <a:ext cx="3383280" cy="160020"/>
          </a:xfrm>
          <a:prstGeom prst="rect">
            <a:avLst/>
          </a:prstGeom>
          <a:noFill/>
        </p:spPr>
        <p:txBody>
          <a:bodyPr wrap="square">
            <a:spAutoFit/>
          </a:bodyPr>
          <a:lstStyle/>
          <a:p>
            <a:pPr algn="l"/>
            <a:r>
              <a:rPr sz="750" b="1" i="0">
                <a:solidFill>
                  <a:srgbClr val="0D1B3E"/>
                </a:solidFill>
                <a:latin typeface="Calibri"/>
              </a:rPr>
              <a:t>PII Leak Detection Agent</a:t>
            </a:r>
          </a:p>
        </p:txBody>
      </p:sp>
      <p:sp>
        <p:nvSpPr>
          <p:cNvPr id="111" name="TextBox 110"/>
          <p:cNvSpPr txBox="1"/>
          <p:nvPr/>
        </p:nvSpPr>
        <p:spPr>
          <a:xfrm>
            <a:off x="3630168" y="2679191"/>
            <a:ext cx="1371600" cy="160020"/>
          </a:xfrm>
          <a:prstGeom prst="rect">
            <a:avLst/>
          </a:prstGeom>
          <a:noFill/>
        </p:spPr>
        <p:txBody>
          <a:bodyPr wrap="square">
            <a:spAutoFit/>
          </a:bodyPr>
          <a:lstStyle/>
          <a:p>
            <a:pPr algn="l"/>
            <a:r>
              <a:rPr sz="650" b="0" i="0">
                <a:solidFill>
                  <a:srgbClr val="5D6D7E"/>
                </a:solidFill>
                <a:latin typeface="Calibri"/>
              </a:rPr>
              <a:t>Security &amp; Complia</a:t>
            </a:r>
          </a:p>
        </p:txBody>
      </p:sp>
      <p:sp>
        <p:nvSpPr>
          <p:cNvPr id="112" name="Rounded Rectangle 111"/>
          <p:cNvSpPr/>
          <p:nvPr/>
        </p:nvSpPr>
        <p:spPr>
          <a:xfrm>
            <a:off x="5047488" y="2679191"/>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5047488" y="2688335"/>
            <a:ext cx="822960" cy="132588"/>
          </a:xfrm>
          <a:prstGeom prst="rect">
            <a:avLst/>
          </a:prstGeom>
          <a:noFill/>
        </p:spPr>
        <p:txBody>
          <a:bodyPr wrap="square">
            <a:spAutoFit/>
          </a:bodyPr>
          <a:lstStyle/>
          <a:p>
            <a:pPr algn="ctr"/>
            <a:r>
              <a:rPr sz="700" b="1" i="0">
                <a:solidFill>
                  <a:srgbClr val="FFFFFF"/>
                </a:solidFill>
                <a:latin typeface="Calibri"/>
              </a:rPr>
              <a:t>L</a:t>
            </a:r>
          </a:p>
        </p:txBody>
      </p:sp>
      <p:sp>
        <p:nvSpPr>
          <p:cNvPr id="114" name="Rounded Rectangle 113"/>
          <p:cNvSpPr/>
          <p:nvPr/>
        </p:nvSpPr>
        <p:spPr>
          <a:xfrm>
            <a:off x="6007607" y="2679191"/>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6007607" y="2688335"/>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116" name="Rounded Rectangle 115"/>
          <p:cNvSpPr/>
          <p:nvPr/>
        </p:nvSpPr>
        <p:spPr>
          <a:xfrm>
            <a:off x="6967727" y="2679191"/>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6967727" y="2688335"/>
            <a:ext cx="822960" cy="132588"/>
          </a:xfrm>
          <a:prstGeom prst="rect">
            <a:avLst/>
          </a:prstGeom>
          <a:noFill/>
        </p:spPr>
        <p:txBody>
          <a:bodyPr wrap="square">
            <a:spAutoFit/>
          </a:bodyPr>
          <a:lstStyle/>
          <a:p>
            <a:pPr algn="ctr"/>
            <a:r>
              <a:rPr sz="700" b="1" i="0">
                <a:solidFill>
                  <a:srgbClr val="FFFFFF"/>
                </a:solidFill>
                <a:latin typeface="Calibri"/>
              </a:rPr>
              <a:t>L</a:t>
            </a:r>
          </a:p>
        </p:txBody>
      </p:sp>
      <p:sp>
        <p:nvSpPr>
          <p:cNvPr id="118" name="Rounded Rectangle 117"/>
          <p:cNvSpPr/>
          <p:nvPr/>
        </p:nvSpPr>
        <p:spPr>
          <a:xfrm>
            <a:off x="7927848" y="2679191"/>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7927848" y="2688335"/>
            <a:ext cx="822960" cy="132588"/>
          </a:xfrm>
          <a:prstGeom prst="rect">
            <a:avLst/>
          </a:prstGeom>
          <a:noFill/>
        </p:spPr>
        <p:txBody>
          <a:bodyPr wrap="square">
            <a:spAutoFit/>
          </a:bodyPr>
          <a:lstStyle/>
          <a:p>
            <a:pPr algn="ctr"/>
            <a:r>
              <a:rPr sz="700" b="1" i="0">
                <a:solidFill>
                  <a:srgbClr val="FFFFFF"/>
                </a:solidFill>
                <a:latin typeface="Calibri"/>
              </a:rPr>
              <a:t>2</a:t>
            </a:r>
          </a:p>
        </p:txBody>
      </p:sp>
      <p:sp>
        <p:nvSpPr>
          <p:cNvPr id="120" name="Rounded Rectangle 119"/>
          <p:cNvSpPr/>
          <p:nvPr/>
        </p:nvSpPr>
        <p:spPr>
          <a:xfrm>
            <a:off x="8887968" y="2679191"/>
            <a:ext cx="91440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8887968" y="2688335"/>
            <a:ext cx="914400" cy="132588"/>
          </a:xfrm>
          <a:prstGeom prst="rect">
            <a:avLst/>
          </a:prstGeom>
          <a:noFill/>
        </p:spPr>
        <p:txBody>
          <a:bodyPr wrap="square">
            <a:spAutoFit/>
          </a:bodyPr>
          <a:lstStyle/>
          <a:p>
            <a:pPr algn="ctr"/>
            <a:r>
              <a:rPr sz="650" b="1" i="0">
                <a:solidFill>
                  <a:srgbClr val="FFFFFF"/>
                </a:solidFill>
                <a:latin typeface="Calibri"/>
              </a:rPr>
              <a:t>Quick Win</a:t>
            </a:r>
          </a:p>
        </p:txBody>
      </p:sp>
      <p:sp>
        <p:nvSpPr>
          <p:cNvPr id="122" name="TextBox 121"/>
          <p:cNvSpPr txBox="1"/>
          <p:nvPr/>
        </p:nvSpPr>
        <p:spPr>
          <a:xfrm>
            <a:off x="9966960" y="2688335"/>
            <a:ext cx="1371600" cy="160020"/>
          </a:xfrm>
          <a:prstGeom prst="rect">
            <a:avLst/>
          </a:prstGeom>
          <a:noFill/>
        </p:spPr>
        <p:txBody>
          <a:bodyPr wrap="square">
            <a:spAutoFit/>
          </a:bodyPr>
          <a:lstStyle/>
          <a:p>
            <a:pPr algn="l"/>
            <a:r>
              <a:rPr sz="700" b="1" i="0">
                <a:solidFill>
                  <a:srgbClr val="1E8B4C"/>
                </a:solidFill>
                <a:latin typeface="Calibri"/>
              </a:rPr>
              <a:t>Deploy Now</a:t>
            </a:r>
          </a:p>
        </p:txBody>
      </p:sp>
      <p:sp>
        <p:nvSpPr>
          <p:cNvPr id="123" name="Rectangle 122"/>
          <p:cNvSpPr/>
          <p:nvPr/>
        </p:nvSpPr>
        <p:spPr>
          <a:xfrm>
            <a:off x="182880" y="2875788"/>
            <a:ext cx="11887200" cy="224028"/>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a:off x="182880" y="2875788"/>
            <a:ext cx="32004" cy="22402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228600" y="2912364"/>
            <a:ext cx="3383280" cy="160020"/>
          </a:xfrm>
          <a:prstGeom prst="rect">
            <a:avLst/>
          </a:prstGeom>
          <a:noFill/>
        </p:spPr>
        <p:txBody>
          <a:bodyPr wrap="square">
            <a:spAutoFit/>
          </a:bodyPr>
          <a:lstStyle/>
          <a:p>
            <a:pPr algn="l"/>
            <a:r>
              <a:rPr sz="750" b="1" i="0">
                <a:solidFill>
                  <a:srgbClr val="0D1B3E"/>
                </a:solidFill>
                <a:latin typeface="Calibri"/>
              </a:rPr>
              <a:t>API Design Agent</a:t>
            </a:r>
          </a:p>
        </p:txBody>
      </p:sp>
      <p:sp>
        <p:nvSpPr>
          <p:cNvPr id="126" name="TextBox 125"/>
          <p:cNvSpPr txBox="1"/>
          <p:nvPr/>
        </p:nvSpPr>
        <p:spPr>
          <a:xfrm>
            <a:off x="3630168" y="2912364"/>
            <a:ext cx="1371600" cy="160020"/>
          </a:xfrm>
          <a:prstGeom prst="rect">
            <a:avLst/>
          </a:prstGeom>
          <a:noFill/>
        </p:spPr>
        <p:txBody>
          <a:bodyPr wrap="square">
            <a:spAutoFit/>
          </a:bodyPr>
          <a:lstStyle/>
          <a:p>
            <a:pPr algn="l"/>
            <a:r>
              <a:rPr sz="650" b="0" i="0">
                <a:solidFill>
                  <a:srgbClr val="5D6D7E"/>
                </a:solidFill>
                <a:latin typeface="Calibri"/>
              </a:rPr>
              <a:t>Architecture &amp; Des</a:t>
            </a:r>
          </a:p>
        </p:txBody>
      </p:sp>
      <p:sp>
        <p:nvSpPr>
          <p:cNvPr id="127" name="Rounded Rectangle 126"/>
          <p:cNvSpPr/>
          <p:nvPr/>
        </p:nvSpPr>
        <p:spPr>
          <a:xfrm>
            <a:off x="5047488" y="2912364"/>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5047488" y="2921508"/>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129" name="Rounded Rectangle 128"/>
          <p:cNvSpPr/>
          <p:nvPr/>
        </p:nvSpPr>
        <p:spPr>
          <a:xfrm>
            <a:off x="6007607" y="2912364"/>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6007607" y="2921508"/>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131" name="Rounded Rectangle 130"/>
          <p:cNvSpPr/>
          <p:nvPr/>
        </p:nvSpPr>
        <p:spPr>
          <a:xfrm>
            <a:off x="6967727" y="2912364"/>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6967727" y="2921508"/>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133" name="Rounded Rectangle 132"/>
          <p:cNvSpPr/>
          <p:nvPr/>
        </p:nvSpPr>
        <p:spPr>
          <a:xfrm>
            <a:off x="7927848" y="2912364"/>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7927848" y="2921508"/>
            <a:ext cx="822960" cy="132588"/>
          </a:xfrm>
          <a:prstGeom prst="rect">
            <a:avLst/>
          </a:prstGeom>
          <a:noFill/>
        </p:spPr>
        <p:txBody>
          <a:bodyPr wrap="square">
            <a:spAutoFit/>
          </a:bodyPr>
          <a:lstStyle/>
          <a:p>
            <a:pPr algn="ctr"/>
            <a:r>
              <a:rPr sz="700" b="1" i="0">
                <a:solidFill>
                  <a:srgbClr val="FFFFFF"/>
                </a:solidFill>
                <a:latin typeface="Calibri"/>
              </a:rPr>
              <a:t>2</a:t>
            </a:r>
          </a:p>
        </p:txBody>
      </p:sp>
      <p:sp>
        <p:nvSpPr>
          <p:cNvPr id="135" name="Rounded Rectangle 134"/>
          <p:cNvSpPr/>
          <p:nvPr/>
        </p:nvSpPr>
        <p:spPr>
          <a:xfrm>
            <a:off x="8887968" y="2912364"/>
            <a:ext cx="91440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8887968" y="2921508"/>
            <a:ext cx="914400" cy="132588"/>
          </a:xfrm>
          <a:prstGeom prst="rect">
            <a:avLst/>
          </a:prstGeom>
          <a:noFill/>
        </p:spPr>
        <p:txBody>
          <a:bodyPr wrap="square">
            <a:spAutoFit/>
          </a:bodyPr>
          <a:lstStyle/>
          <a:p>
            <a:pPr algn="ctr"/>
            <a:r>
              <a:rPr sz="650" b="1" i="0">
                <a:solidFill>
                  <a:srgbClr val="FFFFFF"/>
                </a:solidFill>
                <a:latin typeface="Calibri"/>
              </a:rPr>
              <a:t>Quick Win</a:t>
            </a:r>
          </a:p>
        </p:txBody>
      </p:sp>
      <p:sp>
        <p:nvSpPr>
          <p:cNvPr id="137" name="TextBox 136"/>
          <p:cNvSpPr txBox="1"/>
          <p:nvPr/>
        </p:nvSpPr>
        <p:spPr>
          <a:xfrm>
            <a:off x="9966960" y="2921508"/>
            <a:ext cx="1371600" cy="160020"/>
          </a:xfrm>
          <a:prstGeom prst="rect">
            <a:avLst/>
          </a:prstGeom>
          <a:noFill/>
        </p:spPr>
        <p:txBody>
          <a:bodyPr wrap="square">
            <a:spAutoFit/>
          </a:bodyPr>
          <a:lstStyle/>
          <a:p>
            <a:pPr algn="l"/>
            <a:r>
              <a:rPr sz="700" b="1" i="0">
                <a:solidFill>
                  <a:srgbClr val="1E8B4C"/>
                </a:solidFill>
                <a:latin typeface="Calibri"/>
              </a:rPr>
              <a:t>Deploy Now</a:t>
            </a:r>
          </a:p>
        </p:txBody>
      </p:sp>
      <p:sp>
        <p:nvSpPr>
          <p:cNvPr id="138" name="Rectangle 137"/>
          <p:cNvSpPr/>
          <p:nvPr/>
        </p:nvSpPr>
        <p:spPr>
          <a:xfrm>
            <a:off x="182880" y="3108960"/>
            <a:ext cx="11887200" cy="224028"/>
          </a:xfrm>
          <a:prstGeom prst="rect">
            <a:avLst/>
          </a:prstGeom>
          <a:solidFill>
            <a:srgbClr val="FF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ectangle 138"/>
          <p:cNvSpPr/>
          <p:nvPr/>
        </p:nvSpPr>
        <p:spPr>
          <a:xfrm>
            <a:off x="182880" y="3108960"/>
            <a:ext cx="32004" cy="22402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228600" y="3145536"/>
            <a:ext cx="3383280" cy="160020"/>
          </a:xfrm>
          <a:prstGeom prst="rect">
            <a:avLst/>
          </a:prstGeom>
          <a:noFill/>
        </p:spPr>
        <p:txBody>
          <a:bodyPr wrap="square">
            <a:spAutoFit/>
          </a:bodyPr>
          <a:lstStyle/>
          <a:p>
            <a:pPr algn="l"/>
            <a:r>
              <a:rPr sz="750" b="1" i="0">
                <a:solidFill>
                  <a:srgbClr val="0D1B3E"/>
                </a:solidFill>
                <a:latin typeface="Calibri"/>
              </a:rPr>
              <a:t>Data Modelling Agent</a:t>
            </a:r>
          </a:p>
        </p:txBody>
      </p:sp>
      <p:sp>
        <p:nvSpPr>
          <p:cNvPr id="141" name="TextBox 140"/>
          <p:cNvSpPr txBox="1"/>
          <p:nvPr/>
        </p:nvSpPr>
        <p:spPr>
          <a:xfrm>
            <a:off x="3630168" y="3145536"/>
            <a:ext cx="1371600" cy="160020"/>
          </a:xfrm>
          <a:prstGeom prst="rect">
            <a:avLst/>
          </a:prstGeom>
          <a:noFill/>
        </p:spPr>
        <p:txBody>
          <a:bodyPr wrap="square">
            <a:spAutoFit/>
          </a:bodyPr>
          <a:lstStyle/>
          <a:p>
            <a:pPr algn="l"/>
            <a:r>
              <a:rPr sz="650" b="0" i="0">
                <a:solidFill>
                  <a:srgbClr val="5D6D7E"/>
                </a:solidFill>
                <a:latin typeface="Calibri"/>
              </a:rPr>
              <a:t>Architecture &amp; Des</a:t>
            </a:r>
          </a:p>
        </p:txBody>
      </p:sp>
      <p:sp>
        <p:nvSpPr>
          <p:cNvPr id="142" name="Rounded Rectangle 141"/>
          <p:cNvSpPr/>
          <p:nvPr/>
        </p:nvSpPr>
        <p:spPr>
          <a:xfrm>
            <a:off x="5047488" y="3145536"/>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5047488" y="3154679"/>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144" name="Rounded Rectangle 143"/>
          <p:cNvSpPr/>
          <p:nvPr/>
        </p:nvSpPr>
        <p:spPr>
          <a:xfrm>
            <a:off x="6007607" y="3145536"/>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6007607" y="3154679"/>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146" name="Rounded Rectangle 145"/>
          <p:cNvSpPr/>
          <p:nvPr/>
        </p:nvSpPr>
        <p:spPr>
          <a:xfrm>
            <a:off x="6967727" y="3145536"/>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6967727" y="3154679"/>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148" name="Rounded Rectangle 147"/>
          <p:cNvSpPr/>
          <p:nvPr/>
        </p:nvSpPr>
        <p:spPr>
          <a:xfrm>
            <a:off x="7927848" y="3145536"/>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7927848" y="3154679"/>
            <a:ext cx="822960" cy="132588"/>
          </a:xfrm>
          <a:prstGeom prst="rect">
            <a:avLst/>
          </a:prstGeom>
          <a:noFill/>
        </p:spPr>
        <p:txBody>
          <a:bodyPr wrap="square">
            <a:spAutoFit/>
          </a:bodyPr>
          <a:lstStyle/>
          <a:p>
            <a:pPr algn="ctr"/>
            <a:r>
              <a:rPr sz="700" b="1" i="0">
                <a:solidFill>
                  <a:srgbClr val="FFFFFF"/>
                </a:solidFill>
                <a:latin typeface="Calibri"/>
              </a:rPr>
              <a:t>2</a:t>
            </a:r>
          </a:p>
        </p:txBody>
      </p:sp>
      <p:sp>
        <p:nvSpPr>
          <p:cNvPr id="150" name="Rounded Rectangle 149"/>
          <p:cNvSpPr/>
          <p:nvPr/>
        </p:nvSpPr>
        <p:spPr>
          <a:xfrm>
            <a:off x="8887968" y="3145536"/>
            <a:ext cx="91440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8887968" y="3154679"/>
            <a:ext cx="914400" cy="132588"/>
          </a:xfrm>
          <a:prstGeom prst="rect">
            <a:avLst/>
          </a:prstGeom>
          <a:noFill/>
        </p:spPr>
        <p:txBody>
          <a:bodyPr wrap="square">
            <a:spAutoFit/>
          </a:bodyPr>
          <a:lstStyle/>
          <a:p>
            <a:pPr algn="ctr"/>
            <a:r>
              <a:rPr sz="650" b="1" i="0">
                <a:solidFill>
                  <a:srgbClr val="FFFFFF"/>
                </a:solidFill>
                <a:latin typeface="Calibri"/>
              </a:rPr>
              <a:t>Quick Win</a:t>
            </a:r>
          </a:p>
        </p:txBody>
      </p:sp>
      <p:sp>
        <p:nvSpPr>
          <p:cNvPr id="152" name="TextBox 151"/>
          <p:cNvSpPr txBox="1"/>
          <p:nvPr/>
        </p:nvSpPr>
        <p:spPr>
          <a:xfrm>
            <a:off x="9966960" y="3154679"/>
            <a:ext cx="1371600" cy="160020"/>
          </a:xfrm>
          <a:prstGeom prst="rect">
            <a:avLst/>
          </a:prstGeom>
          <a:noFill/>
        </p:spPr>
        <p:txBody>
          <a:bodyPr wrap="square">
            <a:spAutoFit/>
          </a:bodyPr>
          <a:lstStyle/>
          <a:p>
            <a:pPr algn="l"/>
            <a:r>
              <a:rPr sz="700" b="1" i="0">
                <a:solidFill>
                  <a:srgbClr val="1E8B4C"/>
                </a:solidFill>
                <a:latin typeface="Calibri"/>
              </a:rPr>
              <a:t>Deploy Now</a:t>
            </a:r>
          </a:p>
        </p:txBody>
      </p:sp>
      <p:sp>
        <p:nvSpPr>
          <p:cNvPr id="153" name="Rectangle 152"/>
          <p:cNvSpPr/>
          <p:nvPr/>
        </p:nvSpPr>
        <p:spPr>
          <a:xfrm>
            <a:off x="182880" y="3342132"/>
            <a:ext cx="11887200" cy="224028"/>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ectangle 153"/>
          <p:cNvSpPr/>
          <p:nvPr/>
        </p:nvSpPr>
        <p:spPr>
          <a:xfrm>
            <a:off x="182880" y="3342132"/>
            <a:ext cx="32004" cy="22402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228600" y="3378708"/>
            <a:ext cx="3383280" cy="160020"/>
          </a:xfrm>
          <a:prstGeom prst="rect">
            <a:avLst/>
          </a:prstGeom>
          <a:noFill/>
        </p:spPr>
        <p:txBody>
          <a:bodyPr wrap="square">
            <a:spAutoFit/>
          </a:bodyPr>
          <a:lstStyle/>
          <a:p>
            <a:pPr algn="l"/>
            <a:r>
              <a:rPr sz="750" b="1" i="0">
                <a:solidFill>
                  <a:srgbClr val="0D1B3E"/>
                </a:solidFill>
                <a:latin typeface="Calibri"/>
              </a:rPr>
              <a:t>Release Agent</a:t>
            </a:r>
          </a:p>
        </p:txBody>
      </p:sp>
      <p:sp>
        <p:nvSpPr>
          <p:cNvPr id="156" name="TextBox 155"/>
          <p:cNvSpPr txBox="1"/>
          <p:nvPr/>
        </p:nvSpPr>
        <p:spPr>
          <a:xfrm>
            <a:off x="3630168" y="3378708"/>
            <a:ext cx="1371600" cy="160020"/>
          </a:xfrm>
          <a:prstGeom prst="rect">
            <a:avLst/>
          </a:prstGeom>
          <a:noFill/>
        </p:spPr>
        <p:txBody>
          <a:bodyPr wrap="square">
            <a:spAutoFit/>
          </a:bodyPr>
          <a:lstStyle/>
          <a:p>
            <a:pPr algn="l"/>
            <a:r>
              <a:rPr sz="650" b="0" i="0">
                <a:solidFill>
                  <a:srgbClr val="5D6D7E"/>
                </a:solidFill>
                <a:latin typeface="Calibri"/>
              </a:rPr>
              <a:t>Release &amp; Transiti</a:t>
            </a:r>
          </a:p>
        </p:txBody>
      </p:sp>
      <p:sp>
        <p:nvSpPr>
          <p:cNvPr id="157" name="Rounded Rectangle 156"/>
          <p:cNvSpPr/>
          <p:nvPr/>
        </p:nvSpPr>
        <p:spPr>
          <a:xfrm>
            <a:off x="5047488" y="3378708"/>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5047488" y="3387851"/>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159" name="Rounded Rectangle 158"/>
          <p:cNvSpPr/>
          <p:nvPr/>
        </p:nvSpPr>
        <p:spPr>
          <a:xfrm>
            <a:off x="6007607" y="3378708"/>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6007607" y="3387851"/>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161" name="Rounded Rectangle 160"/>
          <p:cNvSpPr/>
          <p:nvPr/>
        </p:nvSpPr>
        <p:spPr>
          <a:xfrm>
            <a:off x="6967727" y="3378708"/>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6967727" y="3387851"/>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163" name="Rounded Rectangle 162"/>
          <p:cNvSpPr/>
          <p:nvPr/>
        </p:nvSpPr>
        <p:spPr>
          <a:xfrm>
            <a:off x="7927848" y="3378708"/>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7927848" y="3387851"/>
            <a:ext cx="822960" cy="132588"/>
          </a:xfrm>
          <a:prstGeom prst="rect">
            <a:avLst/>
          </a:prstGeom>
          <a:noFill/>
        </p:spPr>
        <p:txBody>
          <a:bodyPr wrap="square">
            <a:spAutoFit/>
          </a:bodyPr>
          <a:lstStyle/>
          <a:p>
            <a:pPr algn="ctr"/>
            <a:r>
              <a:rPr sz="700" b="1" i="0">
                <a:solidFill>
                  <a:srgbClr val="FFFFFF"/>
                </a:solidFill>
                <a:latin typeface="Calibri"/>
              </a:rPr>
              <a:t>2</a:t>
            </a:r>
          </a:p>
        </p:txBody>
      </p:sp>
      <p:sp>
        <p:nvSpPr>
          <p:cNvPr id="165" name="Rounded Rectangle 164"/>
          <p:cNvSpPr/>
          <p:nvPr/>
        </p:nvSpPr>
        <p:spPr>
          <a:xfrm>
            <a:off x="8887968" y="3378708"/>
            <a:ext cx="91440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8887968" y="3387851"/>
            <a:ext cx="914400" cy="132588"/>
          </a:xfrm>
          <a:prstGeom prst="rect">
            <a:avLst/>
          </a:prstGeom>
          <a:noFill/>
        </p:spPr>
        <p:txBody>
          <a:bodyPr wrap="square">
            <a:spAutoFit/>
          </a:bodyPr>
          <a:lstStyle/>
          <a:p>
            <a:pPr algn="ctr"/>
            <a:r>
              <a:rPr sz="650" b="1" i="0">
                <a:solidFill>
                  <a:srgbClr val="FFFFFF"/>
                </a:solidFill>
                <a:latin typeface="Calibri"/>
              </a:rPr>
              <a:t>Quick Win</a:t>
            </a:r>
          </a:p>
        </p:txBody>
      </p:sp>
      <p:sp>
        <p:nvSpPr>
          <p:cNvPr id="167" name="TextBox 166"/>
          <p:cNvSpPr txBox="1"/>
          <p:nvPr/>
        </p:nvSpPr>
        <p:spPr>
          <a:xfrm>
            <a:off x="9966960" y="3387851"/>
            <a:ext cx="1371600" cy="160020"/>
          </a:xfrm>
          <a:prstGeom prst="rect">
            <a:avLst/>
          </a:prstGeom>
          <a:noFill/>
        </p:spPr>
        <p:txBody>
          <a:bodyPr wrap="square">
            <a:spAutoFit/>
          </a:bodyPr>
          <a:lstStyle/>
          <a:p>
            <a:pPr algn="l"/>
            <a:r>
              <a:rPr sz="700" b="1" i="0">
                <a:solidFill>
                  <a:srgbClr val="1E8B4C"/>
                </a:solidFill>
                <a:latin typeface="Calibri"/>
              </a:rPr>
              <a:t>Deploy Now</a:t>
            </a:r>
          </a:p>
        </p:txBody>
      </p:sp>
      <p:sp>
        <p:nvSpPr>
          <p:cNvPr id="168" name="Rectangle 167"/>
          <p:cNvSpPr/>
          <p:nvPr/>
        </p:nvSpPr>
        <p:spPr>
          <a:xfrm>
            <a:off x="182880" y="3575303"/>
            <a:ext cx="11887200" cy="224028"/>
          </a:xfrm>
          <a:prstGeom prst="rect">
            <a:avLst/>
          </a:prstGeom>
          <a:solidFill>
            <a:srgbClr val="FF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Rectangle 168"/>
          <p:cNvSpPr/>
          <p:nvPr/>
        </p:nvSpPr>
        <p:spPr>
          <a:xfrm>
            <a:off x="182880" y="3575303"/>
            <a:ext cx="32004" cy="22402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228600" y="3611879"/>
            <a:ext cx="3383280" cy="160020"/>
          </a:xfrm>
          <a:prstGeom prst="rect">
            <a:avLst/>
          </a:prstGeom>
          <a:noFill/>
        </p:spPr>
        <p:txBody>
          <a:bodyPr wrap="square">
            <a:spAutoFit/>
          </a:bodyPr>
          <a:lstStyle/>
          <a:p>
            <a:pPr algn="l"/>
            <a:r>
              <a:rPr sz="750" b="1" i="0">
                <a:solidFill>
                  <a:srgbClr val="0D1B3E"/>
                </a:solidFill>
                <a:latin typeface="Calibri"/>
              </a:rPr>
              <a:t>Triaging Agent</a:t>
            </a:r>
          </a:p>
        </p:txBody>
      </p:sp>
      <p:sp>
        <p:nvSpPr>
          <p:cNvPr id="171" name="TextBox 170"/>
          <p:cNvSpPr txBox="1"/>
          <p:nvPr/>
        </p:nvSpPr>
        <p:spPr>
          <a:xfrm>
            <a:off x="3630168" y="3611879"/>
            <a:ext cx="1371600" cy="160020"/>
          </a:xfrm>
          <a:prstGeom prst="rect">
            <a:avLst/>
          </a:prstGeom>
          <a:noFill/>
        </p:spPr>
        <p:txBody>
          <a:bodyPr wrap="square">
            <a:spAutoFit/>
          </a:bodyPr>
          <a:lstStyle/>
          <a:p>
            <a:pPr algn="l"/>
            <a:r>
              <a:rPr sz="650" b="0" i="0">
                <a:solidFill>
                  <a:srgbClr val="5D6D7E"/>
                </a:solidFill>
                <a:latin typeface="Calibri"/>
              </a:rPr>
              <a:t>Monitoring &amp; Alert</a:t>
            </a:r>
          </a:p>
        </p:txBody>
      </p:sp>
      <p:sp>
        <p:nvSpPr>
          <p:cNvPr id="172" name="Rounded Rectangle 171"/>
          <p:cNvSpPr/>
          <p:nvPr/>
        </p:nvSpPr>
        <p:spPr>
          <a:xfrm>
            <a:off x="5047488" y="3611879"/>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TextBox 172"/>
          <p:cNvSpPr txBox="1"/>
          <p:nvPr/>
        </p:nvSpPr>
        <p:spPr>
          <a:xfrm>
            <a:off x="5047488" y="3621023"/>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174" name="Rounded Rectangle 173"/>
          <p:cNvSpPr/>
          <p:nvPr/>
        </p:nvSpPr>
        <p:spPr>
          <a:xfrm>
            <a:off x="6007607" y="3611879"/>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TextBox 174"/>
          <p:cNvSpPr txBox="1"/>
          <p:nvPr/>
        </p:nvSpPr>
        <p:spPr>
          <a:xfrm>
            <a:off x="6007607" y="3621023"/>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176" name="Rounded Rectangle 175"/>
          <p:cNvSpPr/>
          <p:nvPr/>
        </p:nvSpPr>
        <p:spPr>
          <a:xfrm>
            <a:off x="6967727" y="3611879"/>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TextBox 176"/>
          <p:cNvSpPr txBox="1"/>
          <p:nvPr/>
        </p:nvSpPr>
        <p:spPr>
          <a:xfrm>
            <a:off x="6967727" y="3621023"/>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178" name="Rounded Rectangle 177"/>
          <p:cNvSpPr/>
          <p:nvPr/>
        </p:nvSpPr>
        <p:spPr>
          <a:xfrm>
            <a:off x="7927848" y="3611879"/>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TextBox 178"/>
          <p:cNvSpPr txBox="1"/>
          <p:nvPr/>
        </p:nvSpPr>
        <p:spPr>
          <a:xfrm>
            <a:off x="7927848" y="3621023"/>
            <a:ext cx="822960" cy="132588"/>
          </a:xfrm>
          <a:prstGeom prst="rect">
            <a:avLst/>
          </a:prstGeom>
          <a:noFill/>
        </p:spPr>
        <p:txBody>
          <a:bodyPr wrap="square">
            <a:spAutoFit/>
          </a:bodyPr>
          <a:lstStyle/>
          <a:p>
            <a:pPr algn="ctr"/>
            <a:r>
              <a:rPr sz="700" b="1" i="0">
                <a:solidFill>
                  <a:srgbClr val="FFFFFF"/>
                </a:solidFill>
                <a:latin typeface="Calibri"/>
              </a:rPr>
              <a:t>2</a:t>
            </a:r>
          </a:p>
        </p:txBody>
      </p:sp>
      <p:sp>
        <p:nvSpPr>
          <p:cNvPr id="180" name="Rounded Rectangle 179"/>
          <p:cNvSpPr/>
          <p:nvPr/>
        </p:nvSpPr>
        <p:spPr>
          <a:xfrm>
            <a:off x="8887968" y="3611879"/>
            <a:ext cx="91440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TextBox 180"/>
          <p:cNvSpPr txBox="1"/>
          <p:nvPr/>
        </p:nvSpPr>
        <p:spPr>
          <a:xfrm>
            <a:off x="8887968" y="3621023"/>
            <a:ext cx="914400" cy="132588"/>
          </a:xfrm>
          <a:prstGeom prst="rect">
            <a:avLst/>
          </a:prstGeom>
          <a:noFill/>
        </p:spPr>
        <p:txBody>
          <a:bodyPr wrap="square">
            <a:spAutoFit/>
          </a:bodyPr>
          <a:lstStyle/>
          <a:p>
            <a:pPr algn="ctr"/>
            <a:r>
              <a:rPr sz="650" b="1" i="0">
                <a:solidFill>
                  <a:srgbClr val="FFFFFF"/>
                </a:solidFill>
                <a:latin typeface="Calibri"/>
              </a:rPr>
              <a:t>Quick Win</a:t>
            </a:r>
          </a:p>
        </p:txBody>
      </p:sp>
      <p:sp>
        <p:nvSpPr>
          <p:cNvPr id="182" name="TextBox 181"/>
          <p:cNvSpPr txBox="1"/>
          <p:nvPr/>
        </p:nvSpPr>
        <p:spPr>
          <a:xfrm>
            <a:off x="9966960" y="3621023"/>
            <a:ext cx="1371600" cy="160020"/>
          </a:xfrm>
          <a:prstGeom prst="rect">
            <a:avLst/>
          </a:prstGeom>
          <a:noFill/>
        </p:spPr>
        <p:txBody>
          <a:bodyPr wrap="square">
            <a:spAutoFit/>
          </a:bodyPr>
          <a:lstStyle/>
          <a:p>
            <a:pPr algn="l"/>
            <a:r>
              <a:rPr sz="700" b="1" i="0">
                <a:solidFill>
                  <a:srgbClr val="1E8B4C"/>
                </a:solidFill>
                <a:latin typeface="Calibri"/>
              </a:rPr>
              <a:t>Deploy Now</a:t>
            </a:r>
          </a:p>
        </p:txBody>
      </p:sp>
      <p:sp>
        <p:nvSpPr>
          <p:cNvPr id="183" name="Rectangle 182"/>
          <p:cNvSpPr/>
          <p:nvPr/>
        </p:nvSpPr>
        <p:spPr>
          <a:xfrm>
            <a:off x="182880" y="3808476"/>
            <a:ext cx="11887200" cy="224028"/>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Rectangle 183"/>
          <p:cNvSpPr/>
          <p:nvPr/>
        </p:nvSpPr>
        <p:spPr>
          <a:xfrm>
            <a:off x="182880" y="3808476"/>
            <a:ext cx="32004" cy="224028"/>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TextBox 184"/>
          <p:cNvSpPr txBox="1"/>
          <p:nvPr/>
        </p:nvSpPr>
        <p:spPr>
          <a:xfrm>
            <a:off x="228600" y="3845052"/>
            <a:ext cx="3383280" cy="160020"/>
          </a:xfrm>
          <a:prstGeom prst="rect">
            <a:avLst/>
          </a:prstGeom>
          <a:noFill/>
        </p:spPr>
        <p:txBody>
          <a:bodyPr wrap="square">
            <a:spAutoFit/>
          </a:bodyPr>
          <a:lstStyle/>
          <a:p>
            <a:pPr algn="l"/>
            <a:r>
              <a:rPr sz="750" b="1" i="0">
                <a:solidFill>
                  <a:srgbClr val="0D1B3E"/>
                </a:solidFill>
                <a:latin typeface="Calibri"/>
              </a:rPr>
              <a:t>Story Sizing Agent</a:t>
            </a:r>
          </a:p>
        </p:txBody>
      </p:sp>
      <p:sp>
        <p:nvSpPr>
          <p:cNvPr id="186" name="TextBox 185"/>
          <p:cNvSpPr txBox="1"/>
          <p:nvPr/>
        </p:nvSpPr>
        <p:spPr>
          <a:xfrm>
            <a:off x="3630168" y="3845052"/>
            <a:ext cx="1371600" cy="160020"/>
          </a:xfrm>
          <a:prstGeom prst="rect">
            <a:avLst/>
          </a:prstGeom>
          <a:noFill/>
        </p:spPr>
        <p:txBody>
          <a:bodyPr wrap="square">
            <a:spAutoFit/>
          </a:bodyPr>
          <a:lstStyle/>
          <a:p>
            <a:pPr algn="l"/>
            <a:r>
              <a:rPr sz="650" b="0" i="0">
                <a:solidFill>
                  <a:srgbClr val="5D6D7E"/>
                </a:solidFill>
                <a:latin typeface="Calibri"/>
              </a:rPr>
              <a:t>Estimation &amp; Plann</a:t>
            </a:r>
          </a:p>
        </p:txBody>
      </p:sp>
      <p:sp>
        <p:nvSpPr>
          <p:cNvPr id="187" name="Rounded Rectangle 186"/>
          <p:cNvSpPr/>
          <p:nvPr/>
        </p:nvSpPr>
        <p:spPr>
          <a:xfrm>
            <a:off x="5047488" y="3845052"/>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TextBox 187"/>
          <p:cNvSpPr txBox="1"/>
          <p:nvPr/>
        </p:nvSpPr>
        <p:spPr>
          <a:xfrm>
            <a:off x="5047488" y="3854196"/>
            <a:ext cx="822960" cy="132588"/>
          </a:xfrm>
          <a:prstGeom prst="rect">
            <a:avLst/>
          </a:prstGeom>
          <a:noFill/>
        </p:spPr>
        <p:txBody>
          <a:bodyPr wrap="square">
            <a:spAutoFit/>
          </a:bodyPr>
          <a:lstStyle/>
          <a:p>
            <a:pPr algn="ctr"/>
            <a:r>
              <a:rPr sz="700" b="1" i="0">
                <a:solidFill>
                  <a:srgbClr val="FFFFFF"/>
                </a:solidFill>
                <a:latin typeface="Calibri"/>
              </a:rPr>
              <a:t>L</a:t>
            </a:r>
          </a:p>
        </p:txBody>
      </p:sp>
      <p:sp>
        <p:nvSpPr>
          <p:cNvPr id="189" name="Rounded Rectangle 188"/>
          <p:cNvSpPr/>
          <p:nvPr/>
        </p:nvSpPr>
        <p:spPr>
          <a:xfrm>
            <a:off x="6007607" y="3845052"/>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6007607" y="3854196"/>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191" name="Rounded Rectangle 190"/>
          <p:cNvSpPr/>
          <p:nvPr/>
        </p:nvSpPr>
        <p:spPr>
          <a:xfrm>
            <a:off x="6967727" y="3845052"/>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p:cNvSpPr txBox="1"/>
          <p:nvPr/>
        </p:nvSpPr>
        <p:spPr>
          <a:xfrm>
            <a:off x="6967727" y="3854196"/>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193" name="Rounded Rectangle 192"/>
          <p:cNvSpPr/>
          <p:nvPr/>
        </p:nvSpPr>
        <p:spPr>
          <a:xfrm>
            <a:off x="7927848" y="3845052"/>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7927848" y="3854196"/>
            <a:ext cx="822960" cy="132588"/>
          </a:xfrm>
          <a:prstGeom prst="rect">
            <a:avLst/>
          </a:prstGeom>
          <a:noFill/>
        </p:spPr>
        <p:txBody>
          <a:bodyPr wrap="square">
            <a:spAutoFit/>
          </a:bodyPr>
          <a:lstStyle/>
          <a:p>
            <a:pPr algn="ctr"/>
            <a:r>
              <a:rPr sz="700" b="1" i="0">
                <a:solidFill>
                  <a:srgbClr val="FFFFFF"/>
                </a:solidFill>
                <a:latin typeface="Calibri"/>
              </a:rPr>
              <a:t>2</a:t>
            </a:r>
          </a:p>
        </p:txBody>
      </p:sp>
      <p:sp>
        <p:nvSpPr>
          <p:cNvPr id="195" name="Rounded Rectangle 194"/>
          <p:cNvSpPr/>
          <p:nvPr/>
        </p:nvSpPr>
        <p:spPr>
          <a:xfrm>
            <a:off x="8887968" y="3845052"/>
            <a:ext cx="91440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p:cNvSpPr txBox="1"/>
          <p:nvPr/>
        </p:nvSpPr>
        <p:spPr>
          <a:xfrm>
            <a:off x="8887968" y="3854196"/>
            <a:ext cx="914400" cy="132588"/>
          </a:xfrm>
          <a:prstGeom prst="rect">
            <a:avLst/>
          </a:prstGeom>
          <a:noFill/>
        </p:spPr>
        <p:txBody>
          <a:bodyPr wrap="square">
            <a:spAutoFit/>
          </a:bodyPr>
          <a:lstStyle/>
          <a:p>
            <a:pPr algn="ctr"/>
            <a:r>
              <a:rPr sz="650" b="1" i="0">
                <a:solidFill>
                  <a:srgbClr val="FFFFFF"/>
                </a:solidFill>
                <a:latin typeface="Calibri"/>
              </a:rPr>
              <a:t>Scale</a:t>
            </a:r>
          </a:p>
        </p:txBody>
      </p:sp>
      <p:sp>
        <p:nvSpPr>
          <p:cNvPr id="197" name="TextBox 196"/>
          <p:cNvSpPr txBox="1"/>
          <p:nvPr/>
        </p:nvSpPr>
        <p:spPr>
          <a:xfrm>
            <a:off x="9966960" y="3854196"/>
            <a:ext cx="1371600" cy="160020"/>
          </a:xfrm>
          <a:prstGeom prst="rect">
            <a:avLst/>
          </a:prstGeom>
          <a:noFill/>
        </p:spPr>
        <p:txBody>
          <a:bodyPr wrap="square">
            <a:spAutoFit/>
          </a:bodyPr>
          <a:lstStyle/>
          <a:p>
            <a:pPr algn="l"/>
            <a:r>
              <a:rPr sz="700" b="1" i="0">
                <a:solidFill>
                  <a:srgbClr val="D47F00"/>
                </a:solidFill>
                <a:latin typeface="Calibri"/>
              </a:rPr>
              <a:t>Schedule</a:t>
            </a:r>
          </a:p>
        </p:txBody>
      </p:sp>
      <p:sp>
        <p:nvSpPr>
          <p:cNvPr id="198" name="Rectangle 197"/>
          <p:cNvSpPr/>
          <p:nvPr/>
        </p:nvSpPr>
        <p:spPr>
          <a:xfrm>
            <a:off x="182880" y="4041648"/>
            <a:ext cx="11887200" cy="224028"/>
          </a:xfrm>
          <a:prstGeom prst="rect">
            <a:avLst/>
          </a:prstGeom>
          <a:solidFill>
            <a:srgbClr val="FF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Rectangle 198"/>
          <p:cNvSpPr/>
          <p:nvPr/>
        </p:nvSpPr>
        <p:spPr>
          <a:xfrm>
            <a:off x="182880" y="4041648"/>
            <a:ext cx="32004" cy="224028"/>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TextBox 199"/>
          <p:cNvSpPr txBox="1"/>
          <p:nvPr/>
        </p:nvSpPr>
        <p:spPr>
          <a:xfrm>
            <a:off x="228600" y="4078224"/>
            <a:ext cx="3383280" cy="160020"/>
          </a:xfrm>
          <a:prstGeom prst="rect">
            <a:avLst/>
          </a:prstGeom>
          <a:noFill/>
        </p:spPr>
        <p:txBody>
          <a:bodyPr wrap="square">
            <a:spAutoFit/>
          </a:bodyPr>
          <a:lstStyle/>
          <a:p>
            <a:pPr algn="l"/>
            <a:r>
              <a:rPr sz="750" b="1" i="0">
                <a:solidFill>
                  <a:srgbClr val="0D1B3E"/>
                </a:solidFill>
                <a:latin typeface="Calibri"/>
              </a:rPr>
              <a:t>Runbook Tutor Agent</a:t>
            </a:r>
          </a:p>
        </p:txBody>
      </p:sp>
      <p:sp>
        <p:nvSpPr>
          <p:cNvPr id="201" name="TextBox 200"/>
          <p:cNvSpPr txBox="1"/>
          <p:nvPr/>
        </p:nvSpPr>
        <p:spPr>
          <a:xfrm>
            <a:off x="3630168" y="4078224"/>
            <a:ext cx="1371600" cy="160020"/>
          </a:xfrm>
          <a:prstGeom prst="rect">
            <a:avLst/>
          </a:prstGeom>
          <a:noFill/>
        </p:spPr>
        <p:txBody>
          <a:bodyPr wrap="square">
            <a:spAutoFit/>
          </a:bodyPr>
          <a:lstStyle/>
          <a:p>
            <a:pPr algn="l"/>
            <a:r>
              <a:rPr sz="650" b="0" i="0">
                <a:solidFill>
                  <a:srgbClr val="5D6D7E"/>
                </a:solidFill>
                <a:latin typeface="Calibri"/>
              </a:rPr>
              <a:t>Team On-boarding</a:t>
            </a:r>
          </a:p>
        </p:txBody>
      </p:sp>
      <p:sp>
        <p:nvSpPr>
          <p:cNvPr id="202" name="Rounded Rectangle 201"/>
          <p:cNvSpPr/>
          <p:nvPr/>
        </p:nvSpPr>
        <p:spPr>
          <a:xfrm>
            <a:off x="5047488" y="4078224"/>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TextBox 202"/>
          <p:cNvSpPr txBox="1"/>
          <p:nvPr/>
        </p:nvSpPr>
        <p:spPr>
          <a:xfrm>
            <a:off x="5047488" y="4087368"/>
            <a:ext cx="822960" cy="132588"/>
          </a:xfrm>
          <a:prstGeom prst="rect">
            <a:avLst/>
          </a:prstGeom>
          <a:noFill/>
        </p:spPr>
        <p:txBody>
          <a:bodyPr wrap="square">
            <a:spAutoFit/>
          </a:bodyPr>
          <a:lstStyle/>
          <a:p>
            <a:pPr algn="ctr"/>
            <a:r>
              <a:rPr sz="700" b="1" i="0">
                <a:solidFill>
                  <a:srgbClr val="FFFFFF"/>
                </a:solidFill>
                <a:latin typeface="Calibri"/>
              </a:rPr>
              <a:t>L</a:t>
            </a:r>
          </a:p>
        </p:txBody>
      </p:sp>
      <p:sp>
        <p:nvSpPr>
          <p:cNvPr id="204" name="Rounded Rectangle 203"/>
          <p:cNvSpPr/>
          <p:nvPr/>
        </p:nvSpPr>
        <p:spPr>
          <a:xfrm>
            <a:off x="6007607" y="4078224"/>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TextBox 204"/>
          <p:cNvSpPr txBox="1"/>
          <p:nvPr/>
        </p:nvSpPr>
        <p:spPr>
          <a:xfrm>
            <a:off x="6007607" y="4087368"/>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206" name="Rounded Rectangle 205"/>
          <p:cNvSpPr/>
          <p:nvPr/>
        </p:nvSpPr>
        <p:spPr>
          <a:xfrm>
            <a:off x="6967727" y="4078224"/>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TextBox 206"/>
          <p:cNvSpPr txBox="1"/>
          <p:nvPr/>
        </p:nvSpPr>
        <p:spPr>
          <a:xfrm>
            <a:off x="6967727" y="4087368"/>
            <a:ext cx="822960" cy="132588"/>
          </a:xfrm>
          <a:prstGeom prst="rect">
            <a:avLst/>
          </a:prstGeom>
          <a:noFill/>
        </p:spPr>
        <p:txBody>
          <a:bodyPr wrap="square">
            <a:spAutoFit/>
          </a:bodyPr>
          <a:lstStyle/>
          <a:p>
            <a:pPr algn="ctr"/>
            <a:r>
              <a:rPr sz="700" b="1" i="0">
                <a:solidFill>
                  <a:srgbClr val="FFFFFF"/>
                </a:solidFill>
                <a:latin typeface="Calibri"/>
              </a:rPr>
              <a:t>L</a:t>
            </a:r>
          </a:p>
        </p:txBody>
      </p:sp>
      <p:sp>
        <p:nvSpPr>
          <p:cNvPr id="208" name="Rounded Rectangle 207"/>
          <p:cNvSpPr/>
          <p:nvPr/>
        </p:nvSpPr>
        <p:spPr>
          <a:xfrm>
            <a:off x="7927848" y="4078224"/>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TextBox 208"/>
          <p:cNvSpPr txBox="1"/>
          <p:nvPr/>
        </p:nvSpPr>
        <p:spPr>
          <a:xfrm>
            <a:off x="7927848" y="4087368"/>
            <a:ext cx="822960" cy="132588"/>
          </a:xfrm>
          <a:prstGeom prst="rect">
            <a:avLst/>
          </a:prstGeom>
          <a:noFill/>
        </p:spPr>
        <p:txBody>
          <a:bodyPr wrap="square">
            <a:spAutoFit/>
          </a:bodyPr>
          <a:lstStyle/>
          <a:p>
            <a:pPr algn="ctr"/>
            <a:r>
              <a:rPr sz="700" b="1" i="0">
                <a:solidFill>
                  <a:srgbClr val="FFFFFF"/>
                </a:solidFill>
                <a:latin typeface="Calibri"/>
              </a:rPr>
              <a:t>2</a:t>
            </a:r>
          </a:p>
        </p:txBody>
      </p:sp>
      <p:sp>
        <p:nvSpPr>
          <p:cNvPr id="210" name="Rounded Rectangle 209"/>
          <p:cNvSpPr/>
          <p:nvPr/>
        </p:nvSpPr>
        <p:spPr>
          <a:xfrm>
            <a:off x="8887968" y="4078224"/>
            <a:ext cx="91440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TextBox 210"/>
          <p:cNvSpPr txBox="1"/>
          <p:nvPr/>
        </p:nvSpPr>
        <p:spPr>
          <a:xfrm>
            <a:off x="8887968" y="4087368"/>
            <a:ext cx="914400" cy="132588"/>
          </a:xfrm>
          <a:prstGeom prst="rect">
            <a:avLst/>
          </a:prstGeom>
          <a:noFill/>
        </p:spPr>
        <p:txBody>
          <a:bodyPr wrap="square">
            <a:spAutoFit/>
          </a:bodyPr>
          <a:lstStyle/>
          <a:p>
            <a:pPr algn="ctr"/>
            <a:r>
              <a:rPr sz="650" b="1" i="0">
                <a:solidFill>
                  <a:srgbClr val="FFFFFF"/>
                </a:solidFill>
                <a:latin typeface="Calibri"/>
              </a:rPr>
              <a:t>Scale</a:t>
            </a:r>
          </a:p>
        </p:txBody>
      </p:sp>
      <p:sp>
        <p:nvSpPr>
          <p:cNvPr id="212" name="TextBox 211"/>
          <p:cNvSpPr txBox="1"/>
          <p:nvPr/>
        </p:nvSpPr>
        <p:spPr>
          <a:xfrm>
            <a:off x="9966960" y="4087368"/>
            <a:ext cx="1371600" cy="160020"/>
          </a:xfrm>
          <a:prstGeom prst="rect">
            <a:avLst/>
          </a:prstGeom>
          <a:noFill/>
        </p:spPr>
        <p:txBody>
          <a:bodyPr wrap="square">
            <a:spAutoFit/>
          </a:bodyPr>
          <a:lstStyle/>
          <a:p>
            <a:pPr algn="l"/>
            <a:r>
              <a:rPr sz="700" b="1" i="0">
                <a:solidFill>
                  <a:srgbClr val="D47F00"/>
                </a:solidFill>
                <a:latin typeface="Calibri"/>
              </a:rPr>
              <a:t>Schedule</a:t>
            </a:r>
          </a:p>
        </p:txBody>
      </p:sp>
      <p:sp>
        <p:nvSpPr>
          <p:cNvPr id="213" name="Rectangle 212"/>
          <p:cNvSpPr/>
          <p:nvPr/>
        </p:nvSpPr>
        <p:spPr>
          <a:xfrm>
            <a:off x="182880" y="4274820"/>
            <a:ext cx="11887200" cy="224028"/>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Rectangle 213"/>
          <p:cNvSpPr/>
          <p:nvPr/>
        </p:nvSpPr>
        <p:spPr>
          <a:xfrm>
            <a:off x="182880" y="4274820"/>
            <a:ext cx="32004" cy="224028"/>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TextBox 214"/>
          <p:cNvSpPr txBox="1"/>
          <p:nvPr/>
        </p:nvSpPr>
        <p:spPr>
          <a:xfrm>
            <a:off x="228600" y="4311396"/>
            <a:ext cx="3383280" cy="160020"/>
          </a:xfrm>
          <a:prstGeom prst="rect">
            <a:avLst/>
          </a:prstGeom>
          <a:noFill/>
        </p:spPr>
        <p:txBody>
          <a:bodyPr wrap="square">
            <a:spAutoFit/>
          </a:bodyPr>
          <a:lstStyle/>
          <a:p>
            <a:pPr algn="l"/>
            <a:r>
              <a:rPr sz="750" b="1" i="0">
                <a:solidFill>
                  <a:srgbClr val="0D1B3E"/>
                </a:solidFill>
                <a:latin typeface="Calibri"/>
              </a:rPr>
              <a:t>Learning Path Agent</a:t>
            </a:r>
          </a:p>
        </p:txBody>
      </p:sp>
      <p:sp>
        <p:nvSpPr>
          <p:cNvPr id="216" name="TextBox 215"/>
          <p:cNvSpPr txBox="1"/>
          <p:nvPr/>
        </p:nvSpPr>
        <p:spPr>
          <a:xfrm>
            <a:off x="3630168" y="4311396"/>
            <a:ext cx="1371600" cy="160020"/>
          </a:xfrm>
          <a:prstGeom prst="rect">
            <a:avLst/>
          </a:prstGeom>
          <a:noFill/>
        </p:spPr>
        <p:txBody>
          <a:bodyPr wrap="square">
            <a:spAutoFit/>
          </a:bodyPr>
          <a:lstStyle/>
          <a:p>
            <a:pPr algn="l"/>
            <a:r>
              <a:rPr sz="650" b="0" i="0">
                <a:solidFill>
                  <a:srgbClr val="5D6D7E"/>
                </a:solidFill>
                <a:latin typeface="Calibri"/>
              </a:rPr>
              <a:t>Developer Experien</a:t>
            </a:r>
          </a:p>
        </p:txBody>
      </p:sp>
      <p:sp>
        <p:nvSpPr>
          <p:cNvPr id="217" name="Rounded Rectangle 216"/>
          <p:cNvSpPr/>
          <p:nvPr/>
        </p:nvSpPr>
        <p:spPr>
          <a:xfrm>
            <a:off x="5047488" y="4311396"/>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TextBox 217"/>
          <p:cNvSpPr txBox="1"/>
          <p:nvPr/>
        </p:nvSpPr>
        <p:spPr>
          <a:xfrm>
            <a:off x="5047488" y="4320540"/>
            <a:ext cx="822960" cy="132588"/>
          </a:xfrm>
          <a:prstGeom prst="rect">
            <a:avLst/>
          </a:prstGeom>
          <a:noFill/>
        </p:spPr>
        <p:txBody>
          <a:bodyPr wrap="square">
            <a:spAutoFit/>
          </a:bodyPr>
          <a:lstStyle/>
          <a:p>
            <a:pPr algn="ctr"/>
            <a:r>
              <a:rPr sz="700" b="1" i="0">
                <a:solidFill>
                  <a:srgbClr val="FFFFFF"/>
                </a:solidFill>
                <a:latin typeface="Calibri"/>
              </a:rPr>
              <a:t>L</a:t>
            </a:r>
          </a:p>
        </p:txBody>
      </p:sp>
      <p:sp>
        <p:nvSpPr>
          <p:cNvPr id="219" name="Rounded Rectangle 218"/>
          <p:cNvSpPr/>
          <p:nvPr/>
        </p:nvSpPr>
        <p:spPr>
          <a:xfrm>
            <a:off x="6007607" y="4311396"/>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TextBox 219"/>
          <p:cNvSpPr txBox="1"/>
          <p:nvPr/>
        </p:nvSpPr>
        <p:spPr>
          <a:xfrm>
            <a:off x="6007607" y="4320540"/>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221" name="Rounded Rectangle 220"/>
          <p:cNvSpPr/>
          <p:nvPr/>
        </p:nvSpPr>
        <p:spPr>
          <a:xfrm>
            <a:off x="6967727" y="4311396"/>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TextBox 221"/>
          <p:cNvSpPr txBox="1"/>
          <p:nvPr/>
        </p:nvSpPr>
        <p:spPr>
          <a:xfrm>
            <a:off x="6967727" y="4320540"/>
            <a:ext cx="822960" cy="132588"/>
          </a:xfrm>
          <a:prstGeom prst="rect">
            <a:avLst/>
          </a:prstGeom>
          <a:noFill/>
        </p:spPr>
        <p:txBody>
          <a:bodyPr wrap="square">
            <a:spAutoFit/>
          </a:bodyPr>
          <a:lstStyle/>
          <a:p>
            <a:pPr algn="ctr"/>
            <a:r>
              <a:rPr sz="700" b="1" i="0">
                <a:solidFill>
                  <a:srgbClr val="FFFFFF"/>
                </a:solidFill>
                <a:latin typeface="Calibri"/>
              </a:rPr>
              <a:t>L</a:t>
            </a:r>
          </a:p>
        </p:txBody>
      </p:sp>
      <p:sp>
        <p:nvSpPr>
          <p:cNvPr id="223" name="Rounded Rectangle 222"/>
          <p:cNvSpPr/>
          <p:nvPr/>
        </p:nvSpPr>
        <p:spPr>
          <a:xfrm>
            <a:off x="7927848" y="4311396"/>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TextBox 223"/>
          <p:cNvSpPr txBox="1"/>
          <p:nvPr/>
        </p:nvSpPr>
        <p:spPr>
          <a:xfrm>
            <a:off x="7927848" y="4320540"/>
            <a:ext cx="822960" cy="132588"/>
          </a:xfrm>
          <a:prstGeom prst="rect">
            <a:avLst/>
          </a:prstGeom>
          <a:noFill/>
        </p:spPr>
        <p:txBody>
          <a:bodyPr wrap="square">
            <a:spAutoFit/>
          </a:bodyPr>
          <a:lstStyle/>
          <a:p>
            <a:pPr algn="ctr"/>
            <a:r>
              <a:rPr sz="700" b="1" i="0">
                <a:solidFill>
                  <a:srgbClr val="FFFFFF"/>
                </a:solidFill>
                <a:latin typeface="Calibri"/>
              </a:rPr>
              <a:t>2</a:t>
            </a:r>
          </a:p>
        </p:txBody>
      </p:sp>
      <p:sp>
        <p:nvSpPr>
          <p:cNvPr id="225" name="Rounded Rectangle 224"/>
          <p:cNvSpPr/>
          <p:nvPr/>
        </p:nvSpPr>
        <p:spPr>
          <a:xfrm>
            <a:off x="8887968" y="4311396"/>
            <a:ext cx="91440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TextBox 225"/>
          <p:cNvSpPr txBox="1"/>
          <p:nvPr/>
        </p:nvSpPr>
        <p:spPr>
          <a:xfrm>
            <a:off x="8887968" y="4320540"/>
            <a:ext cx="914400" cy="132588"/>
          </a:xfrm>
          <a:prstGeom prst="rect">
            <a:avLst/>
          </a:prstGeom>
          <a:noFill/>
        </p:spPr>
        <p:txBody>
          <a:bodyPr wrap="square">
            <a:spAutoFit/>
          </a:bodyPr>
          <a:lstStyle/>
          <a:p>
            <a:pPr algn="ctr"/>
            <a:r>
              <a:rPr sz="650" b="1" i="0">
                <a:solidFill>
                  <a:srgbClr val="FFFFFF"/>
                </a:solidFill>
                <a:latin typeface="Calibri"/>
              </a:rPr>
              <a:t>Scale</a:t>
            </a:r>
          </a:p>
        </p:txBody>
      </p:sp>
      <p:sp>
        <p:nvSpPr>
          <p:cNvPr id="227" name="TextBox 226"/>
          <p:cNvSpPr txBox="1"/>
          <p:nvPr/>
        </p:nvSpPr>
        <p:spPr>
          <a:xfrm>
            <a:off x="9966960" y="4320540"/>
            <a:ext cx="1371600" cy="160020"/>
          </a:xfrm>
          <a:prstGeom prst="rect">
            <a:avLst/>
          </a:prstGeom>
          <a:noFill/>
        </p:spPr>
        <p:txBody>
          <a:bodyPr wrap="square">
            <a:spAutoFit/>
          </a:bodyPr>
          <a:lstStyle/>
          <a:p>
            <a:pPr algn="l"/>
            <a:r>
              <a:rPr sz="700" b="1" i="0">
                <a:solidFill>
                  <a:srgbClr val="D47F00"/>
                </a:solidFill>
                <a:latin typeface="Calibri"/>
              </a:rPr>
              <a:t>Schedule</a:t>
            </a:r>
          </a:p>
        </p:txBody>
      </p:sp>
      <p:sp>
        <p:nvSpPr>
          <p:cNvPr id="228" name="Rectangle 227"/>
          <p:cNvSpPr/>
          <p:nvPr/>
        </p:nvSpPr>
        <p:spPr>
          <a:xfrm>
            <a:off x="182880" y="4507992"/>
            <a:ext cx="11887200" cy="224028"/>
          </a:xfrm>
          <a:prstGeom prst="rect">
            <a:avLst/>
          </a:prstGeom>
          <a:solidFill>
            <a:srgbClr val="FF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Rectangle 228"/>
          <p:cNvSpPr/>
          <p:nvPr/>
        </p:nvSpPr>
        <p:spPr>
          <a:xfrm>
            <a:off x="182880" y="4507992"/>
            <a:ext cx="32004" cy="224028"/>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TextBox 229"/>
          <p:cNvSpPr txBox="1"/>
          <p:nvPr/>
        </p:nvSpPr>
        <p:spPr>
          <a:xfrm>
            <a:off x="228600" y="4544568"/>
            <a:ext cx="3383280" cy="160020"/>
          </a:xfrm>
          <a:prstGeom prst="rect">
            <a:avLst/>
          </a:prstGeom>
          <a:noFill/>
        </p:spPr>
        <p:txBody>
          <a:bodyPr wrap="square">
            <a:spAutoFit/>
          </a:bodyPr>
          <a:lstStyle/>
          <a:p>
            <a:pPr algn="l"/>
            <a:r>
              <a:rPr sz="750" b="1" i="0">
                <a:solidFill>
                  <a:srgbClr val="0D1B3E"/>
                </a:solidFill>
                <a:latin typeface="Calibri"/>
              </a:rPr>
              <a:t>Sprint Planner Agent</a:t>
            </a:r>
          </a:p>
        </p:txBody>
      </p:sp>
      <p:sp>
        <p:nvSpPr>
          <p:cNvPr id="231" name="TextBox 230"/>
          <p:cNvSpPr txBox="1"/>
          <p:nvPr/>
        </p:nvSpPr>
        <p:spPr>
          <a:xfrm>
            <a:off x="3630168" y="4544568"/>
            <a:ext cx="1371600" cy="160020"/>
          </a:xfrm>
          <a:prstGeom prst="rect">
            <a:avLst/>
          </a:prstGeom>
          <a:noFill/>
        </p:spPr>
        <p:txBody>
          <a:bodyPr wrap="square">
            <a:spAutoFit/>
          </a:bodyPr>
          <a:lstStyle/>
          <a:p>
            <a:pPr algn="l"/>
            <a:r>
              <a:rPr sz="650" b="0" i="0">
                <a:solidFill>
                  <a:srgbClr val="5D6D7E"/>
                </a:solidFill>
                <a:latin typeface="Calibri"/>
              </a:rPr>
              <a:t>Estimation &amp; Plann</a:t>
            </a:r>
          </a:p>
        </p:txBody>
      </p:sp>
      <p:sp>
        <p:nvSpPr>
          <p:cNvPr id="232" name="Rounded Rectangle 231"/>
          <p:cNvSpPr/>
          <p:nvPr/>
        </p:nvSpPr>
        <p:spPr>
          <a:xfrm>
            <a:off x="5047488" y="4544568"/>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TextBox 232"/>
          <p:cNvSpPr txBox="1"/>
          <p:nvPr/>
        </p:nvSpPr>
        <p:spPr>
          <a:xfrm>
            <a:off x="5047488" y="4553712"/>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234" name="Rounded Rectangle 233"/>
          <p:cNvSpPr/>
          <p:nvPr/>
        </p:nvSpPr>
        <p:spPr>
          <a:xfrm>
            <a:off x="6007607" y="4544568"/>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TextBox 234"/>
          <p:cNvSpPr txBox="1"/>
          <p:nvPr/>
        </p:nvSpPr>
        <p:spPr>
          <a:xfrm>
            <a:off x="6007607" y="4553712"/>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236" name="Rounded Rectangle 235"/>
          <p:cNvSpPr/>
          <p:nvPr/>
        </p:nvSpPr>
        <p:spPr>
          <a:xfrm>
            <a:off x="6967727" y="4544568"/>
            <a:ext cx="822960" cy="150876"/>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TextBox 236"/>
          <p:cNvSpPr txBox="1"/>
          <p:nvPr/>
        </p:nvSpPr>
        <p:spPr>
          <a:xfrm>
            <a:off x="6967727" y="4553712"/>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238" name="Rounded Rectangle 237"/>
          <p:cNvSpPr/>
          <p:nvPr/>
        </p:nvSpPr>
        <p:spPr>
          <a:xfrm>
            <a:off x="7927848" y="4544568"/>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TextBox 238"/>
          <p:cNvSpPr txBox="1"/>
          <p:nvPr/>
        </p:nvSpPr>
        <p:spPr>
          <a:xfrm>
            <a:off x="7927848" y="4553712"/>
            <a:ext cx="822960" cy="132588"/>
          </a:xfrm>
          <a:prstGeom prst="rect">
            <a:avLst/>
          </a:prstGeom>
          <a:noFill/>
        </p:spPr>
        <p:txBody>
          <a:bodyPr wrap="square">
            <a:spAutoFit/>
          </a:bodyPr>
          <a:lstStyle/>
          <a:p>
            <a:pPr algn="ctr"/>
            <a:r>
              <a:rPr sz="700" b="1" i="0">
                <a:solidFill>
                  <a:srgbClr val="FFFFFF"/>
                </a:solidFill>
                <a:latin typeface="Calibri"/>
              </a:rPr>
              <a:t>2</a:t>
            </a:r>
          </a:p>
        </p:txBody>
      </p:sp>
      <p:sp>
        <p:nvSpPr>
          <p:cNvPr id="240" name="Rounded Rectangle 239"/>
          <p:cNvSpPr/>
          <p:nvPr/>
        </p:nvSpPr>
        <p:spPr>
          <a:xfrm>
            <a:off x="8887968" y="4544568"/>
            <a:ext cx="91440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TextBox 240"/>
          <p:cNvSpPr txBox="1"/>
          <p:nvPr/>
        </p:nvSpPr>
        <p:spPr>
          <a:xfrm>
            <a:off x="8887968" y="4553712"/>
            <a:ext cx="914400" cy="132588"/>
          </a:xfrm>
          <a:prstGeom prst="rect">
            <a:avLst/>
          </a:prstGeom>
          <a:noFill/>
        </p:spPr>
        <p:txBody>
          <a:bodyPr wrap="square">
            <a:spAutoFit/>
          </a:bodyPr>
          <a:lstStyle/>
          <a:p>
            <a:pPr algn="ctr"/>
            <a:r>
              <a:rPr sz="650" b="1" i="0">
                <a:solidFill>
                  <a:srgbClr val="FFFFFF"/>
                </a:solidFill>
                <a:latin typeface="Calibri"/>
              </a:rPr>
              <a:t>Scale</a:t>
            </a:r>
          </a:p>
        </p:txBody>
      </p:sp>
      <p:sp>
        <p:nvSpPr>
          <p:cNvPr id="242" name="TextBox 241"/>
          <p:cNvSpPr txBox="1"/>
          <p:nvPr/>
        </p:nvSpPr>
        <p:spPr>
          <a:xfrm>
            <a:off x="9966960" y="4553712"/>
            <a:ext cx="1371600" cy="160020"/>
          </a:xfrm>
          <a:prstGeom prst="rect">
            <a:avLst/>
          </a:prstGeom>
          <a:noFill/>
        </p:spPr>
        <p:txBody>
          <a:bodyPr wrap="square">
            <a:spAutoFit/>
          </a:bodyPr>
          <a:lstStyle/>
          <a:p>
            <a:pPr algn="l"/>
            <a:r>
              <a:rPr sz="700" b="1" i="0">
                <a:solidFill>
                  <a:srgbClr val="D47F00"/>
                </a:solidFill>
                <a:latin typeface="Calibri"/>
              </a:rPr>
              <a:t>Schedule</a:t>
            </a:r>
          </a:p>
        </p:txBody>
      </p:sp>
      <p:sp>
        <p:nvSpPr>
          <p:cNvPr id="243" name="Rectangle 242"/>
          <p:cNvSpPr/>
          <p:nvPr/>
        </p:nvSpPr>
        <p:spPr>
          <a:xfrm>
            <a:off x="182880" y="4741164"/>
            <a:ext cx="11887200" cy="224028"/>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Rectangle 243"/>
          <p:cNvSpPr/>
          <p:nvPr/>
        </p:nvSpPr>
        <p:spPr>
          <a:xfrm>
            <a:off x="182880" y="4741164"/>
            <a:ext cx="32004" cy="224028"/>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TextBox 244"/>
          <p:cNvSpPr txBox="1"/>
          <p:nvPr/>
        </p:nvSpPr>
        <p:spPr>
          <a:xfrm>
            <a:off x="228600" y="4777740"/>
            <a:ext cx="3383280" cy="160020"/>
          </a:xfrm>
          <a:prstGeom prst="rect">
            <a:avLst/>
          </a:prstGeom>
          <a:noFill/>
        </p:spPr>
        <p:txBody>
          <a:bodyPr wrap="square">
            <a:spAutoFit/>
          </a:bodyPr>
          <a:lstStyle/>
          <a:p>
            <a:pPr algn="l"/>
            <a:r>
              <a:rPr sz="750" b="1" i="0">
                <a:solidFill>
                  <a:srgbClr val="0D1B3E"/>
                </a:solidFill>
                <a:latin typeface="Calibri"/>
              </a:rPr>
              <a:t>Dependency Mapper Agent</a:t>
            </a:r>
          </a:p>
        </p:txBody>
      </p:sp>
      <p:sp>
        <p:nvSpPr>
          <p:cNvPr id="246" name="TextBox 245"/>
          <p:cNvSpPr txBox="1"/>
          <p:nvPr/>
        </p:nvSpPr>
        <p:spPr>
          <a:xfrm>
            <a:off x="3630168" y="4777740"/>
            <a:ext cx="1371600" cy="160020"/>
          </a:xfrm>
          <a:prstGeom prst="rect">
            <a:avLst/>
          </a:prstGeom>
          <a:noFill/>
        </p:spPr>
        <p:txBody>
          <a:bodyPr wrap="square">
            <a:spAutoFit/>
          </a:bodyPr>
          <a:lstStyle/>
          <a:p>
            <a:pPr algn="l"/>
            <a:r>
              <a:rPr sz="650" b="0" i="0">
                <a:solidFill>
                  <a:srgbClr val="5D6D7E"/>
                </a:solidFill>
                <a:latin typeface="Calibri"/>
              </a:rPr>
              <a:t>Estimation &amp; Plann</a:t>
            </a:r>
          </a:p>
        </p:txBody>
      </p:sp>
      <p:sp>
        <p:nvSpPr>
          <p:cNvPr id="247" name="Rounded Rectangle 246"/>
          <p:cNvSpPr/>
          <p:nvPr/>
        </p:nvSpPr>
        <p:spPr>
          <a:xfrm>
            <a:off x="5047488" y="4777740"/>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TextBox 247"/>
          <p:cNvSpPr txBox="1"/>
          <p:nvPr/>
        </p:nvSpPr>
        <p:spPr>
          <a:xfrm>
            <a:off x="5047488" y="4786884"/>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249" name="Rounded Rectangle 248"/>
          <p:cNvSpPr/>
          <p:nvPr/>
        </p:nvSpPr>
        <p:spPr>
          <a:xfrm>
            <a:off x="6007607" y="4777740"/>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TextBox 249"/>
          <p:cNvSpPr txBox="1"/>
          <p:nvPr/>
        </p:nvSpPr>
        <p:spPr>
          <a:xfrm>
            <a:off x="6007607" y="4786884"/>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251" name="Rounded Rectangle 250"/>
          <p:cNvSpPr/>
          <p:nvPr/>
        </p:nvSpPr>
        <p:spPr>
          <a:xfrm>
            <a:off x="6967727" y="4777740"/>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TextBox 251"/>
          <p:cNvSpPr txBox="1"/>
          <p:nvPr/>
        </p:nvSpPr>
        <p:spPr>
          <a:xfrm>
            <a:off x="6967727" y="4786884"/>
            <a:ext cx="822960" cy="132588"/>
          </a:xfrm>
          <a:prstGeom prst="rect">
            <a:avLst/>
          </a:prstGeom>
          <a:noFill/>
        </p:spPr>
        <p:txBody>
          <a:bodyPr wrap="square">
            <a:spAutoFit/>
          </a:bodyPr>
          <a:lstStyle/>
          <a:p>
            <a:pPr algn="ctr"/>
            <a:r>
              <a:rPr sz="700" b="1" i="0">
                <a:solidFill>
                  <a:srgbClr val="FFFFFF"/>
                </a:solidFill>
                <a:latin typeface="Calibri"/>
              </a:rPr>
              <a:t>L</a:t>
            </a:r>
          </a:p>
        </p:txBody>
      </p:sp>
      <p:sp>
        <p:nvSpPr>
          <p:cNvPr id="253" name="Rounded Rectangle 252"/>
          <p:cNvSpPr/>
          <p:nvPr/>
        </p:nvSpPr>
        <p:spPr>
          <a:xfrm>
            <a:off x="7927848" y="4777740"/>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TextBox 253"/>
          <p:cNvSpPr txBox="1"/>
          <p:nvPr/>
        </p:nvSpPr>
        <p:spPr>
          <a:xfrm>
            <a:off x="7927848" y="4786884"/>
            <a:ext cx="822960" cy="132588"/>
          </a:xfrm>
          <a:prstGeom prst="rect">
            <a:avLst/>
          </a:prstGeom>
          <a:noFill/>
        </p:spPr>
        <p:txBody>
          <a:bodyPr wrap="square">
            <a:spAutoFit/>
          </a:bodyPr>
          <a:lstStyle/>
          <a:p>
            <a:pPr algn="ctr"/>
            <a:r>
              <a:rPr sz="700" b="1" i="0">
                <a:solidFill>
                  <a:srgbClr val="FFFFFF"/>
                </a:solidFill>
                <a:latin typeface="Calibri"/>
              </a:rPr>
              <a:t>2</a:t>
            </a:r>
          </a:p>
        </p:txBody>
      </p:sp>
      <p:sp>
        <p:nvSpPr>
          <p:cNvPr id="255" name="Rounded Rectangle 254"/>
          <p:cNvSpPr/>
          <p:nvPr/>
        </p:nvSpPr>
        <p:spPr>
          <a:xfrm>
            <a:off x="8887968" y="4777740"/>
            <a:ext cx="91440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TextBox 255"/>
          <p:cNvSpPr txBox="1"/>
          <p:nvPr/>
        </p:nvSpPr>
        <p:spPr>
          <a:xfrm>
            <a:off x="8887968" y="4786884"/>
            <a:ext cx="914400" cy="132588"/>
          </a:xfrm>
          <a:prstGeom prst="rect">
            <a:avLst/>
          </a:prstGeom>
          <a:noFill/>
        </p:spPr>
        <p:txBody>
          <a:bodyPr wrap="square">
            <a:spAutoFit/>
          </a:bodyPr>
          <a:lstStyle/>
          <a:p>
            <a:pPr algn="ctr"/>
            <a:r>
              <a:rPr sz="650" b="1" i="0">
                <a:solidFill>
                  <a:srgbClr val="FFFFFF"/>
                </a:solidFill>
                <a:latin typeface="Calibri"/>
              </a:rPr>
              <a:t>Scale</a:t>
            </a:r>
          </a:p>
        </p:txBody>
      </p:sp>
      <p:sp>
        <p:nvSpPr>
          <p:cNvPr id="257" name="TextBox 256"/>
          <p:cNvSpPr txBox="1"/>
          <p:nvPr/>
        </p:nvSpPr>
        <p:spPr>
          <a:xfrm>
            <a:off x="9966960" y="4786884"/>
            <a:ext cx="1371600" cy="160020"/>
          </a:xfrm>
          <a:prstGeom prst="rect">
            <a:avLst/>
          </a:prstGeom>
          <a:noFill/>
        </p:spPr>
        <p:txBody>
          <a:bodyPr wrap="square">
            <a:spAutoFit/>
          </a:bodyPr>
          <a:lstStyle/>
          <a:p>
            <a:pPr algn="l"/>
            <a:r>
              <a:rPr sz="700" b="1" i="0">
                <a:solidFill>
                  <a:srgbClr val="D47F00"/>
                </a:solidFill>
                <a:latin typeface="Calibri"/>
              </a:rPr>
              <a:t>Schedule</a:t>
            </a:r>
          </a:p>
        </p:txBody>
      </p:sp>
      <p:sp>
        <p:nvSpPr>
          <p:cNvPr id="258" name="Rectangle 257"/>
          <p:cNvSpPr/>
          <p:nvPr/>
        </p:nvSpPr>
        <p:spPr>
          <a:xfrm>
            <a:off x="182880" y="4974336"/>
            <a:ext cx="11887200" cy="224028"/>
          </a:xfrm>
          <a:prstGeom prst="rect">
            <a:avLst/>
          </a:prstGeom>
          <a:solidFill>
            <a:srgbClr val="EF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Rectangle 258"/>
          <p:cNvSpPr/>
          <p:nvPr/>
        </p:nvSpPr>
        <p:spPr>
          <a:xfrm>
            <a:off x="182880" y="4974336"/>
            <a:ext cx="32004" cy="224028"/>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TextBox 259"/>
          <p:cNvSpPr txBox="1"/>
          <p:nvPr/>
        </p:nvSpPr>
        <p:spPr>
          <a:xfrm>
            <a:off x="228600" y="5010912"/>
            <a:ext cx="3383280" cy="160020"/>
          </a:xfrm>
          <a:prstGeom prst="rect">
            <a:avLst/>
          </a:prstGeom>
          <a:noFill/>
        </p:spPr>
        <p:txBody>
          <a:bodyPr wrap="square">
            <a:spAutoFit/>
          </a:bodyPr>
          <a:lstStyle/>
          <a:p>
            <a:pPr algn="l"/>
            <a:r>
              <a:rPr sz="750" b="1" i="0">
                <a:solidFill>
                  <a:srgbClr val="0D1B3E"/>
                </a:solidFill>
                <a:latin typeface="Calibri"/>
              </a:rPr>
              <a:t>Architecture Advisor Agent</a:t>
            </a:r>
          </a:p>
        </p:txBody>
      </p:sp>
      <p:sp>
        <p:nvSpPr>
          <p:cNvPr id="261" name="TextBox 260"/>
          <p:cNvSpPr txBox="1"/>
          <p:nvPr/>
        </p:nvSpPr>
        <p:spPr>
          <a:xfrm>
            <a:off x="3630168" y="5010912"/>
            <a:ext cx="1371600" cy="160020"/>
          </a:xfrm>
          <a:prstGeom prst="rect">
            <a:avLst/>
          </a:prstGeom>
          <a:noFill/>
        </p:spPr>
        <p:txBody>
          <a:bodyPr wrap="square">
            <a:spAutoFit/>
          </a:bodyPr>
          <a:lstStyle/>
          <a:p>
            <a:pPr algn="l"/>
            <a:r>
              <a:rPr sz="650" b="0" i="0">
                <a:solidFill>
                  <a:srgbClr val="5D6D7E"/>
                </a:solidFill>
                <a:latin typeface="Calibri"/>
              </a:rPr>
              <a:t>Architecture &amp; Des</a:t>
            </a:r>
          </a:p>
        </p:txBody>
      </p:sp>
      <p:sp>
        <p:nvSpPr>
          <p:cNvPr id="262" name="Rounded Rectangle 261"/>
          <p:cNvSpPr/>
          <p:nvPr/>
        </p:nvSpPr>
        <p:spPr>
          <a:xfrm>
            <a:off x="5047488" y="5010912"/>
            <a:ext cx="822960" cy="150876"/>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TextBox 262"/>
          <p:cNvSpPr txBox="1"/>
          <p:nvPr/>
        </p:nvSpPr>
        <p:spPr>
          <a:xfrm>
            <a:off x="5047488" y="5020055"/>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264" name="Rounded Rectangle 263"/>
          <p:cNvSpPr/>
          <p:nvPr/>
        </p:nvSpPr>
        <p:spPr>
          <a:xfrm>
            <a:off x="6007607" y="5010912"/>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264"/>
          <p:cNvSpPr txBox="1"/>
          <p:nvPr/>
        </p:nvSpPr>
        <p:spPr>
          <a:xfrm>
            <a:off x="6007607" y="5020055"/>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266" name="Rounded Rectangle 265"/>
          <p:cNvSpPr/>
          <p:nvPr/>
        </p:nvSpPr>
        <p:spPr>
          <a:xfrm>
            <a:off x="6967727" y="5010912"/>
            <a:ext cx="822960" cy="150876"/>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TextBox 266"/>
          <p:cNvSpPr txBox="1"/>
          <p:nvPr/>
        </p:nvSpPr>
        <p:spPr>
          <a:xfrm>
            <a:off x="6967727" y="5020055"/>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268" name="Rounded Rectangle 267"/>
          <p:cNvSpPr/>
          <p:nvPr/>
        </p:nvSpPr>
        <p:spPr>
          <a:xfrm>
            <a:off x="7927848" y="5010912"/>
            <a:ext cx="822960" cy="150876"/>
          </a:xfrm>
          <a:prstGeom prst="roundRect">
            <a:avLst>
              <a:gd name="adj" fmla="val 2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268"/>
          <p:cNvSpPr txBox="1"/>
          <p:nvPr/>
        </p:nvSpPr>
        <p:spPr>
          <a:xfrm>
            <a:off x="7927848" y="5020055"/>
            <a:ext cx="822960" cy="132588"/>
          </a:xfrm>
          <a:prstGeom prst="rect">
            <a:avLst/>
          </a:prstGeom>
          <a:noFill/>
        </p:spPr>
        <p:txBody>
          <a:bodyPr wrap="square">
            <a:spAutoFit/>
          </a:bodyPr>
          <a:lstStyle/>
          <a:p>
            <a:pPr algn="ctr"/>
            <a:r>
              <a:rPr sz="700" b="1" i="0">
                <a:solidFill>
                  <a:srgbClr val="FFFFFF"/>
                </a:solidFill>
                <a:latin typeface="Calibri"/>
              </a:rPr>
              <a:t>3</a:t>
            </a:r>
          </a:p>
        </p:txBody>
      </p:sp>
      <p:sp>
        <p:nvSpPr>
          <p:cNvPr id="270" name="Rounded Rectangle 269"/>
          <p:cNvSpPr/>
          <p:nvPr/>
        </p:nvSpPr>
        <p:spPr>
          <a:xfrm>
            <a:off x="8887968" y="5010912"/>
            <a:ext cx="914400" cy="150876"/>
          </a:xfrm>
          <a:prstGeom prst="roundRect">
            <a:avLst>
              <a:gd name="adj" fmla="val 2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TextBox 270"/>
          <p:cNvSpPr txBox="1"/>
          <p:nvPr/>
        </p:nvSpPr>
        <p:spPr>
          <a:xfrm>
            <a:off x="8887968" y="5020055"/>
            <a:ext cx="914400" cy="132588"/>
          </a:xfrm>
          <a:prstGeom prst="rect">
            <a:avLst/>
          </a:prstGeom>
          <a:noFill/>
        </p:spPr>
        <p:txBody>
          <a:bodyPr wrap="square">
            <a:spAutoFit/>
          </a:bodyPr>
          <a:lstStyle/>
          <a:p>
            <a:pPr algn="ctr"/>
            <a:r>
              <a:rPr sz="650" b="1" i="0">
                <a:solidFill>
                  <a:srgbClr val="FFFFFF"/>
                </a:solidFill>
                <a:latin typeface="Calibri"/>
              </a:rPr>
              <a:t>Transform</a:t>
            </a:r>
          </a:p>
        </p:txBody>
      </p:sp>
      <p:sp>
        <p:nvSpPr>
          <p:cNvPr id="272" name="TextBox 271"/>
          <p:cNvSpPr txBox="1"/>
          <p:nvPr/>
        </p:nvSpPr>
        <p:spPr>
          <a:xfrm>
            <a:off x="9966960" y="5020055"/>
            <a:ext cx="1371600" cy="160020"/>
          </a:xfrm>
          <a:prstGeom prst="rect">
            <a:avLst/>
          </a:prstGeom>
          <a:noFill/>
        </p:spPr>
        <p:txBody>
          <a:bodyPr wrap="square">
            <a:spAutoFit/>
          </a:bodyPr>
          <a:lstStyle/>
          <a:p>
            <a:pPr algn="l"/>
            <a:r>
              <a:rPr sz="700" b="1" i="0">
                <a:solidFill>
                  <a:srgbClr val="007ABF"/>
                </a:solidFill>
                <a:latin typeface="Calibri"/>
              </a:rPr>
              <a:t>Plan Carefully</a:t>
            </a:r>
          </a:p>
        </p:txBody>
      </p:sp>
      <p:sp>
        <p:nvSpPr>
          <p:cNvPr id="273" name="Rectangle 272"/>
          <p:cNvSpPr/>
          <p:nvPr/>
        </p:nvSpPr>
        <p:spPr>
          <a:xfrm>
            <a:off x="182880" y="5207508"/>
            <a:ext cx="11887200" cy="224028"/>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Rectangle 273"/>
          <p:cNvSpPr/>
          <p:nvPr/>
        </p:nvSpPr>
        <p:spPr>
          <a:xfrm>
            <a:off x="182880" y="5207508"/>
            <a:ext cx="32004" cy="224028"/>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TextBox 274"/>
          <p:cNvSpPr txBox="1"/>
          <p:nvPr/>
        </p:nvSpPr>
        <p:spPr>
          <a:xfrm>
            <a:off x="228600" y="5244084"/>
            <a:ext cx="3383280" cy="160020"/>
          </a:xfrm>
          <a:prstGeom prst="rect">
            <a:avLst/>
          </a:prstGeom>
          <a:noFill/>
        </p:spPr>
        <p:txBody>
          <a:bodyPr wrap="square">
            <a:spAutoFit/>
          </a:bodyPr>
          <a:lstStyle/>
          <a:p>
            <a:pPr algn="l"/>
            <a:r>
              <a:rPr sz="750" b="1" i="0">
                <a:solidFill>
                  <a:srgbClr val="0D1B3E"/>
                </a:solidFill>
                <a:latin typeface="Calibri"/>
              </a:rPr>
              <a:t>Code Generation Agent</a:t>
            </a:r>
          </a:p>
        </p:txBody>
      </p:sp>
      <p:sp>
        <p:nvSpPr>
          <p:cNvPr id="276" name="TextBox 275"/>
          <p:cNvSpPr txBox="1"/>
          <p:nvPr/>
        </p:nvSpPr>
        <p:spPr>
          <a:xfrm>
            <a:off x="3630168" y="5244084"/>
            <a:ext cx="1371600" cy="160020"/>
          </a:xfrm>
          <a:prstGeom prst="rect">
            <a:avLst/>
          </a:prstGeom>
          <a:noFill/>
        </p:spPr>
        <p:txBody>
          <a:bodyPr wrap="square">
            <a:spAutoFit/>
          </a:bodyPr>
          <a:lstStyle/>
          <a:p>
            <a:pPr algn="l"/>
            <a:r>
              <a:rPr sz="650" b="0" i="0">
                <a:solidFill>
                  <a:srgbClr val="5D6D7E"/>
                </a:solidFill>
                <a:latin typeface="Calibri"/>
              </a:rPr>
              <a:t>Development &amp; Codi</a:t>
            </a:r>
          </a:p>
        </p:txBody>
      </p:sp>
      <p:sp>
        <p:nvSpPr>
          <p:cNvPr id="277" name="Rounded Rectangle 276"/>
          <p:cNvSpPr/>
          <p:nvPr/>
        </p:nvSpPr>
        <p:spPr>
          <a:xfrm>
            <a:off x="5047488" y="5244084"/>
            <a:ext cx="822960" cy="150876"/>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TextBox 277"/>
          <p:cNvSpPr txBox="1"/>
          <p:nvPr/>
        </p:nvSpPr>
        <p:spPr>
          <a:xfrm>
            <a:off x="5047488" y="5253228"/>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279" name="Rounded Rectangle 278"/>
          <p:cNvSpPr/>
          <p:nvPr/>
        </p:nvSpPr>
        <p:spPr>
          <a:xfrm>
            <a:off x="6007607" y="5244084"/>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TextBox 279"/>
          <p:cNvSpPr txBox="1"/>
          <p:nvPr/>
        </p:nvSpPr>
        <p:spPr>
          <a:xfrm>
            <a:off x="6007607" y="5253228"/>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281" name="Rounded Rectangle 280"/>
          <p:cNvSpPr/>
          <p:nvPr/>
        </p:nvSpPr>
        <p:spPr>
          <a:xfrm>
            <a:off x="6967727" y="5244084"/>
            <a:ext cx="822960" cy="150876"/>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TextBox 281"/>
          <p:cNvSpPr txBox="1"/>
          <p:nvPr/>
        </p:nvSpPr>
        <p:spPr>
          <a:xfrm>
            <a:off x="6967727" y="5253228"/>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283" name="Rounded Rectangle 282"/>
          <p:cNvSpPr/>
          <p:nvPr/>
        </p:nvSpPr>
        <p:spPr>
          <a:xfrm>
            <a:off x="7927848" y="5244084"/>
            <a:ext cx="822960" cy="150876"/>
          </a:xfrm>
          <a:prstGeom prst="roundRect">
            <a:avLst>
              <a:gd name="adj" fmla="val 2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TextBox 283"/>
          <p:cNvSpPr txBox="1"/>
          <p:nvPr/>
        </p:nvSpPr>
        <p:spPr>
          <a:xfrm>
            <a:off x="7927848" y="5253228"/>
            <a:ext cx="822960" cy="132588"/>
          </a:xfrm>
          <a:prstGeom prst="rect">
            <a:avLst/>
          </a:prstGeom>
          <a:noFill/>
        </p:spPr>
        <p:txBody>
          <a:bodyPr wrap="square">
            <a:spAutoFit/>
          </a:bodyPr>
          <a:lstStyle/>
          <a:p>
            <a:pPr algn="ctr"/>
            <a:r>
              <a:rPr sz="700" b="1" i="0">
                <a:solidFill>
                  <a:srgbClr val="FFFFFF"/>
                </a:solidFill>
                <a:latin typeface="Calibri"/>
              </a:rPr>
              <a:t>3</a:t>
            </a:r>
          </a:p>
        </p:txBody>
      </p:sp>
      <p:sp>
        <p:nvSpPr>
          <p:cNvPr id="285" name="Rounded Rectangle 284"/>
          <p:cNvSpPr/>
          <p:nvPr/>
        </p:nvSpPr>
        <p:spPr>
          <a:xfrm>
            <a:off x="8887968" y="5244084"/>
            <a:ext cx="914400" cy="150876"/>
          </a:xfrm>
          <a:prstGeom prst="roundRect">
            <a:avLst>
              <a:gd name="adj" fmla="val 2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TextBox 285"/>
          <p:cNvSpPr txBox="1"/>
          <p:nvPr/>
        </p:nvSpPr>
        <p:spPr>
          <a:xfrm>
            <a:off x="8887968" y="5253228"/>
            <a:ext cx="914400" cy="132588"/>
          </a:xfrm>
          <a:prstGeom prst="rect">
            <a:avLst/>
          </a:prstGeom>
          <a:noFill/>
        </p:spPr>
        <p:txBody>
          <a:bodyPr wrap="square">
            <a:spAutoFit/>
          </a:bodyPr>
          <a:lstStyle/>
          <a:p>
            <a:pPr algn="ctr"/>
            <a:r>
              <a:rPr sz="650" b="1" i="0">
                <a:solidFill>
                  <a:srgbClr val="FFFFFF"/>
                </a:solidFill>
                <a:latin typeface="Calibri"/>
              </a:rPr>
              <a:t>Transform</a:t>
            </a:r>
          </a:p>
        </p:txBody>
      </p:sp>
      <p:sp>
        <p:nvSpPr>
          <p:cNvPr id="287" name="TextBox 286"/>
          <p:cNvSpPr txBox="1"/>
          <p:nvPr/>
        </p:nvSpPr>
        <p:spPr>
          <a:xfrm>
            <a:off x="9966960" y="5253228"/>
            <a:ext cx="1371600" cy="160020"/>
          </a:xfrm>
          <a:prstGeom prst="rect">
            <a:avLst/>
          </a:prstGeom>
          <a:noFill/>
        </p:spPr>
        <p:txBody>
          <a:bodyPr wrap="square">
            <a:spAutoFit/>
          </a:bodyPr>
          <a:lstStyle/>
          <a:p>
            <a:pPr algn="l"/>
            <a:r>
              <a:rPr sz="700" b="1" i="0">
                <a:solidFill>
                  <a:srgbClr val="007ABF"/>
                </a:solidFill>
                <a:latin typeface="Calibri"/>
              </a:rPr>
              <a:t>Plan Carefully</a:t>
            </a:r>
          </a:p>
        </p:txBody>
      </p:sp>
      <p:sp>
        <p:nvSpPr>
          <p:cNvPr id="288" name="Rectangle 287"/>
          <p:cNvSpPr/>
          <p:nvPr/>
        </p:nvSpPr>
        <p:spPr>
          <a:xfrm>
            <a:off x="182880" y="5440679"/>
            <a:ext cx="11887200" cy="224028"/>
          </a:xfrm>
          <a:prstGeom prst="rect">
            <a:avLst/>
          </a:prstGeom>
          <a:solidFill>
            <a:srgbClr val="EF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Rectangle 288"/>
          <p:cNvSpPr/>
          <p:nvPr/>
        </p:nvSpPr>
        <p:spPr>
          <a:xfrm>
            <a:off x="182880" y="5440679"/>
            <a:ext cx="32004" cy="224028"/>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TextBox 289"/>
          <p:cNvSpPr txBox="1"/>
          <p:nvPr/>
        </p:nvSpPr>
        <p:spPr>
          <a:xfrm>
            <a:off x="228600" y="5477255"/>
            <a:ext cx="3383280" cy="160020"/>
          </a:xfrm>
          <a:prstGeom prst="rect">
            <a:avLst/>
          </a:prstGeom>
          <a:noFill/>
        </p:spPr>
        <p:txBody>
          <a:bodyPr wrap="square">
            <a:spAutoFit/>
          </a:bodyPr>
          <a:lstStyle/>
          <a:p>
            <a:pPr algn="l"/>
            <a:r>
              <a:rPr sz="750" b="1" i="0">
                <a:solidFill>
                  <a:srgbClr val="0D1B3E"/>
                </a:solidFill>
                <a:latin typeface="Calibri"/>
              </a:rPr>
              <a:t>Codebase Navigator Agent</a:t>
            </a:r>
          </a:p>
        </p:txBody>
      </p:sp>
      <p:sp>
        <p:nvSpPr>
          <p:cNvPr id="291" name="TextBox 290"/>
          <p:cNvSpPr txBox="1"/>
          <p:nvPr/>
        </p:nvSpPr>
        <p:spPr>
          <a:xfrm>
            <a:off x="3630168" y="5477255"/>
            <a:ext cx="1371600" cy="160020"/>
          </a:xfrm>
          <a:prstGeom prst="rect">
            <a:avLst/>
          </a:prstGeom>
          <a:noFill/>
        </p:spPr>
        <p:txBody>
          <a:bodyPr wrap="square">
            <a:spAutoFit/>
          </a:bodyPr>
          <a:lstStyle/>
          <a:p>
            <a:pPr algn="l"/>
            <a:r>
              <a:rPr sz="650" b="0" i="0">
                <a:solidFill>
                  <a:srgbClr val="5D6D7E"/>
                </a:solidFill>
                <a:latin typeface="Calibri"/>
              </a:rPr>
              <a:t>Team On-boarding</a:t>
            </a:r>
          </a:p>
        </p:txBody>
      </p:sp>
      <p:sp>
        <p:nvSpPr>
          <p:cNvPr id="292" name="Rounded Rectangle 291"/>
          <p:cNvSpPr/>
          <p:nvPr/>
        </p:nvSpPr>
        <p:spPr>
          <a:xfrm>
            <a:off x="5047488" y="5477255"/>
            <a:ext cx="822960" cy="150876"/>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TextBox 292"/>
          <p:cNvSpPr txBox="1"/>
          <p:nvPr/>
        </p:nvSpPr>
        <p:spPr>
          <a:xfrm>
            <a:off x="5047488" y="5486399"/>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294" name="Rounded Rectangle 293"/>
          <p:cNvSpPr/>
          <p:nvPr/>
        </p:nvSpPr>
        <p:spPr>
          <a:xfrm>
            <a:off x="6007607" y="5477255"/>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TextBox 294"/>
          <p:cNvSpPr txBox="1"/>
          <p:nvPr/>
        </p:nvSpPr>
        <p:spPr>
          <a:xfrm>
            <a:off x="6007607" y="5486399"/>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296" name="Rounded Rectangle 295"/>
          <p:cNvSpPr/>
          <p:nvPr/>
        </p:nvSpPr>
        <p:spPr>
          <a:xfrm>
            <a:off x="6967727" y="5477255"/>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TextBox 296"/>
          <p:cNvSpPr txBox="1"/>
          <p:nvPr/>
        </p:nvSpPr>
        <p:spPr>
          <a:xfrm>
            <a:off x="6967727" y="5486399"/>
            <a:ext cx="822960" cy="132588"/>
          </a:xfrm>
          <a:prstGeom prst="rect">
            <a:avLst/>
          </a:prstGeom>
          <a:noFill/>
        </p:spPr>
        <p:txBody>
          <a:bodyPr wrap="square">
            <a:spAutoFit/>
          </a:bodyPr>
          <a:lstStyle/>
          <a:p>
            <a:pPr algn="ctr"/>
            <a:r>
              <a:rPr sz="700" b="1" i="0">
                <a:solidFill>
                  <a:srgbClr val="FFFFFF"/>
                </a:solidFill>
                <a:latin typeface="Calibri"/>
              </a:rPr>
              <a:t>L</a:t>
            </a:r>
          </a:p>
        </p:txBody>
      </p:sp>
      <p:sp>
        <p:nvSpPr>
          <p:cNvPr id="298" name="Rounded Rectangle 297"/>
          <p:cNvSpPr/>
          <p:nvPr/>
        </p:nvSpPr>
        <p:spPr>
          <a:xfrm>
            <a:off x="7927848" y="5477255"/>
            <a:ext cx="822960" cy="150876"/>
          </a:xfrm>
          <a:prstGeom prst="roundRect">
            <a:avLst>
              <a:gd name="adj" fmla="val 2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TextBox 298"/>
          <p:cNvSpPr txBox="1"/>
          <p:nvPr/>
        </p:nvSpPr>
        <p:spPr>
          <a:xfrm>
            <a:off x="7927848" y="5486399"/>
            <a:ext cx="822960" cy="132588"/>
          </a:xfrm>
          <a:prstGeom prst="rect">
            <a:avLst/>
          </a:prstGeom>
          <a:noFill/>
        </p:spPr>
        <p:txBody>
          <a:bodyPr wrap="square">
            <a:spAutoFit/>
          </a:bodyPr>
          <a:lstStyle/>
          <a:p>
            <a:pPr algn="ctr"/>
            <a:r>
              <a:rPr sz="700" b="1" i="0">
                <a:solidFill>
                  <a:srgbClr val="FFFFFF"/>
                </a:solidFill>
                <a:latin typeface="Calibri"/>
              </a:rPr>
              <a:t>3</a:t>
            </a:r>
          </a:p>
        </p:txBody>
      </p:sp>
      <p:sp>
        <p:nvSpPr>
          <p:cNvPr id="300" name="Rounded Rectangle 299"/>
          <p:cNvSpPr/>
          <p:nvPr/>
        </p:nvSpPr>
        <p:spPr>
          <a:xfrm>
            <a:off x="8887968" y="5477255"/>
            <a:ext cx="914400" cy="150876"/>
          </a:xfrm>
          <a:prstGeom prst="roundRect">
            <a:avLst>
              <a:gd name="adj" fmla="val 2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TextBox 300"/>
          <p:cNvSpPr txBox="1"/>
          <p:nvPr/>
        </p:nvSpPr>
        <p:spPr>
          <a:xfrm>
            <a:off x="8887968" y="5486399"/>
            <a:ext cx="914400" cy="132588"/>
          </a:xfrm>
          <a:prstGeom prst="rect">
            <a:avLst/>
          </a:prstGeom>
          <a:noFill/>
        </p:spPr>
        <p:txBody>
          <a:bodyPr wrap="square">
            <a:spAutoFit/>
          </a:bodyPr>
          <a:lstStyle/>
          <a:p>
            <a:pPr algn="ctr"/>
            <a:r>
              <a:rPr sz="650" b="1" i="0">
                <a:solidFill>
                  <a:srgbClr val="FFFFFF"/>
                </a:solidFill>
                <a:latin typeface="Calibri"/>
              </a:rPr>
              <a:t>Transform</a:t>
            </a:r>
          </a:p>
        </p:txBody>
      </p:sp>
      <p:sp>
        <p:nvSpPr>
          <p:cNvPr id="302" name="TextBox 301"/>
          <p:cNvSpPr txBox="1"/>
          <p:nvPr/>
        </p:nvSpPr>
        <p:spPr>
          <a:xfrm>
            <a:off x="9966960" y="5486399"/>
            <a:ext cx="1371600" cy="160020"/>
          </a:xfrm>
          <a:prstGeom prst="rect">
            <a:avLst/>
          </a:prstGeom>
          <a:noFill/>
        </p:spPr>
        <p:txBody>
          <a:bodyPr wrap="square">
            <a:spAutoFit/>
          </a:bodyPr>
          <a:lstStyle/>
          <a:p>
            <a:pPr algn="l"/>
            <a:r>
              <a:rPr sz="700" b="1" i="0">
                <a:solidFill>
                  <a:srgbClr val="007ABF"/>
                </a:solidFill>
                <a:latin typeface="Calibri"/>
              </a:rPr>
              <a:t>Plan Carefully</a:t>
            </a:r>
          </a:p>
        </p:txBody>
      </p:sp>
      <p:sp>
        <p:nvSpPr>
          <p:cNvPr id="303" name="Rectangle 302"/>
          <p:cNvSpPr/>
          <p:nvPr/>
        </p:nvSpPr>
        <p:spPr>
          <a:xfrm>
            <a:off x="182880" y="5673852"/>
            <a:ext cx="11887200" cy="224028"/>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Rectangle 303"/>
          <p:cNvSpPr/>
          <p:nvPr/>
        </p:nvSpPr>
        <p:spPr>
          <a:xfrm>
            <a:off x="182880" y="5673852"/>
            <a:ext cx="32004" cy="224028"/>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TextBox 304"/>
          <p:cNvSpPr txBox="1"/>
          <p:nvPr/>
        </p:nvSpPr>
        <p:spPr>
          <a:xfrm>
            <a:off x="228600" y="5710428"/>
            <a:ext cx="3383280" cy="160020"/>
          </a:xfrm>
          <a:prstGeom prst="rect">
            <a:avLst/>
          </a:prstGeom>
          <a:noFill/>
        </p:spPr>
        <p:txBody>
          <a:bodyPr wrap="square">
            <a:spAutoFit/>
          </a:bodyPr>
          <a:lstStyle/>
          <a:p>
            <a:pPr algn="l"/>
            <a:r>
              <a:rPr sz="750" b="1" i="0">
                <a:solidFill>
                  <a:srgbClr val="0D1B3E"/>
                </a:solidFill>
                <a:latin typeface="Calibri"/>
              </a:rPr>
              <a:t>Root Cause Analysis Agent</a:t>
            </a:r>
          </a:p>
        </p:txBody>
      </p:sp>
      <p:sp>
        <p:nvSpPr>
          <p:cNvPr id="306" name="TextBox 305"/>
          <p:cNvSpPr txBox="1"/>
          <p:nvPr/>
        </p:nvSpPr>
        <p:spPr>
          <a:xfrm>
            <a:off x="3630168" y="5710428"/>
            <a:ext cx="1371600" cy="160020"/>
          </a:xfrm>
          <a:prstGeom prst="rect">
            <a:avLst/>
          </a:prstGeom>
          <a:noFill/>
        </p:spPr>
        <p:txBody>
          <a:bodyPr wrap="square">
            <a:spAutoFit/>
          </a:bodyPr>
          <a:lstStyle/>
          <a:p>
            <a:pPr algn="l"/>
            <a:r>
              <a:rPr sz="650" b="0" i="0">
                <a:solidFill>
                  <a:srgbClr val="5D6D7E"/>
                </a:solidFill>
                <a:latin typeface="Calibri"/>
              </a:rPr>
              <a:t>Incident Diagnosis</a:t>
            </a:r>
          </a:p>
        </p:txBody>
      </p:sp>
      <p:sp>
        <p:nvSpPr>
          <p:cNvPr id="307" name="Rounded Rectangle 306"/>
          <p:cNvSpPr/>
          <p:nvPr/>
        </p:nvSpPr>
        <p:spPr>
          <a:xfrm>
            <a:off x="5047488" y="5710428"/>
            <a:ext cx="822960" cy="150876"/>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TextBox 307"/>
          <p:cNvSpPr txBox="1"/>
          <p:nvPr/>
        </p:nvSpPr>
        <p:spPr>
          <a:xfrm>
            <a:off x="5047488" y="5719572"/>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309" name="Rounded Rectangle 308"/>
          <p:cNvSpPr/>
          <p:nvPr/>
        </p:nvSpPr>
        <p:spPr>
          <a:xfrm>
            <a:off x="6007607" y="5710428"/>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TextBox 309"/>
          <p:cNvSpPr txBox="1"/>
          <p:nvPr/>
        </p:nvSpPr>
        <p:spPr>
          <a:xfrm>
            <a:off x="6007607" y="5719572"/>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311" name="Rounded Rectangle 310"/>
          <p:cNvSpPr/>
          <p:nvPr/>
        </p:nvSpPr>
        <p:spPr>
          <a:xfrm>
            <a:off x="6967727" y="5710428"/>
            <a:ext cx="822960" cy="150876"/>
          </a:xfrm>
          <a:prstGeom prst="roundRect">
            <a:avLst>
              <a:gd name="adj" fmla="val 20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TextBox 311"/>
          <p:cNvSpPr txBox="1"/>
          <p:nvPr/>
        </p:nvSpPr>
        <p:spPr>
          <a:xfrm>
            <a:off x="6967727" y="5719572"/>
            <a:ext cx="822960" cy="132588"/>
          </a:xfrm>
          <a:prstGeom prst="rect">
            <a:avLst/>
          </a:prstGeom>
          <a:noFill/>
        </p:spPr>
        <p:txBody>
          <a:bodyPr wrap="square">
            <a:spAutoFit/>
          </a:bodyPr>
          <a:lstStyle/>
          <a:p>
            <a:pPr algn="ctr"/>
            <a:r>
              <a:rPr sz="700" b="1" i="0">
                <a:solidFill>
                  <a:srgbClr val="FFFFFF"/>
                </a:solidFill>
                <a:latin typeface="Calibri"/>
              </a:rPr>
              <a:t>M</a:t>
            </a:r>
          </a:p>
        </p:txBody>
      </p:sp>
      <p:sp>
        <p:nvSpPr>
          <p:cNvPr id="313" name="Rounded Rectangle 312"/>
          <p:cNvSpPr/>
          <p:nvPr/>
        </p:nvSpPr>
        <p:spPr>
          <a:xfrm>
            <a:off x="7927848" y="5710428"/>
            <a:ext cx="822960" cy="150876"/>
          </a:xfrm>
          <a:prstGeom prst="roundRect">
            <a:avLst>
              <a:gd name="adj" fmla="val 2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TextBox 313"/>
          <p:cNvSpPr txBox="1"/>
          <p:nvPr/>
        </p:nvSpPr>
        <p:spPr>
          <a:xfrm>
            <a:off x="7927848" y="5719572"/>
            <a:ext cx="822960" cy="132588"/>
          </a:xfrm>
          <a:prstGeom prst="rect">
            <a:avLst/>
          </a:prstGeom>
          <a:noFill/>
        </p:spPr>
        <p:txBody>
          <a:bodyPr wrap="square">
            <a:spAutoFit/>
          </a:bodyPr>
          <a:lstStyle/>
          <a:p>
            <a:pPr algn="ctr"/>
            <a:r>
              <a:rPr sz="700" b="1" i="0">
                <a:solidFill>
                  <a:srgbClr val="FFFFFF"/>
                </a:solidFill>
                <a:latin typeface="Calibri"/>
              </a:rPr>
              <a:t>3</a:t>
            </a:r>
          </a:p>
        </p:txBody>
      </p:sp>
      <p:sp>
        <p:nvSpPr>
          <p:cNvPr id="315" name="Rounded Rectangle 314"/>
          <p:cNvSpPr/>
          <p:nvPr/>
        </p:nvSpPr>
        <p:spPr>
          <a:xfrm>
            <a:off x="8887968" y="5710428"/>
            <a:ext cx="914400" cy="150876"/>
          </a:xfrm>
          <a:prstGeom prst="roundRect">
            <a:avLst>
              <a:gd name="adj" fmla="val 2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TextBox 315"/>
          <p:cNvSpPr txBox="1"/>
          <p:nvPr/>
        </p:nvSpPr>
        <p:spPr>
          <a:xfrm>
            <a:off x="8887968" y="5719572"/>
            <a:ext cx="914400" cy="132588"/>
          </a:xfrm>
          <a:prstGeom prst="rect">
            <a:avLst/>
          </a:prstGeom>
          <a:noFill/>
        </p:spPr>
        <p:txBody>
          <a:bodyPr wrap="square">
            <a:spAutoFit/>
          </a:bodyPr>
          <a:lstStyle/>
          <a:p>
            <a:pPr algn="ctr"/>
            <a:r>
              <a:rPr sz="650" b="1" i="0">
                <a:solidFill>
                  <a:srgbClr val="FFFFFF"/>
                </a:solidFill>
                <a:latin typeface="Calibri"/>
              </a:rPr>
              <a:t>Transform</a:t>
            </a:r>
          </a:p>
        </p:txBody>
      </p:sp>
      <p:sp>
        <p:nvSpPr>
          <p:cNvPr id="317" name="TextBox 316"/>
          <p:cNvSpPr txBox="1"/>
          <p:nvPr/>
        </p:nvSpPr>
        <p:spPr>
          <a:xfrm>
            <a:off x="9966960" y="5719572"/>
            <a:ext cx="1371600" cy="160020"/>
          </a:xfrm>
          <a:prstGeom prst="rect">
            <a:avLst/>
          </a:prstGeom>
          <a:noFill/>
        </p:spPr>
        <p:txBody>
          <a:bodyPr wrap="square">
            <a:spAutoFit/>
          </a:bodyPr>
          <a:lstStyle/>
          <a:p>
            <a:pPr algn="l"/>
            <a:r>
              <a:rPr sz="700" b="1" i="0">
                <a:solidFill>
                  <a:srgbClr val="007ABF"/>
                </a:solidFill>
                <a:latin typeface="Calibri"/>
              </a:rPr>
              <a:t>Plan Carefully</a:t>
            </a:r>
          </a:p>
        </p:txBody>
      </p:sp>
      <p:sp>
        <p:nvSpPr>
          <p:cNvPr id="318" name="Rectangle 317"/>
          <p:cNvSpPr/>
          <p:nvPr/>
        </p:nvSpPr>
        <p:spPr>
          <a:xfrm>
            <a:off x="182880" y="5907023"/>
            <a:ext cx="11887200" cy="224028"/>
          </a:xfrm>
          <a:prstGeom prst="rect">
            <a:avLst/>
          </a:prstGeom>
          <a:solidFill>
            <a:srgbClr val="EF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Rectangle 318"/>
          <p:cNvSpPr/>
          <p:nvPr/>
        </p:nvSpPr>
        <p:spPr>
          <a:xfrm>
            <a:off x="182880" y="5907023"/>
            <a:ext cx="32004" cy="224028"/>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TextBox 319"/>
          <p:cNvSpPr txBox="1"/>
          <p:nvPr/>
        </p:nvSpPr>
        <p:spPr>
          <a:xfrm>
            <a:off x="228600" y="5943599"/>
            <a:ext cx="3383280" cy="160020"/>
          </a:xfrm>
          <a:prstGeom prst="rect">
            <a:avLst/>
          </a:prstGeom>
          <a:noFill/>
        </p:spPr>
        <p:txBody>
          <a:bodyPr wrap="square">
            <a:spAutoFit/>
          </a:bodyPr>
          <a:lstStyle/>
          <a:p>
            <a:pPr algn="l"/>
            <a:r>
              <a:rPr sz="750" b="1" i="0">
                <a:solidFill>
                  <a:srgbClr val="0D1B3E"/>
                </a:solidFill>
                <a:latin typeface="Calibri"/>
              </a:rPr>
              <a:t>Auto-Remediation Agent</a:t>
            </a:r>
          </a:p>
        </p:txBody>
      </p:sp>
      <p:sp>
        <p:nvSpPr>
          <p:cNvPr id="321" name="TextBox 320"/>
          <p:cNvSpPr txBox="1"/>
          <p:nvPr/>
        </p:nvSpPr>
        <p:spPr>
          <a:xfrm>
            <a:off x="3630168" y="5943599"/>
            <a:ext cx="1371600" cy="160020"/>
          </a:xfrm>
          <a:prstGeom prst="rect">
            <a:avLst/>
          </a:prstGeom>
          <a:noFill/>
        </p:spPr>
        <p:txBody>
          <a:bodyPr wrap="square">
            <a:spAutoFit/>
          </a:bodyPr>
          <a:lstStyle/>
          <a:p>
            <a:pPr algn="l"/>
            <a:r>
              <a:rPr sz="650" b="0" i="0">
                <a:solidFill>
                  <a:srgbClr val="5D6D7E"/>
                </a:solidFill>
                <a:latin typeface="Calibri"/>
              </a:rPr>
              <a:t>Remediation &amp; Reco</a:t>
            </a:r>
          </a:p>
        </p:txBody>
      </p:sp>
      <p:sp>
        <p:nvSpPr>
          <p:cNvPr id="322" name="Rounded Rectangle 321"/>
          <p:cNvSpPr/>
          <p:nvPr/>
        </p:nvSpPr>
        <p:spPr>
          <a:xfrm>
            <a:off x="5047488" y="5943599"/>
            <a:ext cx="822960" cy="150876"/>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TextBox 322"/>
          <p:cNvSpPr txBox="1"/>
          <p:nvPr/>
        </p:nvSpPr>
        <p:spPr>
          <a:xfrm>
            <a:off x="5047488" y="5952743"/>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324" name="Rounded Rectangle 323"/>
          <p:cNvSpPr/>
          <p:nvPr/>
        </p:nvSpPr>
        <p:spPr>
          <a:xfrm>
            <a:off x="6007607" y="5943599"/>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TextBox 324"/>
          <p:cNvSpPr txBox="1"/>
          <p:nvPr/>
        </p:nvSpPr>
        <p:spPr>
          <a:xfrm>
            <a:off x="6007607" y="5952743"/>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326" name="Rounded Rectangle 325"/>
          <p:cNvSpPr/>
          <p:nvPr/>
        </p:nvSpPr>
        <p:spPr>
          <a:xfrm>
            <a:off x="6967727" y="5943599"/>
            <a:ext cx="822960" cy="150876"/>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TextBox 326"/>
          <p:cNvSpPr txBox="1"/>
          <p:nvPr/>
        </p:nvSpPr>
        <p:spPr>
          <a:xfrm>
            <a:off x="6967727" y="5952743"/>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328" name="Rounded Rectangle 327"/>
          <p:cNvSpPr/>
          <p:nvPr/>
        </p:nvSpPr>
        <p:spPr>
          <a:xfrm>
            <a:off x="7927848" y="5943599"/>
            <a:ext cx="822960" cy="150876"/>
          </a:xfrm>
          <a:prstGeom prst="roundRect">
            <a:avLst>
              <a:gd name="adj" fmla="val 2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TextBox 328"/>
          <p:cNvSpPr txBox="1"/>
          <p:nvPr/>
        </p:nvSpPr>
        <p:spPr>
          <a:xfrm>
            <a:off x="7927848" y="5952743"/>
            <a:ext cx="822960" cy="132588"/>
          </a:xfrm>
          <a:prstGeom prst="rect">
            <a:avLst/>
          </a:prstGeom>
          <a:noFill/>
        </p:spPr>
        <p:txBody>
          <a:bodyPr wrap="square">
            <a:spAutoFit/>
          </a:bodyPr>
          <a:lstStyle/>
          <a:p>
            <a:pPr algn="ctr"/>
            <a:r>
              <a:rPr sz="700" b="1" i="0">
                <a:solidFill>
                  <a:srgbClr val="FFFFFF"/>
                </a:solidFill>
                <a:latin typeface="Calibri"/>
              </a:rPr>
              <a:t>3</a:t>
            </a:r>
          </a:p>
        </p:txBody>
      </p:sp>
      <p:sp>
        <p:nvSpPr>
          <p:cNvPr id="330" name="Rounded Rectangle 329"/>
          <p:cNvSpPr/>
          <p:nvPr/>
        </p:nvSpPr>
        <p:spPr>
          <a:xfrm>
            <a:off x="8887968" y="5943599"/>
            <a:ext cx="914400" cy="150876"/>
          </a:xfrm>
          <a:prstGeom prst="roundRect">
            <a:avLst>
              <a:gd name="adj" fmla="val 2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TextBox 330"/>
          <p:cNvSpPr txBox="1"/>
          <p:nvPr/>
        </p:nvSpPr>
        <p:spPr>
          <a:xfrm>
            <a:off x="8887968" y="5952743"/>
            <a:ext cx="914400" cy="132588"/>
          </a:xfrm>
          <a:prstGeom prst="rect">
            <a:avLst/>
          </a:prstGeom>
          <a:noFill/>
        </p:spPr>
        <p:txBody>
          <a:bodyPr wrap="square">
            <a:spAutoFit/>
          </a:bodyPr>
          <a:lstStyle/>
          <a:p>
            <a:pPr algn="ctr"/>
            <a:r>
              <a:rPr sz="650" b="1" i="0">
                <a:solidFill>
                  <a:srgbClr val="FFFFFF"/>
                </a:solidFill>
                <a:latin typeface="Calibri"/>
              </a:rPr>
              <a:t>Transform</a:t>
            </a:r>
          </a:p>
        </p:txBody>
      </p:sp>
      <p:sp>
        <p:nvSpPr>
          <p:cNvPr id="332" name="TextBox 331"/>
          <p:cNvSpPr txBox="1"/>
          <p:nvPr/>
        </p:nvSpPr>
        <p:spPr>
          <a:xfrm>
            <a:off x="9966960" y="5952743"/>
            <a:ext cx="1371600" cy="160020"/>
          </a:xfrm>
          <a:prstGeom prst="rect">
            <a:avLst/>
          </a:prstGeom>
          <a:noFill/>
        </p:spPr>
        <p:txBody>
          <a:bodyPr wrap="square">
            <a:spAutoFit/>
          </a:bodyPr>
          <a:lstStyle/>
          <a:p>
            <a:pPr algn="l"/>
            <a:r>
              <a:rPr sz="700" b="1" i="0">
                <a:solidFill>
                  <a:srgbClr val="007ABF"/>
                </a:solidFill>
                <a:latin typeface="Calibri"/>
              </a:rPr>
              <a:t>Plan Carefully</a:t>
            </a:r>
          </a:p>
        </p:txBody>
      </p:sp>
      <p:sp>
        <p:nvSpPr>
          <p:cNvPr id="333" name="Rectangle 332"/>
          <p:cNvSpPr/>
          <p:nvPr/>
        </p:nvSpPr>
        <p:spPr>
          <a:xfrm>
            <a:off x="182880" y="6140196"/>
            <a:ext cx="11887200" cy="224028"/>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Rectangle 333"/>
          <p:cNvSpPr/>
          <p:nvPr/>
        </p:nvSpPr>
        <p:spPr>
          <a:xfrm>
            <a:off x="182880" y="6140196"/>
            <a:ext cx="32004" cy="224028"/>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TextBox 334"/>
          <p:cNvSpPr txBox="1"/>
          <p:nvPr/>
        </p:nvSpPr>
        <p:spPr>
          <a:xfrm>
            <a:off x="228600" y="6176772"/>
            <a:ext cx="3383280" cy="160020"/>
          </a:xfrm>
          <a:prstGeom prst="rect">
            <a:avLst/>
          </a:prstGeom>
          <a:noFill/>
        </p:spPr>
        <p:txBody>
          <a:bodyPr wrap="square">
            <a:spAutoFit/>
          </a:bodyPr>
          <a:lstStyle/>
          <a:p>
            <a:pPr algn="l"/>
            <a:r>
              <a:rPr sz="750" b="1" i="0">
                <a:solidFill>
                  <a:srgbClr val="0D1B3E"/>
                </a:solidFill>
                <a:latin typeface="Calibri"/>
              </a:rPr>
              <a:t>Access Provisioner Agent</a:t>
            </a:r>
          </a:p>
        </p:txBody>
      </p:sp>
      <p:sp>
        <p:nvSpPr>
          <p:cNvPr id="336" name="TextBox 335"/>
          <p:cNvSpPr txBox="1"/>
          <p:nvPr/>
        </p:nvSpPr>
        <p:spPr>
          <a:xfrm>
            <a:off x="3630168" y="6176772"/>
            <a:ext cx="1371600" cy="160020"/>
          </a:xfrm>
          <a:prstGeom prst="rect">
            <a:avLst/>
          </a:prstGeom>
          <a:noFill/>
        </p:spPr>
        <p:txBody>
          <a:bodyPr wrap="square">
            <a:spAutoFit/>
          </a:bodyPr>
          <a:lstStyle/>
          <a:p>
            <a:pPr algn="l"/>
            <a:r>
              <a:rPr sz="650" b="0" i="0">
                <a:solidFill>
                  <a:srgbClr val="5D6D7E"/>
                </a:solidFill>
                <a:latin typeface="Calibri"/>
              </a:rPr>
              <a:t>Team On-boarding</a:t>
            </a:r>
          </a:p>
        </p:txBody>
      </p:sp>
      <p:sp>
        <p:nvSpPr>
          <p:cNvPr id="337" name="Rounded Rectangle 336"/>
          <p:cNvSpPr/>
          <p:nvPr/>
        </p:nvSpPr>
        <p:spPr>
          <a:xfrm>
            <a:off x="5047488" y="6176772"/>
            <a:ext cx="822960" cy="150876"/>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TextBox 337"/>
          <p:cNvSpPr txBox="1"/>
          <p:nvPr/>
        </p:nvSpPr>
        <p:spPr>
          <a:xfrm>
            <a:off x="5047488" y="6185916"/>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339" name="Rounded Rectangle 338"/>
          <p:cNvSpPr/>
          <p:nvPr/>
        </p:nvSpPr>
        <p:spPr>
          <a:xfrm>
            <a:off x="6007607" y="6176772"/>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TextBox 339"/>
          <p:cNvSpPr txBox="1"/>
          <p:nvPr/>
        </p:nvSpPr>
        <p:spPr>
          <a:xfrm>
            <a:off x="6007607" y="6185916"/>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341" name="Rounded Rectangle 340"/>
          <p:cNvSpPr/>
          <p:nvPr/>
        </p:nvSpPr>
        <p:spPr>
          <a:xfrm>
            <a:off x="6967727" y="6176772"/>
            <a:ext cx="822960" cy="150876"/>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TextBox 341"/>
          <p:cNvSpPr txBox="1"/>
          <p:nvPr/>
        </p:nvSpPr>
        <p:spPr>
          <a:xfrm>
            <a:off x="6967727" y="6185916"/>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343" name="Rounded Rectangle 342"/>
          <p:cNvSpPr/>
          <p:nvPr/>
        </p:nvSpPr>
        <p:spPr>
          <a:xfrm>
            <a:off x="7927848" y="6176772"/>
            <a:ext cx="822960" cy="150876"/>
          </a:xfrm>
          <a:prstGeom prst="roundRect">
            <a:avLst>
              <a:gd name="adj" fmla="val 2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TextBox 343"/>
          <p:cNvSpPr txBox="1"/>
          <p:nvPr/>
        </p:nvSpPr>
        <p:spPr>
          <a:xfrm>
            <a:off x="7927848" y="6185916"/>
            <a:ext cx="822960" cy="132588"/>
          </a:xfrm>
          <a:prstGeom prst="rect">
            <a:avLst/>
          </a:prstGeom>
          <a:noFill/>
        </p:spPr>
        <p:txBody>
          <a:bodyPr wrap="square">
            <a:spAutoFit/>
          </a:bodyPr>
          <a:lstStyle/>
          <a:p>
            <a:pPr algn="ctr"/>
            <a:r>
              <a:rPr sz="700" b="1" i="0">
                <a:solidFill>
                  <a:srgbClr val="FFFFFF"/>
                </a:solidFill>
                <a:latin typeface="Calibri"/>
              </a:rPr>
              <a:t>3</a:t>
            </a:r>
          </a:p>
        </p:txBody>
      </p:sp>
      <p:sp>
        <p:nvSpPr>
          <p:cNvPr id="345" name="Rounded Rectangle 344"/>
          <p:cNvSpPr/>
          <p:nvPr/>
        </p:nvSpPr>
        <p:spPr>
          <a:xfrm>
            <a:off x="8887968" y="6176772"/>
            <a:ext cx="914400" cy="150876"/>
          </a:xfrm>
          <a:prstGeom prst="roundRect">
            <a:avLst>
              <a:gd name="adj" fmla="val 2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TextBox 345"/>
          <p:cNvSpPr txBox="1"/>
          <p:nvPr/>
        </p:nvSpPr>
        <p:spPr>
          <a:xfrm>
            <a:off x="8887968" y="6185916"/>
            <a:ext cx="914400" cy="132588"/>
          </a:xfrm>
          <a:prstGeom prst="rect">
            <a:avLst/>
          </a:prstGeom>
          <a:noFill/>
        </p:spPr>
        <p:txBody>
          <a:bodyPr wrap="square">
            <a:spAutoFit/>
          </a:bodyPr>
          <a:lstStyle/>
          <a:p>
            <a:pPr algn="ctr"/>
            <a:r>
              <a:rPr sz="650" b="1" i="0">
                <a:solidFill>
                  <a:srgbClr val="FFFFFF"/>
                </a:solidFill>
                <a:latin typeface="Calibri"/>
              </a:rPr>
              <a:t>Transform</a:t>
            </a:r>
          </a:p>
        </p:txBody>
      </p:sp>
      <p:sp>
        <p:nvSpPr>
          <p:cNvPr id="347" name="TextBox 346"/>
          <p:cNvSpPr txBox="1"/>
          <p:nvPr/>
        </p:nvSpPr>
        <p:spPr>
          <a:xfrm>
            <a:off x="9966960" y="6185916"/>
            <a:ext cx="1371600" cy="160020"/>
          </a:xfrm>
          <a:prstGeom prst="rect">
            <a:avLst/>
          </a:prstGeom>
          <a:noFill/>
        </p:spPr>
        <p:txBody>
          <a:bodyPr wrap="square">
            <a:spAutoFit/>
          </a:bodyPr>
          <a:lstStyle/>
          <a:p>
            <a:pPr algn="l"/>
            <a:r>
              <a:rPr sz="700" b="1" i="0">
                <a:solidFill>
                  <a:srgbClr val="007ABF"/>
                </a:solidFill>
                <a:latin typeface="Calibri"/>
              </a:rPr>
              <a:t>Plan Carefully</a:t>
            </a:r>
          </a:p>
        </p:txBody>
      </p:sp>
      <p:sp>
        <p:nvSpPr>
          <p:cNvPr id="348" name="Rectangle 347"/>
          <p:cNvSpPr/>
          <p:nvPr/>
        </p:nvSpPr>
        <p:spPr>
          <a:xfrm>
            <a:off x="182880" y="6373368"/>
            <a:ext cx="11887200" cy="224028"/>
          </a:xfrm>
          <a:prstGeom prst="rect">
            <a:avLst/>
          </a:prstGeom>
          <a:solidFill>
            <a:srgbClr val="EF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Rectangle 348"/>
          <p:cNvSpPr/>
          <p:nvPr/>
        </p:nvSpPr>
        <p:spPr>
          <a:xfrm>
            <a:off x="182880" y="6373368"/>
            <a:ext cx="32004" cy="224028"/>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TextBox 349"/>
          <p:cNvSpPr txBox="1"/>
          <p:nvPr/>
        </p:nvSpPr>
        <p:spPr>
          <a:xfrm>
            <a:off x="228600" y="6409944"/>
            <a:ext cx="3383280" cy="160020"/>
          </a:xfrm>
          <a:prstGeom prst="rect">
            <a:avLst/>
          </a:prstGeom>
          <a:noFill/>
        </p:spPr>
        <p:txBody>
          <a:bodyPr wrap="square">
            <a:spAutoFit/>
          </a:bodyPr>
          <a:lstStyle/>
          <a:p>
            <a:pPr algn="l"/>
            <a:r>
              <a:rPr sz="750" b="1" i="0">
                <a:solidFill>
                  <a:srgbClr val="0D1B3E"/>
                </a:solidFill>
                <a:latin typeface="Calibri"/>
              </a:rPr>
              <a:t>Legacy Migration Agent</a:t>
            </a:r>
          </a:p>
        </p:txBody>
      </p:sp>
      <p:sp>
        <p:nvSpPr>
          <p:cNvPr id="351" name="TextBox 350"/>
          <p:cNvSpPr txBox="1"/>
          <p:nvPr/>
        </p:nvSpPr>
        <p:spPr>
          <a:xfrm>
            <a:off x="3630168" y="6409944"/>
            <a:ext cx="1371600" cy="160020"/>
          </a:xfrm>
          <a:prstGeom prst="rect">
            <a:avLst/>
          </a:prstGeom>
          <a:noFill/>
        </p:spPr>
        <p:txBody>
          <a:bodyPr wrap="square">
            <a:spAutoFit/>
          </a:bodyPr>
          <a:lstStyle/>
          <a:p>
            <a:pPr algn="l"/>
            <a:r>
              <a:rPr sz="650" b="0" i="0">
                <a:solidFill>
                  <a:srgbClr val="5D6D7E"/>
                </a:solidFill>
                <a:latin typeface="Calibri"/>
              </a:rPr>
              <a:t>Tech Debt &amp; Modern</a:t>
            </a:r>
          </a:p>
        </p:txBody>
      </p:sp>
      <p:sp>
        <p:nvSpPr>
          <p:cNvPr id="352" name="Rounded Rectangle 351"/>
          <p:cNvSpPr/>
          <p:nvPr/>
        </p:nvSpPr>
        <p:spPr>
          <a:xfrm>
            <a:off x="5047488" y="6409944"/>
            <a:ext cx="822960" cy="150876"/>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TextBox 352"/>
          <p:cNvSpPr txBox="1"/>
          <p:nvPr/>
        </p:nvSpPr>
        <p:spPr>
          <a:xfrm>
            <a:off x="5047488" y="6419088"/>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354" name="Rounded Rectangle 353"/>
          <p:cNvSpPr/>
          <p:nvPr/>
        </p:nvSpPr>
        <p:spPr>
          <a:xfrm>
            <a:off x="6007607" y="6409944"/>
            <a:ext cx="822960" cy="150876"/>
          </a:xfrm>
          <a:prstGeom prst="roundRect">
            <a:avLst>
              <a:gd name="adj" fmla="val 2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TextBox 354"/>
          <p:cNvSpPr txBox="1"/>
          <p:nvPr/>
        </p:nvSpPr>
        <p:spPr>
          <a:xfrm>
            <a:off x="6007607" y="6419088"/>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356" name="Rounded Rectangle 355"/>
          <p:cNvSpPr/>
          <p:nvPr/>
        </p:nvSpPr>
        <p:spPr>
          <a:xfrm>
            <a:off x="6967727" y="6409944"/>
            <a:ext cx="822960" cy="150876"/>
          </a:xfrm>
          <a:prstGeom prst="roundRect">
            <a:avLst>
              <a:gd name="adj" fmla="val 20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TextBox 356"/>
          <p:cNvSpPr txBox="1"/>
          <p:nvPr/>
        </p:nvSpPr>
        <p:spPr>
          <a:xfrm>
            <a:off x="6967727" y="6419088"/>
            <a:ext cx="822960" cy="132588"/>
          </a:xfrm>
          <a:prstGeom prst="rect">
            <a:avLst/>
          </a:prstGeom>
          <a:noFill/>
        </p:spPr>
        <p:txBody>
          <a:bodyPr wrap="square">
            <a:spAutoFit/>
          </a:bodyPr>
          <a:lstStyle/>
          <a:p>
            <a:pPr algn="ctr"/>
            <a:r>
              <a:rPr sz="700" b="1" i="0">
                <a:solidFill>
                  <a:srgbClr val="FFFFFF"/>
                </a:solidFill>
                <a:latin typeface="Calibri"/>
              </a:rPr>
              <a:t>H</a:t>
            </a:r>
          </a:p>
        </p:txBody>
      </p:sp>
      <p:sp>
        <p:nvSpPr>
          <p:cNvPr id="358" name="Rounded Rectangle 357"/>
          <p:cNvSpPr/>
          <p:nvPr/>
        </p:nvSpPr>
        <p:spPr>
          <a:xfrm>
            <a:off x="7927848" y="6409944"/>
            <a:ext cx="822960" cy="150876"/>
          </a:xfrm>
          <a:prstGeom prst="roundRect">
            <a:avLst>
              <a:gd name="adj" fmla="val 2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TextBox 358"/>
          <p:cNvSpPr txBox="1"/>
          <p:nvPr/>
        </p:nvSpPr>
        <p:spPr>
          <a:xfrm>
            <a:off x="7927848" y="6419088"/>
            <a:ext cx="822960" cy="132588"/>
          </a:xfrm>
          <a:prstGeom prst="rect">
            <a:avLst/>
          </a:prstGeom>
          <a:noFill/>
        </p:spPr>
        <p:txBody>
          <a:bodyPr wrap="square">
            <a:spAutoFit/>
          </a:bodyPr>
          <a:lstStyle/>
          <a:p>
            <a:pPr algn="ctr"/>
            <a:r>
              <a:rPr sz="700" b="1" i="0">
                <a:solidFill>
                  <a:srgbClr val="FFFFFF"/>
                </a:solidFill>
                <a:latin typeface="Calibri"/>
              </a:rPr>
              <a:t>3</a:t>
            </a:r>
          </a:p>
        </p:txBody>
      </p:sp>
      <p:sp>
        <p:nvSpPr>
          <p:cNvPr id="360" name="Rounded Rectangle 359"/>
          <p:cNvSpPr/>
          <p:nvPr/>
        </p:nvSpPr>
        <p:spPr>
          <a:xfrm>
            <a:off x="8887968" y="6409944"/>
            <a:ext cx="914400" cy="150876"/>
          </a:xfrm>
          <a:prstGeom prst="roundRect">
            <a:avLst>
              <a:gd name="adj" fmla="val 2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TextBox 360"/>
          <p:cNvSpPr txBox="1"/>
          <p:nvPr/>
        </p:nvSpPr>
        <p:spPr>
          <a:xfrm>
            <a:off x="8887968" y="6419088"/>
            <a:ext cx="914400" cy="132588"/>
          </a:xfrm>
          <a:prstGeom prst="rect">
            <a:avLst/>
          </a:prstGeom>
          <a:noFill/>
        </p:spPr>
        <p:txBody>
          <a:bodyPr wrap="square">
            <a:spAutoFit/>
          </a:bodyPr>
          <a:lstStyle/>
          <a:p>
            <a:pPr algn="ctr"/>
            <a:r>
              <a:rPr sz="650" b="1" i="0">
                <a:solidFill>
                  <a:srgbClr val="FFFFFF"/>
                </a:solidFill>
                <a:latin typeface="Calibri"/>
              </a:rPr>
              <a:t>Transform</a:t>
            </a:r>
          </a:p>
        </p:txBody>
      </p:sp>
      <p:sp>
        <p:nvSpPr>
          <p:cNvPr id="362" name="TextBox 361"/>
          <p:cNvSpPr txBox="1"/>
          <p:nvPr/>
        </p:nvSpPr>
        <p:spPr>
          <a:xfrm>
            <a:off x="9966960" y="6419088"/>
            <a:ext cx="1371600" cy="160020"/>
          </a:xfrm>
          <a:prstGeom prst="rect">
            <a:avLst/>
          </a:prstGeom>
          <a:noFill/>
        </p:spPr>
        <p:txBody>
          <a:bodyPr wrap="square">
            <a:spAutoFit/>
          </a:bodyPr>
          <a:lstStyle/>
          <a:p>
            <a:pPr algn="l"/>
            <a:r>
              <a:rPr sz="700" b="1" i="0">
                <a:solidFill>
                  <a:srgbClr val="007ABF"/>
                </a:solidFill>
                <a:latin typeface="Calibri"/>
              </a:rPr>
              <a:t>Plan Carefully</a:t>
            </a:r>
          </a:p>
        </p:txBody>
      </p:sp>
      <p:sp>
        <p:nvSpPr>
          <p:cNvPr id="363" name="Rectangle 362"/>
          <p:cNvSpPr/>
          <p:nvPr/>
        </p:nvSpPr>
        <p:spPr>
          <a:xfrm>
            <a:off x="182880" y="6473952"/>
            <a:ext cx="11887200" cy="201168"/>
          </a:xfrm>
          <a:prstGeom prst="rect">
            <a:avLst/>
          </a:prstGeom>
          <a:solidFill>
            <a:srgbClr val="EC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TextBox 363"/>
          <p:cNvSpPr txBox="1"/>
          <p:nvPr/>
        </p:nvSpPr>
        <p:spPr>
          <a:xfrm>
            <a:off x="320040" y="6501384"/>
            <a:ext cx="182880" cy="164592"/>
          </a:xfrm>
          <a:prstGeom prst="rect">
            <a:avLst/>
          </a:prstGeom>
          <a:noFill/>
        </p:spPr>
        <p:txBody>
          <a:bodyPr wrap="square">
            <a:spAutoFit/>
          </a:bodyPr>
          <a:lstStyle/>
          <a:p>
            <a:pPr algn="l"/>
            <a:r>
              <a:rPr sz="900" b="0" i="0">
                <a:solidFill>
                  <a:srgbClr val="1E8B4C"/>
                </a:solidFill>
                <a:latin typeface="Calibri"/>
              </a:rPr>
              <a:t>■</a:t>
            </a:r>
          </a:p>
        </p:txBody>
      </p:sp>
      <p:sp>
        <p:nvSpPr>
          <p:cNvPr id="365" name="TextBox 364"/>
          <p:cNvSpPr txBox="1"/>
          <p:nvPr/>
        </p:nvSpPr>
        <p:spPr>
          <a:xfrm>
            <a:off x="484632" y="6501384"/>
            <a:ext cx="2011680" cy="164592"/>
          </a:xfrm>
          <a:prstGeom prst="rect">
            <a:avLst/>
          </a:prstGeom>
          <a:noFill/>
        </p:spPr>
        <p:txBody>
          <a:bodyPr wrap="square">
            <a:spAutoFit/>
          </a:bodyPr>
          <a:lstStyle/>
          <a:p>
            <a:pPr algn="l"/>
            <a:r>
              <a:rPr sz="750" b="0" i="0">
                <a:solidFill>
                  <a:srgbClr val="0D1B3E"/>
                </a:solidFill>
                <a:latin typeface="Calibri"/>
              </a:rPr>
              <a:t>Quick Win — Deploy Now</a:t>
            </a:r>
          </a:p>
        </p:txBody>
      </p:sp>
      <p:sp>
        <p:nvSpPr>
          <p:cNvPr id="366" name="TextBox 365"/>
          <p:cNvSpPr txBox="1"/>
          <p:nvPr/>
        </p:nvSpPr>
        <p:spPr>
          <a:xfrm>
            <a:off x="2606040" y="6501384"/>
            <a:ext cx="182880" cy="164592"/>
          </a:xfrm>
          <a:prstGeom prst="rect">
            <a:avLst/>
          </a:prstGeom>
          <a:noFill/>
        </p:spPr>
        <p:txBody>
          <a:bodyPr wrap="square">
            <a:spAutoFit/>
          </a:bodyPr>
          <a:lstStyle/>
          <a:p>
            <a:pPr algn="l"/>
            <a:r>
              <a:rPr sz="900" b="0" i="0">
                <a:solidFill>
                  <a:srgbClr val="D47F00"/>
                </a:solidFill>
                <a:latin typeface="Calibri"/>
              </a:rPr>
              <a:t>■</a:t>
            </a:r>
          </a:p>
        </p:txBody>
      </p:sp>
      <p:sp>
        <p:nvSpPr>
          <p:cNvPr id="367" name="TextBox 366"/>
          <p:cNvSpPr txBox="1"/>
          <p:nvPr/>
        </p:nvSpPr>
        <p:spPr>
          <a:xfrm>
            <a:off x="2770632" y="6501384"/>
            <a:ext cx="2011680" cy="164592"/>
          </a:xfrm>
          <a:prstGeom prst="rect">
            <a:avLst/>
          </a:prstGeom>
          <a:noFill/>
        </p:spPr>
        <p:txBody>
          <a:bodyPr wrap="square">
            <a:spAutoFit/>
          </a:bodyPr>
          <a:lstStyle/>
          <a:p>
            <a:pPr algn="l"/>
            <a:r>
              <a:rPr sz="750" b="0" i="0">
                <a:solidFill>
                  <a:srgbClr val="0D1B3E"/>
                </a:solidFill>
                <a:latin typeface="Calibri"/>
              </a:rPr>
              <a:t>Scale — Schedule Rollout</a:t>
            </a:r>
          </a:p>
        </p:txBody>
      </p:sp>
      <p:sp>
        <p:nvSpPr>
          <p:cNvPr id="368" name="TextBox 367"/>
          <p:cNvSpPr txBox="1"/>
          <p:nvPr/>
        </p:nvSpPr>
        <p:spPr>
          <a:xfrm>
            <a:off x="4892040" y="6501384"/>
            <a:ext cx="182880" cy="164592"/>
          </a:xfrm>
          <a:prstGeom prst="rect">
            <a:avLst/>
          </a:prstGeom>
          <a:noFill/>
        </p:spPr>
        <p:txBody>
          <a:bodyPr wrap="square">
            <a:spAutoFit/>
          </a:bodyPr>
          <a:lstStyle/>
          <a:p>
            <a:pPr algn="l"/>
            <a:r>
              <a:rPr sz="900" b="0" i="0">
                <a:solidFill>
                  <a:srgbClr val="007ABF"/>
                </a:solidFill>
                <a:latin typeface="Calibri"/>
              </a:rPr>
              <a:t>■</a:t>
            </a:r>
          </a:p>
        </p:txBody>
      </p:sp>
      <p:sp>
        <p:nvSpPr>
          <p:cNvPr id="369" name="TextBox 368"/>
          <p:cNvSpPr txBox="1"/>
          <p:nvPr/>
        </p:nvSpPr>
        <p:spPr>
          <a:xfrm>
            <a:off x="5056631" y="6501384"/>
            <a:ext cx="2011680" cy="164592"/>
          </a:xfrm>
          <a:prstGeom prst="rect">
            <a:avLst/>
          </a:prstGeom>
          <a:noFill/>
        </p:spPr>
        <p:txBody>
          <a:bodyPr wrap="square">
            <a:spAutoFit/>
          </a:bodyPr>
          <a:lstStyle/>
          <a:p>
            <a:pPr algn="l"/>
            <a:r>
              <a:rPr sz="750" b="0" i="0">
                <a:solidFill>
                  <a:srgbClr val="0D1B3E"/>
                </a:solidFill>
                <a:latin typeface="Calibri"/>
              </a:rPr>
              <a:t>Transform — Plan Carefully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0"/>
            <a:ext cx="12191695" cy="36576"/>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73152"/>
            <a:ext cx="9144000" cy="502920"/>
          </a:xfrm>
          <a:prstGeom prst="rect">
            <a:avLst/>
          </a:prstGeom>
          <a:noFill/>
        </p:spPr>
        <p:txBody>
          <a:bodyPr wrap="square">
            <a:spAutoFit/>
          </a:bodyPr>
          <a:lstStyle/>
          <a:p>
            <a:pPr algn="l"/>
            <a:r>
              <a:rPr sz="2200" b="1" i="0">
                <a:solidFill>
                  <a:srgbClr val="FFFFFF"/>
                </a:solidFill>
                <a:latin typeface="Cambria"/>
              </a:rPr>
              <a:t>TRANSFORMATION ROADMAP</a:t>
            </a:r>
          </a:p>
        </p:txBody>
      </p:sp>
      <p:sp>
        <p:nvSpPr>
          <p:cNvPr id="5" name="TextBox 4"/>
          <p:cNvSpPr txBox="1"/>
          <p:nvPr/>
        </p:nvSpPr>
        <p:spPr>
          <a:xfrm>
            <a:off x="274320" y="548640"/>
            <a:ext cx="10972800" cy="320040"/>
          </a:xfrm>
          <a:prstGeom prst="rect">
            <a:avLst/>
          </a:prstGeom>
          <a:noFill/>
        </p:spPr>
        <p:txBody>
          <a:bodyPr wrap="square">
            <a:spAutoFit/>
          </a:bodyPr>
          <a:lstStyle/>
          <a:p>
            <a:pPr algn="l"/>
            <a:r>
              <a:rPr sz="1100" b="0" i="0">
                <a:solidFill>
                  <a:srgbClr val="A0C8FF"/>
                </a:solidFill>
                <a:latin typeface="Calibri"/>
              </a:rPr>
              <a:t>From Quick Wins to Enterprise Multi-Agent Platform — Agent-Level 12-Month Journey</a:t>
            </a:r>
          </a:p>
        </p:txBody>
      </p:sp>
      <p:sp>
        <p:nvSpPr>
          <p:cNvPr id="6" name="Rectangle 5"/>
          <p:cNvSpPr/>
          <p:nvPr/>
        </p:nvSpPr>
        <p:spPr>
          <a:xfrm>
            <a:off x="0" y="6675120"/>
            <a:ext cx="12191695" cy="182880"/>
          </a:xfrm>
          <a:prstGeom prst="rect">
            <a:avLst/>
          </a:prstGeom>
          <a:solidFill>
            <a:srgbClr val="EC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84264"/>
            <a:ext cx="10972800" cy="164592"/>
          </a:xfrm>
          <a:prstGeom prst="rect">
            <a:avLst/>
          </a:prstGeom>
          <a:noFill/>
        </p:spPr>
        <p:txBody>
          <a:bodyPr wrap="square">
            <a:spAutoFit/>
          </a:bodyPr>
          <a:lstStyle/>
          <a:p>
            <a:pPr algn="l"/>
            <a:r>
              <a:rPr sz="700" b="0" i="0">
                <a:solidFill>
                  <a:srgbClr val="5D6D7E"/>
                </a:solidFill>
                <a:latin typeface="Calibri"/>
              </a:rPr>
              <a:t>CONFIDENTIAL  |  Technology Strategy Practice  |  Not for Distribution</a:t>
            </a:r>
          </a:p>
        </p:txBody>
      </p:sp>
      <p:sp>
        <p:nvSpPr>
          <p:cNvPr id="8" name="Rectangle 7"/>
          <p:cNvSpPr/>
          <p:nvPr/>
        </p:nvSpPr>
        <p:spPr>
          <a:xfrm>
            <a:off x="182880" y="932688"/>
            <a:ext cx="11823192" cy="29260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987552"/>
            <a:ext cx="939545" cy="201168"/>
          </a:xfrm>
          <a:prstGeom prst="rect">
            <a:avLst/>
          </a:prstGeom>
          <a:noFill/>
        </p:spPr>
        <p:txBody>
          <a:bodyPr wrap="square">
            <a:spAutoFit/>
          </a:bodyPr>
          <a:lstStyle/>
          <a:p>
            <a:pPr algn="ctr"/>
            <a:r>
              <a:rPr sz="750" b="0" i="0">
                <a:solidFill>
                  <a:srgbClr val="A0C8FF"/>
                </a:solidFill>
                <a:latin typeface="Calibri"/>
              </a:rPr>
              <a:t>Jan</a:t>
            </a:r>
          </a:p>
        </p:txBody>
      </p:sp>
      <p:sp>
        <p:nvSpPr>
          <p:cNvPr id="10" name="TextBox 9"/>
          <p:cNvSpPr txBox="1"/>
          <p:nvPr/>
        </p:nvSpPr>
        <p:spPr>
          <a:xfrm>
            <a:off x="1213866" y="987552"/>
            <a:ext cx="939545" cy="201168"/>
          </a:xfrm>
          <a:prstGeom prst="rect">
            <a:avLst/>
          </a:prstGeom>
          <a:noFill/>
        </p:spPr>
        <p:txBody>
          <a:bodyPr wrap="square">
            <a:spAutoFit/>
          </a:bodyPr>
          <a:lstStyle/>
          <a:p>
            <a:pPr algn="ctr"/>
            <a:r>
              <a:rPr sz="750" b="0" i="0">
                <a:solidFill>
                  <a:srgbClr val="A0C8FF"/>
                </a:solidFill>
                <a:latin typeface="Calibri"/>
              </a:rPr>
              <a:t>Feb</a:t>
            </a:r>
          </a:p>
        </p:txBody>
      </p:sp>
      <p:sp>
        <p:nvSpPr>
          <p:cNvPr id="11" name="TextBox 10"/>
          <p:cNvSpPr txBox="1"/>
          <p:nvPr/>
        </p:nvSpPr>
        <p:spPr>
          <a:xfrm>
            <a:off x="2199132" y="987552"/>
            <a:ext cx="939545" cy="201168"/>
          </a:xfrm>
          <a:prstGeom prst="rect">
            <a:avLst/>
          </a:prstGeom>
          <a:noFill/>
        </p:spPr>
        <p:txBody>
          <a:bodyPr wrap="square">
            <a:spAutoFit/>
          </a:bodyPr>
          <a:lstStyle/>
          <a:p>
            <a:pPr algn="ctr"/>
            <a:r>
              <a:rPr sz="750" b="0" i="0">
                <a:solidFill>
                  <a:srgbClr val="A0C8FF"/>
                </a:solidFill>
                <a:latin typeface="Calibri"/>
              </a:rPr>
              <a:t>Mar</a:t>
            </a:r>
          </a:p>
        </p:txBody>
      </p:sp>
      <p:sp>
        <p:nvSpPr>
          <p:cNvPr id="12" name="TextBox 11"/>
          <p:cNvSpPr txBox="1"/>
          <p:nvPr/>
        </p:nvSpPr>
        <p:spPr>
          <a:xfrm>
            <a:off x="3184398" y="987552"/>
            <a:ext cx="939545" cy="201168"/>
          </a:xfrm>
          <a:prstGeom prst="rect">
            <a:avLst/>
          </a:prstGeom>
          <a:noFill/>
        </p:spPr>
        <p:txBody>
          <a:bodyPr wrap="square">
            <a:spAutoFit/>
          </a:bodyPr>
          <a:lstStyle/>
          <a:p>
            <a:pPr algn="ctr"/>
            <a:r>
              <a:rPr sz="750" b="0" i="0">
                <a:solidFill>
                  <a:srgbClr val="A0C8FF"/>
                </a:solidFill>
                <a:latin typeface="Calibri"/>
              </a:rPr>
              <a:t>Apr</a:t>
            </a:r>
          </a:p>
        </p:txBody>
      </p:sp>
      <p:sp>
        <p:nvSpPr>
          <p:cNvPr id="13" name="TextBox 12"/>
          <p:cNvSpPr txBox="1"/>
          <p:nvPr/>
        </p:nvSpPr>
        <p:spPr>
          <a:xfrm>
            <a:off x="4169663" y="987552"/>
            <a:ext cx="939545" cy="201168"/>
          </a:xfrm>
          <a:prstGeom prst="rect">
            <a:avLst/>
          </a:prstGeom>
          <a:noFill/>
        </p:spPr>
        <p:txBody>
          <a:bodyPr wrap="square">
            <a:spAutoFit/>
          </a:bodyPr>
          <a:lstStyle/>
          <a:p>
            <a:pPr algn="ctr"/>
            <a:r>
              <a:rPr sz="750" b="0" i="0">
                <a:solidFill>
                  <a:srgbClr val="A0C8FF"/>
                </a:solidFill>
                <a:latin typeface="Calibri"/>
              </a:rPr>
              <a:t>May</a:t>
            </a:r>
          </a:p>
        </p:txBody>
      </p:sp>
      <p:sp>
        <p:nvSpPr>
          <p:cNvPr id="14" name="TextBox 13"/>
          <p:cNvSpPr txBox="1"/>
          <p:nvPr/>
        </p:nvSpPr>
        <p:spPr>
          <a:xfrm>
            <a:off x="5154930" y="987552"/>
            <a:ext cx="939545" cy="201168"/>
          </a:xfrm>
          <a:prstGeom prst="rect">
            <a:avLst/>
          </a:prstGeom>
          <a:noFill/>
        </p:spPr>
        <p:txBody>
          <a:bodyPr wrap="square">
            <a:spAutoFit/>
          </a:bodyPr>
          <a:lstStyle/>
          <a:p>
            <a:pPr algn="ctr"/>
            <a:r>
              <a:rPr sz="750" b="0" i="0">
                <a:solidFill>
                  <a:srgbClr val="A0C8FF"/>
                </a:solidFill>
                <a:latin typeface="Calibri"/>
              </a:rPr>
              <a:t>Jun</a:t>
            </a:r>
          </a:p>
        </p:txBody>
      </p:sp>
      <p:sp>
        <p:nvSpPr>
          <p:cNvPr id="15" name="TextBox 14"/>
          <p:cNvSpPr txBox="1"/>
          <p:nvPr/>
        </p:nvSpPr>
        <p:spPr>
          <a:xfrm>
            <a:off x="6140196" y="987552"/>
            <a:ext cx="939545" cy="201168"/>
          </a:xfrm>
          <a:prstGeom prst="rect">
            <a:avLst/>
          </a:prstGeom>
          <a:noFill/>
        </p:spPr>
        <p:txBody>
          <a:bodyPr wrap="square">
            <a:spAutoFit/>
          </a:bodyPr>
          <a:lstStyle/>
          <a:p>
            <a:pPr algn="ctr"/>
            <a:r>
              <a:rPr sz="750" b="0" i="0">
                <a:solidFill>
                  <a:srgbClr val="A0C8FF"/>
                </a:solidFill>
                <a:latin typeface="Calibri"/>
              </a:rPr>
              <a:t>Jul</a:t>
            </a:r>
          </a:p>
        </p:txBody>
      </p:sp>
      <p:sp>
        <p:nvSpPr>
          <p:cNvPr id="16" name="TextBox 15"/>
          <p:cNvSpPr txBox="1"/>
          <p:nvPr/>
        </p:nvSpPr>
        <p:spPr>
          <a:xfrm>
            <a:off x="7125462" y="987552"/>
            <a:ext cx="939545" cy="201168"/>
          </a:xfrm>
          <a:prstGeom prst="rect">
            <a:avLst/>
          </a:prstGeom>
          <a:noFill/>
        </p:spPr>
        <p:txBody>
          <a:bodyPr wrap="square">
            <a:spAutoFit/>
          </a:bodyPr>
          <a:lstStyle/>
          <a:p>
            <a:pPr algn="ctr"/>
            <a:r>
              <a:rPr sz="750" b="0" i="0">
                <a:solidFill>
                  <a:srgbClr val="A0C8FF"/>
                </a:solidFill>
                <a:latin typeface="Calibri"/>
              </a:rPr>
              <a:t>Aug</a:t>
            </a:r>
          </a:p>
        </p:txBody>
      </p:sp>
      <p:sp>
        <p:nvSpPr>
          <p:cNvPr id="17" name="TextBox 16"/>
          <p:cNvSpPr txBox="1"/>
          <p:nvPr/>
        </p:nvSpPr>
        <p:spPr>
          <a:xfrm>
            <a:off x="8110727" y="987552"/>
            <a:ext cx="939545" cy="201168"/>
          </a:xfrm>
          <a:prstGeom prst="rect">
            <a:avLst/>
          </a:prstGeom>
          <a:noFill/>
        </p:spPr>
        <p:txBody>
          <a:bodyPr wrap="square">
            <a:spAutoFit/>
          </a:bodyPr>
          <a:lstStyle/>
          <a:p>
            <a:pPr algn="ctr"/>
            <a:r>
              <a:rPr sz="750" b="0" i="0">
                <a:solidFill>
                  <a:srgbClr val="A0C8FF"/>
                </a:solidFill>
                <a:latin typeface="Calibri"/>
              </a:rPr>
              <a:t>Sep</a:t>
            </a:r>
          </a:p>
        </p:txBody>
      </p:sp>
      <p:sp>
        <p:nvSpPr>
          <p:cNvPr id="18" name="TextBox 17"/>
          <p:cNvSpPr txBox="1"/>
          <p:nvPr/>
        </p:nvSpPr>
        <p:spPr>
          <a:xfrm>
            <a:off x="9095994" y="987552"/>
            <a:ext cx="939545" cy="201168"/>
          </a:xfrm>
          <a:prstGeom prst="rect">
            <a:avLst/>
          </a:prstGeom>
          <a:noFill/>
        </p:spPr>
        <p:txBody>
          <a:bodyPr wrap="square">
            <a:spAutoFit/>
          </a:bodyPr>
          <a:lstStyle/>
          <a:p>
            <a:pPr algn="ctr"/>
            <a:r>
              <a:rPr sz="750" b="0" i="0">
                <a:solidFill>
                  <a:srgbClr val="A0C8FF"/>
                </a:solidFill>
                <a:latin typeface="Calibri"/>
              </a:rPr>
              <a:t>Oct</a:t>
            </a:r>
          </a:p>
        </p:txBody>
      </p:sp>
      <p:sp>
        <p:nvSpPr>
          <p:cNvPr id="19" name="TextBox 18"/>
          <p:cNvSpPr txBox="1"/>
          <p:nvPr/>
        </p:nvSpPr>
        <p:spPr>
          <a:xfrm>
            <a:off x="10081260" y="987552"/>
            <a:ext cx="939545" cy="201168"/>
          </a:xfrm>
          <a:prstGeom prst="rect">
            <a:avLst/>
          </a:prstGeom>
          <a:noFill/>
        </p:spPr>
        <p:txBody>
          <a:bodyPr wrap="square">
            <a:spAutoFit/>
          </a:bodyPr>
          <a:lstStyle/>
          <a:p>
            <a:pPr algn="ctr"/>
            <a:r>
              <a:rPr sz="750" b="0" i="0">
                <a:solidFill>
                  <a:srgbClr val="A0C8FF"/>
                </a:solidFill>
                <a:latin typeface="Calibri"/>
              </a:rPr>
              <a:t>Nov</a:t>
            </a:r>
          </a:p>
        </p:txBody>
      </p:sp>
      <p:sp>
        <p:nvSpPr>
          <p:cNvPr id="20" name="TextBox 19"/>
          <p:cNvSpPr txBox="1"/>
          <p:nvPr/>
        </p:nvSpPr>
        <p:spPr>
          <a:xfrm>
            <a:off x="11066526" y="987552"/>
            <a:ext cx="939545" cy="201168"/>
          </a:xfrm>
          <a:prstGeom prst="rect">
            <a:avLst/>
          </a:prstGeom>
          <a:noFill/>
        </p:spPr>
        <p:txBody>
          <a:bodyPr wrap="square">
            <a:spAutoFit/>
          </a:bodyPr>
          <a:lstStyle/>
          <a:p>
            <a:pPr algn="ctr"/>
            <a:r>
              <a:rPr sz="750" b="0" i="0">
                <a:solidFill>
                  <a:srgbClr val="A0C8FF"/>
                </a:solidFill>
                <a:latin typeface="Calibri"/>
              </a:rPr>
              <a:t>Dec</a:t>
            </a:r>
          </a:p>
        </p:txBody>
      </p:sp>
      <p:sp>
        <p:nvSpPr>
          <p:cNvPr id="21" name="Rectangle 20"/>
          <p:cNvSpPr/>
          <p:nvPr/>
        </p:nvSpPr>
        <p:spPr>
          <a:xfrm>
            <a:off x="182880" y="1225296"/>
            <a:ext cx="2953512" cy="36576"/>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136392" y="1225296"/>
            <a:ext cx="2953512" cy="36576"/>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089904" y="1225296"/>
            <a:ext cx="5916168" cy="36576"/>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55448" y="1371600"/>
            <a:ext cx="3870960" cy="5166360"/>
          </a:xfrm>
          <a:prstGeom prst="roundRect">
            <a:avLst>
              <a:gd name="adj" fmla="val 6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55448" y="1371600"/>
            <a:ext cx="3870960" cy="54864"/>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55448" y="1371600"/>
            <a:ext cx="3870960" cy="65836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46888" y="1426464"/>
            <a:ext cx="3733799" cy="274320"/>
          </a:xfrm>
          <a:prstGeom prst="rect">
            <a:avLst/>
          </a:prstGeom>
          <a:noFill/>
        </p:spPr>
        <p:txBody>
          <a:bodyPr wrap="square">
            <a:spAutoFit/>
          </a:bodyPr>
          <a:lstStyle/>
          <a:p>
            <a:pPr algn="l"/>
            <a:r>
              <a:rPr sz="1200" b="1" i="0">
                <a:solidFill>
                  <a:srgbClr val="1E8B4C"/>
                </a:solidFill>
                <a:latin typeface="Calibri"/>
              </a:rPr>
              <a:t>PHASE 1</a:t>
            </a:r>
          </a:p>
        </p:txBody>
      </p:sp>
      <p:sp>
        <p:nvSpPr>
          <p:cNvPr id="28" name="TextBox 27"/>
          <p:cNvSpPr txBox="1"/>
          <p:nvPr/>
        </p:nvSpPr>
        <p:spPr>
          <a:xfrm>
            <a:off x="246888" y="1691640"/>
            <a:ext cx="3733799" cy="201168"/>
          </a:xfrm>
          <a:prstGeom prst="rect">
            <a:avLst/>
          </a:prstGeom>
          <a:noFill/>
        </p:spPr>
        <p:txBody>
          <a:bodyPr wrap="square">
            <a:spAutoFit/>
          </a:bodyPr>
          <a:lstStyle/>
          <a:p>
            <a:pPr algn="l"/>
            <a:r>
              <a:rPr sz="800" b="0" i="0">
                <a:solidFill>
                  <a:srgbClr val="A0C8FF"/>
                </a:solidFill>
                <a:latin typeface="Calibri"/>
              </a:rPr>
              <a:t>Month 0–3</a:t>
            </a:r>
          </a:p>
        </p:txBody>
      </p:sp>
      <p:sp>
        <p:nvSpPr>
          <p:cNvPr id="29" name="TextBox 28"/>
          <p:cNvSpPr txBox="1"/>
          <p:nvPr/>
        </p:nvSpPr>
        <p:spPr>
          <a:xfrm>
            <a:off x="246888" y="1865376"/>
            <a:ext cx="3483864" cy="182880"/>
          </a:xfrm>
          <a:prstGeom prst="rect">
            <a:avLst/>
          </a:prstGeom>
          <a:noFill/>
        </p:spPr>
        <p:txBody>
          <a:bodyPr wrap="square">
            <a:spAutoFit/>
          </a:bodyPr>
          <a:lstStyle/>
          <a:p>
            <a:pPr algn="l"/>
            <a:r>
              <a:rPr sz="750" b="1" i="0">
                <a:solidFill>
                  <a:srgbClr val="FFFFFF"/>
                </a:solidFill>
                <a:latin typeface="Calibri"/>
              </a:rPr>
              <a:t>Foundation &amp; Quick Wins</a:t>
            </a:r>
          </a:p>
        </p:txBody>
      </p:sp>
      <p:sp>
        <p:nvSpPr>
          <p:cNvPr id="30" name="Rounded Rectangle 29"/>
          <p:cNvSpPr/>
          <p:nvPr/>
        </p:nvSpPr>
        <p:spPr>
          <a:xfrm>
            <a:off x="228600" y="2121408"/>
            <a:ext cx="3724656" cy="457200"/>
          </a:xfrm>
          <a:prstGeom prst="roundRect">
            <a:avLst>
              <a:gd name="adj" fmla="val 5000"/>
            </a:avLst>
          </a:prstGeom>
          <a:solidFill>
            <a:srgbClr val="EAEDF2"/>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28600" y="2121408"/>
            <a:ext cx="36576" cy="4572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20040" y="2167127"/>
            <a:ext cx="3486912" cy="201168"/>
          </a:xfrm>
          <a:prstGeom prst="rect">
            <a:avLst/>
          </a:prstGeom>
          <a:noFill/>
        </p:spPr>
        <p:txBody>
          <a:bodyPr wrap="square">
            <a:spAutoFit/>
          </a:bodyPr>
          <a:lstStyle/>
          <a:p>
            <a:pPr algn="l"/>
            <a:r>
              <a:rPr sz="800" b="1" i="0">
                <a:solidFill>
                  <a:srgbClr val="0D1B3E"/>
                </a:solidFill>
                <a:latin typeface="Calibri"/>
              </a:rPr>
              <a:t>Documentation</a:t>
            </a:r>
          </a:p>
        </p:txBody>
      </p:sp>
      <p:sp>
        <p:nvSpPr>
          <p:cNvPr id="33" name="Rounded Rectangle 32"/>
          <p:cNvSpPr/>
          <p:nvPr/>
        </p:nvSpPr>
        <p:spPr>
          <a:xfrm>
            <a:off x="320040" y="2359152"/>
            <a:ext cx="502920" cy="164592"/>
          </a:xfrm>
          <a:prstGeom prst="roundRect">
            <a:avLst>
              <a:gd name="adj" fmla="val 15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20040" y="2368296"/>
            <a:ext cx="502920" cy="146304"/>
          </a:xfrm>
          <a:prstGeom prst="rect">
            <a:avLst/>
          </a:prstGeom>
          <a:noFill/>
        </p:spPr>
        <p:txBody>
          <a:bodyPr wrap="square">
            <a:spAutoFit/>
          </a:bodyPr>
          <a:lstStyle/>
          <a:p>
            <a:pPr algn="ctr"/>
            <a:r>
              <a:rPr sz="600" b="1" i="0">
                <a:solidFill>
                  <a:srgbClr val="FFFFFF"/>
                </a:solidFill>
                <a:latin typeface="Calibri"/>
              </a:rPr>
              <a:t>L</a:t>
            </a:r>
          </a:p>
        </p:txBody>
      </p:sp>
      <p:sp>
        <p:nvSpPr>
          <p:cNvPr id="35" name="Rounded Rectangle 34"/>
          <p:cNvSpPr/>
          <p:nvPr/>
        </p:nvSpPr>
        <p:spPr>
          <a:xfrm>
            <a:off x="850392" y="2359152"/>
            <a:ext cx="502920" cy="164592"/>
          </a:xfrm>
          <a:prstGeom prst="roundRect">
            <a:avLst>
              <a:gd name="adj" fmla="val 15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50392" y="2368296"/>
            <a:ext cx="502920" cy="146304"/>
          </a:xfrm>
          <a:prstGeom prst="rect">
            <a:avLst/>
          </a:prstGeom>
          <a:noFill/>
        </p:spPr>
        <p:txBody>
          <a:bodyPr wrap="square">
            <a:spAutoFit/>
          </a:bodyPr>
          <a:lstStyle/>
          <a:p>
            <a:pPr algn="ctr"/>
            <a:r>
              <a:rPr sz="600" b="1" i="0">
                <a:solidFill>
                  <a:srgbClr val="FFFFFF"/>
                </a:solidFill>
                <a:latin typeface="Calibri"/>
              </a:rPr>
              <a:t>H:L</a:t>
            </a:r>
          </a:p>
        </p:txBody>
      </p:sp>
      <p:sp>
        <p:nvSpPr>
          <p:cNvPr id="37" name="TextBox 36"/>
          <p:cNvSpPr txBox="1"/>
          <p:nvPr/>
        </p:nvSpPr>
        <p:spPr>
          <a:xfrm>
            <a:off x="1389888" y="2368296"/>
            <a:ext cx="1097280" cy="146304"/>
          </a:xfrm>
          <a:prstGeom prst="rect">
            <a:avLst/>
          </a:prstGeom>
          <a:noFill/>
        </p:spPr>
        <p:txBody>
          <a:bodyPr wrap="square">
            <a:spAutoFit/>
          </a:bodyPr>
          <a:lstStyle/>
          <a:p>
            <a:pPr algn="l"/>
            <a:r>
              <a:rPr sz="600" b="0" i="0">
                <a:solidFill>
                  <a:srgbClr val="1E8B4C"/>
                </a:solidFill>
                <a:latin typeface="Calibri"/>
              </a:rPr>
              <a:t>HIGH</a:t>
            </a:r>
          </a:p>
        </p:txBody>
      </p:sp>
      <p:sp>
        <p:nvSpPr>
          <p:cNvPr id="38" name="Rounded Rectangle 37"/>
          <p:cNvSpPr/>
          <p:nvPr/>
        </p:nvSpPr>
        <p:spPr>
          <a:xfrm>
            <a:off x="228600" y="2615184"/>
            <a:ext cx="3724656" cy="457200"/>
          </a:xfrm>
          <a:prstGeom prst="roundRect">
            <a:avLst>
              <a:gd name="adj" fmla="val 5000"/>
            </a:avLst>
          </a:prstGeom>
          <a:solidFill>
            <a:srgbClr val="EAEDF2"/>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28600" y="2615184"/>
            <a:ext cx="36576" cy="4572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20040" y="2660903"/>
            <a:ext cx="3486912" cy="201168"/>
          </a:xfrm>
          <a:prstGeom prst="rect">
            <a:avLst/>
          </a:prstGeom>
          <a:noFill/>
        </p:spPr>
        <p:txBody>
          <a:bodyPr wrap="square">
            <a:spAutoFit/>
          </a:bodyPr>
          <a:lstStyle/>
          <a:p>
            <a:pPr algn="l"/>
            <a:r>
              <a:rPr sz="800" b="1" i="0">
                <a:solidFill>
                  <a:srgbClr val="0D1B3E"/>
                </a:solidFill>
                <a:latin typeface="Calibri"/>
              </a:rPr>
              <a:t>Meeting Intelligence</a:t>
            </a:r>
          </a:p>
        </p:txBody>
      </p:sp>
      <p:sp>
        <p:nvSpPr>
          <p:cNvPr id="41" name="Rounded Rectangle 40"/>
          <p:cNvSpPr/>
          <p:nvPr/>
        </p:nvSpPr>
        <p:spPr>
          <a:xfrm>
            <a:off x="320040" y="2852928"/>
            <a:ext cx="502920" cy="164592"/>
          </a:xfrm>
          <a:prstGeom prst="roundRect">
            <a:avLst>
              <a:gd name="adj" fmla="val 15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20040" y="2862072"/>
            <a:ext cx="502920" cy="146304"/>
          </a:xfrm>
          <a:prstGeom prst="rect">
            <a:avLst/>
          </a:prstGeom>
          <a:noFill/>
        </p:spPr>
        <p:txBody>
          <a:bodyPr wrap="square">
            <a:spAutoFit/>
          </a:bodyPr>
          <a:lstStyle/>
          <a:p>
            <a:pPr algn="ctr"/>
            <a:r>
              <a:rPr sz="600" b="1" i="0">
                <a:solidFill>
                  <a:srgbClr val="FFFFFF"/>
                </a:solidFill>
                <a:latin typeface="Calibri"/>
              </a:rPr>
              <a:t>L</a:t>
            </a:r>
          </a:p>
        </p:txBody>
      </p:sp>
      <p:sp>
        <p:nvSpPr>
          <p:cNvPr id="43" name="Rounded Rectangle 42"/>
          <p:cNvSpPr/>
          <p:nvPr/>
        </p:nvSpPr>
        <p:spPr>
          <a:xfrm>
            <a:off x="850392" y="2852928"/>
            <a:ext cx="502920" cy="164592"/>
          </a:xfrm>
          <a:prstGeom prst="roundRect">
            <a:avLst>
              <a:gd name="adj" fmla="val 15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50392" y="2862072"/>
            <a:ext cx="502920" cy="146304"/>
          </a:xfrm>
          <a:prstGeom prst="rect">
            <a:avLst/>
          </a:prstGeom>
          <a:noFill/>
        </p:spPr>
        <p:txBody>
          <a:bodyPr wrap="square">
            <a:spAutoFit/>
          </a:bodyPr>
          <a:lstStyle/>
          <a:p>
            <a:pPr algn="ctr"/>
            <a:r>
              <a:rPr sz="600" b="1" i="0">
                <a:solidFill>
                  <a:srgbClr val="FFFFFF"/>
                </a:solidFill>
                <a:latin typeface="Calibri"/>
              </a:rPr>
              <a:t>H:L</a:t>
            </a:r>
          </a:p>
        </p:txBody>
      </p:sp>
      <p:sp>
        <p:nvSpPr>
          <p:cNvPr id="45" name="TextBox 44"/>
          <p:cNvSpPr txBox="1"/>
          <p:nvPr/>
        </p:nvSpPr>
        <p:spPr>
          <a:xfrm>
            <a:off x="1389888" y="2862072"/>
            <a:ext cx="1097280" cy="146304"/>
          </a:xfrm>
          <a:prstGeom prst="rect">
            <a:avLst/>
          </a:prstGeom>
          <a:noFill/>
        </p:spPr>
        <p:txBody>
          <a:bodyPr wrap="square">
            <a:spAutoFit/>
          </a:bodyPr>
          <a:lstStyle/>
          <a:p>
            <a:pPr algn="l"/>
            <a:r>
              <a:rPr sz="600" b="0" i="0">
                <a:solidFill>
                  <a:srgbClr val="1E8B4C"/>
                </a:solidFill>
                <a:latin typeface="Calibri"/>
              </a:rPr>
              <a:t>HIGH</a:t>
            </a:r>
          </a:p>
        </p:txBody>
      </p:sp>
      <p:sp>
        <p:nvSpPr>
          <p:cNvPr id="46" name="Rounded Rectangle 45"/>
          <p:cNvSpPr/>
          <p:nvPr/>
        </p:nvSpPr>
        <p:spPr>
          <a:xfrm>
            <a:off x="228600" y="3108960"/>
            <a:ext cx="3724656" cy="457200"/>
          </a:xfrm>
          <a:prstGeom prst="roundRect">
            <a:avLst>
              <a:gd name="adj" fmla="val 5000"/>
            </a:avLst>
          </a:prstGeom>
          <a:solidFill>
            <a:srgbClr val="EAEDF2"/>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228600" y="3108960"/>
            <a:ext cx="36576" cy="4572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20040" y="3154679"/>
            <a:ext cx="3486912" cy="201168"/>
          </a:xfrm>
          <a:prstGeom prst="rect">
            <a:avLst/>
          </a:prstGeom>
          <a:noFill/>
        </p:spPr>
        <p:txBody>
          <a:bodyPr wrap="square">
            <a:spAutoFit/>
          </a:bodyPr>
          <a:lstStyle/>
          <a:p>
            <a:pPr algn="l"/>
            <a:r>
              <a:rPr sz="800" b="1" i="0">
                <a:solidFill>
                  <a:srgbClr val="0D1B3E"/>
                </a:solidFill>
                <a:latin typeface="Calibri"/>
              </a:rPr>
              <a:t>User Story Generator</a:t>
            </a:r>
          </a:p>
        </p:txBody>
      </p:sp>
      <p:sp>
        <p:nvSpPr>
          <p:cNvPr id="49" name="Rounded Rectangle 48"/>
          <p:cNvSpPr/>
          <p:nvPr/>
        </p:nvSpPr>
        <p:spPr>
          <a:xfrm>
            <a:off x="320040" y="3346704"/>
            <a:ext cx="502920" cy="16459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20040" y="3355848"/>
            <a:ext cx="502920" cy="146304"/>
          </a:xfrm>
          <a:prstGeom prst="rect">
            <a:avLst/>
          </a:prstGeom>
          <a:noFill/>
        </p:spPr>
        <p:txBody>
          <a:bodyPr wrap="square">
            <a:spAutoFit/>
          </a:bodyPr>
          <a:lstStyle/>
          <a:p>
            <a:pPr algn="ctr"/>
            <a:r>
              <a:rPr sz="600" b="1" i="0">
                <a:solidFill>
                  <a:srgbClr val="FFFFFF"/>
                </a:solidFill>
                <a:latin typeface="Calibri"/>
              </a:rPr>
              <a:t>M</a:t>
            </a:r>
          </a:p>
        </p:txBody>
      </p:sp>
      <p:sp>
        <p:nvSpPr>
          <p:cNvPr id="51" name="Rounded Rectangle 50"/>
          <p:cNvSpPr/>
          <p:nvPr/>
        </p:nvSpPr>
        <p:spPr>
          <a:xfrm>
            <a:off x="850392" y="3346704"/>
            <a:ext cx="502920" cy="16459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50392" y="3355848"/>
            <a:ext cx="502920" cy="146304"/>
          </a:xfrm>
          <a:prstGeom prst="rect">
            <a:avLst/>
          </a:prstGeom>
          <a:noFill/>
        </p:spPr>
        <p:txBody>
          <a:bodyPr wrap="square">
            <a:spAutoFit/>
          </a:bodyPr>
          <a:lstStyle/>
          <a:p>
            <a:pPr algn="ctr"/>
            <a:r>
              <a:rPr sz="600" b="1" i="0">
                <a:solidFill>
                  <a:srgbClr val="FFFFFF"/>
                </a:solidFill>
                <a:latin typeface="Calibri"/>
              </a:rPr>
              <a:t>H:M</a:t>
            </a:r>
          </a:p>
        </p:txBody>
      </p:sp>
      <p:sp>
        <p:nvSpPr>
          <p:cNvPr id="53" name="TextBox 52"/>
          <p:cNvSpPr txBox="1"/>
          <p:nvPr/>
        </p:nvSpPr>
        <p:spPr>
          <a:xfrm>
            <a:off x="1389888" y="3355848"/>
            <a:ext cx="1097280" cy="146304"/>
          </a:xfrm>
          <a:prstGeom prst="rect">
            <a:avLst/>
          </a:prstGeom>
          <a:noFill/>
        </p:spPr>
        <p:txBody>
          <a:bodyPr wrap="square">
            <a:spAutoFit/>
          </a:bodyPr>
          <a:lstStyle/>
          <a:p>
            <a:pPr algn="l"/>
            <a:r>
              <a:rPr sz="600" b="0" i="0">
                <a:solidFill>
                  <a:srgbClr val="1E8B4C"/>
                </a:solidFill>
                <a:latin typeface="Calibri"/>
              </a:rPr>
              <a:t>HIGH</a:t>
            </a:r>
          </a:p>
        </p:txBody>
      </p:sp>
      <p:sp>
        <p:nvSpPr>
          <p:cNvPr id="54" name="Rounded Rectangle 53"/>
          <p:cNvSpPr/>
          <p:nvPr/>
        </p:nvSpPr>
        <p:spPr>
          <a:xfrm>
            <a:off x="228600" y="3602736"/>
            <a:ext cx="3724656" cy="457200"/>
          </a:xfrm>
          <a:prstGeom prst="roundRect">
            <a:avLst>
              <a:gd name="adj" fmla="val 5000"/>
            </a:avLst>
          </a:prstGeom>
          <a:solidFill>
            <a:srgbClr val="EAEDF2"/>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228600" y="3602736"/>
            <a:ext cx="36576" cy="4572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20040" y="3648456"/>
            <a:ext cx="3486912" cy="201168"/>
          </a:xfrm>
          <a:prstGeom prst="rect">
            <a:avLst/>
          </a:prstGeom>
          <a:noFill/>
        </p:spPr>
        <p:txBody>
          <a:bodyPr wrap="square">
            <a:spAutoFit/>
          </a:bodyPr>
          <a:lstStyle/>
          <a:p>
            <a:pPr algn="l"/>
            <a:r>
              <a:rPr sz="800" b="1" i="0">
                <a:solidFill>
                  <a:srgbClr val="0D1B3E"/>
                </a:solidFill>
                <a:latin typeface="Calibri"/>
              </a:rPr>
              <a:t>Peer Review</a:t>
            </a:r>
          </a:p>
        </p:txBody>
      </p:sp>
      <p:sp>
        <p:nvSpPr>
          <p:cNvPr id="57" name="Rounded Rectangle 56"/>
          <p:cNvSpPr/>
          <p:nvPr/>
        </p:nvSpPr>
        <p:spPr>
          <a:xfrm>
            <a:off x="320040" y="3840480"/>
            <a:ext cx="502920" cy="16459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20040" y="3849624"/>
            <a:ext cx="502920" cy="146304"/>
          </a:xfrm>
          <a:prstGeom prst="rect">
            <a:avLst/>
          </a:prstGeom>
          <a:noFill/>
        </p:spPr>
        <p:txBody>
          <a:bodyPr wrap="square">
            <a:spAutoFit/>
          </a:bodyPr>
          <a:lstStyle/>
          <a:p>
            <a:pPr algn="ctr"/>
            <a:r>
              <a:rPr sz="600" b="1" i="0">
                <a:solidFill>
                  <a:srgbClr val="FFFFFF"/>
                </a:solidFill>
                <a:latin typeface="Calibri"/>
              </a:rPr>
              <a:t>M</a:t>
            </a:r>
          </a:p>
        </p:txBody>
      </p:sp>
      <p:sp>
        <p:nvSpPr>
          <p:cNvPr id="59" name="Rounded Rectangle 58"/>
          <p:cNvSpPr/>
          <p:nvPr/>
        </p:nvSpPr>
        <p:spPr>
          <a:xfrm>
            <a:off x="850392" y="3840480"/>
            <a:ext cx="502920" cy="16459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50392" y="3849624"/>
            <a:ext cx="502920" cy="146304"/>
          </a:xfrm>
          <a:prstGeom prst="rect">
            <a:avLst/>
          </a:prstGeom>
          <a:noFill/>
        </p:spPr>
        <p:txBody>
          <a:bodyPr wrap="square">
            <a:spAutoFit/>
          </a:bodyPr>
          <a:lstStyle/>
          <a:p>
            <a:pPr algn="ctr"/>
            <a:r>
              <a:rPr sz="600" b="1" i="0">
                <a:solidFill>
                  <a:srgbClr val="FFFFFF"/>
                </a:solidFill>
                <a:latin typeface="Calibri"/>
              </a:rPr>
              <a:t>H:M</a:t>
            </a:r>
          </a:p>
        </p:txBody>
      </p:sp>
      <p:sp>
        <p:nvSpPr>
          <p:cNvPr id="61" name="TextBox 60"/>
          <p:cNvSpPr txBox="1"/>
          <p:nvPr/>
        </p:nvSpPr>
        <p:spPr>
          <a:xfrm>
            <a:off x="1389888" y="3849624"/>
            <a:ext cx="1097280" cy="146304"/>
          </a:xfrm>
          <a:prstGeom prst="rect">
            <a:avLst/>
          </a:prstGeom>
          <a:noFill/>
        </p:spPr>
        <p:txBody>
          <a:bodyPr wrap="square">
            <a:spAutoFit/>
          </a:bodyPr>
          <a:lstStyle/>
          <a:p>
            <a:pPr algn="l"/>
            <a:r>
              <a:rPr sz="600" b="0" i="0">
                <a:solidFill>
                  <a:srgbClr val="1E8B4C"/>
                </a:solidFill>
                <a:latin typeface="Calibri"/>
              </a:rPr>
              <a:t>HIGH</a:t>
            </a:r>
          </a:p>
        </p:txBody>
      </p:sp>
      <p:sp>
        <p:nvSpPr>
          <p:cNvPr id="62" name="Rounded Rectangle 61"/>
          <p:cNvSpPr/>
          <p:nvPr/>
        </p:nvSpPr>
        <p:spPr>
          <a:xfrm>
            <a:off x="228600" y="4096512"/>
            <a:ext cx="3724656" cy="457200"/>
          </a:xfrm>
          <a:prstGeom prst="roundRect">
            <a:avLst>
              <a:gd name="adj" fmla="val 5000"/>
            </a:avLst>
          </a:prstGeom>
          <a:solidFill>
            <a:srgbClr val="EAEDF2"/>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228600" y="4096512"/>
            <a:ext cx="36576" cy="4572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20040" y="4142232"/>
            <a:ext cx="3486912" cy="201168"/>
          </a:xfrm>
          <a:prstGeom prst="rect">
            <a:avLst/>
          </a:prstGeom>
          <a:noFill/>
        </p:spPr>
        <p:txBody>
          <a:bodyPr wrap="square">
            <a:spAutoFit/>
          </a:bodyPr>
          <a:lstStyle/>
          <a:p>
            <a:pPr algn="l"/>
            <a:r>
              <a:rPr sz="800" b="1" i="0">
                <a:solidFill>
                  <a:srgbClr val="0D1B3E"/>
                </a:solidFill>
                <a:latin typeface="Calibri"/>
              </a:rPr>
              <a:t>Test Generation</a:t>
            </a:r>
          </a:p>
        </p:txBody>
      </p:sp>
      <p:sp>
        <p:nvSpPr>
          <p:cNvPr id="65" name="Rounded Rectangle 64"/>
          <p:cNvSpPr/>
          <p:nvPr/>
        </p:nvSpPr>
        <p:spPr>
          <a:xfrm>
            <a:off x="320040" y="4334256"/>
            <a:ext cx="502920" cy="16459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20040" y="4343400"/>
            <a:ext cx="502920" cy="146304"/>
          </a:xfrm>
          <a:prstGeom prst="rect">
            <a:avLst/>
          </a:prstGeom>
          <a:noFill/>
        </p:spPr>
        <p:txBody>
          <a:bodyPr wrap="square">
            <a:spAutoFit/>
          </a:bodyPr>
          <a:lstStyle/>
          <a:p>
            <a:pPr algn="ctr"/>
            <a:r>
              <a:rPr sz="600" b="1" i="0">
                <a:solidFill>
                  <a:srgbClr val="FFFFFF"/>
                </a:solidFill>
                <a:latin typeface="Calibri"/>
              </a:rPr>
              <a:t>M</a:t>
            </a:r>
          </a:p>
        </p:txBody>
      </p:sp>
      <p:sp>
        <p:nvSpPr>
          <p:cNvPr id="67" name="Rounded Rectangle 66"/>
          <p:cNvSpPr/>
          <p:nvPr/>
        </p:nvSpPr>
        <p:spPr>
          <a:xfrm>
            <a:off x="850392" y="4334256"/>
            <a:ext cx="502920" cy="16459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50392" y="4343400"/>
            <a:ext cx="502920" cy="146304"/>
          </a:xfrm>
          <a:prstGeom prst="rect">
            <a:avLst/>
          </a:prstGeom>
          <a:noFill/>
        </p:spPr>
        <p:txBody>
          <a:bodyPr wrap="square">
            <a:spAutoFit/>
          </a:bodyPr>
          <a:lstStyle/>
          <a:p>
            <a:pPr algn="ctr"/>
            <a:r>
              <a:rPr sz="600" b="1" i="0">
                <a:solidFill>
                  <a:srgbClr val="FFFFFF"/>
                </a:solidFill>
                <a:latin typeface="Calibri"/>
              </a:rPr>
              <a:t>H:M</a:t>
            </a:r>
          </a:p>
        </p:txBody>
      </p:sp>
      <p:sp>
        <p:nvSpPr>
          <p:cNvPr id="69" name="TextBox 68"/>
          <p:cNvSpPr txBox="1"/>
          <p:nvPr/>
        </p:nvSpPr>
        <p:spPr>
          <a:xfrm>
            <a:off x="1389888" y="4343400"/>
            <a:ext cx="1097280" cy="146304"/>
          </a:xfrm>
          <a:prstGeom prst="rect">
            <a:avLst/>
          </a:prstGeom>
          <a:noFill/>
        </p:spPr>
        <p:txBody>
          <a:bodyPr wrap="square">
            <a:spAutoFit/>
          </a:bodyPr>
          <a:lstStyle/>
          <a:p>
            <a:pPr algn="l"/>
            <a:r>
              <a:rPr sz="600" b="0" i="0">
                <a:solidFill>
                  <a:srgbClr val="1E8B4C"/>
                </a:solidFill>
                <a:latin typeface="Calibri"/>
              </a:rPr>
              <a:t>HIGH</a:t>
            </a:r>
          </a:p>
        </p:txBody>
      </p:sp>
      <p:sp>
        <p:nvSpPr>
          <p:cNvPr id="70" name="Rectangle 69"/>
          <p:cNvSpPr/>
          <p:nvPr/>
        </p:nvSpPr>
        <p:spPr>
          <a:xfrm>
            <a:off x="210312" y="6190488"/>
            <a:ext cx="3761232" cy="54864"/>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246888" y="6263640"/>
            <a:ext cx="3688080" cy="256032"/>
          </a:xfrm>
          <a:prstGeom prst="rect">
            <a:avLst/>
          </a:prstGeom>
          <a:noFill/>
        </p:spPr>
        <p:txBody>
          <a:bodyPr wrap="square">
            <a:spAutoFit/>
          </a:bodyPr>
          <a:lstStyle/>
          <a:p>
            <a:pPr algn="l"/>
            <a:r>
              <a:rPr sz="700" b="1" i="0">
                <a:solidFill>
                  <a:srgbClr val="1E8B4C"/>
                </a:solidFill>
                <a:latin typeface="Calibri"/>
              </a:rPr>
              <a:t>✓  First agents in production within 6 weeks</a:t>
            </a:r>
          </a:p>
        </p:txBody>
      </p:sp>
      <p:sp>
        <p:nvSpPr>
          <p:cNvPr id="72" name="Rounded Rectangle 71"/>
          <p:cNvSpPr/>
          <p:nvPr/>
        </p:nvSpPr>
        <p:spPr>
          <a:xfrm>
            <a:off x="4117847" y="1371600"/>
            <a:ext cx="3870960" cy="5166360"/>
          </a:xfrm>
          <a:prstGeom prst="roundRect">
            <a:avLst>
              <a:gd name="adj" fmla="val 6000"/>
            </a:avLst>
          </a:prstGeom>
          <a:solidFill>
            <a:srgbClr val="F4F6F9"/>
          </a:solidFill>
          <a:ln w="1905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4117847" y="1371600"/>
            <a:ext cx="3870960" cy="54864"/>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4117847" y="1371600"/>
            <a:ext cx="3870960" cy="65836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209287" y="1426464"/>
            <a:ext cx="3733799" cy="274320"/>
          </a:xfrm>
          <a:prstGeom prst="rect">
            <a:avLst/>
          </a:prstGeom>
          <a:noFill/>
        </p:spPr>
        <p:txBody>
          <a:bodyPr wrap="square">
            <a:spAutoFit/>
          </a:bodyPr>
          <a:lstStyle/>
          <a:p>
            <a:pPr algn="l"/>
            <a:r>
              <a:rPr sz="1200" b="1" i="0">
                <a:solidFill>
                  <a:srgbClr val="D47F00"/>
                </a:solidFill>
                <a:latin typeface="Calibri"/>
              </a:rPr>
              <a:t>PHASE 2</a:t>
            </a:r>
          </a:p>
        </p:txBody>
      </p:sp>
      <p:sp>
        <p:nvSpPr>
          <p:cNvPr id="76" name="TextBox 75"/>
          <p:cNvSpPr txBox="1"/>
          <p:nvPr/>
        </p:nvSpPr>
        <p:spPr>
          <a:xfrm>
            <a:off x="4209287" y="1691640"/>
            <a:ext cx="3733799" cy="201168"/>
          </a:xfrm>
          <a:prstGeom prst="rect">
            <a:avLst/>
          </a:prstGeom>
          <a:noFill/>
        </p:spPr>
        <p:txBody>
          <a:bodyPr wrap="square">
            <a:spAutoFit/>
          </a:bodyPr>
          <a:lstStyle/>
          <a:p>
            <a:pPr algn="l"/>
            <a:r>
              <a:rPr sz="800" b="0" i="0">
                <a:solidFill>
                  <a:srgbClr val="A0C8FF"/>
                </a:solidFill>
                <a:latin typeface="Calibri"/>
              </a:rPr>
              <a:t>Month 3–6</a:t>
            </a:r>
          </a:p>
        </p:txBody>
      </p:sp>
      <p:sp>
        <p:nvSpPr>
          <p:cNvPr id="77" name="TextBox 76"/>
          <p:cNvSpPr txBox="1"/>
          <p:nvPr/>
        </p:nvSpPr>
        <p:spPr>
          <a:xfrm>
            <a:off x="4209287" y="1865376"/>
            <a:ext cx="3483864" cy="182880"/>
          </a:xfrm>
          <a:prstGeom prst="rect">
            <a:avLst/>
          </a:prstGeom>
          <a:noFill/>
        </p:spPr>
        <p:txBody>
          <a:bodyPr wrap="square">
            <a:spAutoFit/>
          </a:bodyPr>
          <a:lstStyle/>
          <a:p>
            <a:pPr algn="l"/>
            <a:r>
              <a:rPr sz="750" b="1" i="0">
                <a:solidFill>
                  <a:srgbClr val="FFFFFF"/>
                </a:solidFill>
                <a:latin typeface="Calibri"/>
              </a:rPr>
              <a:t>Developer &amp; Operations Agents</a:t>
            </a:r>
          </a:p>
        </p:txBody>
      </p:sp>
      <p:sp>
        <p:nvSpPr>
          <p:cNvPr id="78" name="Rounded Rectangle 77"/>
          <p:cNvSpPr/>
          <p:nvPr/>
        </p:nvSpPr>
        <p:spPr>
          <a:xfrm>
            <a:off x="4190999" y="2121408"/>
            <a:ext cx="3724656" cy="457200"/>
          </a:xfrm>
          <a:prstGeom prst="roundRect">
            <a:avLst>
              <a:gd name="adj" fmla="val 5000"/>
            </a:avLst>
          </a:prstGeom>
          <a:solidFill>
            <a:srgbClr val="EAEDF2"/>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4190999" y="2121408"/>
            <a:ext cx="36576" cy="4572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4282439" y="2167127"/>
            <a:ext cx="3486912" cy="201168"/>
          </a:xfrm>
          <a:prstGeom prst="rect">
            <a:avLst/>
          </a:prstGeom>
          <a:noFill/>
        </p:spPr>
        <p:txBody>
          <a:bodyPr wrap="square">
            <a:spAutoFit/>
          </a:bodyPr>
          <a:lstStyle/>
          <a:p>
            <a:pPr algn="l"/>
            <a:r>
              <a:rPr sz="800" b="1" i="0">
                <a:solidFill>
                  <a:srgbClr val="0D1B3E"/>
                </a:solidFill>
                <a:latin typeface="Calibri"/>
              </a:rPr>
              <a:t>Requirements Elicitation</a:t>
            </a:r>
          </a:p>
        </p:txBody>
      </p:sp>
      <p:sp>
        <p:nvSpPr>
          <p:cNvPr id="81" name="Rounded Rectangle 80"/>
          <p:cNvSpPr/>
          <p:nvPr/>
        </p:nvSpPr>
        <p:spPr>
          <a:xfrm>
            <a:off x="4282439" y="2359152"/>
            <a:ext cx="502920" cy="16459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4282439" y="2368296"/>
            <a:ext cx="502920" cy="146304"/>
          </a:xfrm>
          <a:prstGeom prst="rect">
            <a:avLst/>
          </a:prstGeom>
          <a:noFill/>
        </p:spPr>
        <p:txBody>
          <a:bodyPr wrap="square">
            <a:spAutoFit/>
          </a:bodyPr>
          <a:lstStyle/>
          <a:p>
            <a:pPr algn="ctr"/>
            <a:r>
              <a:rPr sz="600" b="1" i="0">
                <a:solidFill>
                  <a:srgbClr val="FFFFFF"/>
                </a:solidFill>
                <a:latin typeface="Calibri"/>
              </a:rPr>
              <a:t>M</a:t>
            </a:r>
          </a:p>
        </p:txBody>
      </p:sp>
      <p:sp>
        <p:nvSpPr>
          <p:cNvPr id="83" name="Rounded Rectangle 82"/>
          <p:cNvSpPr/>
          <p:nvPr/>
        </p:nvSpPr>
        <p:spPr>
          <a:xfrm>
            <a:off x="4812791" y="2359152"/>
            <a:ext cx="502920" cy="164592"/>
          </a:xfrm>
          <a:prstGeom prst="roundRect">
            <a:avLst>
              <a:gd name="adj" fmla="val 15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4812791" y="2368296"/>
            <a:ext cx="502920" cy="146304"/>
          </a:xfrm>
          <a:prstGeom prst="rect">
            <a:avLst/>
          </a:prstGeom>
          <a:noFill/>
        </p:spPr>
        <p:txBody>
          <a:bodyPr wrap="square">
            <a:spAutoFit/>
          </a:bodyPr>
          <a:lstStyle/>
          <a:p>
            <a:pPr algn="ctr"/>
            <a:r>
              <a:rPr sz="600" b="1" i="0">
                <a:solidFill>
                  <a:srgbClr val="FFFFFF"/>
                </a:solidFill>
                <a:latin typeface="Calibri"/>
              </a:rPr>
              <a:t>H:H</a:t>
            </a:r>
          </a:p>
        </p:txBody>
      </p:sp>
      <p:sp>
        <p:nvSpPr>
          <p:cNvPr id="85" name="TextBox 84"/>
          <p:cNvSpPr txBox="1"/>
          <p:nvPr/>
        </p:nvSpPr>
        <p:spPr>
          <a:xfrm>
            <a:off x="5352288" y="2368296"/>
            <a:ext cx="1097280" cy="146304"/>
          </a:xfrm>
          <a:prstGeom prst="rect">
            <a:avLst/>
          </a:prstGeom>
          <a:noFill/>
        </p:spPr>
        <p:txBody>
          <a:bodyPr wrap="square">
            <a:spAutoFit/>
          </a:bodyPr>
          <a:lstStyle/>
          <a:p>
            <a:pPr algn="l"/>
            <a:r>
              <a:rPr sz="600" b="0" i="0">
                <a:solidFill>
                  <a:srgbClr val="1E8B4C"/>
                </a:solidFill>
                <a:latin typeface="Calibri"/>
              </a:rPr>
              <a:t>HIGH</a:t>
            </a:r>
          </a:p>
        </p:txBody>
      </p:sp>
      <p:sp>
        <p:nvSpPr>
          <p:cNvPr id="86" name="Rounded Rectangle 85"/>
          <p:cNvSpPr/>
          <p:nvPr/>
        </p:nvSpPr>
        <p:spPr>
          <a:xfrm>
            <a:off x="4190999" y="2615184"/>
            <a:ext cx="3724656" cy="457200"/>
          </a:xfrm>
          <a:prstGeom prst="roundRect">
            <a:avLst>
              <a:gd name="adj" fmla="val 5000"/>
            </a:avLst>
          </a:prstGeom>
          <a:solidFill>
            <a:srgbClr val="EAEDF2"/>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4190999" y="2615184"/>
            <a:ext cx="36576" cy="4572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4282439" y="2660903"/>
            <a:ext cx="3486912" cy="201168"/>
          </a:xfrm>
          <a:prstGeom prst="rect">
            <a:avLst/>
          </a:prstGeom>
          <a:noFill/>
        </p:spPr>
        <p:txBody>
          <a:bodyPr wrap="square">
            <a:spAutoFit/>
          </a:bodyPr>
          <a:lstStyle/>
          <a:p>
            <a:pPr algn="l"/>
            <a:r>
              <a:rPr sz="800" b="1" i="0">
                <a:solidFill>
                  <a:srgbClr val="0D1B3E"/>
                </a:solidFill>
                <a:latin typeface="Calibri"/>
              </a:rPr>
              <a:t>API Design</a:t>
            </a:r>
          </a:p>
        </p:txBody>
      </p:sp>
      <p:sp>
        <p:nvSpPr>
          <p:cNvPr id="89" name="Rounded Rectangle 88"/>
          <p:cNvSpPr/>
          <p:nvPr/>
        </p:nvSpPr>
        <p:spPr>
          <a:xfrm>
            <a:off x="4282439" y="2852928"/>
            <a:ext cx="502920" cy="16459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4282439" y="2862072"/>
            <a:ext cx="502920" cy="146304"/>
          </a:xfrm>
          <a:prstGeom prst="rect">
            <a:avLst/>
          </a:prstGeom>
          <a:noFill/>
        </p:spPr>
        <p:txBody>
          <a:bodyPr wrap="square">
            <a:spAutoFit/>
          </a:bodyPr>
          <a:lstStyle/>
          <a:p>
            <a:pPr algn="ctr"/>
            <a:r>
              <a:rPr sz="600" b="1" i="0">
                <a:solidFill>
                  <a:srgbClr val="FFFFFF"/>
                </a:solidFill>
                <a:latin typeface="Calibri"/>
              </a:rPr>
              <a:t>M</a:t>
            </a:r>
          </a:p>
        </p:txBody>
      </p:sp>
      <p:sp>
        <p:nvSpPr>
          <p:cNvPr id="91" name="Rounded Rectangle 90"/>
          <p:cNvSpPr/>
          <p:nvPr/>
        </p:nvSpPr>
        <p:spPr>
          <a:xfrm>
            <a:off x="4812791" y="2852928"/>
            <a:ext cx="502920" cy="16459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4812791" y="2862072"/>
            <a:ext cx="502920" cy="146304"/>
          </a:xfrm>
          <a:prstGeom prst="rect">
            <a:avLst/>
          </a:prstGeom>
          <a:noFill/>
        </p:spPr>
        <p:txBody>
          <a:bodyPr wrap="square">
            <a:spAutoFit/>
          </a:bodyPr>
          <a:lstStyle/>
          <a:p>
            <a:pPr algn="ctr"/>
            <a:r>
              <a:rPr sz="600" b="1" i="0">
                <a:solidFill>
                  <a:srgbClr val="FFFFFF"/>
                </a:solidFill>
                <a:latin typeface="Calibri"/>
              </a:rPr>
              <a:t>H:M</a:t>
            </a:r>
          </a:p>
        </p:txBody>
      </p:sp>
      <p:sp>
        <p:nvSpPr>
          <p:cNvPr id="93" name="TextBox 92"/>
          <p:cNvSpPr txBox="1"/>
          <p:nvPr/>
        </p:nvSpPr>
        <p:spPr>
          <a:xfrm>
            <a:off x="5352288" y="2862072"/>
            <a:ext cx="1097280" cy="146304"/>
          </a:xfrm>
          <a:prstGeom prst="rect">
            <a:avLst/>
          </a:prstGeom>
          <a:noFill/>
        </p:spPr>
        <p:txBody>
          <a:bodyPr wrap="square">
            <a:spAutoFit/>
          </a:bodyPr>
          <a:lstStyle/>
          <a:p>
            <a:pPr algn="l"/>
            <a:r>
              <a:rPr sz="600" b="0" i="0">
                <a:solidFill>
                  <a:srgbClr val="1E8B4C"/>
                </a:solidFill>
                <a:latin typeface="Calibri"/>
              </a:rPr>
              <a:t>HIGH</a:t>
            </a:r>
          </a:p>
        </p:txBody>
      </p:sp>
      <p:sp>
        <p:nvSpPr>
          <p:cNvPr id="94" name="Rounded Rectangle 93"/>
          <p:cNvSpPr/>
          <p:nvPr/>
        </p:nvSpPr>
        <p:spPr>
          <a:xfrm>
            <a:off x="4190999" y="3108960"/>
            <a:ext cx="3724656" cy="457200"/>
          </a:xfrm>
          <a:prstGeom prst="roundRect">
            <a:avLst>
              <a:gd name="adj" fmla="val 5000"/>
            </a:avLst>
          </a:prstGeom>
          <a:solidFill>
            <a:srgbClr val="EAEDF2"/>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4190999" y="3108960"/>
            <a:ext cx="36576" cy="4572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4282439" y="3154679"/>
            <a:ext cx="3486912" cy="201168"/>
          </a:xfrm>
          <a:prstGeom prst="rect">
            <a:avLst/>
          </a:prstGeom>
          <a:noFill/>
        </p:spPr>
        <p:txBody>
          <a:bodyPr wrap="square">
            <a:spAutoFit/>
          </a:bodyPr>
          <a:lstStyle/>
          <a:p>
            <a:pPr algn="l"/>
            <a:r>
              <a:rPr sz="800" b="1" i="0">
                <a:solidFill>
                  <a:srgbClr val="0D1B3E"/>
                </a:solidFill>
                <a:latin typeface="Calibri"/>
              </a:rPr>
              <a:t>Data Modelling</a:t>
            </a:r>
          </a:p>
        </p:txBody>
      </p:sp>
      <p:sp>
        <p:nvSpPr>
          <p:cNvPr id="97" name="Rounded Rectangle 96"/>
          <p:cNvSpPr/>
          <p:nvPr/>
        </p:nvSpPr>
        <p:spPr>
          <a:xfrm>
            <a:off x="4282439" y="3346704"/>
            <a:ext cx="502920" cy="16459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4282439" y="3355848"/>
            <a:ext cx="502920" cy="146304"/>
          </a:xfrm>
          <a:prstGeom prst="rect">
            <a:avLst/>
          </a:prstGeom>
          <a:noFill/>
        </p:spPr>
        <p:txBody>
          <a:bodyPr wrap="square">
            <a:spAutoFit/>
          </a:bodyPr>
          <a:lstStyle/>
          <a:p>
            <a:pPr algn="ctr"/>
            <a:r>
              <a:rPr sz="600" b="1" i="0">
                <a:solidFill>
                  <a:srgbClr val="FFFFFF"/>
                </a:solidFill>
                <a:latin typeface="Calibri"/>
              </a:rPr>
              <a:t>M</a:t>
            </a:r>
          </a:p>
        </p:txBody>
      </p:sp>
      <p:sp>
        <p:nvSpPr>
          <p:cNvPr id="99" name="Rounded Rectangle 98"/>
          <p:cNvSpPr/>
          <p:nvPr/>
        </p:nvSpPr>
        <p:spPr>
          <a:xfrm>
            <a:off x="4812791" y="3346704"/>
            <a:ext cx="502920" cy="16459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4812791" y="3355848"/>
            <a:ext cx="502920" cy="146304"/>
          </a:xfrm>
          <a:prstGeom prst="rect">
            <a:avLst/>
          </a:prstGeom>
          <a:noFill/>
        </p:spPr>
        <p:txBody>
          <a:bodyPr wrap="square">
            <a:spAutoFit/>
          </a:bodyPr>
          <a:lstStyle/>
          <a:p>
            <a:pPr algn="ctr"/>
            <a:r>
              <a:rPr sz="600" b="1" i="0">
                <a:solidFill>
                  <a:srgbClr val="FFFFFF"/>
                </a:solidFill>
                <a:latin typeface="Calibri"/>
              </a:rPr>
              <a:t>H:M</a:t>
            </a:r>
          </a:p>
        </p:txBody>
      </p:sp>
      <p:sp>
        <p:nvSpPr>
          <p:cNvPr id="101" name="TextBox 100"/>
          <p:cNvSpPr txBox="1"/>
          <p:nvPr/>
        </p:nvSpPr>
        <p:spPr>
          <a:xfrm>
            <a:off x="5352288" y="3355848"/>
            <a:ext cx="1097280" cy="146304"/>
          </a:xfrm>
          <a:prstGeom prst="rect">
            <a:avLst/>
          </a:prstGeom>
          <a:noFill/>
        </p:spPr>
        <p:txBody>
          <a:bodyPr wrap="square">
            <a:spAutoFit/>
          </a:bodyPr>
          <a:lstStyle/>
          <a:p>
            <a:pPr algn="l"/>
            <a:r>
              <a:rPr sz="600" b="0" i="0">
                <a:solidFill>
                  <a:srgbClr val="1E8B4C"/>
                </a:solidFill>
                <a:latin typeface="Calibri"/>
              </a:rPr>
              <a:t>HIGH</a:t>
            </a:r>
          </a:p>
        </p:txBody>
      </p:sp>
      <p:sp>
        <p:nvSpPr>
          <p:cNvPr id="102" name="Rounded Rectangle 101"/>
          <p:cNvSpPr/>
          <p:nvPr/>
        </p:nvSpPr>
        <p:spPr>
          <a:xfrm>
            <a:off x="4190999" y="3602736"/>
            <a:ext cx="3724656" cy="457200"/>
          </a:xfrm>
          <a:prstGeom prst="roundRect">
            <a:avLst>
              <a:gd name="adj" fmla="val 5000"/>
            </a:avLst>
          </a:prstGeom>
          <a:solidFill>
            <a:srgbClr val="EAEDF2"/>
          </a:solidFill>
          <a:ln w="1016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4190999" y="3602736"/>
            <a:ext cx="36576" cy="457200"/>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4282439" y="3648456"/>
            <a:ext cx="3486912" cy="201168"/>
          </a:xfrm>
          <a:prstGeom prst="rect">
            <a:avLst/>
          </a:prstGeom>
          <a:noFill/>
        </p:spPr>
        <p:txBody>
          <a:bodyPr wrap="square">
            <a:spAutoFit/>
          </a:bodyPr>
          <a:lstStyle/>
          <a:p>
            <a:pPr algn="l"/>
            <a:r>
              <a:rPr sz="800" b="1" i="0">
                <a:solidFill>
                  <a:srgbClr val="0D1B3E"/>
                </a:solidFill>
                <a:latin typeface="Calibri"/>
              </a:rPr>
              <a:t>Sprint Planner</a:t>
            </a:r>
          </a:p>
        </p:txBody>
      </p:sp>
      <p:sp>
        <p:nvSpPr>
          <p:cNvPr id="105" name="Rounded Rectangle 104"/>
          <p:cNvSpPr/>
          <p:nvPr/>
        </p:nvSpPr>
        <p:spPr>
          <a:xfrm>
            <a:off x="4282439" y="3840480"/>
            <a:ext cx="502920" cy="16459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4282439" y="3849624"/>
            <a:ext cx="502920" cy="146304"/>
          </a:xfrm>
          <a:prstGeom prst="rect">
            <a:avLst/>
          </a:prstGeom>
          <a:noFill/>
        </p:spPr>
        <p:txBody>
          <a:bodyPr wrap="square">
            <a:spAutoFit/>
          </a:bodyPr>
          <a:lstStyle/>
          <a:p>
            <a:pPr algn="ctr"/>
            <a:r>
              <a:rPr sz="600" b="1" i="0">
                <a:solidFill>
                  <a:srgbClr val="FFFFFF"/>
                </a:solidFill>
                <a:latin typeface="Calibri"/>
              </a:rPr>
              <a:t>M</a:t>
            </a:r>
          </a:p>
        </p:txBody>
      </p:sp>
      <p:sp>
        <p:nvSpPr>
          <p:cNvPr id="107" name="Rounded Rectangle 106"/>
          <p:cNvSpPr/>
          <p:nvPr/>
        </p:nvSpPr>
        <p:spPr>
          <a:xfrm>
            <a:off x="4812791" y="3840480"/>
            <a:ext cx="502920" cy="164592"/>
          </a:xfrm>
          <a:prstGeom prst="roundRect">
            <a:avLst>
              <a:gd name="adj" fmla="val 15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4812791" y="3849624"/>
            <a:ext cx="502920" cy="146304"/>
          </a:xfrm>
          <a:prstGeom prst="rect">
            <a:avLst/>
          </a:prstGeom>
          <a:noFill/>
        </p:spPr>
        <p:txBody>
          <a:bodyPr wrap="square">
            <a:spAutoFit/>
          </a:bodyPr>
          <a:lstStyle/>
          <a:p>
            <a:pPr algn="ctr"/>
            <a:r>
              <a:rPr sz="600" b="1" i="0">
                <a:solidFill>
                  <a:srgbClr val="FFFFFF"/>
                </a:solidFill>
                <a:latin typeface="Calibri"/>
              </a:rPr>
              <a:t>H:H</a:t>
            </a:r>
          </a:p>
        </p:txBody>
      </p:sp>
      <p:sp>
        <p:nvSpPr>
          <p:cNvPr id="109" name="TextBox 108"/>
          <p:cNvSpPr txBox="1"/>
          <p:nvPr/>
        </p:nvSpPr>
        <p:spPr>
          <a:xfrm>
            <a:off x="5352288" y="3849624"/>
            <a:ext cx="1097280" cy="146304"/>
          </a:xfrm>
          <a:prstGeom prst="rect">
            <a:avLst/>
          </a:prstGeom>
          <a:noFill/>
        </p:spPr>
        <p:txBody>
          <a:bodyPr wrap="square">
            <a:spAutoFit/>
          </a:bodyPr>
          <a:lstStyle/>
          <a:p>
            <a:pPr algn="l"/>
            <a:r>
              <a:rPr sz="600" b="0" i="0">
                <a:solidFill>
                  <a:srgbClr val="D47F00"/>
                </a:solidFill>
                <a:latin typeface="Calibri"/>
              </a:rPr>
              <a:t>MEDIUM</a:t>
            </a:r>
          </a:p>
        </p:txBody>
      </p:sp>
      <p:sp>
        <p:nvSpPr>
          <p:cNvPr id="110" name="Rounded Rectangle 109"/>
          <p:cNvSpPr/>
          <p:nvPr/>
        </p:nvSpPr>
        <p:spPr>
          <a:xfrm>
            <a:off x="4190999" y="4096512"/>
            <a:ext cx="3724656" cy="457200"/>
          </a:xfrm>
          <a:prstGeom prst="roundRect">
            <a:avLst>
              <a:gd name="adj" fmla="val 5000"/>
            </a:avLst>
          </a:prstGeom>
          <a:solidFill>
            <a:srgbClr val="EAEDF2"/>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4190999" y="4096512"/>
            <a:ext cx="36576" cy="4572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4282439" y="4142232"/>
            <a:ext cx="3486912" cy="201168"/>
          </a:xfrm>
          <a:prstGeom prst="rect">
            <a:avLst/>
          </a:prstGeom>
          <a:noFill/>
        </p:spPr>
        <p:txBody>
          <a:bodyPr wrap="square">
            <a:spAutoFit/>
          </a:bodyPr>
          <a:lstStyle/>
          <a:p>
            <a:pPr algn="l"/>
            <a:r>
              <a:rPr sz="800" b="1" i="0">
                <a:solidFill>
                  <a:srgbClr val="0D1B3E"/>
                </a:solidFill>
                <a:latin typeface="Calibri"/>
              </a:rPr>
              <a:t>Triaging</a:t>
            </a:r>
          </a:p>
        </p:txBody>
      </p:sp>
      <p:sp>
        <p:nvSpPr>
          <p:cNvPr id="113" name="Rounded Rectangle 112"/>
          <p:cNvSpPr/>
          <p:nvPr/>
        </p:nvSpPr>
        <p:spPr>
          <a:xfrm>
            <a:off x="4282439" y="4334256"/>
            <a:ext cx="502920" cy="16459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4282439" y="4343400"/>
            <a:ext cx="502920" cy="146304"/>
          </a:xfrm>
          <a:prstGeom prst="rect">
            <a:avLst/>
          </a:prstGeom>
          <a:noFill/>
        </p:spPr>
        <p:txBody>
          <a:bodyPr wrap="square">
            <a:spAutoFit/>
          </a:bodyPr>
          <a:lstStyle/>
          <a:p>
            <a:pPr algn="ctr"/>
            <a:r>
              <a:rPr sz="600" b="1" i="0">
                <a:solidFill>
                  <a:srgbClr val="FFFFFF"/>
                </a:solidFill>
                <a:latin typeface="Calibri"/>
              </a:rPr>
              <a:t>M</a:t>
            </a:r>
          </a:p>
        </p:txBody>
      </p:sp>
      <p:sp>
        <p:nvSpPr>
          <p:cNvPr id="115" name="Rounded Rectangle 114"/>
          <p:cNvSpPr/>
          <p:nvPr/>
        </p:nvSpPr>
        <p:spPr>
          <a:xfrm>
            <a:off x="4812791" y="4334256"/>
            <a:ext cx="502920" cy="16459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4812791" y="4343400"/>
            <a:ext cx="502920" cy="146304"/>
          </a:xfrm>
          <a:prstGeom prst="rect">
            <a:avLst/>
          </a:prstGeom>
          <a:noFill/>
        </p:spPr>
        <p:txBody>
          <a:bodyPr wrap="square">
            <a:spAutoFit/>
          </a:bodyPr>
          <a:lstStyle/>
          <a:p>
            <a:pPr algn="ctr"/>
            <a:r>
              <a:rPr sz="600" b="1" i="0">
                <a:solidFill>
                  <a:srgbClr val="FFFFFF"/>
                </a:solidFill>
                <a:latin typeface="Calibri"/>
              </a:rPr>
              <a:t>H:M</a:t>
            </a:r>
          </a:p>
        </p:txBody>
      </p:sp>
      <p:sp>
        <p:nvSpPr>
          <p:cNvPr id="117" name="TextBox 116"/>
          <p:cNvSpPr txBox="1"/>
          <p:nvPr/>
        </p:nvSpPr>
        <p:spPr>
          <a:xfrm>
            <a:off x="5352288" y="4343400"/>
            <a:ext cx="1097280" cy="146304"/>
          </a:xfrm>
          <a:prstGeom prst="rect">
            <a:avLst/>
          </a:prstGeom>
          <a:noFill/>
        </p:spPr>
        <p:txBody>
          <a:bodyPr wrap="square">
            <a:spAutoFit/>
          </a:bodyPr>
          <a:lstStyle/>
          <a:p>
            <a:pPr algn="l"/>
            <a:r>
              <a:rPr sz="600" b="0" i="0">
                <a:solidFill>
                  <a:srgbClr val="1E8B4C"/>
                </a:solidFill>
                <a:latin typeface="Calibri"/>
              </a:rPr>
              <a:t>HIGH</a:t>
            </a:r>
          </a:p>
        </p:txBody>
      </p:sp>
      <p:sp>
        <p:nvSpPr>
          <p:cNvPr id="118" name="Rounded Rectangle 117"/>
          <p:cNvSpPr/>
          <p:nvPr/>
        </p:nvSpPr>
        <p:spPr>
          <a:xfrm>
            <a:off x="4190999" y="4590288"/>
            <a:ext cx="3724656" cy="457200"/>
          </a:xfrm>
          <a:prstGeom prst="roundRect">
            <a:avLst>
              <a:gd name="adj" fmla="val 5000"/>
            </a:avLst>
          </a:prstGeom>
          <a:solidFill>
            <a:srgbClr val="EAEDF2"/>
          </a:solidFill>
          <a:ln w="1016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4190999" y="4590288"/>
            <a:ext cx="36576" cy="457200"/>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4282439" y="4636008"/>
            <a:ext cx="3486912" cy="201168"/>
          </a:xfrm>
          <a:prstGeom prst="rect">
            <a:avLst/>
          </a:prstGeom>
          <a:noFill/>
        </p:spPr>
        <p:txBody>
          <a:bodyPr wrap="square">
            <a:spAutoFit/>
          </a:bodyPr>
          <a:lstStyle/>
          <a:p>
            <a:pPr algn="l"/>
            <a:r>
              <a:rPr sz="800" b="1" i="0">
                <a:solidFill>
                  <a:srgbClr val="0D1B3E"/>
                </a:solidFill>
                <a:latin typeface="Calibri"/>
              </a:rPr>
              <a:t>Story Sizing</a:t>
            </a:r>
          </a:p>
        </p:txBody>
      </p:sp>
      <p:sp>
        <p:nvSpPr>
          <p:cNvPr id="121" name="Rounded Rectangle 120"/>
          <p:cNvSpPr/>
          <p:nvPr/>
        </p:nvSpPr>
        <p:spPr>
          <a:xfrm>
            <a:off x="4282439" y="4828032"/>
            <a:ext cx="502920" cy="164592"/>
          </a:xfrm>
          <a:prstGeom prst="roundRect">
            <a:avLst>
              <a:gd name="adj" fmla="val 15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4282439" y="4837176"/>
            <a:ext cx="502920" cy="146304"/>
          </a:xfrm>
          <a:prstGeom prst="rect">
            <a:avLst/>
          </a:prstGeom>
          <a:noFill/>
        </p:spPr>
        <p:txBody>
          <a:bodyPr wrap="square">
            <a:spAutoFit/>
          </a:bodyPr>
          <a:lstStyle/>
          <a:p>
            <a:pPr algn="ctr"/>
            <a:r>
              <a:rPr sz="600" b="1" i="0">
                <a:solidFill>
                  <a:srgbClr val="FFFFFF"/>
                </a:solidFill>
                <a:latin typeface="Calibri"/>
              </a:rPr>
              <a:t>L</a:t>
            </a:r>
          </a:p>
        </p:txBody>
      </p:sp>
      <p:sp>
        <p:nvSpPr>
          <p:cNvPr id="123" name="Rounded Rectangle 122"/>
          <p:cNvSpPr/>
          <p:nvPr/>
        </p:nvSpPr>
        <p:spPr>
          <a:xfrm>
            <a:off x="4812791" y="4828032"/>
            <a:ext cx="502920" cy="16459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4812791" y="4837176"/>
            <a:ext cx="502920" cy="146304"/>
          </a:xfrm>
          <a:prstGeom prst="rect">
            <a:avLst/>
          </a:prstGeom>
          <a:noFill/>
        </p:spPr>
        <p:txBody>
          <a:bodyPr wrap="square">
            <a:spAutoFit/>
          </a:bodyPr>
          <a:lstStyle/>
          <a:p>
            <a:pPr algn="ctr"/>
            <a:r>
              <a:rPr sz="600" b="1" i="0">
                <a:solidFill>
                  <a:srgbClr val="FFFFFF"/>
                </a:solidFill>
                <a:latin typeface="Calibri"/>
              </a:rPr>
              <a:t>H:M</a:t>
            </a:r>
          </a:p>
        </p:txBody>
      </p:sp>
      <p:sp>
        <p:nvSpPr>
          <p:cNvPr id="125" name="TextBox 124"/>
          <p:cNvSpPr txBox="1"/>
          <p:nvPr/>
        </p:nvSpPr>
        <p:spPr>
          <a:xfrm>
            <a:off x="5352288" y="4837176"/>
            <a:ext cx="1097280" cy="146304"/>
          </a:xfrm>
          <a:prstGeom prst="rect">
            <a:avLst/>
          </a:prstGeom>
          <a:noFill/>
        </p:spPr>
        <p:txBody>
          <a:bodyPr wrap="square">
            <a:spAutoFit/>
          </a:bodyPr>
          <a:lstStyle/>
          <a:p>
            <a:pPr algn="l"/>
            <a:r>
              <a:rPr sz="600" b="0" i="0">
                <a:solidFill>
                  <a:srgbClr val="D47F00"/>
                </a:solidFill>
                <a:latin typeface="Calibri"/>
              </a:rPr>
              <a:t>MEDIUM</a:t>
            </a:r>
          </a:p>
        </p:txBody>
      </p:sp>
      <p:sp>
        <p:nvSpPr>
          <p:cNvPr id="126" name="Rounded Rectangle 125"/>
          <p:cNvSpPr/>
          <p:nvPr/>
        </p:nvSpPr>
        <p:spPr>
          <a:xfrm>
            <a:off x="4190999" y="5084064"/>
            <a:ext cx="3724656" cy="457200"/>
          </a:xfrm>
          <a:prstGeom prst="roundRect">
            <a:avLst>
              <a:gd name="adj" fmla="val 5000"/>
            </a:avLst>
          </a:prstGeom>
          <a:solidFill>
            <a:srgbClr val="EAEDF2"/>
          </a:solidFill>
          <a:ln w="1016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26"/>
          <p:cNvSpPr/>
          <p:nvPr/>
        </p:nvSpPr>
        <p:spPr>
          <a:xfrm>
            <a:off x="4190999" y="5084064"/>
            <a:ext cx="36576" cy="457200"/>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4282439" y="5129784"/>
            <a:ext cx="3486912" cy="201168"/>
          </a:xfrm>
          <a:prstGeom prst="rect">
            <a:avLst/>
          </a:prstGeom>
          <a:noFill/>
        </p:spPr>
        <p:txBody>
          <a:bodyPr wrap="square">
            <a:spAutoFit/>
          </a:bodyPr>
          <a:lstStyle/>
          <a:p>
            <a:pPr algn="l"/>
            <a:r>
              <a:rPr sz="800" b="1" i="0">
                <a:solidFill>
                  <a:srgbClr val="0D1B3E"/>
                </a:solidFill>
                <a:latin typeface="Calibri"/>
              </a:rPr>
              <a:t>Runbook Tutor</a:t>
            </a:r>
          </a:p>
        </p:txBody>
      </p:sp>
      <p:sp>
        <p:nvSpPr>
          <p:cNvPr id="129" name="Rounded Rectangle 128"/>
          <p:cNvSpPr/>
          <p:nvPr/>
        </p:nvSpPr>
        <p:spPr>
          <a:xfrm>
            <a:off x="4282439" y="5321808"/>
            <a:ext cx="502920" cy="164592"/>
          </a:xfrm>
          <a:prstGeom prst="roundRect">
            <a:avLst>
              <a:gd name="adj" fmla="val 15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4282439" y="5330952"/>
            <a:ext cx="502920" cy="146304"/>
          </a:xfrm>
          <a:prstGeom prst="rect">
            <a:avLst/>
          </a:prstGeom>
          <a:noFill/>
        </p:spPr>
        <p:txBody>
          <a:bodyPr wrap="square">
            <a:spAutoFit/>
          </a:bodyPr>
          <a:lstStyle/>
          <a:p>
            <a:pPr algn="ctr"/>
            <a:r>
              <a:rPr sz="600" b="1" i="0">
                <a:solidFill>
                  <a:srgbClr val="FFFFFF"/>
                </a:solidFill>
                <a:latin typeface="Calibri"/>
              </a:rPr>
              <a:t>L</a:t>
            </a:r>
          </a:p>
        </p:txBody>
      </p:sp>
      <p:sp>
        <p:nvSpPr>
          <p:cNvPr id="131" name="Rounded Rectangle 130"/>
          <p:cNvSpPr/>
          <p:nvPr/>
        </p:nvSpPr>
        <p:spPr>
          <a:xfrm>
            <a:off x="4812791" y="5321808"/>
            <a:ext cx="502920" cy="164592"/>
          </a:xfrm>
          <a:prstGeom prst="roundRect">
            <a:avLst>
              <a:gd name="adj" fmla="val 15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4812791" y="5330952"/>
            <a:ext cx="502920" cy="146304"/>
          </a:xfrm>
          <a:prstGeom prst="rect">
            <a:avLst/>
          </a:prstGeom>
          <a:noFill/>
        </p:spPr>
        <p:txBody>
          <a:bodyPr wrap="square">
            <a:spAutoFit/>
          </a:bodyPr>
          <a:lstStyle/>
          <a:p>
            <a:pPr algn="ctr"/>
            <a:r>
              <a:rPr sz="600" b="1" i="0">
                <a:solidFill>
                  <a:srgbClr val="FFFFFF"/>
                </a:solidFill>
                <a:latin typeface="Calibri"/>
              </a:rPr>
              <a:t>H:L</a:t>
            </a:r>
          </a:p>
        </p:txBody>
      </p:sp>
      <p:sp>
        <p:nvSpPr>
          <p:cNvPr id="133" name="TextBox 132"/>
          <p:cNvSpPr txBox="1"/>
          <p:nvPr/>
        </p:nvSpPr>
        <p:spPr>
          <a:xfrm>
            <a:off x="5352288" y="5330952"/>
            <a:ext cx="1097280" cy="146304"/>
          </a:xfrm>
          <a:prstGeom prst="rect">
            <a:avLst/>
          </a:prstGeom>
          <a:noFill/>
        </p:spPr>
        <p:txBody>
          <a:bodyPr wrap="square">
            <a:spAutoFit/>
          </a:bodyPr>
          <a:lstStyle/>
          <a:p>
            <a:pPr algn="l"/>
            <a:r>
              <a:rPr sz="600" b="0" i="0">
                <a:solidFill>
                  <a:srgbClr val="D47F00"/>
                </a:solidFill>
                <a:latin typeface="Calibri"/>
              </a:rPr>
              <a:t>MEDIUM</a:t>
            </a:r>
          </a:p>
        </p:txBody>
      </p:sp>
      <p:sp>
        <p:nvSpPr>
          <p:cNvPr id="134" name="Rounded Rectangle 133"/>
          <p:cNvSpPr/>
          <p:nvPr/>
        </p:nvSpPr>
        <p:spPr>
          <a:xfrm>
            <a:off x="4190999" y="5577840"/>
            <a:ext cx="3724656" cy="457200"/>
          </a:xfrm>
          <a:prstGeom prst="roundRect">
            <a:avLst>
              <a:gd name="adj" fmla="val 5000"/>
            </a:avLst>
          </a:prstGeom>
          <a:solidFill>
            <a:srgbClr val="EAEDF2"/>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4190999" y="5577840"/>
            <a:ext cx="36576" cy="4572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4282439" y="5623560"/>
            <a:ext cx="3486912" cy="201168"/>
          </a:xfrm>
          <a:prstGeom prst="rect">
            <a:avLst/>
          </a:prstGeom>
          <a:noFill/>
        </p:spPr>
        <p:txBody>
          <a:bodyPr wrap="square">
            <a:spAutoFit/>
          </a:bodyPr>
          <a:lstStyle/>
          <a:p>
            <a:pPr algn="l"/>
            <a:r>
              <a:rPr sz="800" b="1" i="0">
                <a:solidFill>
                  <a:srgbClr val="0D1B3E"/>
                </a:solidFill>
                <a:latin typeface="Calibri"/>
              </a:rPr>
              <a:t>PII Leak Detection</a:t>
            </a:r>
          </a:p>
        </p:txBody>
      </p:sp>
      <p:sp>
        <p:nvSpPr>
          <p:cNvPr id="137" name="Rounded Rectangle 136"/>
          <p:cNvSpPr/>
          <p:nvPr/>
        </p:nvSpPr>
        <p:spPr>
          <a:xfrm>
            <a:off x="4282439" y="5815584"/>
            <a:ext cx="502920" cy="164592"/>
          </a:xfrm>
          <a:prstGeom prst="roundRect">
            <a:avLst>
              <a:gd name="adj" fmla="val 15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4282439" y="5824728"/>
            <a:ext cx="502920" cy="146304"/>
          </a:xfrm>
          <a:prstGeom prst="rect">
            <a:avLst/>
          </a:prstGeom>
          <a:noFill/>
        </p:spPr>
        <p:txBody>
          <a:bodyPr wrap="square">
            <a:spAutoFit/>
          </a:bodyPr>
          <a:lstStyle/>
          <a:p>
            <a:pPr algn="ctr"/>
            <a:r>
              <a:rPr sz="600" b="1" i="0">
                <a:solidFill>
                  <a:srgbClr val="FFFFFF"/>
                </a:solidFill>
                <a:latin typeface="Calibri"/>
              </a:rPr>
              <a:t>L</a:t>
            </a:r>
          </a:p>
        </p:txBody>
      </p:sp>
      <p:sp>
        <p:nvSpPr>
          <p:cNvPr id="139" name="Rounded Rectangle 138"/>
          <p:cNvSpPr/>
          <p:nvPr/>
        </p:nvSpPr>
        <p:spPr>
          <a:xfrm>
            <a:off x="4812791" y="5815584"/>
            <a:ext cx="502920" cy="164592"/>
          </a:xfrm>
          <a:prstGeom prst="roundRect">
            <a:avLst>
              <a:gd name="adj" fmla="val 15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4812791" y="5824728"/>
            <a:ext cx="502920" cy="146304"/>
          </a:xfrm>
          <a:prstGeom prst="rect">
            <a:avLst/>
          </a:prstGeom>
          <a:noFill/>
        </p:spPr>
        <p:txBody>
          <a:bodyPr wrap="square">
            <a:spAutoFit/>
          </a:bodyPr>
          <a:lstStyle/>
          <a:p>
            <a:pPr algn="ctr"/>
            <a:r>
              <a:rPr sz="600" b="1" i="0">
                <a:solidFill>
                  <a:srgbClr val="FFFFFF"/>
                </a:solidFill>
                <a:latin typeface="Calibri"/>
              </a:rPr>
              <a:t>H:L</a:t>
            </a:r>
          </a:p>
        </p:txBody>
      </p:sp>
      <p:sp>
        <p:nvSpPr>
          <p:cNvPr id="141" name="TextBox 140"/>
          <p:cNvSpPr txBox="1"/>
          <p:nvPr/>
        </p:nvSpPr>
        <p:spPr>
          <a:xfrm>
            <a:off x="5352288" y="5824728"/>
            <a:ext cx="1097280" cy="146304"/>
          </a:xfrm>
          <a:prstGeom prst="rect">
            <a:avLst/>
          </a:prstGeom>
          <a:noFill/>
        </p:spPr>
        <p:txBody>
          <a:bodyPr wrap="square">
            <a:spAutoFit/>
          </a:bodyPr>
          <a:lstStyle/>
          <a:p>
            <a:pPr algn="l"/>
            <a:r>
              <a:rPr sz="600" b="0" i="0">
                <a:solidFill>
                  <a:srgbClr val="1E8B4C"/>
                </a:solidFill>
                <a:latin typeface="Calibri"/>
              </a:rPr>
              <a:t>HIGH</a:t>
            </a:r>
          </a:p>
        </p:txBody>
      </p:sp>
      <p:sp>
        <p:nvSpPr>
          <p:cNvPr id="142" name="Rectangle 141"/>
          <p:cNvSpPr/>
          <p:nvPr/>
        </p:nvSpPr>
        <p:spPr>
          <a:xfrm>
            <a:off x="4172711" y="6190488"/>
            <a:ext cx="3761232" cy="54864"/>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4209287" y="6263640"/>
            <a:ext cx="3688080" cy="256032"/>
          </a:xfrm>
          <a:prstGeom prst="rect">
            <a:avLst/>
          </a:prstGeom>
          <a:noFill/>
        </p:spPr>
        <p:txBody>
          <a:bodyPr wrap="square">
            <a:spAutoFit/>
          </a:bodyPr>
          <a:lstStyle/>
          <a:p>
            <a:pPr algn="l"/>
            <a:r>
              <a:rPr sz="700" b="1" i="0">
                <a:solidFill>
                  <a:srgbClr val="D47F00"/>
                </a:solidFill>
                <a:latin typeface="Calibri"/>
              </a:rPr>
              <a:t>✓  30–40% developer velocity improvement measurable</a:t>
            </a:r>
          </a:p>
        </p:txBody>
      </p:sp>
      <p:sp>
        <p:nvSpPr>
          <p:cNvPr id="144" name="Rounded Rectangle 143"/>
          <p:cNvSpPr/>
          <p:nvPr/>
        </p:nvSpPr>
        <p:spPr>
          <a:xfrm>
            <a:off x="8080247" y="1371600"/>
            <a:ext cx="3870960" cy="5166360"/>
          </a:xfrm>
          <a:prstGeom prst="roundRect">
            <a:avLst>
              <a:gd name="adj" fmla="val 6000"/>
            </a:avLst>
          </a:prstGeom>
          <a:solidFill>
            <a:srgbClr val="F4F6F9"/>
          </a:solidFill>
          <a:ln w="19050">
            <a:solidFill>
              <a:srgbClr val="007A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ectangle 144"/>
          <p:cNvSpPr/>
          <p:nvPr/>
        </p:nvSpPr>
        <p:spPr>
          <a:xfrm>
            <a:off x="8080247" y="1371600"/>
            <a:ext cx="3870960" cy="54864"/>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ectangle 145"/>
          <p:cNvSpPr/>
          <p:nvPr/>
        </p:nvSpPr>
        <p:spPr>
          <a:xfrm>
            <a:off x="8080247" y="1371600"/>
            <a:ext cx="3870960" cy="65836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8171687" y="1426464"/>
            <a:ext cx="3733799" cy="274320"/>
          </a:xfrm>
          <a:prstGeom prst="rect">
            <a:avLst/>
          </a:prstGeom>
          <a:noFill/>
        </p:spPr>
        <p:txBody>
          <a:bodyPr wrap="square">
            <a:spAutoFit/>
          </a:bodyPr>
          <a:lstStyle/>
          <a:p>
            <a:pPr algn="l"/>
            <a:r>
              <a:rPr sz="1200" b="1" i="0">
                <a:solidFill>
                  <a:srgbClr val="007ABF"/>
                </a:solidFill>
                <a:latin typeface="Calibri"/>
              </a:rPr>
              <a:t>PHASE 3</a:t>
            </a:r>
          </a:p>
        </p:txBody>
      </p:sp>
      <p:sp>
        <p:nvSpPr>
          <p:cNvPr id="148" name="TextBox 147"/>
          <p:cNvSpPr txBox="1"/>
          <p:nvPr/>
        </p:nvSpPr>
        <p:spPr>
          <a:xfrm>
            <a:off x="8171687" y="1691640"/>
            <a:ext cx="3733799" cy="201168"/>
          </a:xfrm>
          <a:prstGeom prst="rect">
            <a:avLst/>
          </a:prstGeom>
          <a:noFill/>
        </p:spPr>
        <p:txBody>
          <a:bodyPr wrap="square">
            <a:spAutoFit/>
          </a:bodyPr>
          <a:lstStyle/>
          <a:p>
            <a:pPr algn="l"/>
            <a:r>
              <a:rPr sz="800" b="0" i="0">
                <a:solidFill>
                  <a:srgbClr val="A0C8FF"/>
                </a:solidFill>
                <a:latin typeface="Calibri"/>
              </a:rPr>
              <a:t>Month 6–12</a:t>
            </a:r>
          </a:p>
        </p:txBody>
      </p:sp>
      <p:sp>
        <p:nvSpPr>
          <p:cNvPr id="149" name="TextBox 148"/>
          <p:cNvSpPr txBox="1"/>
          <p:nvPr/>
        </p:nvSpPr>
        <p:spPr>
          <a:xfrm>
            <a:off x="8171687" y="1865376"/>
            <a:ext cx="3483864" cy="182880"/>
          </a:xfrm>
          <a:prstGeom prst="rect">
            <a:avLst/>
          </a:prstGeom>
          <a:noFill/>
        </p:spPr>
        <p:txBody>
          <a:bodyPr wrap="square">
            <a:spAutoFit/>
          </a:bodyPr>
          <a:lstStyle/>
          <a:p>
            <a:pPr algn="l"/>
            <a:r>
              <a:rPr sz="750" b="1" i="0">
                <a:solidFill>
                  <a:srgbClr val="FFFFFF"/>
                </a:solidFill>
                <a:latin typeface="Calibri"/>
              </a:rPr>
              <a:t>Enterprise Multi-Agent Platform</a:t>
            </a:r>
          </a:p>
        </p:txBody>
      </p:sp>
      <p:sp>
        <p:nvSpPr>
          <p:cNvPr id="150" name="Rounded Rectangle 149"/>
          <p:cNvSpPr/>
          <p:nvPr/>
        </p:nvSpPr>
        <p:spPr>
          <a:xfrm>
            <a:off x="8153399" y="2121408"/>
            <a:ext cx="3724656" cy="457200"/>
          </a:xfrm>
          <a:prstGeom prst="roundRect">
            <a:avLst>
              <a:gd name="adj" fmla="val 5000"/>
            </a:avLst>
          </a:prstGeom>
          <a:solidFill>
            <a:srgbClr val="EAEDF2"/>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ectangle 150"/>
          <p:cNvSpPr/>
          <p:nvPr/>
        </p:nvSpPr>
        <p:spPr>
          <a:xfrm>
            <a:off x="8153399" y="2121408"/>
            <a:ext cx="36576" cy="4572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8244839" y="2167127"/>
            <a:ext cx="3486912" cy="201168"/>
          </a:xfrm>
          <a:prstGeom prst="rect">
            <a:avLst/>
          </a:prstGeom>
          <a:noFill/>
        </p:spPr>
        <p:txBody>
          <a:bodyPr wrap="square">
            <a:spAutoFit/>
          </a:bodyPr>
          <a:lstStyle/>
          <a:p>
            <a:pPr algn="l"/>
            <a:r>
              <a:rPr sz="800" b="1" i="0">
                <a:solidFill>
                  <a:srgbClr val="0D1B3E"/>
                </a:solidFill>
                <a:latin typeface="Calibri"/>
              </a:rPr>
              <a:t>Architecture Advisor</a:t>
            </a:r>
          </a:p>
        </p:txBody>
      </p:sp>
      <p:sp>
        <p:nvSpPr>
          <p:cNvPr id="153" name="Rounded Rectangle 152"/>
          <p:cNvSpPr/>
          <p:nvPr/>
        </p:nvSpPr>
        <p:spPr>
          <a:xfrm>
            <a:off x="8244839" y="2359152"/>
            <a:ext cx="502920" cy="164592"/>
          </a:xfrm>
          <a:prstGeom prst="roundRect">
            <a:avLst>
              <a:gd name="adj" fmla="val 15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8244839" y="2368296"/>
            <a:ext cx="502920" cy="146304"/>
          </a:xfrm>
          <a:prstGeom prst="rect">
            <a:avLst/>
          </a:prstGeom>
          <a:noFill/>
        </p:spPr>
        <p:txBody>
          <a:bodyPr wrap="square">
            <a:spAutoFit/>
          </a:bodyPr>
          <a:lstStyle/>
          <a:p>
            <a:pPr algn="ctr"/>
            <a:r>
              <a:rPr sz="600" b="1" i="0">
                <a:solidFill>
                  <a:srgbClr val="FFFFFF"/>
                </a:solidFill>
                <a:latin typeface="Calibri"/>
              </a:rPr>
              <a:t>H</a:t>
            </a:r>
          </a:p>
        </p:txBody>
      </p:sp>
      <p:sp>
        <p:nvSpPr>
          <p:cNvPr id="155" name="Rounded Rectangle 154"/>
          <p:cNvSpPr/>
          <p:nvPr/>
        </p:nvSpPr>
        <p:spPr>
          <a:xfrm>
            <a:off x="8775192" y="2359152"/>
            <a:ext cx="502920" cy="164592"/>
          </a:xfrm>
          <a:prstGeom prst="roundRect">
            <a:avLst>
              <a:gd name="adj" fmla="val 15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8775192" y="2368296"/>
            <a:ext cx="502920" cy="146304"/>
          </a:xfrm>
          <a:prstGeom prst="rect">
            <a:avLst/>
          </a:prstGeom>
          <a:noFill/>
        </p:spPr>
        <p:txBody>
          <a:bodyPr wrap="square">
            <a:spAutoFit/>
          </a:bodyPr>
          <a:lstStyle/>
          <a:p>
            <a:pPr algn="ctr"/>
            <a:r>
              <a:rPr sz="600" b="1" i="0">
                <a:solidFill>
                  <a:srgbClr val="FFFFFF"/>
                </a:solidFill>
                <a:latin typeface="Calibri"/>
              </a:rPr>
              <a:t>H:H</a:t>
            </a:r>
          </a:p>
        </p:txBody>
      </p:sp>
      <p:sp>
        <p:nvSpPr>
          <p:cNvPr id="157" name="TextBox 156"/>
          <p:cNvSpPr txBox="1"/>
          <p:nvPr/>
        </p:nvSpPr>
        <p:spPr>
          <a:xfrm>
            <a:off x="9314688" y="2368296"/>
            <a:ext cx="1097280" cy="146304"/>
          </a:xfrm>
          <a:prstGeom prst="rect">
            <a:avLst/>
          </a:prstGeom>
          <a:noFill/>
        </p:spPr>
        <p:txBody>
          <a:bodyPr wrap="square">
            <a:spAutoFit/>
          </a:bodyPr>
          <a:lstStyle/>
          <a:p>
            <a:pPr algn="l"/>
            <a:r>
              <a:rPr sz="600" b="0" i="0">
                <a:solidFill>
                  <a:srgbClr val="1E8B4C"/>
                </a:solidFill>
                <a:latin typeface="Calibri"/>
              </a:rPr>
              <a:t>HIGH</a:t>
            </a:r>
          </a:p>
        </p:txBody>
      </p:sp>
      <p:sp>
        <p:nvSpPr>
          <p:cNvPr id="158" name="Rounded Rectangle 157"/>
          <p:cNvSpPr/>
          <p:nvPr/>
        </p:nvSpPr>
        <p:spPr>
          <a:xfrm>
            <a:off x="8153399" y="2615184"/>
            <a:ext cx="3724656" cy="457200"/>
          </a:xfrm>
          <a:prstGeom prst="roundRect">
            <a:avLst>
              <a:gd name="adj" fmla="val 5000"/>
            </a:avLst>
          </a:prstGeom>
          <a:solidFill>
            <a:srgbClr val="EAEDF2"/>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Rectangle 158"/>
          <p:cNvSpPr/>
          <p:nvPr/>
        </p:nvSpPr>
        <p:spPr>
          <a:xfrm>
            <a:off x="8153399" y="2615184"/>
            <a:ext cx="36576" cy="4572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8244839" y="2660903"/>
            <a:ext cx="3486912" cy="201168"/>
          </a:xfrm>
          <a:prstGeom prst="rect">
            <a:avLst/>
          </a:prstGeom>
          <a:noFill/>
        </p:spPr>
        <p:txBody>
          <a:bodyPr wrap="square">
            <a:spAutoFit/>
          </a:bodyPr>
          <a:lstStyle/>
          <a:p>
            <a:pPr algn="l"/>
            <a:r>
              <a:rPr sz="800" b="1" i="0">
                <a:solidFill>
                  <a:srgbClr val="0D1B3E"/>
                </a:solidFill>
                <a:latin typeface="Calibri"/>
              </a:rPr>
              <a:t>Code Generation</a:t>
            </a:r>
          </a:p>
        </p:txBody>
      </p:sp>
      <p:sp>
        <p:nvSpPr>
          <p:cNvPr id="161" name="Rounded Rectangle 160"/>
          <p:cNvSpPr/>
          <p:nvPr/>
        </p:nvSpPr>
        <p:spPr>
          <a:xfrm>
            <a:off x="8244839" y="2852928"/>
            <a:ext cx="502920" cy="164592"/>
          </a:xfrm>
          <a:prstGeom prst="roundRect">
            <a:avLst>
              <a:gd name="adj" fmla="val 15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8244839" y="2862072"/>
            <a:ext cx="502920" cy="146304"/>
          </a:xfrm>
          <a:prstGeom prst="rect">
            <a:avLst/>
          </a:prstGeom>
          <a:noFill/>
        </p:spPr>
        <p:txBody>
          <a:bodyPr wrap="square">
            <a:spAutoFit/>
          </a:bodyPr>
          <a:lstStyle/>
          <a:p>
            <a:pPr algn="ctr"/>
            <a:r>
              <a:rPr sz="600" b="1" i="0">
                <a:solidFill>
                  <a:srgbClr val="FFFFFF"/>
                </a:solidFill>
                <a:latin typeface="Calibri"/>
              </a:rPr>
              <a:t>H</a:t>
            </a:r>
          </a:p>
        </p:txBody>
      </p:sp>
      <p:sp>
        <p:nvSpPr>
          <p:cNvPr id="163" name="Rounded Rectangle 162"/>
          <p:cNvSpPr/>
          <p:nvPr/>
        </p:nvSpPr>
        <p:spPr>
          <a:xfrm>
            <a:off x="8775192" y="2852928"/>
            <a:ext cx="502920" cy="164592"/>
          </a:xfrm>
          <a:prstGeom prst="roundRect">
            <a:avLst>
              <a:gd name="adj" fmla="val 15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8775192" y="2862072"/>
            <a:ext cx="502920" cy="146304"/>
          </a:xfrm>
          <a:prstGeom prst="rect">
            <a:avLst/>
          </a:prstGeom>
          <a:noFill/>
        </p:spPr>
        <p:txBody>
          <a:bodyPr wrap="square">
            <a:spAutoFit/>
          </a:bodyPr>
          <a:lstStyle/>
          <a:p>
            <a:pPr algn="ctr"/>
            <a:r>
              <a:rPr sz="600" b="1" i="0">
                <a:solidFill>
                  <a:srgbClr val="FFFFFF"/>
                </a:solidFill>
                <a:latin typeface="Calibri"/>
              </a:rPr>
              <a:t>H:H</a:t>
            </a:r>
          </a:p>
        </p:txBody>
      </p:sp>
      <p:sp>
        <p:nvSpPr>
          <p:cNvPr id="165" name="TextBox 164"/>
          <p:cNvSpPr txBox="1"/>
          <p:nvPr/>
        </p:nvSpPr>
        <p:spPr>
          <a:xfrm>
            <a:off x="9314688" y="2862072"/>
            <a:ext cx="1097280" cy="146304"/>
          </a:xfrm>
          <a:prstGeom prst="rect">
            <a:avLst/>
          </a:prstGeom>
          <a:noFill/>
        </p:spPr>
        <p:txBody>
          <a:bodyPr wrap="square">
            <a:spAutoFit/>
          </a:bodyPr>
          <a:lstStyle/>
          <a:p>
            <a:pPr algn="l"/>
            <a:r>
              <a:rPr sz="600" b="0" i="0">
                <a:solidFill>
                  <a:srgbClr val="1E8B4C"/>
                </a:solidFill>
                <a:latin typeface="Calibri"/>
              </a:rPr>
              <a:t>HIGH</a:t>
            </a:r>
          </a:p>
        </p:txBody>
      </p:sp>
      <p:sp>
        <p:nvSpPr>
          <p:cNvPr id="166" name="Rounded Rectangle 165"/>
          <p:cNvSpPr/>
          <p:nvPr/>
        </p:nvSpPr>
        <p:spPr>
          <a:xfrm>
            <a:off x="8153399" y="3108960"/>
            <a:ext cx="3724656" cy="457200"/>
          </a:xfrm>
          <a:prstGeom prst="roundRect">
            <a:avLst>
              <a:gd name="adj" fmla="val 5000"/>
            </a:avLst>
          </a:prstGeom>
          <a:solidFill>
            <a:srgbClr val="EAEDF2"/>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Rectangle 166"/>
          <p:cNvSpPr/>
          <p:nvPr/>
        </p:nvSpPr>
        <p:spPr>
          <a:xfrm>
            <a:off x="8153399" y="3108960"/>
            <a:ext cx="36576" cy="4572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8244839" y="3154679"/>
            <a:ext cx="3486912" cy="201168"/>
          </a:xfrm>
          <a:prstGeom prst="rect">
            <a:avLst/>
          </a:prstGeom>
          <a:noFill/>
        </p:spPr>
        <p:txBody>
          <a:bodyPr wrap="square">
            <a:spAutoFit/>
          </a:bodyPr>
          <a:lstStyle/>
          <a:p>
            <a:pPr algn="l"/>
            <a:r>
              <a:rPr sz="800" b="1" i="0">
                <a:solidFill>
                  <a:srgbClr val="0D1B3E"/>
                </a:solidFill>
                <a:latin typeface="Calibri"/>
              </a:rPr>
              <a:t>Codebase Navigator</a:t>
            </a:r>
          </a:p>
        </p:txBody>
      </p:sp>
      <p:sp>
        <p:nvSpPr>
          <p:cNvPr id="169" name="Rounded Rectangle 168"/>
          <p:cNvSpPr/>
          <p:nvPr/>
        </p:nvSpPr>
        <p:spPr>
          <a:xfrm>
            <a:off x="8244839" y="3346704"/>
            <a:ext cx="502920" cy="164592"/>
          </a:xfrm>
          <a:prstGeom prst="roundRect">
            <a:avLst>
              <a:gd name="adj" fmla="val 15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8244839" y="3355848"/>
            <a:ext cx="502920" cy="146304"/>
          </a:xfrm>
          <a:prstGeom prst="rect">
            <a:avLst/>
          </a:prstGeom>
          <a:noFill/>
        </p:spPr>
        <p:txBody>
          <a:bodyPr wrap="square">
            <a:spAutoFit/>
          </a:bodyPr>
          <a:lstStyle/>
          <a:p>
            <a:pPr algn="ctr"/>
            <a:r>
              <a:rPr sz="600" b="1" i="0">
                <a:solidFill>
                  <a:srgbClr val="FFFFFF"/>
                </a:solidFill>
                <a:latin typeface="Calibri"/>
              </a:rPr>
              <a:t>H</a:t>
            </a:r>
          </a:p>
        </p:txBody>
      </p:sp>
      <p:sp>
        <p:nvSpPr>
          <p:cNvPr id="171" name="Rounded Rectangle 170"/>
          <p:cNvSpPr/>
          <p:nvPr/>
        </p:nvSpPr>
        <p:spPr>
          <a:xfrm>
            <a:off x="8775192" y="3346704"/>
            <a:ext cx="502920" cy="164592"/>
          </a:xfrm>
          <a:prstGeom prst="roundRect">
            <a:avLst>
              <a:gd name="adj" fmla="val 15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8775192" y="3355848"/>
            <a:ext cx="502920" cy="146304"/>
          </a:xfrm>
          <a:prstGeom prst="rect">
            <a:avLst/>
          </a:prstGeom>
          <a:noFill/>
        </p:spPr>
        <p:txBody>
          <a:bodyPr wrap="square">
            <a:spAutoFit/>
          </a:bodyPr>
          <a:lstStyle/>
          <a:p>
            <a:pPr algn="ctr"/>
            <a:r>
              <a:rPr sz="600" b="1" i="0">
                <a:solidFill>
                  <a:srgbClr val="FFFFFF"/>
                </a:solidFill>
                <a:latin typeface="Calibri"/>
              </a:rPr>
              <a:t>H:L</a:t>
            </a:r>
          </a:p>
        </p:txBody>
      </p:sp>
      <p:sp>
        <p:nvSpPr>
          <p:cNvPr id="173" name="TextBox 172"/>
          <p:cNvSpPr txBox="1"/>
          <p:nvPr/>
        </p:nvSpPr>
        <p:spPr>
          <a:xfrm>
            <a:off x="9314688" y="3355848"/>
            <a:ext cx="1097280" cy="146304"/>
          </a:xfrm>
          <a:prstGeom prst="rect">
            <a:avLst/>
          </a:prstGeom>
          <a:noFill/>
        </p:spPr>
        <p:txBody>
          <a:bodyPr wrap="square">
            <a:spAutoFit/>
          </a:bodyPr>
          <a:lstStyle/>
          <a:p>
            <a:pPr algn="l"/>
            <a:r>
              <a:rPr sz="600" b="0" i="0">
                <a:solidFill>
                  <a:srgbClr val="1E8B4C"/>
                </a:solidFill>
                <a:latin typeface="Calibri"/>
              </a:rPr>
              <a:t>HIGH</a:t>
            </a:r>
          </a:p>
        </p:txBody>
      </p:sp>
      <p:sp>
        <p:nvSpPr>
          <p:cNvPr id="174" name="Rounded Rectangle 173"/>
          <p:cNvSpPr/>
          <p:nvPr/>
        </p:nvSpPr>
        <p:spPr>
          <a:xfrm>
            <a:off x="8153399" y="3602736"/>
            <a:ext cx="3724656" cy="457200"/>
          </a:xfrm>
          <a:prstGeom prst="roundRect">
            <a:avLst>
              <a:gd name="adj" fmla="val 5000"/>
            </a:avLst>
          </a:prstGeom>
          <a:solidFill>
            <a:srgbClr val="EAEDF2"/>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Rectangle 174"/>
          <p:cNvSpPr/>
          <p:nvPr/>
        </p:nvSpPr>
        <p:spPr>
          <a:xfrm>
            <a:off x="8153399" y="3602736"/>
            <a:ext cx="36576" cy="4572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p:cNvSpPr txBox="1"/>
          <p:nvPr/>
        </p:nvSpPr>
        <p:spPr>
          <a:xfrm>
            <a:off x="8244839" y="3648456"/>
            <a:ext cx="3486912" cy="201168"/>
          </a:xfrm>
          <a:prstGeom prst="rect">
            <a:avLst/>
          </a:prstGeom>
          <a:noFill/>
        </p:spPr>
        <p:txBody>
          <a:bodyPr wrap="square">
            <a:spAutoFit/>
          </a:bodyPr>
          <a:lstStyle/>
          <a:p>
            <a:pPr algn="l"/>
            <a:r>
              <a:rPr sz="800" b="1" i="0">
                <a:solidFill>
                  <a:srgbClr val="0D1B3E"/>
                </a:solidFill>
                <a:latin typeface="Calibri"/>
              </a:rPr>
              <a:t>Root Cause Analysis</a:t>
            </a:r>
          </a:p>
        </p:txBody>
      </p:sp>
      <p:sp>
        <p:nvSpPr>
          <p:cNvPr id="177" name="Rounded Rectangle 176"/>
          <p:cNvSpPr/>
          <p:nvPr/>
        </p:nvSpPr>
        <p:spPr>
          <a:xfrm>
            <a:off x="8244839" y="3840480"/>
            <a:ext cx="502920" cy="164592"/>
          </a:xfrm>
          <a:prstGeom prst="roundRect">
            <a:avLst>
              <a:gd name="adj" fmla="val 15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8244839" y="3849624"/>
            <a:ext cx="502920" cy="146304"/>
          </a:xfrm>
          <a:prstGeom prst="rect">
            <a:avLst/>
          </a:prstGeom>
          <a:noFill/>
        </p:spPr>
        <p:txBody>
          <a:bodyPr wrap="square">
            <a:spAutoFit/>
          </a:bodyPr>
          <a:lstStyle/>
          <a:p>
            <a:pPr algn="ctr"/>
            <a:r>
              <a:rPr sz="600" b="1" i="0">
                <a:solidFill>
                  <a:srgbClr val="FFFFFF"/>
                </a:solidFill>
                <a:latin typeface="Calibri"/>
              </a:rPr>
              <a:t>H</a:t>
            </a:r>
          </a:p>
        </p:txBody>
      </p:sp>
      <p:sp>
        <p:nvSpPr>
          <p:cNvPr id="179" name="Rounded Rectangle 178"/>
          <p:cNvSpPr/>
          <p:nvPr/>
        </p:nvSpPr>
        <p:spPr>
          <a:xfrm>
            <a:off x="8775192" y="3840480"/>
            <a:ext cx="502920" cy="16459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8775192" y="3849624"/>
            <a:ext cx="502920" cy="146304"/>
          </a:xfrm>
          <a:prstGeom prst="rect">
            <a:avLst/>
          </a:prstGeom>
          <a:noFill/>
        </p:spPr>
        <p:txBody>
          <a:bodyPr wrap="square">
            <a:spAutoFit/>
          </a:bodyPr>
          <a:lstStyle/>
          <a:p>
            <a:pPr algn="ctr"/>
            <a:r>
              <a:rPr sz="600" b="1" i="0">
                <a:solidFill>
                  <a:srgbClr val="FFFFFF"/>
                </a:solidFill>
                <a:latin typeface="Calibri"/>
              </a:rPr>
              <a:t>H:M</a:t>
            </a:r>
          </a:p>
        </p:txBody>
      </p:sp>
      <p:sp>
        <p:nvSpPr>
          <p:cNvPr id="181" name="TextBox 180"/>
          <p:cNvSpPr txBox="1"/>
          <p:nvPr/>
        </p:nvSpPr>
        <p:spPr>
          <a:xfrm>
            <a:off x="9314688" y="3849624"/>
            <a:ext cx="1097280" cy="146304"/>
          </a:xfrm>
          <a:prstGeom prst="rect">
            <a:avLst/>
          </a:prstGeom>
          <a:noFill/>
        </p:spPr>
        <p:txBody>
          <a:bodyPr wrap="square">
            <a:spAutoFit/>
          </a:bodyPr>
          <a:lstStyle/>
          <a:p>
            <a:pPr algn="l"/>
            <a:r>
              <a:rPr sz="600" b="0" i="0">
                <a:solidFill>
                  <a:srgbClr val="1E8B4C"/>
                </a:solidFill>
                <a:latin typeface="Calibri"/>
              </a:rPr>
              <a:t>HIGH</a:t>
            </a:r>
          </a:p>
        </p:txBody>
      </p:sp>
      <p:sp>
        <p:nvSpPr>
          <p:cNvPr id="182" name="Rounded Rectangle 181"/>
          <p:cNvSpPr/>
          <p:nvPr/>
        </p:nvSpPr>
        <p:spPr>
          <a:xfrm>
            <a:off x="8153399" y="4096512"/>
            <a:ext cx="3724656" cy="457200"/>
          </a:xfrm>
          <a:prstGeom prst="roundRect">
            <a:avLst>
              <a:gd name="adj" fmla="val 5000"/>
            </a:avLst>
          </a:prstGeom>
          <a:solidFill>
            <a:srgbClr val="EAEDF2"/>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Rectangle 182"/>
          <p:cNvSpPr/>
          <p:nvPr/>
        </p:nvSpPr>
        <p:spPr>
          <a:xfrm>
            <a:off x="8153399" y="4096512"/>
            <a:ext cx="36576" cy="4572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p:cNvSpPr txBox="1"/>
          <p:nvPr/>
        </p:nvSpPr>
        <p:spPr>
          <a:xfrm>
            <a:off x="8244839" y="4142232"/>
            <a:ext cx="3486912" cy="201168"/>
          </a:xfrm>
          <a:prstGeom prst="rect">
            <a:avLst/>
          </a:prstGeom>
          <a:noFill/>
        </p:spPr>
        <p:txBody>
          <a:bodyPr wrap="square">
            <a:spAutoFit/>
          </a:bodyPr>
          <a:lstStyle/>
          <a:p>
            <a:pPr algn="l"/>
            <a:r>
              <a:rPr sz="800" b="1" i="0">
                <a:solidFill>
                  <a:srgbClr val="0D1B3E"/>
                </a:solidFill>
                <a:latin typeface="Calibri"/>
              </a:rPr>
              <a:t>Auto-Remediation</a:t>
            </a:r>
          </a:p>
        </p:txBody>
      </p:sp>
      <p:sp>
        <p:nvSpPr>
          <p:cNvPr id="185" name="Rounded Rectangle 184"/>
          <p:cNvSpPr/>
          <p:nvPr/>
        </p:nvSpPr>
        <p:spPr>
          <a:xfrm>
            <a:off x="8244839" y="4334256"/>
            <a:ext cx="502920" cy="164592"/>
          </a:xfrm>
          <a:prstGeom prst="roundRect">
            <a:avLst>
              <a:gd name="adj" fmla="val 15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8244839" y="4343400"/>
            <a:ext cx="502920" cy="146304"/>
          </a:xfrm>
          <a:prstGeom prst="rect">
            <a:avLst/>
          </a:prstGeom>
          <a:noFill/>
        </p:spPr>
        <p:txBody>
          <a:bodyPr wrap="square">
            <a:spAutoFit/>
          </a:bodyPr>
          <a:lstStyle/>
          <a:p>
            <a:pPr algn="ctr"/>
            <a:r>
              <a:rPr sz="600" b="1" i="0">
                <a:solidFill>
                  <a:srgbClr val="FFFFFF"/>
                </a:solidFill>
                <a:latin typeface="Calibri"/>
              </a:rPr>
              <a:t>H</a:t>
            </a:r>
          </a:p>
        </p:txBody>
      </p:sp>
      <p:sp>
        <p:nvSpPr>
          <p:cNvPr id="187" name="Rounded Rectangle 186"/>
          <p:cNvSpPr/>
          <p:nvPr/>
        </p:nvSpPr>
        <p:spPr>
          <a:xfrm>
            <a:off x="8775192" y="4334256"/>
            <a:ext cx="502920" cy="164592"/>
          </a:xfrm>
          <a:prstGeom prst="roundRect">
            <a:avLst>
              <a:gd name="adj" fmla="val 15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TextBox 187"/>
          <p:cNvSpPr txBox="1"/>
          <p:nvPr/>
        </p:nvSpPr>
        <p:spPr>
          <a:xfrm>
            <a:off x="8775192" y="4343400"/>
            <a:ext cx="502920" cy="146304"/>
          </a:xfrm>
          <a:prstGeom prst="rect">
            <a:avLst/>
          </a:prstGeom>
          <a:noFill/>
        </p:spPr>
        <p:txBody>
          <a:bodyPr wrap="square">
            <a:spAutoFit/>
          </a:bodyPr>
          <a:lstStyle/>
          <a:p>
            <a:pPr algn="ctr"/>
            <a:r>
              <a:rPr sz="600" b="1" i="0">
                <a:solidFill>
                  <a:srgbClr val="FFFFFF"/>
                </a:solidFill>
                <a:latin typeface="Calibri"/>
              </a:rPr>
              <a:t>H:H</a:t>
            </a:r>
          </a:p>
        </p:txBody>
      </p:sp>
      <p:sp>
        <p:nvSpPr>
          <p:cNvPr id="189" name="TextBox 188"/>
          <p:cNvSpPr txBox="1"/>
          <p:nvPr/>
        </p:nvSpPr>
        <p:spPr>
          <a:xfrm>
            <a:off x="9314688" y="4343400"/>
            <a:ext cx="1097280" cy="146304"/>
          </a:xfrm>
          <a:prstGeom prst="rect">
            <a:avLst/>
          </a:prstGeom>
          <a:noFill/>
        </p:spPr>
        <p:txBody>
          <a:bodyPr wrap="square">
            <a:spAutoFit/>
          </a:bodyPr>
          <a:lstStyle/>
          <a:p>
            <a:pPr algn="l"/>
            <a:r>
              <a:rPr sz="600" b="0" i="0">
                <a:solidFill>
                  <a:srgbClr val="1E8B4C"/>
                </a:solidFill>
                <a:latin typeface="Calibri"/>
              </a:rPr>
              <a:t>HIGH</a:t>
            </a:r>
          </a:p>
        </p:txBody>
      </p:sp>
      <p:sp>
        <p:nvSpPr>
          <p:cNvPr id="190" name="Rounded Rectangle 189"/>
          <p:cNvSpPr/>
          <p:nvPr/>
        </p:nvSpPr>
        <p:spPr>
          <a:xfrm>
            <a:off x="8153399" y="4590288"/>
            <a:ext cx="3724656" cy="457200"/>
          </a:xfrm>
          <a:prstGeom prst="roundRect">
            <a:avLst>
              <a:gd name="adj" fmla="val 5000"/>
            </a:avLst>
          </a:prstGeom>
          <a:solidFill>
            <a:srgbClr val="EAEDF2"/>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Rectangle 190"/>
          <p:cNvSpPr/>
          <p:nvPr/>
        </p:nvSpPr>
        <p:spPr>
          <a:xfrm>
            <a:off x="8153399" y="4590288"/>
            <a:ext cx="36576" cy="4572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p:cNvSpPr txBox="1"/>
          <p:nvPr/>
        </p:nvSpPr>
        <p:spPr>
          <a:xfrm>
            <a:off x="8244839" y="4636008"/>
            <a:ext cx="3486912" cy="201168"/>
          </a:xfrm>
          <a:prstGeom prst="rect">
            <a:avLst/>
          </a:prstGeom>
          <a:noFill/>
        </p:spPr>
        <p:txBody>
          <a:bodyPr wrap="square">
            <a:spAutoFit/>
          </a:bodyPr>
          <a:lstStyle/>
          <a:p>
            <a:pPr algn="l"/>
            <a:r>
              <a:rPr sz="800" b="1" i="0">
                <a:solidFill>
                  <a:srgbClr val="0D1B3E"/>
                </a:solidFill>
                <a:latin typeface="Calibri"/>
              </a:rPr>
              <a:t>Legacy Migration</a:t>
            </a:r>
          </a:p>
        </p:txBody>
      </p:sp>
      <p:sp>
        <p:nvSpPr>
          <p:cNvPr id="193" name="Rounded Rectangle 192"/>
          <p:cNvSpPr/>
          <p:nvPr/>
        </p:nvSpPr>
        <p:spPr>
          <a:xfrm>
            <a:off x="8244839" y="4828032"/>
            <a:ext cx="502920" cy="164592"/>
          </a:xfrm>
          <a:prstGeom prst="roundRect">
            <a:avLst>
              <a:gd name="adj" fmla="val 15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8244839" y="4837176"/>
            <a:ext cx="502920" cy="146304"/>
          </a:xfrm>
          <a:prstGeom prst="rect">
            <a:avLst/>
          </a:prstGeom>
          <a:noFill/>
        </p:spPr>
        <p:txBody>
          <a:bodyPr wrap="square">
            <a:spAutoFit/>
          </a:bodyPr>
          <a:lstStyle/>
          <a:p>
            <a:pPr algn="ctr"/>
            <a:r>
              <a:rPr sz="600" b="1" i="0">
                <a:solidFill>
                  <a:srgbClr val="FFFFFF"/>
                </a:solidFill>
                <a:latin typeface="Calibri"/>
              </a:rPr>
              <a:t>H</a:t>
            </a:r>
          </a:p>
        </p:txBody>
      </p:sp>
      <p:sp>
        <p:nvSpPr>
          <p:cNvPr id="195" name="Rounded Rectangle 194"/>
          <p:cNvSpPr/>
          <p:nvPr/>
        </p:nvSpPr>
        <p:spPr>
          <a:xfrm>
            <a:off x="8775192" y="4828032"/>
            <a:ext cx="502920" cy="164592"/>
          </a:xfrm>
          <a:prstGeom prst="roundRect">
            <a:avLst>
              <a:gd name="adj" fmla="val 15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p:cNvSpPr txBox="1"/>
          <p:nvPr/>
        </p:nvSpPr>
        <p:spPr>
          <a:xfrm>
            <a:off x="8775192" y="4837176"/>
            <a:ext cx="502920" cy="146304"/>
          </a:xfrm>
          <a:prstGeom prst="rect">
            <a:avLst/>
          </a:prstGeom>
          <a:noFill/>
        </p:spPr>
        <p:txBody>
          <a:bodyPr wrap="square">
            <a:spAutoFit/>
          </a:bodyPr>
          <a:lstStyle/>
          <a:p>
            <a:pPr algn="ctr"/>
            <a:r>
              <a:rPr sz="600" b="1" i="0">
                <a:solidFill>
                  <a:srgbClr val="FFFFFF"/>
                </a:solidFill>
                <a:latin typeface="Calibri"/>
              </a:rPr>
              <a:t>H:H</a:t>
            </a:r>
          </a:p>
        </p:txBody>
      </p:sp>
      <p:sp>
        <p:nvSpPr>
          <p:cNvPr id="197" name="TextBox 196"/>
          <p:cNvSpPr txBox="1"/>
          <p:nvPr/>
        </p:nvSpPr>
        <p:spPr>
          <a:xfrm>
            <a:off x="9314688" y="4837176"/>
            <a:ext cx="1097280" cy="146304"/>
          </a:xfrm>
          <a:prstGeom prst="rect">
            <a:avLst/>
          </a:prstGeom>
          <a:noFill/>
        </p:spPr>
        <p:txBody>
          <a:bodyPr wrap="square">
            <a:spAutoFit/>
          </a:bodyPr>
          <a:lstStyle/>
          <a:p>
            <a:pPr algn="l"/>
            <a:r>
              <a:rPr sz="600" b="0" i="0">
                <a:solidFill>
                  <a:srgbClr val="1E8B4C"/>
                </a:solidFill>
                <a:latin typeface="Calibri"/>
              </a:rPr>
              <a:t>HIGH</a:t>
            </a:r>
          </a:p>
        </p:txBody>
      </p:sp>
      <p:sp>
        <p:nvSpPr>
          <p:cNvPr id="198" name="Rounded Rectangle 197"/>
          <p:cNvSpPr/>
          <p:nvPr/>
        </p:nvSpPr>
        <p:spPr>
          <a:xfrm>
            <a:off x="8153399" y="5084064"/>
            <a:ext cx="3724656" cy="457200"/>
          </a:xfrm>
          <a:prstGeom prst="roundRect">
            <a:avLst>
              <a:gd name="adj" fmla="val 5000"/>
            </a:avLst>
          </a:prstGeom>
          <a:solidFill>
            <a:srgbClr val="EAEDF2"/>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Rectangle 198"/>
          <p:cNvSpPr/>
          <p:nvPr/>
        </p:nvSpPr>
        <p:spPr>
          <a:xfrm>
            <a:off x="8153399" y="5084064"/>
            <a:ext cx="36576" cy="4572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TextBox 199"/>
          <p:cNvSpPr txBox="1"/>
          <p:nvPr/>
        </p:nvSpPr>
        <p:spPr>
          <a:xfrm>
            <a:off x="8244839" y="5129784"/>
            <a:ext cx="3486912" cy="201168"/>
          </a:xfrm>
          <a:prstGeom prst="rect">
            <a:avLst/>
          </a:prstGeom>
          <a:noFill/>
        </p:spPr>
        <p:txBody>
          <a:bodyPr wrap="square">
            <a:spAutoFit/>
          </a:bodyPr>
          <a:lstStyle/>
          <a:p>
            <a:pPr algn="l"/>
            <a:r>
              <a:rPr sz="800" b="1" i="0">
                <a:solidFill>
                  <a:srgbClr val="0D1B3E"/>
                </a:solidFill>
                <a:latin typeface="Calibri"/>
              </a:rPr>
              <a:t>Access Provisioner</a:t>
            </a:r>
          </a:p>
        </p:txBody>
      </p:sp>
      <p:sp>
        <p:nvSpPr>
          <p:cNvPr id="201" name="Rounded Rectangle 200"/>
          <p:cNvSpPr/>
          <p:nvPr/>
        </p:nvSpPr>
        <p:spPr>
          <a:xfrm>
            <a:off x="8244839" y="5321808"/>
            <a:ext cx="502920" cy="164592"/>
          </a:xfrm>
          <a:prstGeom prst="roundRect">
            <a:avLst>
              <a:gd name="adj" fmla="val 15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TextBox 201"/>
          <p:cNvSpPr txBox="1"/>
          <p:nvPr/>
        </p:nvSpPr>
        <p:spPr>
          <a:xfrm>
            <a:off x="8244839" y="5330952"/>
            <a:ext cx="502920" cy="146304"/>
          </a:xfrm>
          <a:prstGeom prst="rect">
            <a:avLst/>
          </a:prstGeom>
          <a:noFill/>
        </p:spPr>
        <p:txBody>
          <a:bodyPr wrap="square">
            <a:spAutoFit/>
          </a:bodyPr>
          <a:lstStyle/>
          <a:p>
            <a:pPr algn="ctr"/>
            <a:r>
              <a:rPr sz="600" b="1" i="0">
                <a:solidFill>
                  <a:srgbClr val="FFFFFF"/>
                </a:solidFill>
                <a:latin typeface="Calibri"/>
              </a:rPr>
              <a:t>H</a:t>
            </a:r>
          </a:p>
        </p:txBody>
      </p:sp>
      <p:sp>
        <p:nvSpPr>
          <p:cNvPr id="203" name="Rounded Rectangle 202"/>
          <p:cNvSpPr/>
          <p:nvPr/>
        </p:nvSpPr>
        <p:spPr>
          <a:xfrm>
            <a:off x="8775192" y="5321808"/>
            <a:ext cx="502920" cy="164592"/>
          </a:xfrm>
          <a:prstGeom prst="roundRect">
            <a:avLst>
              <a:gd name="adj" fmla="val 15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TextBox 203"/>
          <p:cNvSpPr txBox="1"/>
          <p:nvPr/>
        </p:nvSpPr>
        <p:spPr>
          <a:xfrm>
            <a:off x="8775192" y="5330952"/>
            <a:ext cx="502920" cy="146304"/>
          </a:xfrm>
          <a:prstGeom prst="rect">
            <a:avLst/>
          </a:prstGeom>
          <a:noFill/>
        </p:spPr>
        <p:txBody>
          <a:bodyPr wrap="square">
            <a:spAutoFit/>
          </a:bodyPr>
          <a:lstStyle/>
          <a:p>
            <a:pPr algn="ctr"/>
            <a:r>
              <a:rPr sz="600" b="1" i="0">
                <a:solidFill>
                  <a:srgbClr val="FFFFFF"/>
                </a:solidFill>
                <a:latin typeface="Calibri"/>
              </a:rPr>
              <a:t>H:H</a:t>
            </a:r>
          </a:p>
        </p:txBody>
      </p:sp>
      <p:sp>
        <p:nvSpPr>
          <p:cNvPr id="205" name="TextBox 204"/>
          <p:cNvSpPr txBox="1"/>
          <p:nvPr/>
        </p:nvSpPr>
        <p:spPr>
          <a:xfrm>
            <a:off x="9314688" y="5330952"/>
            <a:ext cx="1097280" cy="146304"/>
          </a:xfrm>
          <a:prstGeom prst="rect">
            <a:avLst/>
          </a:prstGeom>
          <a:noFill/>
        </p:spPr>
        <p:txBody>
          <a:bodyPr wrap="square">
            <a:spAutoFit/>
          </a:bodyPr>
          <a:lstStyle/>
          <a:p>
            <a:pPr algn="l"/>
            <a:r>
              <a:rPr sz="600" b="0" i="0">
                <a:solidFill>
                  <a:srgbClr val="1E8B4C"/>
                </a:solidFill>
                <a:latin typeface="Calibri"/>
              </a:rPr>
              <a:t>HIGH</a:t>
            </a:r>
          </a:p>
        </p:txBody>
      </p:sp>
      <p:sp>
        <p:nvSpPr>
          <p:cNvPr id="206" name="Rounded Rectangle 205"/>
          <p:cNvSpPr/>
          <p:nvPr/>
        </p:nvSpPr>
        <p:spPr>
          <a:xfrm>
            <a:off x="8153399" y="5577840"/>
            <a:ext cx="3724656" cy="457200"/>
          </a:xfrm>
          <a:prstGeom prst="roundRect">
            <a:avLst>
              <a:gd name="adj" fmla="val 5000"/>
            </a:avLst>
          </a:prstGeom>
          <a:solidFill>
            <a:srgbClr val="EAEDF2"/>
          </a:solidFill>
          <a:ln w="10160">
            <a:solidFill>
              <a:srgbClr val="D4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Rectangle 206"/>
          <p:cNvSpPr/>
          <p:nvPr/>
        </p:nvSpPr>
        <p:spPr>
          <a:xfrm>
            <a:off x="8153399" y="5577840"/>
            <a:ext cx="36576" cy="457200"/>
          </a:xfrm>
          <a:prstGeom prst="rect">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207"/>
          <p:cNvSpPr txBox="1"/>
          <p:nvPr/>
        </p:nvSpPr>
        <p:spPr>
          <a:xfrm>
            <a:off x="8244839" y="5623560"/>
            <a:ext cx="3486912" cy="201168"/>
          </a:xfrm>
          <a:prstGeom prst="rect">
            <a:avLst/>
          </a:prstGeom>
          <a:noFill/>
        </p:spPr>
        <p:txBody>
          <a:bodyPr wrap="square">
            <a:spAutoFit/>
          </a:bodyPr>
          <a:lstStyle/>
          <a:p>
            <a:pPr algn="l"/>
            <a:r>
              <a:rPr sz="800" b="1" i="0">
                <a:solidFill>
                  <a:srgbClr val="0D1B3E"/>
                </a:solidFill>
                <a:latin typeface="Calibri"/>
              </a:rPr>
              <a:t>Pair Programming</a:t>
            </a:r>
          </a:p>
        </p:txBody>
      </p:sp>
      <p:sp>
        <p:nvSpPr>
          <p:cNvPr id="209" name="Rounded Rectangle 208"/>
          <p:cNvSpPr/>
          <p:nvPr/>
        </p:nvSpPr>
        <p:spPr>
          <a:xfrm>
            <a:off x="8244839" y="5815584"/>
            <a:ext cx="502920" cy="164592"/>
          </a:xfrm>
          <a:prstGeom prst="roundRect">
            <a:avLst>
              <a:gd name="adj" fmla="val 15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TextBox 209"/>
          <p:cNvSpPr txBox="1"/>
          <p:nvPr/>
        </p:nvSpPr>
        <p:spPr>
          <a:xfrm>
            <a:off x="8244839" y="5824728"/>
            <a:ext cx="502920" cy="146304"/>
          </a:xfrm>
          <a:prstGeom prst="rect">
            <a:avLst/>
          </a:prstGeom>
          <a:noFill/>
        </p:spPr>
        <p:txBody>
          <a:bodyPr wrap="square">
            <a:spAutoFit/>
          </a:bodyPr>
          <a:lstStyle/>
          <a:p>
            <a:pPr algn="ctr"/>
            <a:r>
              <a:rPr sz="600" b="1" i="0">
                <a:solidFill>
                  <a:srgbClr val="FFFFFF"/>
                </a:solidFill>
                <a:latin typeface="Calibri"/>
              </a:rPr>
              <a:t>H</a:t>
            </a:r>
          </a:p>
        </p:txBody>
      </p:sp>
      <p:sp>
        <p:nvSpPr>
          <p:cNvPr id="211" name="Rounded Rectangle 210"/>
          <p:cNvSpPr/>
          <p:nvPr/>
        </p:nvSpPr>
        <p:spPr>
          <a:xfrm>
            <a:off x="8775192" y="5815584"/>
            <a:ext cx="502920" cy="164592"/>
          </a:xfrm>
          <a:prstGeom prst="roundRect">
            <a:avLst>
              <a:gd name="adj" fmla="val 15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TextBox 211"/>
          <p:cNvSpPr txBox="1"/>
          <p:nvPr/>
        </p:nvSpPr>
        <p:spPr>
          <a:xfrm>
            <a:off x="8775192" y="5824728"/>
            <a:ext cx="502920" cy="146304"/>
          </a:xfrm>
          <a:prstGeom prst="rect">
            <a:avLst/>
          </a:prstGeom>
          <a:noFill/>
        </p:spPr>
        <p:txBody>
          <a:bodyPr wrap="square">
            <a:spAutoFit/>
          </a:bodyPr>
          <a:lstStyle/>
          <a:p>
            <a:pPr algn="ctr"/>
            <a:r>
              <a:rPr sz="600" b="1" i="0">
                <a:solidFill>
                  <a:srgbClr val="FFFFFF"/>
                </a:solidFill>
                <a:latin typeface="Calibri"/>
              </a:rPr>
              <a:t>H:M</a:t>
            </a:r>
          </a:p>
        </p:txBody>
      </p:sp>
      <p:sp>
        <p:nvSpPr>
          <p:cNvPr id="213" name="TextBox 212"/>
          <p:cNvSpPr txBox="1"/>
          <p:nvPr/>
        </p:nvSpPr>
        <p:spPr>
          <a:xfrm>
            <a:off x="9314688" y="5824728"/>
            <a:ext cx="1097280" cy="146304"/>
          </a:xfrm>
          <a:prstGeom prst="rect">
            <a:avLst/>
          </a:prstGeom>
          <a:noFill/>
        </p:spPr>
        <p:txBody>
          <a:bodyPr wrap="square">
            <a:spAutoFit/>
          </a:bodyPr>
          <a:lstStyle/>
          <a:p>
            <a:pPr algn="l"/>
            <a:r>
              <a:rPr sz="600" b="0" i="0">
                <a:solidFill>
                  <a:srgbClr val="D47F00"/>
                </a:solidFill>
                <a:latin typeface="Calibri"/>
              </a:rPr>
              <a:t>MEDIUM</a:t>
            </a:r>
          </a:p>
        </p:txBody>
      </p:sp>
      <p:sp>
        <p:nvSpPr>
          <p:cNvPr id="214" name="Rectangle 213"/>
          <p:cNvSpPr/>
          <p:nvPr/>
        </p:nvSpPr>
        <p:spPr>
          <a:xfrm>
            <a:off x="8135112" y="6190488"/>
            <a:ext cx="3761232" cy="54864"/>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TextBox 214"/>
          <p:cNvSpPr txBox="1"/>
          <p:nvPr/>
        </p:nvSpPr>
        <p:spPr>
          <a:xfrm>
            <a:off x="8171687" y="6263640"/>
            <a:ext cx="3688080" cy="256032"/>
          </a:xfrm>
          <a:prstGeom prst="rect">
            <a:avLst/>
          </a:prstGeom>
          <a:noFill/>
        </p:spPr>
        <p:txBody>
          <a:bodyPr wrap="square">
            <a:spAutoFit/>
          </a:bodyPr>
          <a:lstStyle/>
          <a:p>
            <a:pPr algn="l"/>
            <a:r>
              <a:rPr sz="700" b="1" i="0">
                <a:solidFill>
                  <a:srgbClr val="007ABF"/>
                </a:solidFill>
                <a:latin typeface="Calibri"/>
              </a:rPr>
              <a:t>✓  Full agentic SDLC operating model live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0"/>
            <a:ext cx="12191695" cy="36576"/>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73152"/>
            <a:ext cx="9144000" cy="502920"/>
          </a:xfrm>
          <a:prstGeom prst="rect">
            <a:avLst/>
          </a:prstGeom>
          <a:noFill/>
        </p:spPr>
        <p:txBody>
          <a:bodyPr wrap="square">
            <a:spAutoFit/>
          </a:bodyPr>
          <a:lstStyle/>
          <a:p>
            <a:pPr algn="l"/>
            <a:r>
              <a:rPr sz="2200" b="1" i="0">
                <a:solidFill>
                  <a:srgbClr val="FFFFFF"/>
                </a:solidFill>
                <a:latin typeface="Cambria"/>
              </a:rPr>
              <a:t>TOP 10 RECOMMENDED AGENTS</a:t>
            </a:r>
          </a:p>
        </p:txBody>
      </p:sp>
      <p:sp>
        <p:nvSpPr>
          <p:cNvPr id="5" name="TextBox 4"/>
          <p:cNvSpPr txBox="1"/>
          <p:nvPr/>
        </p:nvSpPr>
        <p:spPr>
          <a:xfrm>
            <a:off x="274320" y="548640"/>
            <a:ext cx="10972800" cy="320040"/>
          </a:xfrm>
          <a:prstGeom prst="rect">
            <a:avLst/>
          </a:prstGeom>
          <a:noFill/>
        </p:spPr>
        <p:txBody>
          <a:bodyPr wrap="square">
            <a:spAutoFit/>
          </a:bodyPr>
          <a:lstStyle/>
          <a:p>
            <a:pPr algn="l"/>
            <a:r>
              <a:rPr sz="1100" b="0" i="0">
                <a:solidFill>
                  <a:srgbClr val="A0C8FF"/>
                </a:solidFill>
                <a:latin typeface="Calibri"/>
              </a:rPr>
              <a:t>Ranked by Impact · Effort · HITL · Implementation Readiness</a:t>
            </a:r>
          </a:p>
        </p:txBody>
      </p:sp>
      <p:sp>
        <p:nvSpPr>
          <p:cNvPr id="6" name="Rectangle 5"/>
          <p:cNvSpPr/>
          <p:nvPr/>
        </p:nvSpPr>
        <p:spPr>
          <a:xfrm>
            <a:off x="0" y="6675120"/>
            <a:ext cx="12191695" cy="182880"/>
          </a:xfrm>
          <a:prstGeom prst="rect">
            <a:avLst/>
          </a:prstGeom>
          <a:solidFill>
            <a:srgbClr val="EC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84264"/>
            <a:ext cx="10972800" cy="164592"/>
          </a:xfrm>
          <a:prstGeom prst="rect">
            <a:avLst/>
          </a:prstGeom>
          <a:noFill/>
        </p:spPr>
        <p:txBody>
          <a:bodyPr wrap="square">
            <a:spAutoFit/>
          </a:bodyPr>
          <a:lstStyle/>
          <a:p>
            <a:pPr algn="l"/>
            <a:r>
              <a:rPr sz="700" b="0" i="0">
                <a:solidFill>
                  <a:srgbClr val="5D6D7E"/>
                </a:solidFill>
                <a:latin typeface="Calibri"/>
              </a:rPr>
              <a:t>CONFIDENTIAL  |  Technology Strategy Practice  |  Not for Distribution</a:t>
            </a:r>
          </a:p>
        </p:txBody>
      </p:sp>
      <p:sp>
        <p:nvSpPr>
          <p:cNvPr id="8" name="Rectangle 7"/>
          <p:cNvSpPr/>
          <p:nvPr/>
        </p:nvSpPr>
        <p:spPr>
          <a:xfrm>
            <a:off x="155448" y="932688"/>
            <a:ext cx="5760720" cy="347472"/>
          </a:xfrm>
          <a:prstGeom prst="rect">
            <a:avLst/>
          </a:prstGeom>
          <a:solidFill>
            <a:srgbClr val="E8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987552"/>
            <a:ext cx="5394960" cy="256032"/>
          </a:xfrm>
          <a:prstGeom prst="rect">
            <a:avLst/>
          </a:prstGeom>
          <a:noFill/>
        </p:spPr>
        <p:txBody>
          <a:bodyPr wrap="square">
            <a:spAutoFit/>
          </a:bodyPr>
          <a:lstStyle/>
          <a:p>
            <a:pPr algn="l"/>
            <a:r>
              <a:rPr sz="1100" b="1" i="0">
                <a:solidFill>
                  <a:srgbClr val="1E8B4C"/>
                </a:solidFill>
                <a:latin typeface="Calibri"/>
              </a:rPr>
              <a:t>⚡  TOP 5 IMMEDIATE DEPLOYMENTS</a:t>
            </a:r>
          </a:p>
        </p:txBody>
      </p:sp>
      <p:sp>
        <p:nvSpPr>
          <p:cNvPr id="10" name="Rounded Rectangle 9"/>
          <p:cNvSpPr/>
          <p:nvPr/>
        </p:nvSpPr>
        <p:spPr>
          <a:xfrm>
            <a:off x="182880" y="1371600"/>
            <a:ext cx="5669280" cy="877824"/>
          </a:xfrm>
          <a:prstGeom prst="roundRect">
            <a:avLst>
              <a:gd name="adj" fmla="val 6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82880" y="1371600"/>
            <a:ext cx="5669280" cy="54864"/>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37744" y="1463040"/>
            <a:ext cx="411480" cy="411480"/>
          </a:xfrm>
          <a:prstGeom prst="roundRect">
            <a:avLst>
              <a:gd name="adj" fmla="val 5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7744" y="1536192"/>
            <a:ext cx="411480" cy="256032"/>
          </a:xfrm>
          <a:prstGeom prst="rect">
            <a:avLst/>
          </a:prstGeom>
          <a:noFill/>
        </p:spPr>
        <p:txBody>
          <a:bodyPr wrap="square">
            <a:spAutoFit/>
          </a:bodyPr>
          <a:lstStyle/>
          <a:p>
            <a:pPr algn="ctr"/>
            <a:r>
              <a:rPr sz="1000" b="1" i="0">
                <a:solidFill>
                  <a:srgbClr val="FFFFFF"/>
                </a:solidFill>
                <a:latin typeface="Cambria"/>
              </a:rPr>
              <a:t>#1</a:t>
            </a:r>
          </a:p>
        </p:txBody>
      </p:sp>
      <p:sp>
        <p:nvSpPr>
          <p:cNvPr id="14" name="TextBox 13"/>
          <p:cNvSpPr txBox="1"/>
          <p:nvPr/>
        </p:nvSpPr>
        <p:spPr>
          <a:xfrm>
            <a:off x="713232" y="1463040"/>
            <a:ext cx="4114800" cy="292608"/>
          </a:xfrm>
          <a:prstGeom prst="rect">
            <a:avLst/>
          </a:prstGeom>
          <a:noFill/>
        </p:spPr>
        <p:txBody>
          <a:bodyPr wrap="square">
            <a:spAutoFit/>
          </a:bodyPr>
          <a:lstStyle/>
          <a:p>
            <a:pPr algn="l"/>
            <a:r>
              <a:rPr sz="1100" b="1" i="0">
                <a:solidFill>
                  <a:srgbClr val="0D1B3E"/>
                </a:solidFill>
                <a:latin typeface="Calibri"/>
              </a:rPr>
              <a:t>Documentation</a:t>
            </a:r>
          </a:p>
        </p:txBody>
      </p:sp>
      <p:sp>
        <p:nvSpPr>
          <p:cNvPr id="15" name="TextBox 14"/>
          <p:cNvSpPr txBox="1"/>
          <p:nvPr/>
        </p:nvSpPr>
        <p:spPr>
          <a:xfrm>
            <a:off x="713232" y="1719072"/>
            <a:ext cx="4114800" cy="182880"/>
          </a:xfrm>
          <a:prstGeom prst="rect">
            <a:avLst/>
          </a:prstGeom>
          <a:noFill/>
        </p:spPr>
        <p:txBody>
          <a:bodyPr wrap="square">
            <a:spAutoFit/>
          </a:bodyPr>
          <a:lstStyle/>
          <a:p>
            <a:pPr algn="l"/>
            <a:r>
              <a:rPr sz="750" b="0" i="0">
                <a:solidFill>
                  <a:srgbClr val="5D6D7E"/>
                </a:solidFill>
                <a:latin typeface="Calibri"/>
              </a:rPr>
              <a:t>Development &amp; Coding</a:t>
            </a:r>
          </a:p>
        </p:txBody>
      </p:sp>
      <p:sp>
        <p:nvSpPr>
          <p:cNvPr id="16" name="Rectangle 15"/>
          <p:cNvSpPr/>
          <p:nvPr/>
        </p:nvSpPr>
        <p:spPr>
          <a:xfrm>
            <a:off x="713232" y="1938528"/>
            <a:ext cx="2286000" cy="10972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13232" y="1938528"/>
            <a:ext cx="3047999" cy="10972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063240" y="1929384"/>
            <a:ext cx="914400" cy="146304"/>
          </a:xfrm>
          <a:prstGeom prst="rect">
            <a:avLst/>
          </a:prstGeom>
          <a:noFill/>
        </p:spPr>
        <p:txBody>
          <a:bodyPr wrap="square">
            <a:spAutoFit/>
          </a:bodyPr>
          <a:lstStyle/>
          <a:p>
            <a:pPr algn="l"/>
            <a:r>
              <a:rPr sz="650" b="0" i="0">
                <a:solidFill>
                  <a:srgbClr val="5D6D7E"/>
                </a:solidFill>
                <a:latin typeface="Calibri"/>
              </a:rPr>
              <a:t>Score: 12/9</a:t>
            </a:r>
          </a:p>
        </p:txBody>
      </p:sp>
      <p:sp>
        <p:nvSpPr>
          <p:cNvPr id="19" name="Rounded Rectangle 18"/>
          <p:cNvSpPr/>
          <p:nvPr/>
        </p:nvSpPr>
        <p:spPr>
          <a:xfrm>
            <a:off x="4041648" y="1463040"/>
            <a:ext cx="530352" cy="237744"/>
          </a:xfrm>
          <a:prstGeom prst="roundRect">
            <a:avLst>
              <a:gd name="adj" fmla="val 12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041648" y="1481328"/>
            <a:ext cx="530352" cy="201168"/>
          </a:xfrm>
          <a:prstGeom prst="rect">
            <a:avLst/>
          </a:prstGeom>
          <a:noFill/>
        </p:spPr>
        <p:txBody>
          <a:bodyPr wrap="square">
            <a:spAutoFit/>
          </a:bodyPr>
          <a:lstStyle/>
          <a:p>
            <a:pPr algn="ctr"/>
            <a:r>
              <a:rPr sz="700" b="1" i="0">
                <a:solidFill>
                  <a:srgbClr val="FFFFFF"/>
                </a:solidFill>
                <a:latin typeface="Calibri"/>
              </a:rPr>
              <a:t>L</a:t>
            </a:r>
          </a:p>
        </p:txBody>
      </p:sp>
      <p:sp>
        <p:nvSpPr>
          <p:cNvPr id="21" name="TextBox 20"/>
          <p:cNvSpPr txBox="1"/>
          <p:nvPr/>
        </p:nvSpPr>
        <p:spPr>
          <a:xfrm>
            <a:off x="4041648" y="1700784"/>
            <a:ext cx="530352" cy="164592"/>
          </a:xfrm>
          <a:prstGeom prst="rect">
            <a:avLst/>
          </a:prstGeom>
          <a:noFill/>
        </p:spPr>
        <p:txBody>
          <a:bodyPr wrap="square">
            <a:spAutoFit/>
          </a:bodyPr>
          <a:lstStyle/>
          <a:p>
            <a:pPr algn="ctr"/>
            <a:r>
              <a:rPr sz="550" b="0" i="0">
                <a:solidFill>
                  <a:srgbClr val="5D6D7E"/>
                </a:solidFill>
                <a:latin typeface="Calibri"/>
              </a:rPr>
              <a:t>Effort</a:t>
            </a:r>
          </a:p>
        </p:txBody>
      </p:sp>
      <p:sp>
        <p:nvSpPr>
          <p:cNvPr id="22" name="Rounded Rectangle 21"/>
          <p:cNvSpPr/>
          <p:nvPr/>
        </p:nvSpPr>
        <p:spPr>
          <a:xfrm>
            <a:off x="4608576" y="1463040"/>
            <a:ext cx="530352" cy="237744"/>
          </a:xfrm>
          <a:prstGeom prst="roundRect">
            <a:avLst>
              <a:gd name="adj" fmla="val 12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08576" y="1481328"/>
            <a:ext cx="530352" cy="201168"/>
          </a:xfrm>
          <a:prstGeom prst="rect">
            <a:avLst/>
          </a:prstGeom>
          <a:noFill/>
        </p:spPr>
        <p:txBody>
          <a:bodyPr wrap="square">
            <a:spAutoFit/>
          </a:bodyPr>
          <a:lstStyle/>
          <a:p>
            <a:pPr algn="ctr"/>
            <a:r>
              <a:rPr sz="700" b="1" i="0">
                <a:solidFill>
                  <a:srgbClr val="FFFFFF"/>
                </a:solidFill>
                <a:latin typeface="Calibri"/>
              </a:rPr>
              <a:t>H</a:t>
            </a:r>
          </a:p>
        </p:txBody>
      </p:sp>
      <p:sp>
        <p:nvSpPr>
          <p:cNvPr id="24" name="TextBox 23"/>
          <p:cNvSpPr txBox="1"/>
          <p:nvPr/>
        </p:nvSpPr>
        <p:spPr>
          <a:xfrm>
            <a:off x="4608576" y="1700784"/>
            <a:ext cx="530352" cy="164592"/>
          </a:xfrm>
          <a:prstGeom prst="rect">
            <a:avLst/>
          </a:prstGeom>
          <a:noFill/>
        </p:spPr>
        <p:txBody>
          <a:bodyPr wrap="square">
            <a:spAutoFit/>
          </a:bodyPr>
          <a:lstStyle/>
          <a:p>
            <a:pPr algn="ctr"/>
            <a:r>
              <a:rPr sz="550" b="0" i="0">
                <a:solidFill>
                  <a:srgbClr val="5D6D7E"/>
                </a:solidFill>
                <a:latin typeface="Calibri"/>
              </a:rPr>
              <a:t>Impact</a:t>
            </a:r>
          </a:p>
        </p:txBody>
      </p:sp>
      <p:sp>
        <p:nvSpPr>
          <p:cNvPr id="25" name="Rounded Rectangle 24"/>
          <p:cNvSpPr/>
          <p:nvPr/>
        </p:nvSpPr>
        <p:spPr>
          <a:xfrm>
            <a:off x="5175504" y="1463040"/>
            <a:ext cx="530352" cy="237744"/>
          </a:xfrm>
          <a:prstGeom prst="roundRect">
            <a:avLst>
              <a:gd name="adj" fmla="val 12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175504" y="1481328"/>
            <a:ext cx="530352" cy="201168"/>
          </a:xfrm>
          <a:prstGeom prst="rect">
            <a:avLst/>
          </a:prstGeom>
          <a:noFill/>
        </p:spPr>
        <p:txBody>
          <a:bodyPr wrap="square">
            <a:spAutoFit/>
          </a:bodyPr>
          <a:lstStyle/>
          <a:p>
            <a:pPr algn="ctr"/>
            <a:r>
              <a:rPr sz="700" b="1" i="0">
                <a:solidFill>
                  <a:srgbClr val="FFFFFF"/>
                </a:solidFill>
                <a:latin typeface="Calibri"/>
              </a:rPr>
              <a:t>L</a:t>
            </a:r>
          </a:p>
        </p:txBody>
      </p:sp>
      <p:sp>
        <p:nvSpPr>
          <p:cNvPr id="27" name="TextBox 26"/>
          <p:cNvSpPr txBox="1"/>
          <p:nvPr/>
        </p:nvSpPr>
        <p:spPr>
          <a:xfrm>
            <a:off x="5175504" y="1700784"/>
            <a:ext cx="530352" cy="164592"/>
          </a:xfrm>
          <a:prstGeom prst="rect">
            <a:avLst/>
          </a:prstGeom>
          <a:noFill/>
        </p:spPr>
        <p:txBody>
          <a:bodyPr wrap="square">
            <a:spAutoFit/>
          </a:bodyPr>
          <a:lstStyle/>
          <a:p>
            <a:pPr algn="ctr"/>
            <a:r>
              <a:rPr sz="550" b="0" i="0">
                <a:solidFill>
                  <a:srgbClr val="5D6D7E"/>
                </a:solidFill>
                <a:latin typeface="Calibri"/>
              </a:rPr>
              <a:t>HITL</a:t>
            </a:r>
          </a:p>
        </p:txBody>
      </p:sp>
      <p:sp>
        <p:nvSpPr>
          <p:cNvPr id="28" name="Rounded Rectangle 27"/>
          <p:cNvSpPr/>
          <p:nvPr/>
        </p:nvSpPr>
        <p:spPr>
          <a:xfrm>
            <a:off x="182880" y="2322576"/>
            <a:ext cx="5669280" cy="877824"/>
          </a:xfrm>
          <a:prstGeom prst="roundRect">
            <a:avLst>
              <a:gd name="adj" fmla="val 6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82880" y="2322576"/>
            <a:ext cx="5669280" cy="54864"/>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237744" y="2414016"/>
            <a:ext cx="411480" cy="411480"/>
          </a:xfrm>
          <a:prstGeom prst="roundRect">
            <a:avLst>
              <a:gd name="adj" fmla="val 5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37744" y="2487168"/>
            <a:ext cx="411480" cy="256032"/>
          </a:xfrm>
          <a:prstGeom prst="rect">
            <a:avLst/>
          </a:prstGeom>
          <a:noFill/>
        </p:spPr>
        <p:txBody>
          <a:bodyPr wrap="square">
            <a:spAutoFit/>
          </a:bodyPr>
          <a:lstStyle/>
          <a:p>
            <a:pPr algn="ctr"/>
            <a:r>
              <a:rPr sz="1000" b="1" i="0">
                <a:solidFill>
                  <a:srgbClr val="FFFFFF"/>
                </a:solidFill>
                <a:latin typeface="Cambria"/>
              </a:rPr>
              <a:t>#2</a:t>
            </a:r>
          </a:p>
        </p:txBody>
      </p:sp>
      <p:sp>
        <p:nvSpPr>
          <p:cNvPr id="32" name="TextBox 31"/>
          <p:cNvSpPr txBox="1"/>
          <p:nvPr/>
        </p:nvSpPr>
        <p:spPr>
          <a:xfrm>
            <a:off x="713232" y="2414016"/>
            <a:ext cx="4114800" cy="292608"/>
          </a:xfrm>
          <a:prstGeom prst="rect">
            <a:avLst/>
          </a:prstGeom>
          <a:noFill/>
        </p:spPr>
        <p:txBody>
          <a:bodyPr wrap="square">
            <a:spAutoFit/>
          </a:bodyPr>
          <a:lstStyle/>
          <a:p>
            <a:pPr algn="l"/>
            <a:r>
              <a:rPr sz="1100" b="1" i="0">
                <a:solidFill>
                  <a:srgbClr val="0D1B3E"/>
                </a:solidFill>
                <a:latin typeface="Calibri"/>
              </a:rPr>
              <a:t>PII Leak Detection</a:t>
            </a:r>
          </a:p>
        </p:txBody>
      </p:sp>
      <p:sp>
        <p:nvSpPr>
          <p:cNvPr id="33" name="TextBox 32"/>
          <p:cNvSpPr txBox="1"/>
          <p:nvPr/>
        </p:nvSpPr>
        <p:spPr>
          <a:xfrm>
            <a:off x="713232" y="2670048"/>
            <a:ext cx="4114800" cy="182880"/>
          </a:xfrm>
          <a:prstGeom prst="rect">
            <a:avLst/>
          </a:prstGeom>
          <a:noFill/>
        </p:spPr>
        <p:txBody>
          <a:bodyPr wrap="square">
            <a:spAutoFit/>
          </a:bodyPr>
          <a:lstStyle/>
          <a:p>
            <a:pPr algn="l"/>
            <a:r>
              <a:rPr sz="750" b="0" i="0">
                <a:solidFill>
                  <a:srgbClr val="5D6D7E"/>
                </a:solidFill>
                <a:latin typeface="Calibri"/>
              </a:rPr>
              <a:t>Security &amp; Compliance</a:t>
            </a:r>
          </a:p>
        </p:txBody>
      </p:sp>
      <p:sp>
        <p:nvSpPr>
          <p:cNvPr id="34" name="Rectangle 33"/>
          <p:cNvSpPr/>
          <p:nvPr/>
        </p:nvSpPr>
        <p:spPr>
          <a:xfrm>
            <a:off x="713232" y="2889504"/>
            <a:ext cx="2286000" cy="10972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13232" y="2889504"/>
            <a:ext cx="3047999" cy="10972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063240" y="2880360"/>
            <a:ext cx="914400" cy="146304"/>
          </a:xfrm>
          <a:prstGeom prst="rect">
            <a:avLst/>
          </a:prstGeom>
          <a:noFill/>
        </p:spPr>
        <p:txBody>
          <a:bodyPr wrap="square">
            <a:spAutoFit/>
          </a:bodyPr>
          <a:lstStyle/>
          <a:p>
            <a:pPr algn="l"/>
            <a:r>
              <a:rPr sz="650" b="0" i="0">
                <a:solidFill>
                  <a:srgbClr val="5D6D7E"/>
                </a:solidFill>
                <a:latin typeface="Calibri"/>
              </a:rPr>
              <a:t>Score: 12/9</a:t>
            </a:r>
          </a:p>
        </p:txBody>
      </p:sp>
      <p:sp>
        <p:nvSpPr>
          <p:cNvPr id="37" name="Rounded Rectangle 36"/>
          <p:cNvSpPr/>
          <p:nvPr/>
        </p:nvSpPr>
        <p:spPr>
          <a:xfrm>
            <a:off x="4041648" y="2414016"/>
            <a:ext cx="530352" cy="237744"/>
          </a:xfrm>
          <a:prstGeom prst="roundRect">
            <a:avLst>
              <a:gd name="adj" fmla="val 12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041648" y="2432304"/>
            <a:ext cx="530352" cy="201168"/>
          </a:xfrm>
          <a:prstGeom prst="rect">
            <a:avLst/>
          </a:prstGeom>
          <a:noFill/>
        </p:spPr>
        <p:txBody>
          <a:bodyPr wrap="square">
            <a:spAutoFit/>
          </a:bodyPr>
          <a:lstStyle/>
          <a:p>
            <a:pPr algn="ctr"/>
            <a:r>
              <a:rPr sz="700" b="1" i="0">
                <a:solidFill>
                  <a:srgbClr val="FFFFFF"/>
                </a:solidFill>
                <a:latin typeface="Calibri"/>
              </a:rPr>
              <a:t>L</a:t>
            </a:r>
          </a:p>
        </p:txBody>
      </p:sp>
      <p:sp>
        <p:nvSpPr>
          <p:cNvPr id="39" name="TextBox 38"/>
          <p:cNvSpPr txBox="1"/>
          <p:nvPr/>
        </p:nvSpPr>
        <p:spPr>
          <a:xfrm>
            <a:off x="4041648" y="2651760"/>
            <a:ext cx="530352" cy="164592"/>
          </a:xfrm>
          <a:prstGeom prst="rect">
            <a:avLst/>
          </a:prstGeom>
          <a:noFill/>
        </p:spPr>
        <p:txBody>
          <a:bodyPr wrap="square">
            <a:spAutoFit/>
          </a:bodyPr>
          <a:lstStyle/>
          <a:p>
            <a:pPr algn="ctr"/>
            <a:r>
              <a:rPr sz="550" b="0" i="0">
                <a:solidFill>
                  <a:srgbClr val="5D6D7E"/>
                </a:solidFill>
                <a:latin typeface="Calibri"/>
              </a:rPr>
              <a:t>Effort</a:t>
            </a:r>
          </a:p>
        </p:txBody>
      </p:sp>
      <p:sp>
        <p:nvSpPr>
          <p:cNvPr id="40" name="Rounded Rectangle 39"/>
          <p:cNvSpPr/>
          <p:nvPr/>
        </p:nvSpPr>
        <p:spPr>
          <a:xfrm>
            <a:off x="4608576" y="2414016"/>
            <a:ext cx="530352" cy="237744"/>
          </a:xfrm>
          <a:prstGeom prst="roundRect">
            <a:avLst>
              <a:gd name="adj" fmla="val 12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608576" y="2432304"/>
            <a:ext cx="530352" cy="201168"/>
          </a:xfrm>
          <a:prstGeom prst="rect">
            <a:avLst/>
          </a:prstGeom>
          <a:noFill/>
        </p:spPr>
        <p:txBody>
          <a:bodyPr wrap="square">
            <a:spAutoFit/>
          </a:bodyPr>
          <a:lstStyle/>
          <a:p>
            <a:pPr algn="ctr"/>
            <a:r>
              <a:rPr sz="700" b="1" i="0">
                <a:solidFill>
                  <a:srgbClr val="FFFFFF"/>
                </a:solidFill>
                <a:latin typeface="Calibri"/>
              </a:rPr>
              <a:t>H</a:t>
            </a:r>
          </a:p>
        </p:txBody>
      </p:sp>
      <p:sp>
        <p:nvSpPr>
          <p:cNvPr id="42" name="TextBox 41"/>
          <p:cNvSpPr txBox="1"/>
          <p:nvPr/>
        </p:nvSpPr>
        <p:spPr>
          <a:xfrm>
            <a:off x="4608576" y="2651760"/>
            <a:ext cx="530352" cy="164592"/>
          </a:xfrm>
          <a:prstGeom prst="rect">
            <a:avLst/>
          </a:prstGeom>
          <a:noFill/>
        </p:spPr>
        <p:txBody>
          <a:bodyPr wrap="square">
            <a:spAutoFit/>
          </a:bodyPr>
          <a:lstStyle/>
          <a:p>
            <a:pPr algn="ctr"/>
            <a:r>
              <a:rPr sz="550" b="0" i="0">
                <a:solidFill>
                  <a:srgbClr val="5D6D7E"/>
                </a:solidFill>
                <a:latin typeface="Calibri"/>
              </a:rPr>
              <a:t>Impact</a:t>
            </a:r>
          </a:p>
        </p:txBody>
      </p:sp>
      <p:sp>
        <p:nvSpPr>
          <p:cNvPr id="43" name="Rounded Rectangle 42"/>
          <p:cNvSpPr/>
          <p:nvPr/>
        </p:nvSpPr>
        <p:spPr>
          <a:xfrm>
            <a:off x="5175504" y="2414016"/>
            <a:ext cx="530352" cy="237744"/>
          </a:xfrm>
          <a:prstGeom prst="roundRect">
            <a:avLst>
              <a:gd name="adj" fmla="val 12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175504" y="2432304"/>
            <a:ext cx="530352" cy="201168"/>
          </a:xfrm>
          <a:prstGeom prst="rect">
            <a:avLst/>
          </a:prstGeom>
          <a:noFill/>
        </p:spPr>
        <p:txBody>
          <a:bodyPr wrap="square">
            <a:spAutoFit/>
          </a:bodyPr>
          <a:lstStyle/>
          <a:p>
            <a:pPr algn="ctr"/>
            <a:r>
              <a:rPr sz="700" b="1" i="0">
                <a:solidFill>
                  <a:srgbClr val="FFFFFF"/>
                </a:solidFill>
                <a:latin typeface="Calibri"/>
              </a:rPr>
              <a:t>L</a:t>
            </a:r>
          </a:p>
        </p:txBody>
      </p:sp>
      <p:sp>
        <p:nvSpPr>
          <p:cNvPr id="45" name="TextBox 44"/>
          <p:cNvSpPr txBox="1"/>
          <p:nvPr/>
        </p:nvSpPr>
        <p:spPr>
          <a:xfrm>
            <a:off x="5175504" y="2651760"/>
            <a:ext cx="530352" cy="164592"/>
          </a:xfrm>
          <a:prstGeom prst="rect">
            <a:avLst/>
          </a:prstGeom>
          <a:noFill/>
        </p:spPr>
        <p:txBody>
          <a:bodyPr wrap="square">
            <a:spAutoFit/>
          </a:bodyPr>
          <a:lstStyle/>
          <a:p>
            <a:pPr algn="ctr"/>
            <a:r>
              <a:rPr sz="550" b="0" i="0">
                <a:solidFill>
                  <a:srgbClr val="5D6D7E"/>
                </a:solidFill>
                <a:latin typeface="Calibri"/>
              </a:rPr>
              <a:t>HITL</a:t>
            </a:r>
          </a:p>
        </p:txBody>
      </p:sp>
      <p:sp>
        <p:nvSpPr>
          <p:cNvPr id="46" name="Rounded Rectangle 45"/>
          <p:cNvSpPr/>
          <p:nvPr/>
        </p:nvSpPr>
        <p:spPr>
          <a:xfrm>
            <a:off x="182880" y="3273552"/>
            <a:ext cx="5669280" cy="877824"/>
          </a:xfrm>
          <a:prstGeom prst="roundRect">
            <a:avLst>
              <a:gd name="adj" fmla="val 6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82880" y="3273552"/>
            <a:ext cx="5669280" cy="54864"/>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237744" y="3364992"/>
            <a:ext cx="411480" cy="411480"/>
          </a:xfrm>
          <a:prstGeom prst="roundRect">
            <a:avLst>
              <a:gd name="adj" fmla="val 5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37744" y="3438144"/>
            <a:ext cx="411480" cy="256032"/>
          </a:xfrm>
          <a:prstGeom prst="rect">
            <a:avLst/>
          </a:prstGeom>
          <a:noFill/>
        </p:spPr>
        <p:txBody>
          <a:bodyPr wrap="square">
            <a:spAutoFit/>
          </a:bodyPr>
          <a:lstStyle/>
          <a:p>
            <a:pPr algn="ctr"/>
            <a:r>
              <a:rPr sz="1000" b="1" i="0">
                <a:solidFill>
                  <a:srgbClr val="FFFFFF"/>
                </a:solidFill>
                <a:latin typeface="Cambria"/>
              </a:rPr>
              <a:t>#3</a:t>
            </a:r>
          </a:p>
        </p:txBody>
      </p:sp>
      <p:sp>
        <p:nvSpPr>
          <p:cNvPr id="50" name="TextBox 49"/>
          <p:cNvSpPr txBox="1"/>
          <p:nvPr/>
        </p:nvSpPr>
        <p:spPr>
          <a:xfrm>
            <a:off x="713232" y="3364992"/>
            <a:ext cx="4114800" cy="292608"/>
          </a:xfrm>
          <a:prstGeom prst="rect">
            <a:avLst/>
          </a:prstGeom>
          <a:noFill/>
        </p:spPr>
        <p:txBody>
          <a:bodyPr wrap="square">
            <a:spAutoFit/>
          </a:bodyPr>
          <a:lstStyle/>
          <a:p>
            <a:pPr algn="l"/>
            <a:r>
              <a:rPr sz="1100" b="1" i="0">
                <a:solidFill>
                  <a:srgbClr val="0D1B3E"/>
                </a:solidFill>
                <a:latin typeface="Calibri"/>
              </a:rPr>
              <a:t>Meeting Intelligence</a:t>
            </a:r>
          </a:p>
        </p:txBody>
      </p:sp>
      <p:sp>
        <p:nvSpPr>
          <p:cNvPr id="51" name="TextBox 50"/>
          <p:cNvSpPr txBox="1"/>
          <p:nvPr/>
        </p:nvSpPr>
        <p:spPr>
          <a:xfrm>
            <a:off x="713232" y="3621024"/>
            <a:ext cx="4114800" cy="182880"/>
          </a:xfrm>
          <a:prstGeom prst="rect">
            <a:avLst/>
          </a:prstGeom>
          <a:noFill/>
        </p:spPr>
        <p:txBody>
          <a:bodyPr wrap="square">
            <a:spAutoFit/>
          </a:bodyPr>
          <a:lstStyle/>
          <a:p>
            <a:pPr algn="l"/>
            <a:r>
              <a:rPr sz="750" b="0" i="0">
                <a:solidFill>
                  <a:srgbClr val="5D6D7E"/>
                </a:solidFill>
                <a:latin typeface="Calibri"/>
              </a:rPr>
              <a:t>Knowledge &amp; Collaboration</a:t>
            </a:r>
          </a:p>
        </p:txBody>
      </p:sp>
      <p:sp>
        <p:nvSpPr>
          <p:cNvPr id="52" name="Rectangle 51"/>
          <p:cNvSpPr/>
          <p:nvPr/>
        </p:nvSpPr>
        <p:spPr>
          <a:xfrm>
            <a:off x="713232" y="3840480"/>
            <a:ext cx="2286000" cy="10972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713232" y="3840480"/>
            <a:ext cx="3047999" cy="10972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063240" y="3831336"/>
            <a:ext cx="914400" cy="146304"/>
          </a:xfrm>
          <a:prstGeom prst="rect">
            <a:avLst/>
          </a:prstGeom>
          <a:noFill/>
        </p:spPr>
        <p:txBody>
          <a:bodyPr wrap="square">
            <a:spAutoFit/>
          </a:bodyPr>
          <a:lstStyle/>
          <a:p>
            <a:pPr algn="l"/>
            <a:r>
              <a:rPr sz="650" b="0" i="0">
                <a:solidFill>
                  <a:srgbClr val="5D6D7E"/>
                </a:solidFill>
                <a:latin typeface="Calibri"/>
              </a:rPr>
              <a:t>Score: 12/9</a:t>
            </a:r>
          </a:p>
        </p:txBody>
      </p:sp>
      <p:sp>
        <p:nvSpPr>
          <p:cNvPr id="55" name="Rounded Rectangle 54"/>
          <p:cNvSpPr/>
          <p:nvPr/>
        </p:nvSpPr>
        <p:spPr>
          <a:xfrm>
            <a:off x="4041648" y="3364992"/>
            <a:ext cx="530352" cy="237744"/>
          </a:xfrm>
          <a:prstGeom prst="roundRect">
            <a:avLst>
              <a:gd name="adj" fmla="val 12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041648" y="3383280"/>
            <a:ext cx="530352" cy="201168"/>
          </a:xfrm>
          <a:prstGeom prst="rect">
            <a:avLst/>
          </a:prstGeom>
          <a:noFill/>
        </p:spPr>
        <p:txBody>
          <a:bodyPr wrap="square">
            <a:spAutoFit/>
          </a:bodyPr>
          <a:lstStyle/>
          <a:p>
            <a:pPr algn="ctr"/>
            <a:r>
              <a:rPr sz="700" b="1" i="0">
                <a:solidFill>
                  <a:srgbClr val="FFFFFF"/>
                </a:solidFill>
                <a:latin typeface="Calibri"/>
              </a:rPr>
              <a:t>L</a:t>
            </a:r>
          </a:p>
        </p:txBody>
      </p:sp>
      <p:sp>
        <p:nvSpPr>
          <p:cNvPr id="57" name="TextBox 56"/>
          <p:cNvSpPr txBox="1"/>
          <p:nvPr/>
        </p:nvSpPr>
        <p:spPr>
          <a:xfrm>
            <a:off x="4041648" y="3602736"/>
            <a:ext cx="530352" cy="164592"/>
          </a:xfrm>
          <a:prstGeom prst="rect">
            <a:avLst/>
          </a:prstGeom>
          <a:noFill/>
        </p:spPr>
        <p:txBody>
          <a:bodyPr wrap="square">
            <a:spAutoFit/>
          </a:bodyPr>
          <a:lstStyle/>
          <a:p>
            <a:pPr algn="ctr"/>
            <a:r>
              <a:rPr sz="550" b="0" i="0">
                <a:solidFill>
                  <a:srgbClr val="5D6D7E"/>
                </a:solidFill>
                <a:latin typeface="Calibri"/>
              </a:rPr>
              <a:t>Effort</a:t>
            </a:r>
          </a:p>
        </p:txBody>
      </p:sp>
      <p:sp>
        <p:nvSpPr>
          <p:cNvPr id="58" name="Rounded Rectangle 57"/>
          <p:cNvSpPr/>
          <p:nvPr/>
        </p:nvSpPr>
        <p:spPr>
          <a:xfrm>
            <a:off x="4608576" y="3364992"/>
            <a:ext cx="530352" cy="237744"/>
          </a:xfrm>
          <a:prstGeom prst="roundRect">
            <a:avLst>
              <a:gd name="adj" fmla="val 12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608576" y="3383280"/>
            <a:ext cx="530352" cy="201168"/>
          </a:xfrm>
          <a:prstGeom prst="rect">
            <a:avLst/>
          </a:prstGeom>
          <a:noFill/>
        </p:spPr>
        <p:txBody>
          <a:bodyPr wrap="square">
            <a:spAutoFit/>
          </a:bodyPr>
          <a:lstStyle/>
          <a:p>
            <a:pPr algn="ctr"/>
            <a:r>
              <a:rPr sz="700" b="1" i="0">
                <a:solidFill>
                  <a:srgbClr val="FFFFFF"/>
                </a:solidFill>
                <a:latin typeface="Calibri"/>
              </a:rPr>
              <a:t>H</a:t>
            </a:r>
          </a:p>
        </p:txBody>
      </p:sp>
      <p:sp>
        <p:nvSpPr>
          <p:cNvPr id="60" name="TextBox 59"/>
          <p:cNvSpPr txBox="1"/>
          <p:nvPr/>
        </p:nvSpPr>
        <p:spPr>
          <a:xfrm>
            <a:off x="4608576" y="3602736"/>
            <a:ext cx="530352" cy="164592"/>
          </a:xfrm>
          <a:prstGeom prst="rect">
            <a:avLst/>
          </a:prstGeom>
          <a:noFill/>
        </p:spPr>
        <p:txBody>
          <a:bodyPr wrap="square">
            <a:spAutoFit/>
          </a:bodyPr>
          <a:lstStyle/>
          <a:p>
            <a:pPr algn="ctr"/>
            <a:r>
              <a:rPr sz="550" b="0" i="0">
                <a:solidFill>
                  <a:srgbClr val="5D6D7E"/>
                </a:solidFill>
                <a:latin typeface="Calibri"/>
              </a:rPr>
              <a:t>Impact</a:t>
            </a:r>
          </a:p>
        </p:txBody>
      </p:sp>
      <p:sp>
        <p:nvSpPr>
          <p:cNvPr id="61" name="Rounded Rectangle 60"/>
          <p:cNvSpPr/>
          <p:nvPr/>
        </p:nvSpPr>
        <p:spPr>
          <a:xfrm>
            <a:off x="5175504" y="3364992"/>
            <a:ext cx="530352" cy="237744"/>
          </a:xfrm>
          <a:prstGeom prst="roundRect">
            <a:avLst>
              <a:gd name="adj" fmla="val 12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75504" y="3383280"/>
            <a:ext cx="530352" cy="201168"/>
          </a:xfrm>
          <a:prstGeom prst="rect">
            <a:avLst/>
          </a:prstGeom>
          <a:noFill/>
        </p:spPr>
        <p:txBody>
          <a:bodyPr wrap="square">
            <a:spAutoFit/>
          </a:bodyPr>
          <a:lstStyle/>
          <a:p>
            <a:pPr algn="ctr"/>
            <a:r>
              <a:rPr sz="700" b="1" i="0">
                <a:solidFill>
                  <a:srgbClr val="FFFFFF"/>
                </a:solidFill>
                <a:latin typeface="Calibri"/>
              </a:rPr>
              <a:t>L</a:t>
            </a:r>
          </a:p>
        </p:txBody>
      </p:sp>
      <p:sp>
        <p:nvSpPr>
          <p:cNvPr id="63" name="TextBox 62"/>
          <p:cNvSpPr txBox="1"/>
          <p:nvPr/>
        </p:nvSpPr>
        <p:spPr>
          <a:xfrm>
            <a:off x="5175504" y="3602736"/>
            <a:ext cx="530352" cy="164592"/>
          </a:xfrm>
          <a:prstGeom prst="rect">
            <a:avLst/>
          </a:prstGeom>
          <a:noFill/>
        </p:spPr>
        <p:txBody>
          <a:bodyPr wrap="square">
            <a:spAutoFit/>
          </a:bodyPr>
          <a:lstStyle/>
          <a:p>
            <a:pPr algn="ctr"/>
            <a:r>
              <a:rPr sz="550" b="0" i="0">
                <a:solidFill>
                  <a:srgbClr val="5D6D7E"/>
                </a:solidFill>
                <a:latin typeface="Calibri"/>
              </a:rPr>
              <a:t>HITL</a:t>
            </a:r>
          </a:p>
        </p:txBody>
      </p:sp>
      <p:sp>
        <p:nvSpPr>
          <p:cNvPr id="64" name="Rounded Rectangle 63"/>
          <p:cNvSpPr/>
          <p:nvPr/>
        </p:nvSpPr>
        <p:spPr>
          <a:xfrm>
            <a:off x="182880" y="4224528"/>
            <a:ext cx="5669280" cy="877824"/>
          </a:xfrm>
          <a:prstGeom prst="roundRect">
            <a:avLst>
              <a:gd name="adj" fmla="val 6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182880" y="4224528"/>
            <a:ext cx="5669280" cy="54864"/>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237744" y="4315968"/>
            <a:ext cx="411480" cy="411480"/>
          </a:xfrm>
          <a:prstGeom prst="roundRect">
            <a:avLst>
              <a:gd name="adj" fmla="val 5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37744" y="4389120"/>
            <a:ext cx="411480" cy="256032"/>
          </a:xfrm>
          <a:prstGeom prst="rect">
            <a:avLst/>
          </a:prstGeom>
          <a:noFill/>
        </p:spPr>
        <p:txBody>
          <a:bodyPr wrap="square">
            <a:spAutoFit/>
          </a:bodyPr>
          <a:lstStyle/>
          <a:p>
            <a:pPr algn="ctr"/>
            <a:r>
              <a:rPr sz="1000" b="1" i="0">
                <a:solidFill>
                  <a:srgbClr val="FFFFFF"/>
                </a:solidFill>
                <a:latin typeface="Cambria"/>
              </a:rPr>
              <a:t>#4</a:t>
            </a:r>
          </a:p>
        </p:txBody>
      </p:sp>
      <p:sp>
        <p:nvSpPr>
          <p:cNvPr id="68" name="TextBox 67"/>
          <p:cNvSpPr txBox="1"/>
          <p:nvPr/>
        </p:nvSpPr>
        <p:spPr>
          <a:xfrm>
            <a:off x="713232" y="4315968"/>
            <a:ext cx="4114800" cy="292608"/>
          </a:xfrm>
          <a:prstGeom prst="rect">
            <a:avLst/>
          </a:prstGeom>
          <a:noFill/>
        </p:spPr>
        <p:txBody>
          <a:bodyPr wrap="square">
            <a:spAutoFit/>
          </a:bodyPr>
          <a:lstStyle/>
          <a:p>
            <a:pPr algn="l"/>
            <a:r>
              <a:rPr sz="1100" b="1" i="0">
                <a:solidFill>
                  <a:srgbClr val="0D1B3E"/>
                </a:solidFill>
                <a:latin typeface="Calibri"/>
              </a:rPr>
              <a:t>User Story Generator</a:t>
            </a:r>
          </a:p>
        </p:txBody>
      </p:sp>
      <p:sp>
        <p:nvSpPr>
          <p:cNvPr id="69" name="TextBox 68"/>
          <p:cNvSpPr txBox="1"/>
          <p:nvPr/>
        </p:nvSpPr>
        <p:spPr>
          <a:xfrm>
            <a:off x="713232" y="4572000"/>
            <a:ext cx="4114800" cy="182880"/>
          </a:xfrm>
          <a:prstGeom prst="rect">
            <a:avLst/>
          </a:prstGeom>
          <a:noFill/>
        </p:spPr>
        <p:txBody>
          <a:bodyPr wrap="square">
            <a:spAutoFit/>
          </a:bodyPr>
          <a:lstStyle/>
          <a:p>
            <a:pPr algn="l"/>
            <a:r>
              <a:rPr sz="750" b="0" i="0">
                <a:solidFill>
                  <a:srgbClr val="5D6D7E"/>
                </a:solidFill>
                <a:latin typeface="Calibri"/>
              </a:rPr>
              <a:t>Requirement Analysis</a:t>
            </a:r>
          </a:p>
        </p:txBody>
      </p:sp>
      <p:sp>
        <p:nvSpPr>
          <p:cNvPr id="70" name="Rectangle 69"/>
          <p:cNvSpPr/>
          <p:nvPr/>
        </p:nvSpPr>
        <p:spPr>
          <a:xfrm>
            <a:off x="713232" y="4791456"/>
            <a:ext cx="2286000" cy="10972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713232" y="4791456"/>
            <a:ext cx="2540000" cy="10972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3063240" y="4782312"/>
            <a:ext cx="914400" cy="146304"/>
          </a:xfrm>
          <a:prstGeom prst="rect">
            <a:avLst/>
          </a:prstGeom>
          <a:noFill/>
        </p:spPr>
        <p:txBody>
          <a:bodyPr wrap="square">
            <a:spAutoFit/>
          </a:bodyPr>
          <a:lstStyle/>
          <a:p>
            <a:pPr algn="l"/>
            <a:r>
              <a:rPr sz="650" b="0" i="0">
                <a:solidFill>
                  <a:srgbClr val="5D6D7E"/>
                </a:solidFill>
                <a:latin typeface="Calibri"/>
              </a:rPr>
              <a:t>Score: 10/9</a:t>
            </a:r>
          </a:p>
        </p:txBody>
      </p:sp>
      <p:sp>
        <p:nvSpPr>
          <p:cNvPr id="73" name="Rounded Rectangle 72"/>
          <p:cNvSpPr/>
          <p:nvPr/>
        </p:nvSpPr>
        <p:spPr>
          <a:xfrm>
            <a:off x="4041648" y="4315968"/>
            <a:ext cx="530352" cy="237744"/>
          </a:xfrm>
          <a:prstGeom prst="roundRect">
            <a:avLst>
              <a:gd name="adj" fmla="val 12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4041648" y="4334256"/>
            <a:ext cx="530352" cy="201168"/>
          </a:xfrm>
          <a:prstGeom prst="rect">
            <a:avLst/>
          </a:prstGeom>
          <a:noFill/>
        </p:spPr>
        <p:txBody>
          <a:bodyPr wrap="square">
            <a:spAutoFit/>
          </a:bodyPr>
          <a:lstStyle/>
          <a:p>
            <a:pPr algn="ctr"/>
            <a:r>
              <a:rPr sz="700" b="1" i="0">
                <a:solidFill>
                  <a:srgbClr val="FFFFFF"/>
                </a:solidFill>
                <a:latin typeface="Calibri"/>
              </a:rPr>
              <a:t>M</a:t>
            </a:r>
          </a:p>
        </p:txBody>
      </p:sp>
      <p:sp>
        <p:nvSpPr>
          <p:cNvPr id="75" name="TextBox 74"/>
          <p:cNvSpPr txBox="1"/>
          <p:nvPr/>
        </p:nvSpPr>
        <p:spPr>
          <a:xfrm>
            <a:off x="4041648" y="4553712"/>
            <a:ext cx="530352" cy="164592"/>
          </a:xfrm>
          <a:prstGeom prst="rect">
            <a:avLst/>
          </a:prstGeom>
          <a:noFill/>
        </p:spPr>
        <p:txBody>
          <a:bodyPr wrap="square">
            <a:spAutoFit/>
          </a:bodyPr>
          <a:lstStyle/>
          <a:p>
            <a:pPr algn="ctr"/>
            <a:r>
              <a:rPr sz="550" b="0" i="0">
                <a:solidFill>
                  <a:srgbClr val="5D6D7E"/>
                </a:solidFill>
                <a:latin typeface="Calibri"/>
              </a:rPr>
              <a:t>Effort</a:t>
            </a:r>
          </a:p>
        </p:txBody>
      </p:sp>
      <p:sp>
        <p:nvSpPr>
          <p:cNvPr id="76" name="Rounded Rectangle 75"/>
          <p:cNvSpPr/>
          <p:nvPr/>
        </p:nvSpPr>
        <p:spPr>
          <a:xfrm>
            <a:off x="4608576" y="4315968"/>
            <a:ext cx="530352" cy="237744"/>
          </a:xfrm>
          <a:prstGeom prst="roundRect">
            <a:avLst>
              <a:gd name="adj" fmla="val 12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608576" y="4334256"/>
            <a:ext cx="530352" cy="201168"/>
          </a:xfrm>
          <a:prstGeom prst="rect">
            <a:avLst/>
          </a:prstGeom>
          <a:noFill/>
        </p:spPr>
        <p:txBody>
          <a:bodyPr wrap="square">
            <a:spAutoFit/>
          </a:bodyPr>
          <a:lstStyle/>
          <a:p>
            <a:pPr algn="ctr"/>
            <a:r>
              <a:rPr sz="700" b="1" i="0">
                <a:solidFill>
                  <a:srgbClr val="FFFFFF"/>
                </a:solidFill>
                <a:latin typeface="Calibri"/>
              </a:rPr>
              <a:t>H</a:t>
            </a:r>
          </a:p>
        </p:txBody>
      </p:sp>
      <p:sp>
        <p:nvSpPr>
          <p:cNvPr id="78" name="TextBox 77"/>
          <p:cNvSpPr txBox="1"/>
          <p:nvPr/>
        </p:nvSpPr>
        <p:spPr>
          <a:xfrm>
            <a:off x="4608576" y="4553712"/>
            <a:ext cx="530352" cy="164592"/>
          </a:xfrm>
          <a:prstGeom prst="rect">
            <a:avLst/>
          </a:prstGeom>
          <a:noFill/>
        </p:spPr>
        <p:txBody>
          <a:bodyPr wrap="square">
            <a:spAutoFit/>
          </a:bodyPr>
          <a:lstStyle/>
          <a:p>
            <a:pPr algn="ctr"/>
            <a:r>
              <a:rPr sz="550" b="0" i="0">
                <a:solidFill>
                  <a:srgbClr val="5D6D7E"/>
                </a:solidFill>
                <a:latin typeface="Calibri"/>
              </a:rPr>
              <a:t>Impact</a:t>
            </a:r>
          </a:p>
        </p:txBody>
      </p:sp>
      <p:sp>
        <p:nvSpPr>
          <p:cNvPr id="79" name="Rounded Rectangle 78"/>
          <p:cNvSpPr/>
          <p:nvPr/>
        </p:nvSpPr>
        <p:spPr>
          <a:xfrm>
            <a:off x="5175504" y="4315968"/>
            <a:ext cx="530352" cy="237744"/>
          </a:xfrm>
          <a:prstGeom prst="roundRect">
            <a:avLst>
              <a:gd name="adj" fmla="val 12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5175504" y="4334256"/>
            <a:ext cx="530352" cy="201168"/>
          </a:xfrm>
          <a:prstGeom prst="rect">
            <a:avLst/>
          </a:prstGeom>
          <a:noFill/>
        </p:spPr>
        <p:txBody>
          <a:bodyPr wrap="square">
            <a:spAutoFit/>
          </a:bodyPr>
          <a:lstStyle/>
          <a:p>
            <a:pPr algn="ctr"/>
            <a:r>
              <a:rPr sz="700" b="1" i="0">
                <a:solidFill>
                  <a:srgbClr val="FFFFFF"/>
                </a:solidFill>
                <a:latin typeface="Calibri"/>
              </a:rPr>
              <a:t>M</a:t>
            </a:r>
          </a:p>
        </p:txBody>
      </p:sp>
      <p:sp>
        <p:nvSpPr>
          <p:cNvPr id="81" name="TextBox 80"/>
          <p:cNvSpPr txBox="1"/>
          <p:nvPr/>
        </p:nvSpPr>
        <p:spPr>
          <a:xfrm>
            <a:off x="5175504" y="4553712"/>
            <a:ext cx="530352" cy="164592"/>
          </a:xfrm>
          <a:prstGeom prst="rect">
            <a:avLst/>
          </a:prstGeom>
          <a:noFill/>
        </p:spPr>
        <p:txBody>
          <a:bodyPr wrap="square">
            <a:spAutoFit/>
          </a:bodyPr>
          <a:lstStyle/>
          <a:p>
            <a:pPr algn="ctr"/>
            <a:r>
              <a:rPr sz="550" b="0" i="0">
                <a:solidFill>
                  <a:srgbClr val="5D6D7E"/>
                </a:solidFill>
                <a:latin typeface="Calibri"/>
              </a:rPr>
              <a:t>HITL</a:t>
            </a:r>
          </a:p>
        </p:txBody>
      </p:sp>
      <p:sp>
        <p:nvSpPr>
          <p:cNvPr id="82" name="Rounded Rectangle 81"/>
          <p:cNvSpPr/>
          <p:nvPr/>
        </p:nvSpPr>
        <p:spPr>
          <a:xfrm>
            <a:off x="182880" y="5175504"/>
            <a:ext cx="5669280" cy="877824"/>
          </a:xfrm>
          <a:prstGeom prst="roundRect">
            <a:avLst>
              <a:gd name="adj" fmla="val 6000"/>
            </a:avLst>
          </a:prstGeom>
          <a:solidFill>
            <a:srgbClr val="F4F6F9"/>
          </a:solidFill>
          <a:ln w="1905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182880" y="5175504"/>
            <a:ext cx="5669280" cy="54864"/>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ounded Rectangle 83"/>
          <p:cNvSpPr/>
          <p:nvPr/>
        </p:nvSpPr>
        <p:spPr>
          <a:xfrm>
            <a:off x="237744" y="5266944"/>
            <a:ext cx="411480" cy="411480"/>
          </a:xfrm>
          <a:prstGeom prst="roundRect">
            <a:avLst>
              <a:gd name="adj" fmla="val 50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37744" y="5340096"/>
            <a:ext cx="411480" cy="256032"/>
          </a:xfrm>
          <a:prstGeom prst="rect">
            <a:avLst/>
          </a:prstGeom>
          <a:noFill/>
        </p:spPr>
        <p:txBody>
          <a:bodyPr wrap="square">
            <a:spAutoFit/>
          </a:bodyPr>
          <a:lstStyle/>
          <a:p>
            <a:pPr algn="ctr"/>
            <a:r>
              <a:rPr sz="1000" b="1" i="0">
                <a:solidFill>
                  <a:srgbClr val="FFFFFF"/>
                </a:solidFill>
                <a:latin typeface="Cambria"/>
              </a:rPr>
              <a:t>#5</a:t>
            </a:r>
          </a:p>
        </p:txBody>
      </p:sp>
      <p:sp>
        <p:nvSpPr>
          <p:cNvPr id="86" name="TextBox 85"/>
          <p:cNvSpPr txBox="1"/>
          <p:nvPr/>
        </p:nvSpPr>
        <p:spPr>
          <a:xfrm>
            <a:off x="713232" y="5266944"/>
            <a:ext cx="4114800" cy="292608"/>
          </a:xfrm>
          <a:prstGeom prst="rect">
            <a:avLst/>
          </a:prstGeom>
          <a:noFill/>
        </p:spPr>
        <p:txBody>
          <a:bodyPr wrap="square">
            <a:spAutoFit/>
          </a:bodyPr>
          <a:lstStyle/>
          <a:p>
            <a:pPr algn="l"/>
            <a:r>
              <a:rPr sz="1100" b="1" i="0">
                <a:solidFill>
                  <a:srgbClr val="0D1B3E"/>
                </a:solidFill>
                <a:latin typeface="Calibri"/>
              </a:rPr>
              <a:t>API Design</a:t>
            </a:r>
          </a:p>
        </p:txBody>
      </p:sp>
      <p:sp>
        <p:nvSpPr>
          <p:cNvPr id="87" name="TextBox 86"/>
          <p:cNvSpPr txBox="1"/>
          <p:nvPr/>
        </p:nvSpPr>
        <p:spPr>
          <a:xfrm>
            <a:off x="713232" y="5522976"/>
            <a:ext cx="4114800" cy="182880"/>
          </a:xfrm>
          <a:prstGeom prst="rect">
            <a:avLst/>
          </a:prstGeom>
          <a:noFill/>
        </p:spPr>
        <p:txBody>
          <a:bodyPr wrap="square">
            <a:spAutoFit/>
          </a:bodyPr>
          <a:lstStyle/>
          <a:p>
            <a:pPr algn="l"/>
            <a:r>
              <a:rPr sz="750" b="0" i="0">
                <a:solidFill>
                  <a:srgbClr val="5D6D7E"/>
                </a:solidFill>
                <a:latin typeface="Calibri"/>
              </a:rPr>
              <a:t>Architecture &amp; Design</a:t>
            </a:r>
          </a:p>
        </p:txBody>
      </p:sp>
      <p:sp>
        <p:nvSpPr>
          <p:cNvPr id="88" name="Rectangle 87"/>
          <p:cNvSpPr/>
          <p:nvPr/>
        </p:nvSpPr>
        <p:spPr>
          <a:xfrm>
            <a:off x="713232" y="5742432"/>
            <a:ext cx="2286000" cy="10972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713232" y="5742432"/>
            <a:ext cx="2540000" cy="10972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3063240" y="5733288"/>
            <a:ext cx="914400" cy="146304"/>
          </a:xfrm>
          <a:prstGeom prst="rect">
            <a:avLst/>
          </a:prstGeom>
          <a:noFill/>
        </p:spPr>
        <p:txBody>
          <a:bodyPr wrap="square">
            <a:spAutoFit/>
          </a:bodyPr>
          <a:lstStyle/>
          <a:p>
            <a:pPr algn="l"/>
            <a:r>
              <a:rPr sz="650" b="0" i="0">
                <a:solidFill>
                  <a:srgbClr val="5D6D7E"/>
                </a:solidFill>
                <a:latin typeface="Calibri"/>
              </a:rPr>
              <a:t>Score: 10/9</a:t>
            </a:r>
          </a:p>
        </p:txBody>
      </p:sp>
      <p:sp>
        <p:nvSpPr>
          <p:cNvPr id="91" name="Rounded Rectangle 90"/>
          <p:cNvSpPr/>
          <p:nvPr/>
        </p:nvSpPr>
        <p:spPr>
          <a:xfrm>
            <a:off x="4041648" y="5266944"/>
            <a:ext cx="530352" cy="237744"/>
          </a:xfrm>
          <a:prstGeom prst="roundRect">
            <a:avLst>
              <a:gd name="adj" fmla="val 12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4041648" y="5285232"/>
            <a:ext cx="530352" cy="201168"/>
          </a:xfrm>
          <a:prstGeom prst="rect">
            <a:avLst/>
          </a:prstGeom>
          <a:noFill/>
        </p:spPr>
        <p:txBody>
          <a:bodyPr wrap="square">
            <a:spAutoFit/>
          </a:bodyPr>
          <a:lstStyle/>
          <a:p>
            <a:pPr algn="ctr"/>
            <a:r>
              <a:rPr sz="700" b="1" i="0">
                <a:solidFill>
                  <a:srgbClr val="FFFFFF"/>
                </a:solidFill>
                <a:latin typeface="Calibri"/>
              </a:rPr>
              <a:t>M</a:t>
            </a:r>
          </a:p>
        </p:txBody>
      </p:sp>
      <p:sp>
        <p:nvSpPr>
          <p:cNvPr id="93" name="TextBox 92"/>
          <p:cNvSpPr txBox="1"/>
          <p:nvPr/>
        </p:nvSpPr>
        <p:spPr>
          <a:xfrm>
            <a:off x="4041648" y="5504688"/>
            <a:ext cx="530352" cy="164592"/>
          </a:xfrm>
          <a:prstGeom prst="rect">
            <a:avLst/>
          </a:prstGeom>
          <a:noFill/>
        </p:spPr>
        <p:txBody>
          <a:bodyPr wrap="square">
            <a:spAutoFit/>
          </a:bodyPr>
          <a:lstStyle/>
          <a:p>
            <a:pPr algn="ctr"/>
            <a:r>
              <a:rPr sz="550" b="0" i="0">
                <a:solidFill>
                  <a:srgbClr val="5D6D7E"/>
                </a:solidFill>
                <a:latin typeface="Calibri"/>
              </a:rPr>
              <a:t>Effort</a:t>
            </a:r>
          </a:p>
        </p:txBody>
      </p:sp>
      <p:sp>
        <p:nvSpPr>
          <p:cNvPr id="94" name="Rounded Rectangle 93"/>
          <p:cNvSpPr/>
          <p:nvPr/>
        </p:nvSpPr>
        <p:spPr>
          <a:xfrm>
            <a:off x="4608576" y="5266944"/>
            <a:ext cx="530352" cy="237744"/>
          </a:xfrm>
          <a:prstGeom prst="roundRect">
            <a:avLst>
              <a:gd name="adj" fmla="val 12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4608576" y="5285232"/>
            <a:ext cx="530352" cy="201168"/>
          </a:xfrm>
          <a:prstGeom prst="rect">
            <a:avLst/>
          </a:prstGeom>
          <a:noFill/>
        </p:spPr>
        <p:txBody>
          <a:bodyPr wrap="square">
            <a:spAutoFit/>
          </a:bodyPr>
          <a:lstStyle/>
          <a:p>
            <a:pPr algn="ctr"/>
            <a:r>
              <a:rPr sz="700" b="1" i="0">
                <a:solidFill>
                  <a:srgbClr val="FFFFFF"/>
                </a:solidFill>
                <a:latin typeface="Calibri"/>
              </a:rPr>
              <a:t>H</a:t>
            </a:r>
          </a:p>
        </p:txBody>
      </p:sp>
      <p:sp>
        <p:nvSpPr>
          <p:cNvPr id="96" name="TextBox 95"/>
          <p:cNvSpPr txBox="1"/>
          <p:nvPr/>
        </p:nvSpPr>
        <p:spPr>
          <a:xfrm>
            <a:off x="4608576" y="5504688"/>
            <a:ext cx="530352" cy="164592"/>
          </a:xfrm>
          <a:prstGeom prst="rect">
            <a:avLst/>
          </a:prstGeom>
          <a:noFill/>
        </p:spPr>
        <p:txBody>
          <a:bodyPr wrap="square">
            <a:spAutoFit/>
          </a:bodyPr>
          <a:lstStyle/>
          <a:p>
            <a:pPr algn="ctr"/>
            <a:r>
              <a:rPr sz="550" b="0" i="0">
                <a:solidFill>
                  <a:srgbClr val="5D6D7E"/>
                </a:solidFill>
                <a:latin typeface="Calibri"/>
              </a:rPr>
              <a:t>Impact</a:t>
            </a:r>
          </a:p>
        </p:txBody>
      </p:sp>
      <p:sp>
        <p:nvSpPr>
          <p:cNvPr id="97" name="Rounded Rectangle 96"/>
          <p:cNvSpPr/>
          <p:nvPr/>
        </p:nvSpPr>
        <p:spPr>
          <a:xfrm>
            <a:off x="5175504" y="5266944"/>
            <a:ext cx="530352" cy="237744"/>
          </a:xfrm>
          <a:prstGeom prst="roundRect">
            <a:avLst>
              <a:gd name="adj" fmla="val 12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5175504" y="5285232"/>
            <a:ext cx="530352" cy="201168"/>
          </a:xfrm>
          <a:prstGeom prst="rect">
            <a:avLst/>
          </a:prstGeom>
          <a:noFill/>
        </p:spPr>
        <p:txBody>
          <a:bodyPr wrap="square">
            <a:spAutoFit/>
          </a:bodyPr>
          <a:lstStyle/>
          <a:p>
            <a:pPr algn="ctr"/>
            <a:r>
              <a:rPr sz="700" b="1" i="0">
                <a:solidFill>
                  <a:srgbClr val="FFFFFF"/>
                </a:solidFill>
                <a:latin typeface="Calibri"/>
              </a:rPr>
              <a:t>M</a:t>
            </a:r>
          </a:p>
        </p:txBody>
      </p:sp>
      <p:sp>
        <p:nvSpPr>
          <p:cNvPr id="99" name="TextBox 98"/>
          <p:cNvSpPr txBox="1"/>
          <p:nvPr/>
        </p:nvSpPr>
        <p:spPr>
          <a:xfrm>
            <a:off x="5175504" y="5504688"/>
            <a:ext cx="530352" cy="164592"/>
          </a:xfrm>
          <a:prstGeom prst="rect">
            <a:avLst/>
          </a:prstGeom>
          <a:noFill/>
        </p:spPr>
        <p:txBody>
          <a:bodyPr wrap="square">
            <a:spAutoFit/>
          </a:bodyPr>
          <a:lstStyle/>
          <a:p>
            <a:pPr algn="ctr"/>
            <a:r>
              <a:rPr sz="550" b="0" i="0">
                <a:solidFill>
                  <a:srgbClr val="5D6D7E"/>
                </a:solidFill>
                <a:latin typeface="Calibri"/>
              </a:rPr>
              <a:t>HITL</a:t>
            </a:r>
          </a:p>
        </p:txBody>
      </p:sp>
      <p:sp>
        <p:nvSpPr>
          <p:cNvPr id="100" name="Rectangle 99"/>
          <p:cNvSpPr/>
          <p:nvPr/>
        </p:nvSpPr>
        <p:spPr>
          <a:xfrm>
            <a:off x="6281928" y="932688"/>
            <a:ext cx="5760720" cy="347472"/>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6400800" y="987552"/>
            <a:ext cx="5394960" cy="256032"/>
          </a:xfrm>
          <a:prstGeom prst="rect">
            <a:avLst/>
          </a:prstGeom>
          <a:noFill/>
        </p:spPr>
        <p:txBody>
          <a:bodyPr wrap="square">
            <a:spAutoFit/>
          </a:bodyPr>
          <a:lstStyle/>
          <a:p>
            <a:pPr algn="l"/>
            <a:r>
              <a:rPr sz="1100" b="1" i="0">
                <a:solidFill>
                  <a:srgbClr val="007ABF"/>
                </a:solidFill>
                <a:latin typeface="Calibri"/>
              </a:rPr>
              <a:t>🎯  TOP 5 STRATEGIC INVESTMENTS</a:t>
            </a:r>
          </a:p>
        </p:txBody>
      </p:sp>
      <p:sp>
        <p:nvSpPr>
          <p:cNvPr id="102" name="Rounded Rectangle 101"/>
          <p:cNvSpPr/>
          <p:nvPr/>
        </p:nvSpPr>
        <p:spPr>
          <a:xfrm>
            <a:off x="6309360" y="1371600"/>
            <a:ext cx="5669280" cy="877824"/>
          </a:xfrm>
          <a:prstGeom prst="roundRect">
            <a:avLst>
              <a:gd name="adj" fmla="val 6000"/>
            </a:avLst>
          </a:prstGeom>
          <a:solidFill>
            <a:srgbClr val="F4F6F9"/>
          </a:solidFill>
          <a:ln w="19050">
            <a:solidFill>
              <a:srgbClr val="007A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6309360" y="1371600"/>
            <a:ext cx="5669280" cy="54864"/>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ounded Rectangle 103"/>
          <p:cNvSpPr/>
          <p:nvPr/>
        </p:nvSpPr>
        <p:spPr>
          <a:xfrm>
            <a:off x="6364224" y="1463040"/>
            <a:ext cx="411480" cy="411480"/>
          </a:xfrm>
          <a:prstGeom prst="roundRect">
            <a:avLst>
              <a:gd name="adj" fmla="val 5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6364224" y="1536192"/>
            <a:ext cx="411480" cy="256032"/>
          </a:xfrm>
          <a:prstGeom prst="rect">
            <a:avLst/>
          </a:prstGeom>
          <a:noFill/>
        </p:spPr>
        <p:txBody>
          <a:bodyPr wrap="square">
            <a:spAutoFit/>
          </a:bodyPr>
          <a:lstStyle/>
          <a:p>
            <a:pPr algn="ctr"/>
            <a:r>
              <a:rPr sz="1000" b="1" i="0">
                <a:solidFill>
                  <a:srgbClr val="FFFFFF"/>
                </a:solidFill>
                <a:latin typeface="Cambria"/>
              </a:rPr>
              <a:t>#6</a:t>
            </a:r>
          </a:p>
        </p:txBody>
      </p:sp>
      <p:sp>
        <p:nvSpPr>
          <p:cNvPr id="106" name="TextBox 105"/>
          <p:cNvSpPr txBox="1"/>
          <p:nvPr/>
        </p:nvSpPr>
        <p:spPr>
          <a:xfrm>
            <a:off x="6839712" y="1463040"/>
            <a:ext cx="4114800" cy="292608"/>
          </a:xfrm>
          <a:prstGeom prst="rect">
            <a:avLst/>
          </a:prstGeom>
          <a:noFill/>
        </p:spPr>
        <p:txBody>
          <a:bodyPr wrap="square">
            <a:spAutoFit/>
          </a:bodyPr>
          <a:lstStyle/>
          <a:p>
            <a:pPr algn="l"/>
            <a:r>
              <a:rPr sz="1100" b="1" i="0">
                <a:solidFill>
                  <a:srgbClr val="0D1B3E"/>
                </a:solidFill>
                <a:latin typeface="Calibri"/>
              </a:rPr>
              <a:t>Data Modelling</a:t>
            </a:r>
          </a:p>
        </p:txBody>
      </p:sp>
      <p:sp>
        <p:nvSpPr>
          <p:cNvPr id="107" name="TextBox 106"/>
          <p:cNvSpPr txBox="1"/>
          <p:nvPr/>
        </p:nvSpPr>
        <p:spPr>
          <a:xfrm>
            <a:off x="6839712" y="1719072"/>
            <a:ext cx="4114800" cy="182880"/>
          </a:xfrm>
          <a:prstGeom prst="rect">
            <a:avLst/>
          </a:prstGeom>
          <a:noFill/>
        </p:spPr>
        <p:txBody>
          <a:bodyPr wrap="square">
            <a:spAutoFit/>
          </a:bodyPr>
          <a:lstStyle/>
          <a:p>
            <a:pPr algn="l"/>
            <a:r>
              <a:rPr sz="750" b="0" i="0">
                <a:solidFill>
                  <a:srgbClr val="5D6D7E"/>
                </a:solidFill>
                <a:latin typeface="Calibri"/>
              </a:rPr>
              <a:t>Architecture &amp; Design</a:t>
            </a:r>
          </a:p>
        </p:txBody>
      </p:sp>
      <p:sp>
        <p:nvSpPr>
          <p:cNvPr id="108" name="Rectangle 107"/>
          <p:cNvSpPr/>
          <p:nvPr/>
        </p:nvSpPr>
        <p:spPr>
          <a:xfrm>
            <a:off x="6839712" y="1938528"/>
            <a:ext cx="2286000" cy="10972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6839712" y="1938528"/>
            <a:ext cx="2540000" cy="109728"/>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9189720" y="1929384"/>
            <a:ext cx="914400" cy="146304"/>
          </a:xfrm>
          <a:prstGeom prst="rect">
            <a:avLst/>
          </a:prstGeom>
          <a:noFill/>
        </p:spPr>
        <p:txBody>
          <a:bodyPr wrap="square">
            <a:spAutoFit/>
          </a:bodyPr>
          <a:lstStyle/>
          <a:p>
            <a:pPr algn="l"/>
            <a:r>
              <a:rPr sz="650" b="0" i="0">
                <a:solidFill>
                  <a:srgbClr val="5D6D7E"/>
                </a:solidFill>
                <a:latin typeface="Calibri"/>
              </a:rPr>
              <a:t>Score: 10/9</a:t>
            </a:r>
          </a:p>
        </p:txBody>
      </p:sp>
      <p:sp>
        <p:nvSpPr>
          <p:cNvPr id="111" name="Rounded Rectangle 110"/>
          <p:cNvSpPr/>
          <p:nvPr/>
        </p:nvSpPr>
        <p:spPr>
          <a:xfrm>
            <a:off x="10168128" y="1463040"/>
            <a:ext cx="530352" cy="237744"/>
          </a:xfrm>
          <a:prstGeom prst="roundRect">
            <a:avLst>
              <a:gd name="adj" fmla="val 12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10168128" y="1481328"/>
            <a:ext cx="530352" cy="201168"/>
          </a:xfrm>
          <a:prstGeom prst="rect">
            <a:avLst/>
          </a:prstGeom>
          <a:noFill/>
        </p:spPr>
        <p:txBody>
          <a:bodyPr wrap="square">
            <a:spAutoFit/>
          </a:bodyPr>
          <a:lstStyle/>
          <a:p>
            <a:pPr algn="ctr"/>
            <a:r>
              <a:rPr sz="700" b="1" i="0">
                <a:solidFill>
                  <a:srgbClr val="FFFFFF"/>
                </a:solidFill>
                <a:latin typeface="Calibri"/>
              </a:rPr>
              <a:t>M</a:t>
            </a:r>
          </a:p>
        </p:txBody>
      </p:sp>
      <p:sp>
        <p:nvSpPr>
          <p:cNvPr id="113" name="TextBox 112"/>
          <p:cNvSpPr txBox="1"/>
          <p:nvPr/>
        </p:nvSpPr>
        <p:spPr>
          <a:xfrm>
            <a:off x="10168128" y="1700784"/>
            <a:ext cx="530352" cy="164592"/>
          </a:xfrm>
          <a:prstGeom prst="rect">
            <a:avLst/>
          </a:prstGeom>
          <a:noFill/>
        </p:spPr>
        <p:txBody>
          <a:bodyPr wrap="square">
            <a:spAutoFit/>
          </a:bodyPr>
          <a:lstStyle/>
          <a:p>
            <a:pPr algn="ctr"/>
            <a:r>
              <a:rPr sz="550" b="0" i="0">
                <a:solidFill>
                  <a:srgbClr val="5D6D7E"/>
                </a:solidFill>
                <a:latin typeface="Calibri"/>
              </a:rPr>
              <a:t>Effort</a:t>
            </a:r>
          </a:p>
        </p:txBody>
      </p:sp>
      <p:sp>
        <p:nvSpPr>
          <p:cNvPr id="114" name="Rounded Rectangle 113"/>
          <p:cNvSpPr/>
          <p:nvPr/>
        </p:nvSpPr>
        <p:spPr>
          <a:xfrm>
            <a:off x="10735055" y="1463040"/>
            <a:ext cx="530352" cy="237744"/>
          </a:xfrm>
          <a:prstGeom prst="roundRect">
            <a:avLst>
              <a:gd name="adj" fmla="val 12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10735055" y="1481328"/>
            <a:ext cx="530352" cy="201168"/>
          </a:xfrm>
          <a:prstGeom prst="rect">
            <a:avLst/>
          </a:prstGeom>
          <a:noFill/>
        </p:spPr>
        <p:txBody>
          <a:bodyPr wrap="square">
            <a:spAutoFit/>
          </a:bodyPr>
          <a:lstStyle/>
          <a:p>
            <a:pPr algn="ctr"/>
            <a:r>
              <a:rPr sz="700" b="1" i="0">
                <a:solidFill>
                  <a:srgbClr val="FFFFFF"/>
                </a:solidFill>
                <a:latin typeface="Calibri"/>
              </a:rPr>
              <a:t>H</a:t>
            </a:r>
          </a:p>
        </p:txBody>
      </p:sp>
      <p:sp>
        <p:nvSpPr>
          <p:cNvPr id="116" name="TextBox 115"/>
          <p:cNvSpPr txBox="1"/>
          <p:nvPr/>
        </p:nvSpPr>
        <p:spPr>
          <a:xfrm>
            <a:off x="10735055" y="1700784"/>
            <a:ext cx="530352" cy="164592"/>
          </a:xfrm>
          <a:prstGeom prst="rect">
            <a:avLst/>
          </a:prstGeom>
          <a:noFill/>
        </p:spPr>
        <p:txBody>
          <a:bodyPr wrap="square">
            <a:spAutoFit/>
          </a:bodyPr>
          <a:lstStyle/>
          <a:p>
            <a:pPr algn="ctr"/>
            <a:r>
              <a:rPr sz="550" b="0" i="0">
                <a:solidFill>
                  <a:srgbClr val="5D6D7E"/>
                </a:solidFill>
                <a:latin typeface="Calibri"/>
              </a:rPr>
              <a:t>Impact</a:t>
            </a:r>
          </a:p>
        </p:txBody>
      </p:sp>
      <p:sp>
        <p:nvSpPr>
          <p:cNvPr id="117" name="Rounded Rectangle 116"/>
          <p:cNvSpPr/>
          <p:nvPr/>
        </p:nvSpPr>
        <p:spPr>
          <a:xfrm>
            <a:off x="11301984" y="1463040"/>
            <a:ext cx="530352" cy="237744"/>
          </a:xfrm>
          <a:prstGeom prst="roundRect">
            <a:avLst>
              <a:gd name="adj" fmla="val 12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11301984" y="1481328"/>
            <a:ext cx="530352" cy="201168"/>
          </a:xfrm>
          <a:prstGeom prst="rect">
            <a:avLst/>
          </a:prstGeom>
          <a:noFill/>
        </p:spPr>
        <p:txBody>
          <a:bodyPr wrap="square">
            <a:spAutoFit/>
          </a:bodyPr>
          <a:lstStyle/>
          <a:p>
            <a:pPr algn="ctr"/>
            <a:r>
              <a:rPr sz="700" b="1" i="0">
                <a:solidFill>
                  <a:srgbClr val="FFFFFF"/>
                </a:solidFill>
                <a:latin typeface="Calibri"/>
              </a:rPr>
              <a:t>M</a:t>
            </a:r>
          </a:p>
        </p:txBody>
      </p:sp>
      <p:sp>
        <p:nvSpPr>
          <p:cNvPr id="119" name="TextBox 118"/>
          <p:cNvSpPr txBox="1"/>
          <p:nvPr/>
        </p:nvSpPr>
        <p:spPr>
          <a:xfrm>
            <a:off x="11301984" y="1700784"/>
            <a:ext cx="530352" cy="164592"/>
          </a:xfrm>
          <a:prstGeom prst="rect">
            <a:avLst/>
          </a:prstGeom>
          <a:noFill/>
        </p:spPr>
        <p:txBody>
          <a:bodyPr wrap="square">
            <a:spAutoFit/>
          </a:bodyPr>
          <a:lstStyle/>
          <a:p>
            <a:pPr algn="ctr"/>
            <a:r>
              <a:rPr sz="550" b="0" i="0">
                <a:solidFill>
                  <a:srgbClr val="5D6D7E"/>
                </a:solidFill>
                <a:latin typeface="Calibri"/>
              </a:rPr>
              <a:t>HITL</a:t>
            </a:r>
          </a:p>
        </p:txBody>
      </p:sp>
      <p:sp>
        <p:nvSpPr>
          <p:cNvPr id="120" name="Rounded Rectangle 119"/>
          <p:cNvSpPr/>
          <p:nvPr/>
        </p:nvSpPr>
        <p:spPr>
          <a:xfrm>
            <a:off x="6309360" y="2322576"/>
            <a:ext cx="5669280" cy="877824"/>
          </a:xfrm>
          <a:prstGeom prst="roundRect">
            <a:avLst>
              <a:gd name="adj" fmla="val 6000"/>
            </a:avLst>
          </a:prstGeom>
          <a:solidFill>
            <a:srgbClr val="F4F6F9"/>
          </a:solidFill>
          <a:ln w="19050">
            <a:solidFill>
              <a:srgbClr val="007A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6309360" y="2322576"/>
            <a:ext cx="5669280" cy="54864"/>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ounded Rectangle 121"/>
          <p:cNvSpPr/>
          <p:nvPr/>
        </p:nvSpPr>
        <p:spPr>
          <a:xfrm>
            <a:off x="6364224" y="2414016"/>
            <a:ext cx="411480" cy="411480"/>
          </a:xfrm>
          <a:prstGeom prst="roundRect">
            <a:avLst>
              <a:gd name="adj" fmla="val 5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6364224" y="2487168"/>
            <a:ext cx="411480" cy="256032"/>
          </a:xfrm>
          <a:prstGeom prst="rect">
            <a:avLst/>
          </a:prstGeom>
          <a:noFill/>
        </p:spPr>
        <p:txBody>
          <a:bodyPr wrap="square">
            <a:spAutoFit/>
          </a:bodyPr>
          <a:lstStyle/>
          <a:p>
            <a:pPr algn="ctr"/>
            <a:r>
              <a:rPr sz="1000" b="1" i="0">
                <a:solidFill>
                  <a:srgbClr val="FFFFFF"/>
                </a:solidFill>
                <a:latin typeface="Cambria"/>
              </a:rPr>
              <a:t>#7</a:t>
            </a:r>
          </a:p>
        </p:txBody>
      </p:sp>
      <p:sp>
        <p:nvSpPr>
          <p:cNvPr id="124" name="TextBox 123"/>
          <p:cNvSpPr txBox="1"/>
          <p:nvPr/>
        </p:nvSpPr>
        <p:spPr>
          <a:xfrm>
            <a:off x="6839712" y="2414016"/>
            <a:ext cx="4114800" cy="292608"/>
          </a:xfrm>
          <a:prstGeom prst="rect">
            <a:avLst/>
          </a:prstGeom>
          <a:noFill/>
        </p:spPr>
        <p:txBody>
          <a:bodyPr wrap="square">
            <a:spAutoFit/>
          </a:bodyPr>
          <a:lstStyle/>
          <a:p>
            <a:pPr algn="l"/>
            <a:r>
              <a:rPr sz="1100" b="1" i="0">
                <a:solidFill>
                  <a:srgbClr val="0D1B3E"/>
                </a:solidFill>
                <a:latin typeface="Calibri"/>
              </a:rPr>
              <a:t>Peer Review</a:t>
            </a:r>
          </a:p>
        </p:txBody>
      </p:sp>
      <p:sp>
        <p:nvSpPr>
          <p:cNvPr id="125" name="TextBox 124"/>
          <p:cNvSpPr txBox="1"/>
          <p:nvPr/>
        </p:nvSpPr>
        <p:spPr>
          <a:xfrm>
            <a:off x="6839712" y="2670048"/>
            <a:ext cx="4114800" cy="182880"/>
          </a:xfrm>
          <a:prstGeom prst="rect">
            <a:avLst/>
          </a:prstGeom>
          <a:noFill/>
        </p:spPr>
        <p:txBody>
          <a:bodyPr wrap="square">
            <a:spAutoFit/>
          </a:bodyPr>
          <a:lstStyle/>
          <a:p>
            <a:pPr algn="l"/>
            <a:r>
              <a:rPr sz="750" b="0" i="0">
                <a:solidFill>
                  <a:srgbClr val="5D6D7E"/>
                </a:solidFill>
                <a:latin typeface="Calibri"/>
              </a:rPr>
              <a:t>Code Review</a:t>
            </a:r>
          </a:p>
        </p:txBody>
      </p:sp>
      <p:sp>
        <p:nvSpPr>
          <p:cNvPr id="126" name="Rectangle 125"/>
          <p:cNvSpPr/>
          <p:nvPr/>
        </p:nvSpPr>
        <p:spPr>
          <a:xfrm>
            <a:off x="6839712" y="2889504"/>
            <a:ext cx="2286000" cy="10972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26"/>
          <p:cNvSpPr/>
          <p:nvPr/>
        </p:nvSpPr>
        <p:spPr>
          <a:xfrm>
            <a:off x="6839712" y="2889504"/>
            <a:ext cx="2540000" cy="109728"/>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9189720" y="2880360"/>
            <a:ext cx="914400" cy="146304"/>
          </a:xfrm>
          <a:prstGeom prst="rect">
            <a:avLst/>
          </a:prstGeom>
          <a:noFill/>
        </p:spPr>
        <p:txBody>
          <a:bodyPr wrap="square">
            <a:spAutoFit/>
          </a:bodyPr>
          <a:lstStyle/>
          <a:p>
            <a:pPr algn="l"/>
            <a:r>
              <a:rPr sz="650" b="0" i="0">
                <a:solidFill>
                  <a:srgbClr val="5D6D7E"/>
                </a:solidFill>
                <a:latin typeface="Calibri"/>
              </a:rPr>
              <a:t>Score: 10/9</a:t>
            </a:r>
          </a:p>
        </p:txBody>
      </p:sp>
      <p:sp>
        <p:nvSpPr>
          <p:cNvPr id="129" name="Rounded Rectangle 128"/>
          <p:cNvSpPr/>
          <p:nvPr/>
        </p:nvSpPr>
        <p:spPr>
          <a:xfrm>
            <a:off x="10168128" y="2414016"/>
            <a:ext cx="530352" cy="237744"/>
          </a:xfrm>
          <a:prstGeom prst="roundRect">
            <a:avLst>
              <a:gd name="adj" fmla="val 12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10168128" y="2432304"/>
            <a:ext cx="530352" cy="201168"/>
          </a:xfrm>
          <a:prstGeom prst="rect">
            <a:avLst/>
          </a:prstGeom>
          <a:noFill/>
        </p:spPr>
        <p:txBody>
          <a:bodyPr wrap="square">
            <a:spAutoFit/>
          </a:bodyPr>
          <a:lstStyle/>
          <a:p>
            <a:pPr algn="ctr"/>
            <a:r>
              <a:rPr sz="700" b="1" i="0">
                <a:solidFill>
                  <a:srgbClr val="FFFFFF"/>
                </a:solidFill>
                <a:latin typeface="Calibri"/>
              </a:rPr>
              <a:t>M</a:t>
            </a:r>
          </a:p>
        </p:txBody>
      </p:sp>
      <p:sp>
        <p:nvSpPr>
          <p:cNvPr id="131" name="TextBox 130"/>
          <p:cNvSpPr txBox="1"/>
          <p:nvPr/>
        </p:nvSpPr>
        <p:spPr>
          <a:xfrm>
            <a:off x="10168128" y="2651760"/>
            <a:ext cx="530352" cy="164592"/>
          </a:xfrm>
          <a:prstGeom prst="rect">
            <a:avLst/>
          </a:prstGeom>
          <a:noFill/>
        </p:spPr>
        <p:txBody>
          <a:bodyPr wrap="square">
            <a:spAutoFit/>
          </a:bodyPr>
          <a:lstStyle/>
          <a:p>
            <a:pPr algn="ctr"/>
            <a:r>
              <a:rPr sz="550" b="0" i="0">
                <a:solidFill>
                  <a:srgbClr val="5D6D7E"/>
                </a:solidFill>
                <a:latin typeface="Calibri"/>
              </a:rPr>
              <a:t>Effort</a:t>
            </a:r>
          </a:p>
        </p:txBody>
      </p:sp>
      <p:sp>
        <p:nvSpPr>
          <p:cNvPr id="132" name="Rounded Rectangle 131"/>
          <p:cNvSpPr/>
          <p:nvPr/>
        </p:nvSpPr>
        <p:spPr>
          <a:xfrm>
            <a:off x="10735055" y="2414016"/>
            <a:ext cx="530352" cy="237744"/>
          </a:xfrm>
          <a:prstGeom prst="roundRect">
            <a:avLst>
              <a:gd name="adj" fmla="val 12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10735055" y="2432304"/>
            <a:ext cx="530352" cy="201168"/>
          </a:xfrm>
          <a:prstGeom prst="rect">
            <a:avLst/>
          </a:prstGeom>
          <a:noFill/>
        </p:spPr>
        <p:txBody>
          <a:bodyPr wrap="square">
            <a:spAutoFit/>
          </a:bodyPr>
          <a:lstStyle/>
          <a:p>
            <a:pPr algn="ctr"/>
            <a:r>
              <a:rPr sz="700" b="1" i="0">
                <a:solidFill>
                  <a:srgbClr val="FFFFFF"/>
                </a:solidFill>
                <a:latin typeface="Calibri"/>
              </a:rPr>
              <a:t>H</a:t>
            </a:r>
          </a:p>
        </p:txBody>
      </p:sp>
      <p:sp>
        <p:nvSpPr>
          <p:cNvPr id="134" name="TextBox 133"/>
          <p:cNvSpPr txBox="1"/>
          <p:nvPr/>
        </p:nvSpPr>
        <p:spPr>
          <a:xfrm>
            <a:off x="10735055" y="2651760"/>
            <a:ext cx="530352" cy="164592"/>
          </a:xfrm>
          <a:prstGeom prst="rect">
            <a:avLst/>
          </a:prstGeom>
          <a:noFill/>
        </p:spPr>
        <p:txBody>
          <a:bodyPr wrap="square">
            <a:spAutoFit/>
          </a:bodyPr>
          <a:lstStyle/>
          <a:p>
            <a:pPr algn="ctr"/>
            <a:r>
              <a:rPr sz="550" b="0" i="0">
                <a:solidFill>
                  <a:srgbClr val="5D6D7E"/>
                </a:solidFill>
                <a:latin typeface="Calibri"/>
              </a:rPr>
              <a:t>Impact</a:t>
            </a:r>
          </a:p>
        </p:txBody>
      </p:sp>
      <p:sp>
        <p:nvSpPr>
          <p:cNvPr id="135" name="Rounded Rectangle 134"/>
          <p:cNvSpPr/>
          <p:nvPr/>
        </p:nvSpPr>
        <p:spPr>
          <a:xfrm>
            <a:off x="11301984" y="2414016"/>
            <a:ext cx="530352" cy="237744"/>
          </a:xfrm>
          <a:prstGeom prst="roundRect">
            <a:avLst>
              <a:gd name="adj" fmla="val 12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11301984" y="2432304"/>
            <a:ext cx="530352" cy="201168"/>
          </a:xfrm>
          <a:prstGeom prst="rect">
            <a:avLst/>
          </a:prstGeom>
          <a:noFill/>
        </p:spPr>
        <p:txBody>
          <a:bodyPr wrap="square">
            <a:spAutoFit/>
          </a:bodyPr>
          <a:lstStyle/>
          <a:p>
            <a:pPr algn="ctr"/>
            <a:r>
              <a:rPr sz="700" b="1" i="0">
                <a:solidFill>
                  <a:srgbClr val="FFFFFF"/>
                </a:solidFill>
                <a:latin typeface="Calibri"/>
              </a:rPr>
              <a:t>M</a:t>
            </a:r>
          </a:p>
        </p:txBody>
      </p:sp>
      <p:sp>
        <p:nvSpPr>
          <p:cNvPr id="137" name="TextBox 136"/>
          <p:cNvSpPr txBox="1"/>
          <p:nvPr/>
        </p:nvSpPr>
        <p:spPr>
          <a:xfrm>
            <a:off x="11301984" y="2651760"/>
            <a:ext cx="530352" cy="164592"/>
          </a:xfrm>
          <a:prstGeom prst="rect">
            <a:avLst/>
          </a:prstGeom>
          <a:noFill/>
        </p:spPr>
        <p:txBody>
          <a:bodyPr wrap="square">
            <a:spAutoFit/>
          </a:bodyPr>
          <a:lstStyle/>
          <a:p>
            <a:pPr algn="ctr"/>
            <a:r>
              <a:rPr sz="550" b="0" i="0">
                <a:solidFill>
                  <a:srgbClr val="5D6D7E"/>
                </a:solidFill>
                <a:latin typeface="Calibri"/>
              </a:rPr>
              <a:t>HITL</a:t>
            </a:r>
          </a:p>
        </p:txBody>
      </p:sp>
      <p:sp>
        <p:nvSpPr>
          <p:cNvPr id="138" name="Rounded Rectangle 137"/>
          <p:cNvSpPr/>
          <p:nvPr/>
        </p:nvSpPr>
        <p:spPr>
          <a:xfrm>
            <a:off x="6309360" y="3273552"/>
            <a:ext cx="5669280" cy="877824"/>
          </a:xfrm>
          <a:prstGeom prst="roundRect">
            <a:avLst>
              <a:gd name="adj" fmla="val 6000"/>
            </a:avLst>
          </a:prstGeom>
          <a:solidFill>
            <a:srgbClr val="F4F6F9"/>
          </a:solidFill>
          <a:ln w="19050">
            <a:solidFill>
              <a:srgbClr val="007A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ectangle 138"/>
          <p:cNvSpPr/>
          <p:nvPr/>
        </p:nvSpPr>
        <p:spPr>
          <a:xfrm>
            <a:off x="6309360" y="3273552"/>
            <a:ext cx="5669280" cy="54864"/>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ounded Rectangle 139"/>
          <p:cNvSpPr/>
          <p:nvPr/>
        </p:nvSpPr>
        <p:spPr>
          <a:xfrm>
            <a:off x="6364224" y="3364992"/>
            <a:ext cx="411480" cy="411480"/>
          </a:xfrm>
          <a:prstGeom prst="roundRect">
            <a:avLst>
              <a:gd name="adj" fmla="val 5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6364224" y="3438144"/>
            <a:ext cx="411480" cy="256032"/>
          </a:xfrm>
          <a:prstGeom prst="rect">
            <a:avLst/>
          </a:prstGeom>
          <a:noFill/>
        </p:spPr>
        <p:txBody>
          <a:bodyPr wrap="square">
            <a:spAutoFit/>
          </a:bodyPr>
          <a:lstStyle/>
          <a:p>
            <a:pPr algn="ctr"/>
            <a:r>
              <a:rPr sz="1000" b="1" i="0">
                <a:solidFill>
                  <a:srgbClr val="FFFFFF"/>
                </a:solidFill>
                <a:latin typeface="Cambria"/>
              </a:rPr>
              <a:t>#8</a:t>
            </a:r>
          </a:p>
        </p:txBody>
      </p:sp>
      <p:sp>
        <p:nvSpPr>
          <p:cNvPr id="142" name="TextBox 141"/>
          <p:cNvSpPr txBox="1"/>
          <p:nvPr/>
        </p:nvSpPr>
        <p:spPr>
          <a:xfrm>
            <a:off x="6839712" y="3364992"/>
            <a:ext cx="4114800" cy="292608"/>
          </a:xfrm>
          <a:prstGeom prst="rect">
            <a:avLst/>
          </a:prstGeom>
          <a:noFill/>
        </p:spPr>
        <p:txBody>
          <a:bodyPr wrap="square">
            <a:spAutoFit/>
          </a:bodyPr>
          <a:lstStyle/>
          <a:p>
            <a:pPr algn="l"/>
            <a:r>
              <a:rPr sz="1100" b="1" i="0">
                <a:solidFill>
                  <a:srgbClr val="0D1B3E"/>
                </a:solidFill>
                <a:latin typeface="Calibri"/>
              </a:rPr>
              <a:t>Test Generation</a:t>
            </a:r>
          </a:p>
        </p:txBody>
      </p:sp>
      <p:sp>
        <p:nvSpPr>
          <p:cNvPr id="143" name="TextBox 142"/>
          <p:cNvSpPr txBox="1"/>
          <p:nvPr/>
        </p:nvSpPr>
        <p:spPr>
          <a:xfrm>
            <a:off x="6839712" y="3621024"/>
            <a:ext cx="4114800" cy="182880"/>
          </a:xfrm>
          <a:prstGeom prst="rect">
            <a:avLst/>
          </a:prstGeom>
          <a:noFill/>
        </p:spPr>
        <p:txBody>
          <a:bodyPr wrap="square">
            <a:spAutoFit/>
          </a:bodyPr>
          <a:lstStyle/>
          <a:p>
            <a:pPr algn="l"/>
            <a:r>
              <a:rPr sz="750" b="0" i="0">
                <a:solidFill>
                  <a:srgbClr val="5D6D7E"/>
                </a:solidFill>
                <a:latin typeface="Calibri"/>
              </a:rPr>
              <a:t>Testing &amp; Validation</a:t>
            </a:r>
          </a:p>
        </p:txBody>
      </p:sp>
      <p:sp>
        <p:nvSpPr>
          <p:cNvPr id="144" name="Rectangle 143"/>
          <p:cNvSpPr/>
          <p:nvPr/>
        </p:nvSpPr>
        <p:spPr>
          <a:xfrm>
            <a:off x="6839712" y="3840480"/>
            <a:ext cx="2286000" cy="10972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ectangle 144"/>
          <p:cNvSpPr/>
          <p:nvPr/>
        </p:nvSpPr>
        <p:spPr>
          <a:xfrm>
            <a:off x="6839712" y="3840480"/>
            <a:ext cx="2540000" cy="109728"/>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9189720" y="3831336"/>
            <a:ext cx="914400" cy="146304"/>
          </a:xfrm>
          <a:prstGeom prst="rect">
            <a:avLst/>
          </a:prstGeom>
          <a:noFill/>
        </p:spPr>
        <p:txBody>
          <a:bodyPr wrap="square">
            <a:spAutoFit/>
          </a:bodyPr>
          <a:lstStyle/>
          <a:p>
            <a:pPr algn="l"/>
            <a:r>
              <a:rPr sz="650" b="0" i="0">
                <a:solidFill>
                  <a:srgbClr val="5D6D7E"/>
                </a:solidFill>
                <a:latin typeface="Calibri"/>
              </a:rPr>
              <a:t>Score: 10/9</a:t>
            </a:r>
          </a:p>
        </p:txBody>
      </p:sp>
      <p:sp>
        <p:nvSpPr>
          <p:cNvPr id="147" name="Rounded Rectangle 146"/>
          <p:cNvSpPr/>
          <p:nvPr/>
        </p:nvSpPr>
        <p:spPr>
          <a:xfrm>
            <a:off x="10168128" y="3364992"/>
            <a:ext cx="530352" cy="237744"/>
          </a:xfrm>
          <a:prstGeom prst="roundRect">
            <a:avLst>
              <a:gd name="adj" fmla="val 12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10168128" y="3383280"/>
            <a:ext cx="530352" cy="201168"/>
          </a:xfrm>
          <a:prstGeom prst="rect">
            <a:avLst/>
          </a:prstGeom>
          <a:noFill/>
        </p:spPr>
        <p:txBody>
          <a:bodyPr wrap="square">
            <a:spAutoFit/>
          </a:bodyPr>
          <a:lstStyle/>
          <a:p>
            <a:pPr algn="ctr"/>
            <a:r>
              <a:rPr sz="700" b="1" i="0">
                <a:solidFill>
                  <a:srgbClr val="FFFFFF"/>
                </a:solidFill>
                <a:latin typeface="Calibri"/>
              </a:rPr>
              <a:t>M</a:t>
            </a:r>
          </a:p>
        </p:txBody>
      </p:sp>
      <p:sp>
        <p:nvSpPr>
          <p:cNvPr id="149" name="TextBox 148"/>
          <p:cNvSpPr txBox="1"/>
          <p:nvPr/>
        </p:nvSpPr>
        <p:spPr>
          <a:xfrm>
            <a:off x="10168128" y="3602736"/>
            <a:ext cx="530352" cy="164592"/>
          </a:xfrm>
          <a:prstGeom prst="rect">
            <a:avLst/>
          </a:prstGeom>
          <a:noFill/>
        </p:spPr>
        <p:txBody>
          <a:bodyPr wrap="square">
            <a:spAutoFit/>
          </a:bodyPr>
          <a:lstStyle/>
          <a:p>
            <a:pPr algn="ctr"/>
            <a:r>
              <a:rPr sz="550" b="0" i="0">
                <a:solidFill>
                  <a:srgbClr val="5D6D7E"/>
                </a:solidFill>
                <a:latin typeface="Calibri"/>
              </a:rPr>
              <a:t>Effort</a:t>
            </a:r>
          </a:p>
        </p:txBody>
      </p:sp>
      <p:sp>
        <p:nvSpPr>
          <p:cNvPr id="150" name="Rounded Rectangle 149"/>
          <p:cNvSpPr/>
          <p:nvPr/>
        </p:nvSpPr>
        <p:spPr>
          <a:xfrm>
            <a:off x="10735055" y="3364992"/>
            <a:ext cx="530352" cy="237744"/>
          </a:xfrm>
          <a:prstGeom prst="roundRect">
            <a:avLst>
              <a:gd name="adj" fmla="val 12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10735055" y="3383280"/>
            <a:ext cx="530352" cy="201168"/>
          </a:xfrm>
          <a:prstGeom prst="rect">
            <a:avLst/>
          </a:prstGeom>
          <a:noFill/>
        </p:spPr>
        <p:txBody>
          <a:bodyPr wrap="square">
            <a:spAutoFit/>
          </a:bodyPr>
          <a:lstStyle/>
          <a:p>
            <a:pPr algn="ctr"/>
            <a:r>
              <a:rPr sz="700" b="1" i="0">
                <a:solidFill>
                  <a:srgbClr val="FFFFFF"/>
                </a:solidFill>
                <a:latin typeface="Calibri"/>
              </a:rPr>
              <a:t>H</a:t>
            </a:r>
          </a:p>
        </p:txBody>
      </p:sp>
      <p:sp>
        <p:nvSpPr>
          <p:cNvPr id="152" name="TextBox 151"/>
          <p:cNvSpPr txBox="1"/>
          <p:nvPr/>
        </p:nvSpPr>
        <p:spPr>
          <a:xfrm>
            <a:off x="10735055" y="3602736"/>
            <a:ext cx="530352" cy="164592"/>
          </a:xfrm>
          <a:prstGeom prst="rect">
            <a:avLst/>
          </a:prstGeom>
          <a:noFill/>
        </p:spPr>
        <p:txBody>
          <a:bodyPr wrap="square">
            <a:spAutoFit/>
          </a:bodyPr>
          <a:lstStyle/>
          <a:p>
            <a:pPr algn="ctr"/>
            <a:r>
              <a:rPr sz="550" b="0" i="0">
                <a:solidFill>
                  <a:srgbClr val="5D6D7E"/>
                </a:solidFill>
                <a:latin typeface="Calibri"/>
              </a:rPr>
              <a:t>Impact</a:t>
            </a:r>
          </a:p>
        </p:txBody>
      </p:sp>
      <p:sp>
        <p:nvSpPr>
          <p:cNvPr id="153" name="Rounded Rectangle 152"/>
          <p:cNvSpPr/>
          <p:nvPr/>
        </p:nvSpPr>
        <p:spPr>
          <a:xfrm>
            <a:off x="11301984" y="3364992"/>
            <a:ext cx="530352" cy="237744"/>
          </a:xfrm>
          <a:prstGeom prst="roundRect">
            <a:avLst>
              <a:gd name="adj" fmla="val 12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11301984" y="3383280"/>
            <a:ext cx="530352" cy="201168"/>
          </a:xfrm>
          <a:prstGeom prst="rect">
            <a:avLst/>
          </a:prstGeom>
          <a:noFill/>
        </p:spPr>
        <p:txBody>
          <a:bodyPr wrap="square">
            <a:spAutoFit/>
          </a:bodyPr>
          <a:lstStyle/>
          <a:p>
            <a:pPr algn="ctr"/>
            <a:r>
              <a:rPr sz="700" b="1" i="0">
                <a:solidFill>
                  <a:srgbClr val="FFFFFF"/>
                </a:solidFill>
                <a:latin typeface="Calibri"/>
              </a:rPr>
              <a:t>M</a:t>
            </a:r>
          </a:p>
        </p:txBody>
      </p:sp>
      <p:sp>
        <p:nvSpPr>
          <p:cNvPr id="155" name="TextBox 154"/>
          <p:cNvSpPr txBox="1"/>
          <p:nvPr/>
        </p:nvSpPr>
        <p:spPr>
          <a:xfrm>
            <a:off x="11301984" y="3602736"/>
            <a:ext cx="530352" cy="164592"/>
          </a:xfrm>
          <a:prstGeom prst="rect">
            <a:avLst/>
          </a:prstGeom>
          <a:noFill/>
        </p:spPr>
        <p:txBody>
          <a:bodyPr wrap="square">
            <a:spAutoFit/>
          </a:bodyPr>
          <a:lstStyle/>
          <a:p>
            <a:pPr algn="ctr"/>
            <a:r>
              <a:rPr sz="550" b="0" i="0">
                <a:solidFill>
                  <a:srgbClr val="5D6D7E"/>
                </a:solidFill>
                <a:latin typeface="Calibri"/>
              </a:rPr>
              <a:t>HITL</a:t>
            </a:r>
          </a:p>
        </p:txBody>
      </p:sp>
      <p:sp>
        <p:nvSpPr>
          <p:cNvPr id="156" name="Rounded Rectangle 155"/>
          <p:cNvSpPr/>
          <p:nvPr/>
        </p:nvSpPr>
        <p:spPr>
          <a:xfrm>
            <a:off x="6309360" y="4224528"/>
            <a:ext cx="5669280" cy="877824"/>
          </a:xfrm>
          <a:prstGeom prst="roundRect">
            <a:avLst>
              <a:gd name="adj" fmla="val 6000"/>
            </a:avLst>
          </a:prstGeom>
          <a:solidFill>
            <a:srgbClr val="F4F6F9"/>
          </a:solidFill>
          <a:ln w="19050">
            <a:solidFill>
              <a:srgbClr val="007A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ectangle 156"/>
          <p:cNvSpPr/>
          <p:nvPr/>
        </p:nvSpPr>
        <p:spPr>
          <a:xfrm>
            <a:off x="6309360" y="4224528"/>
            <a:ext cx="5669280" cy="54864"/>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ounded Rectangle 157"/>
          <p:cNvSpPr/>
          <p:nvPr/>
        </p:nvSpPr>
        <p:spPr>
          <a:xfrm>
            <a:off x="6364224" y="4315968"/>
            <a:ext cx="411480" cy="411480"/>
          </a:xfrm>
          <a:prstGeom prst="roundRect">
            <a:avLst>
              <a:gd name="adj" fmla="val 5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TextBox 158"/>
          <p:cNvSpPr txBox="1"/>
          <p:nvPr/>
        </p:nvSpPr>
        <p:spPr>
          <a:xfrm>
            <a:off x="6364224" y="4389120"/>
            <a:ext cx="411480" cy="256032"/>
          </a:xfrm>
          <a:prstGeom prst="rect">
            <a:avLst/>
          </a:prstGeom>
          <a:noFill/>
        </p:spPr>
        <p:txBody>
          <a:bodyPr wrap="square">
            <a:spAutoFit/>
          </a:bodyPr>
          <a:lstStyle/>
          <a:p>
            <a:pPr algn="ctr"/>
            <a:r>
              <a:rPr sz="1000" b="1" i="0">
                <a:solidFill>
                  <a:srgbClr val="FFFFFF"/>
                </a:solidFill>
                <a:latin typeface="Cambria"/>
              </a:rPr>
              <a:t>#9</a:t>
            </a:r>
          </a:p>
        </p:txBody>
      </p:sp>
      <p:sp>
        <p:nvSpPr>
          <p:cNvPr id="160" name="TextBox 159"/>
          <p:cNvSpPr txBox="1"/>
          <p:nvPr/>
        </p:nvSpPr>
        <p:spPr>
          <a:xfrm>
            <a:off x="6839712" y="4315968"/>
            <a:ext cx="4114800" cy="292608"/>
          </a:xfrm>
          <a:prstGeom prst="rect">
            <a:avLst/>
          </a:prstGeom>
          <a:noFill/>
        </p:spPr>
        <p:txBody>
          <a:bodyPr wrap="square">
            <a:spAutoFit/>
          </a:bodyPr>
          <a:lstStyle/>
          <a:p>
            <a:pPr algn="l"/>
            <a:r>
              <a:rPr sz="1100" b="1" i="0">
                <a:solidFill>
                  <a:srgbClr val="0D1B3E"/>
                </a:solidFill>
                <a:latin typeface="Calibri"/>
              </a:rPr>
              <a:t>Codebase Navigator</a:t>
            </a:r>
          </a:p>
        </p:txBody>
      </p:sp>
      <p:sp>
        <p:nvSpPr>
          <p:cNvPr id="161" name="TextBox 160"/>
          <p:cNvSpPr txBox="1"/>
          <p:nvPr/>
        </p:nvSpPr>
        <p:spPr>
          <a:xfrm>
            <a:off x="6839712" y="4572000"/>
            <a:ext cx="4114800" cy="182880"/>
          </a:xfrm>
          <a:prstGeom prst="rect">
            <a:avLst/>
          </a:prstGeom>
          <a:noFill/>
        </p:spPr>
        <p:txBody>
          <a:bodyPr wrap="square">
            <a:spAutoFit/>
          </a:bodyPr>
          <a:lstStyle/>
          <a:p>
            <a:pPr algn="l"/>
            <a:r>
              <a:rPr sz="750" b="0" i="0">
                <a:solidFill>
                  <a:srgbClr val="5D6D7E"/>
                </a:solidFill>
                <a:latin typeface="Calibri"/>
              </a:rPr>
              <a:t>Team On-boarding</a:t>
            </a:r>
          </a:p>
        </p:txBody>
      </p:sp>
      <p:sp>
        <p:nvSpPr>
          <p:cNvPr id="162" name="Rectangle 161"/>
          <p:cNvSpPr/>
          <p:nvPr/>
        </p:nvSpPr>
        <p:spPr>
          <a:xfrm>
            <a:off x="6839712" y="4791456"/>
            <a:ext cx="2286000" cy="10972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Rectangle 162"/>
          <p:cNvSpPr/>
          <p:nvPr/>
        </p:nvSpPr>
        <p:spPr>
          <a:xfrm>
            <a:off x="6839712" y="4791456"/>
            <a:ext cx="2540000" cy="109728"/>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9189720" y="4782312"/>
            <a:ext cx="914400" cy="146304"/>
          </a:xfrm>
          <a:prstGeom prst="rect">
            <a:avLst/>
          </a:prstGeom>
          <a:noFill/>
        </p:spPr>
        <p:txBody>
          <a:bodyPr wrap="square">
            <a:spAutoFit/>
          </a:bodyPr>
          <a:lstStyle/>
          <a:p>
            <a:pPr algn="l"/>
            <a:r>
              <a:rPr sz="650" b="0" i="0">
                <a:solidFill>
                  <a:srgbClr val="5D6D7E"/>
                </a:solidFill>
                <a:latin typeface="Calibri"/>
              </a:rPr>
              <a:t>Score: 10/9</a:t>
            </a:r>
          </a:p>
        </p:txBody>
      </p:sp>
      <p:sp>
        <p:nvSpPr>
          <p:cNvPr id="165" name="Rounded Rectangle 164"/>
          <p:cNvSpPr/>
          <p:nvPr/>
        </p:nvSpPr>
        <p:spPr>
          <a:xfrm>
            <a:off x="10168128" y="4315968"/>
            <a:ext cx="530352" cy="237744"/>
          </a:xfrm>
          <a:prstGeom prst="roundRect">
            <a:avLst>
              <a:gd name="adj" fmla="val 12000"/>
            </a:avLst>
          </a:prstGeom>
          <a:solidFill>
            <a:srgbClr val="A92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10168128" y="4334256"/>
            <a:ext cx="530352" cy="201168"/>
          </a:xfrm>
          <a:prstGeom prst="rect">
            <a:avLst/>
          </a:prstGeom>
          <a:noFill/>
        </p:spPr>
        <p:txBody>
          <a:bodyPr wrap="square">
            <a:spAutoFit/>
          </a:bodyPr>
          <a:lstStyle/>
          <a:p>
            <a:pPr algn="ctr"/>
            <a:r>
              <a:rPr sz="700" b="1" i="0">
                <a:solidFill>
                  <a:srgbClr val="FFFFFF"/>
                </a:solidFill>
                <a:latin typeface="Calibri"/>
              </a:rPr>
              <a:t>H</a:t>
            </a:r>
          </a:p>
        </p:txBody>
      </p:sp>
      <p:sp>
        <p:nvSpPr>
          <p:cNvPr id="167" name="TextBox 166"/>
          <p:cNvSpPr txBox="1"/>
          <p:nvPr/>
        </p:nvSpPr>
        <p:spPr>
          <a:xfrm>
            <a:off x="10168128" y="4553712"/>
            <a:ext cx="530352" cy="164592"/>
          </a:xfrm>
          <a:prstGeom prst="rect">
            <a:avLst/>
          </a:prstGeom>
          <a:noFill/>
        </p:spPr>
        <p:txBody>
          <a:bodyPr wrap="square">
            <a:spAutoFit/>
          </a:bodyPr>
          <a:lstStyle/>
          <a:p>
            <a:pPr algn="ctr"/>
            <a:r>
              <a:rPr sz="550" b="0" i="0">
                <a:solidFill>
                  <a:srgbClr val="5D6D7E"/>
                </a:solidFill>
                <a:latin typeface="Calibri"/>
              </a:rPr>
              <a:t>Effort</a:t>
            </a:r>
          </a:p>
        </p:txBody>
      </p:sp>
      <p:sp>
        <p:nvSpPr>
          <p:cNvPr id="168" name="Rounded Rectangle 167"/>
          <p:cNvSpPr/>
          <p:nvPr/>
        </p:nvSpPr>
        <p:spPr>
          <a:xfrm>
            <a:off x="10735055" y="4315968"/>
            <a:ext cx="530352" cy="237744"/>
          </a:xfrm>
          <a:prstGeom prst="roundRect">
            <a:avLst>
              <a:gd name="adj" fmla="val 12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TextBox 168"/>
          <p:cNvSpPr txBox="1"/>
          <p:nvPr/>
        </p:nvSpPr>
        <p:spPr>
          <a:xfrm>
            <a:off x="10735055" y="4334256"/>
            <a:ext cx="530352" cy="201168"/>
          </a:xfrm>
          <a:prstGeom prst="rect">
            <a:avLst/>
          </a:prstGeom>
          <a:noFill/>
        </p:spPr>
        <p:txBody>
          <a:bodyPr wrap="square">
            <a:spAutoFit/>
          </a:bodyPr>
          <a:lstStyle/>
          <a:p>
            <a:pPr algn="ctr"/>
            <a:r>
              <a:rPr sz="700" b="1" i="0">
                <a:solidFill>
                  <a:srgbClr val="FFFFFF"/>
                </a:solidFill>
                <a:latin typeface="Calibri"/>
              </a:rPr>
              <a:t>H</a:t>
            </a:r>
          </a:p>
        </p:txBody>
      </p:sp>
      <p:sp>
        <p:nvSpPr>
          <p:cNvPr id="170" name="TextBox 169"/>
          <p:cNvSpPr txBox="1"/>
          <p:nvPr/>
        </p:nvSpPr>
        <p:spPr>
          <a:xfrm>
            <a:off x="10735055" y="4553712"/>
            <a:ext cx="530352" cy="164592"/>
          </a:xfrm>
          <a:prstGeom prst="rect">
            <a:avLst/>
          </a:prstGeom>
          <a:noFill/>
        </p:spPr>
        <p:txBody>
          <a:bodyPr wrap="square">
            <a:spAutoFit/>
          </a:bodyPr>
          <a:lstStyle/>
          <a:p>
            <a:pPr algn="ctr"/>
            <a:r>
              <a:rPr sz="550" b="0" i="0">
                <a:solidFill>
                  <a:srgbClr val="5D6D7E"/>
                </a:solidFill>
                <a:latin typeface="Calibri"/>
              </a:rPr>
              <a:t>Impact</a:t>
            </a:r>
          </a:p>
        </p:txBody>
      </p:sp>
      <p:sp>
        <p:nvSpPr>
          <p:cNvPr id="171" name="Rounded Rectangle 170"/>
          <p:cNvSpPr/>
          <p:nvPr/>
        </p:nvSpPr>
        <p:spPr>
          <a:xfrm>
            <a:off x="11301984" y="4315968"/>
            <a:ext cx="530352" cy="237744"/>
          </a:xfrm>
          <a:prstGeom prst="roundRect">
            <a:avLst>
              <a:gd name="adj" fmla="val 12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11301984" y="4334256"/>
            <a:ext cx="530352" cy="201168"/>
          </a:xfrm>
          <a:prstGeom prst="rect">
            <a:avLst/>
          </a:prstGeom>
          <a:noFill/>
        </p:spPr>
        <p:txBody>
          <a:bodyPr wrap="square">
            <a:spAutoFit/>
          </a:bodyPr>
          <a:lstStyle/>
          <a:p>
            <a:pPr algn="ctr"/>
            <a:r>
              <a:rPr sz="700" b="1" i="0">
                <a:solidFill>
                  <a:srgbClr val="FFFFFF"/>
                </a:solidFill>
                <a:latin typeface="Calibri"/>
              </a:rPr>
              <a:t>L</a:t>
            </a:r>
          </a:p>
        </p:txBody>
      </p:sp>
      <p:sp>
        <p:nvSpPr>
          <p:cNvPr id="173" name="TextBox 172"/>
          <p:cNvSpPr txBox="1"/>
          <p:nvPr/>
        </p:nvSpPr>
        <p:spPr>
          <a:xfrm>
            <a:off x="11301984" y="4553712"/>
            <a:ext cx="530352" cy="164592"/>
          </a:xfrm>
          <a:prstGeom prst="rect">
            <a:avLst/>
          </a:prstGeom>
          <a:noFill/>
        </p:spPr>
        <p:txBody>
          <a:bodyPr wrap="square">
            <a:spAutoFit/>
          </a:bodyPr>
          <a:lstStyle/>
          <a:p>
            <a:pPr algn="ctr"/>
            <a:r>
              <a:rPr sz="550" b="0" i="0">
                <a:solidFill>
                  <a:srgbClr val="5D6D7E"/>
                </a:solidFill>
                <a:latin typeface="Calibri"/>
              </a:rPr>
              <a:t>HITL</a:t>
            </a:r>
          </a:p>
        </p:txBody>
      </p:sp>
      <p:sp>
        <p:nvSpPr>
          <p:cNvPr id="174" name="Rounded Rectangle 173"/>
          <p:cNvSpPr/>
          <p:nvPr/>
        </p:nvSpPr>
        <p:spPr>
          <a:xfrm>
            <a:off x="6309360" y="5175504"/>
            <a:ext cx="5669280" cy="877824"/>
          </a:xfrm>
          <a:prstGeom prst="roundRect">
            <a:avLst>
              <a:gd name="adj" fmla="val 6000"/>
            </a:avLst>
          </a:prstGeom>
          <a:solidFill>
            <a:srgbClr val="F4F6F9"/>
          </a:solidFill>
          <a:ln w="19050">
            <a:solidFill>
              <a:srgbClr val="007A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Rectangle 174"/>
          <p:cNvSpPr/>
          <p:nvPr/>
        </p:nvSpPr>
        <p:spPr>
          <a:xfrm>
            <a:off x="6309360" y="5175504"/>
            <a:ext cx="5669280" cy="54864"/>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Rounded Rectangle 175"/>
          <p:cNvSpPr/>
          <p:nvPr/>
        </p:nvSpPr>
        <p:spPr>
          <a:xfrm>
            <a:off x="6364224" y="5266944"/>
            <a:ext cx="411480" cy="411480"/>
          </a:xfrm>
          <a:prstGeom prst="roundRect">
            <a:avLst>
              <a:gd name="adj" fmla="val 50000"/>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TextBox 176"/>
          <p:cNvSpPr txBox="1"/>
          <p:nvPr/>
        </p:nvSpPr>
        <p:spPr>
          <a:xfrm>
            <a:off x="6364224" y="5340096"/>
            <a:ext cx="411480" cy="256032"/>
          </a:xfrm>
          <a:prstGeom prst="rect">
            <a:avLst/>
          </a:prstGeom>
          <a:noFill/>
        </p:spPr>
        <p:txBody>
          <a:bodyPr wrap="square">
            <a:spAutoFit/>
          </a:bodyPr>
          <a:lstStyle/>
          <a:p>
            <a:pPr algn="ctr"/>
            <a:r>
              <a:rPr sz="1000" b="1" i="0">
                <a:solidFill>
                  <a:srgbClr val="FFFFFF"/>
                </a:solidFill>
                <a:latin typeface="Cambria"/>
              </a:rPr>
              <a:t>#10</a:t>
            </a:r>
          </a:p>
        </p:txBody>
      </p:sp>
      <p:sp>
        <p:nvSpPr>
          <p:cNvPr id="178" name="TextBox 177"/>
          <p:cNvSpPr txBox="1"/>
          <p:nvPr/>
        </p:nvSpPr>
        <p:spPr>
          <a:xfrm>
            <a:off x="6839712" y="5266944"/>
            <a:ext cx="4114800" cy="292608"/>
          </a:xfrm>
          <a:prstGeom prst="rect">
            <a:avLst/>
          </a:prstGeom>
          <a:noFill/>
        </p:spPr>
        <p:txBody>
          <a:bodyPr wrap="square">
            <a:spAutoFit/>
          </a:bodyPr>
          <a:lstStyle/>
          <a:p>
            <a:pPr algn="l"/>
            <a:r>
              <a:rPr sz="1100" b="1" i="0">
                <a:solidFill>
                  <a:srgbClr val="0D1B3E"/>
                </a:solidFill>
                <a:latin typeface="Calibri"/>
              </a:rPr>
              <a:t>Release</a:t>
            </a:r>
          </a:p>
        </p:txBody>
      </p:sp>
      <p:sp>
        <p:nvSpPr>
          <p:cNvPr id="179" name="TextBox 178"/>
          <p:cNvSpPr txBox="1"/>
          <p:nvPr/>
        </p:nvSpPr>
        <p:spPr>
          <a:xfrm>
            <a:off x="6839712" y="5522976"/>
            <a:ext cx="4114800" cy="182880"/>
          </a:xfrm>
          <a:prstGeom prst="rect">
            <a:avLst/>
          </a:prstGeom>
          <a:noFill/>
        </p:spPr>
        <p:txBody>
          <a:bodyPr wrap="square">
            <a:spAutoFit/>
          </a:bodyPr>
          <a:lstStyle/>
          <a:p>
            <a:pPr algn="l"/>
            <a:r>
              <a:rPr sz="750" b="0" i="0">
                <a:solidFill>
                  <a:srgbClr val="5D6D7E"/>
                </a:solidFill>
                <a:latin typeface="Calibri"/>
              </a:rPr>
              <a:t>Release &amp; Transition</a:t>
            </a:r>
          </a:p>
        </p:txBody>
      </p:sp>
      <p:sp>
        <p:nvSpPr>
          <p:cNvPr id="180" name="Rectangle 179"/>
          <p:cNvSpPr/>
          <p:nvPr/>
        </p:nvSpPr>
        <p:spPr>
          <a:xfrm>
            <a:off x="6839712" y="5742432"/>
            <a:ext cx="2286000" cy="109728"/>
          </a:xfrm>
          <a:prstGeom prst="rect">
            <a:avLst/>
          </a:prstGeom>
          <a:solidFill>
            <a:srgbClr val="CE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Rectangle 180"/>
          <p:cNvSpPr/>
          <p:nvPr/>
        </p:nvSpPr>
        <p:spPr>
          <a:xfrm>
            <a:off x="6839712" y="5742432"/>
            <a:ext cx="2540000" cy="109728"/>
          </a:xfrm>
          <a:prstGeom prst="rect">
            <a:avLst/>
          </a:prstGeom>
          <a:solidFill>
            <a:srgbClr val="007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9189720" y="5733288"/>
            <a:ext cx="914400" cy="146304"/>
          </a:xfrm>
          <a:prstGeom prst="rect">
            <a:avLst/>
          </a:prstGeom>
          <a:noFill/>
        </p:spPr>
        <p:txBody>
          <a:bodyPr wrap="square">
            <a:spAutoFit/>
          </a:bodyPr>
          <a:lstStyle/>
          <a:p>
            <a:pPr algn="l"/>
            <a:r>
              <a:rPr sz="650" b="0" i="0">
                <a:solidFill>
                  <a:srgbClr val="5D6D7E"/>
                </a:solidFill>
                <a:latin typeface="Calibri"/>
              </a:rPr>
              <a:t>Score: 10/9</a:t>
            </a:r>
          </a:p>
        </p:txBody>
      </p:sp>
      <p:sp>
        <p:nvSpPr>
          <p:cNvPr id="183" name="Rounded Rectangle 182"/>
          <p:cNvSpPr/>
          <p:nvPr/>
        </p:nvSpPr>
        <p:spPr>
          <a:xfrm>
            <a:off x="10168128" y="5266944"/>
            <a:ext cx="530352" cy="237744"/>
          </a:xfrm>
          <a:prstGeom prst="roundRect">
            <a:avLst>
              <a:gd name="adj" fmla="val 12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p:cNvSpPr txBox="1"/>
          <p:nvPr/>
        </p:nvSpPr>
        <p:spPr>
          <a:xfrm>
            <a:off x="10168128" y="5285232"/>
            <a:ext cx="530352" cy="201168"/>
          </a:xfrm>
          <a:prstGeom prst="rect">
            <a:avLst/>
          </a:prstGeom>
          <a:noFill/>
        </p:spPr>
        <p:txBody>
          <a:bodyPr wrap="square">
            <a:spAutoFit/>
          </a:bodyPr>
          <a:lstStyle/>
          <a:p>
            <a:pPr algn="ctr"/>
            <a:r>
              <a:rPr sz="700" b="1" i="0">
                <a:solidFill>
                  <a:srgbClr val="FFFFFF"/>
                </a:solidFill>
                <a:latin typeface="Calibri"/>
              </a:rPr>
              <a:t>M</a:t>
            </a:r>
          </a:p>
        </p:txBody>
      </p:sp>
      <p:sp>
        <p:nvSpPr>
          <p:cNvPr id="185" name="TextBox 184"/>
          <p:cNvSpPr txBox="1"/>
          <p:nvPr/>
        </p:nvSpPr>
        <p:spPr>
          <a:xfrm>
            <a:off x="10168128" y="5504688"/>
            <a:ext cx="530352" cy="164592"/>
          </a:xfrm>
          <a:prstGeom prst="rect">
            <a:avLst/>
          </a:prstGeom>
          <a:noFill/>
        </p:spPr>
        <p:txBody>
          <a:bodyPr wrap="square">
            <a:spAutoFit/>
          </a:bodyPr>
          <a:lstStyle/>
          <a:p>
            <a:pPr algn="ctr"/>
            <a:r>
              <a:rPr sz="550" b="0" i="0">
                <a:solidFill>
                  <a:srgbClr val="5D6D7E"/>
                </a:solidFill>
                <a:latin typeface="Calibri"/>
              </a:rPr>
              <a:t>Effort</a:t>
            </a:r>
          </a:p>
        </p:txBody>
      </p:sp>
      <p:sp>
        <p:nvSpPr>
          <p:cNvPr id="186" name="Rounded Rectangle 185"/>
          <p:cNvSpPr/>
          <p:nvPr/>
        </p:nvSpPr>
        <p:spPr>
          <a:xfrm>
            <a:off x="10735055" y="5266944"/>
            <a:ext cx="530352" cy="237744"/>
          </a:xfrm>
          <a:prstGeom prst="roundRect">
            <a:avLst>
              <a:gd name="adj" fmla="val 12000"/>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p:cNvSpPr txBox="1"/>
          <p:nvPr/>
        </p:nvSpPr>
        <p:spPr>
          <a:xfrm>
            <a:off x="10735055" y="5285232"/>
            <a:ext cx="530352" cy="201168"/>
          </a:xfrm>
          <a:prstGeom prst="rect">
            <a:avLst/>
          </a:prstGeom>
          <a:noFill/>
        </p:spPr>
        <p:txBody>
          <a:bodyPr wrap="square">
            <a:spAutoFit/>
          </a:bodyPr>
          <a:lstStyle/>
          <a:p>
            <a:pPr algn="ctr"/>
            <a:r>
              <a:rPr sz="700" b="1" i="0">
                <a:solidFill>
                  <a:srgbClr val="FFFFFF"/>
                </a:solidFill>
                <a:latin typeface="Calibri"/>
              </a:rPr>
              <a:t>H</a:t>
            </a:r>
          </a:p>
        </p:txBody>
      </p:sp>
      <p:sp>
        <p:nvSpPr>
          <p:cNvPr id="188" name="TextBox 187"/>
          <p:cNvSpPr txBox="1"/>
          <p:nvPr/>
        </p:nvSpPr>
        <p:spPr>
          <a:xfrm>
            <a:off x="10735055" y="5504688"/>
            <a:ext cx="530352" cy="164592"/>
          </a:xfrm>
          <a:prstGeom prst="rect">
            <a:avLst/>
          </a:prstGeom>
          <a:noFill/>
        </p:spPr>
        <p:txBody>
          <a:bodyPr wrap="square">
            <a:spAutoFit/>
          </a:bodyPr>
          <a:lstStyle/>
          <a:p>
            <a:pPr algn="ctr"/>
            <a:r>
              <a:rPr sz="550" b="0" i="0">
                <a:solidFill>
                  <a:srgbClr val="5D6D7E"/>
                </a:solidFill>
                <a:latin typeface="Calibri"/>
              </a:rPr>
              <a:t>Impact</a:t>
            </a:r>
          </a:p>
        </p:txBody>
      </p:sp>
      <p:sp>
        <p:nvSpPr>
          <p:cNvPr id="189" name="Rounded Rectangle 188"/>
          <p:cNvSpPr/>
          <p:nvPr/>
        </p:nvSpPr>
        <p:spPr>
          <a:xfrm>
            <a:off x="11301984" y="5266944"/>
            <a:ext cx="530352" cy="237744"/>
          </a:xfrm>
          <a:prstGeom prst="roundRect">
            <a:avLst>
              <a:gd name="adj" fmla="val 12000"/>
            </a:avLst>
          </a:prstGeom>
          <a:solidFill>
            <a:srgbClr val="D4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11301984" y="5285232"/>
            <a:ext cx="530352" cy="201168"/>
          </a:xfrm>
          <a:prstGeom prst="rect">
            <a:avLst/>
          </a:prstGeom>
          <a:noFill/>
        </p:spPr>
        <p:txBody>
          <a:bodyPr wrap="square">
            <a:spAutoFit/>
          </a:bodyPr>
          <a:lstStyle/>
          <a:p>
            <a:pPr algn="ctr"/>
            <a:r>
              <a:rPr sz="700" b="1" i="0">
                <a:solidFill>
                  <a:srgbClr val="FFFFFF"/>
                </a:solidFill>
                <a:latin typeface="Calibri"/>
              </a:rPr>
              <a:t>M</a:t>
            </a:r>
          </a:p>
        </p:txBody>
      </p:sp>
      <p:sp>
        <p:nvSpPr>
          <p:cNvPr id="191" name="TextBox 190"/>
          <p:cNvSpPr txBox="1"/>
          <p:nvPr/>
        </p:nvSpPr>
        <p:spPr>
          <a:xfrm>
            <a:off x="11301984" y="5504688"/>
            <a:ext cx="530352" cy="164592"/>
          </a:xfrm>
          <a:prstGeom prst="rect">
            <a:avLst/>
          </a:prstGeom>
          <a:noFill/>
        </p:spPr>
        <p:txBody>
          <a:bodyPr wrap="square">
            <a:spAutoFit/>
          </a:bodyPr>
          <a:lstStyle/>
          <a:p>
            <a:pPr algn="ctr"/>
            <a:r>
              <a:rPr sz="550" b="0" i="0">
                <a:solidFill>
                  <a:srgbClr val="5D6D7E"/>
                </a:solidFill>
                <a:latin typeface="Calibri"/>
              </a:rPr>
              <a:t>HITL</a:t>
            </a:r>
          </a:p>
        </p:txBody>
      </p:sp>
      <p:sp>
        <p:nvSpPr>
          <p:cNvPr id="192" name="Rectangle 191"/>
          <p:cNvSpPr/>
          <p:nvPr/>
        </p:nvSpPr>
        <p:spPr>
          <a:xfrm>
            <a:off x="155448" y="6199632"/>
            <a:ext cx="11887200" cy="411480"/>
          </a:xfrm>
          <a:prstGeom prst="rect">
            <a:avLst/>
          </a:prstGeom>
          <a:solidFill>
            <a:srgbClr val="EC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TextBox 192"/>
          <p:cNvSpPr txBox="1"/>
          <p:nvPr/>
        </p:nvSpPr>
        <p:spPr>
          <a:xfrm>
            <a:off x="274320" y="6236208"/>
            <a:ext cx="11704320" cy="347472"/>
          </a:xfrm>
          <a:prstGeom prst="rect">
            <a:avLst/>
          </a:prstGeom>
          <a:noFill/>
        </p:spPr>
        <p:txBody>
          <a:bodyPr wrap="square">
            <a:spAutoFit/>
          </a:bodyPr>
          <a:lstStyle/>
          <a:p>
            <a:pPr algn="ctr"/>
            <a:r>
              <a:rPr sz="800" b="0" i="0">
                <a:solidFill>
                  <a:srgbClr val="5D6D7E"/>
                </a:solidFill>
                <a:latin typeface="Calibri"/>
              </a:rPr>
              <a:t>📊  Scoring Methodology: Impact (×2) + Inverse Effort + Inverse HITL  ·  Max Score = 9  ·  All agents ranked from 24-agent assessed portfolio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1A2F5A"/>
          </a:solidFill>
          <a:ln w="12700">
            <a:solidFill>
              <a:srgbClr val="1A2F5A"/>
            </a:solidFill>
            <a:prstDash val="solid"/>
          </a:ln>
        </p:spPr>
        <p:txBody>
          <a:bodyPr/>
          <a:lstStyle/>
          <a:p>
            <a:endParaRPr lang="en-US"/>
          </a:p>
        </p:txBody>
      </p:sp>
      <p:sp>
        <p:nvSpPr>
          <p:cNvPr id="3" name="Text 1"/>
          <p:cNvSpPr/>
          <p:nvPr/>
        </p:nvSpPr>
        <p:spPr>
          <a:xfrm>
            <a:off x="457200" y="73152"/>
            <a:ext cx="8229600" cy="347472"/>
          </a:xfrm>
          <a:prstGeom prst="rect">
            <a:avLst/>
          </a:prstGeom>
          <a:noFill/>
          <a:ln/>
        </p:spPr>
        <p:txBody>
          <a:bodyPr wrap="square" lIns="0" tIns="0" rIns="0" bIns="0" rtlCol="0" anchor="ctr"/>
          <a:lstStyle/>
          <a:p>
            <a:pPr marL="0" indent="0">
              <a:buNone/>
            </a:pPr>
            <a:r>
              <a:rPr lang="en-US" sz="1000" b="1" kern="0" spc="200" dirty="0">
                <a:solidFill>
                  <a:srgbClr val="00D4FF"/>
                </a:solidFill>
              </a:rPr>
              <a:t>RISKS &amp; GOVERNANCE</a:t>
            </a:r>
            <a:endParaRPr lang="en-US" sz="1000" dirty="0"/>
          </a:p>
        </p:txBody>
      </p:sp>
      <p:sp>
        <p:nvSpPr>
          <p:cNvPr id="4" name="Text 2"/>
          <p:cNvSpPr/>
          <p:nvPr/>
        </p:nvSpPr>
        <p:spPr>
          <a:xfrm>
            <a:off x="457200" y="402336"/>
            <a:ext cx="914400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Enterprise AI Governance Framework</a:t>
            </a:r>
            <a:endParaRPr lang="en-US" sz="1800" dirty="0"/>
          </a:p>
        </p:txBody>
      </p:sp>
      <p:sp>
        <p:nvSpPr>
          <p:cNvPr id="5" name="Shape 3"/>
          <p:cNvSpPr/>
          <p:nvPr/>
        </p:nvSpPr>
        <p:spPr>
          <a:xfrm>
            <a:off x="274320" y="960120"/>
            <a:ext cx="3291840" cy="411480"/>
          </a:xfrm>
          <a:prstGeom prst="rect">
            <a:avLst/>
          </a:prstGeom>
          <a:solidFill>
            <a:srgbClr val="1A2F5A"/>
          </a:solidFill>
          <a:ln w="12700">
            <a:solidFill>
              <a:srgbClr val="1A2F5A"/>
            </a:solidFill>
            <a:prstDash val="solid"/>
          </a:ln>
        </p:spPr>
        <p:txBody>
          <a:bodyPr/>
          <a:lstStyle/>
          <a:p>
            <a:endParaRPr lang="en-US"/>
          </a:p>
        </p:txBody>
      </p:sp>
      <p:sp>
        <p:nvSpPr>
          <p:cNvPr id="6" name="Text 4"/>
          <p:cNvSpPr/>
          <p:nvPr/>
        </p:nvSpPr>
        <p:spPr>
          <a:xfrm>
            <a:off x="274320" y="960120"/>
            <a:ext cx="3291840" cy="411480"/>
          </a:xfrm>
          <a:prstGeom prst="rect">
            <a:avLst/>
          </a:prstGeom>
          <a:noFill/>
          <a:ln/>
        </p:spPr>
        <p:txBody>
          <a:bodyPr wrap="square" lIns="0" tIns="0" rIns="0" bIns="0" rtlCol="0" anchor="ctr"/>
          <a:lstStyle/>
          <a:p>
            <a:pPr marL="0" indent="0" algn="ctr">
              <a:buNone/>
            </a:pPr>
            <a:r>
              <a:rPr lang="en-US" sz="950" b="1" dirty="0">
                <a:solidFill>
                  <a:srgbClr val="00D4FF"/>
                </a:solidFill>
              </a:rPr>
              <a:t>Risk</a:t>
            </a:r>
            <a:endParaRPr lang="en-US" sz="950" dirty="0"/>
          </a:p>
        </p:txBody>
      </p:sp>
      <p:sp>
        <p:nvSpPr>
          <p:cNvPr id="7" name="Shape 5"/>
          <p:cNvSpPr/>
          <p:nvPr/>
        </p:nvSpPr>
        <p:spPr>
          <a:xfrm>
            <a:off x="3657600" y="960120"/>
            <a:ext cx="1371600" cy="411480"/>
          </a:xfrm>
          <a:prstGeom prst="rect">
            <a:avLst/>
          </a:prstGeom>
          <a:solidFill>
            <a:srgbClr val="1A2F5A"/>
          </a:solidFill>
          <a:ln w="12700">
            <a:solidFill>
              <a:srgbClr val="1A2F5A"/>
            </a:solidFill>
            <a:prstDash val="solid"/>
          </a:ln>
        </p:spPr>
        <p:txBody>
          <a:bodyPr/>
          <a:lstStyle/>
          <a:p>
            <a:endParaRPr lang="en-US"/>
          </a:p>
        </p:txBody>
      </p:sp>
      <p:sp>
        <p:nvSpPr>
          <p:cNvPr id="8" name="Text 6"/>
          <p:cNvSpPr/>
          <p:nvPr/>
        </p:nvSpPr>
        <p:spPr>
          <a:xfrm>
            <a:off x="3657600" y="960120"/>
            <a:ext cx="1371600" cy="411480"/>
          </a:xfrm>
          <a:prstGeom prst="rect">
            <a:avLst/>
          </a:prstGeom>
          <a:noFill/>
          <a:ln/>
        </p:spPr>
        <p:txBody>
          <a:bodyPr wrap="square" lIns="0" tIns="0" rIns="0" bIns="0" rtlCol="0" anchor="ctr"/>
          <a:lstStyle/>
          <a:p>
            <a:pPr marL="0" indent="0" algn="ctr">
              <a:buNone/>
            </a:pPr>
            <a:r>
              <a:rPr lang="en-US" sz="950" b="1" dirty="0">
                <a:solidFill>
                  <a:srgbClr val="00D4FF"/>
                </a:solidFill>
              </a:rPr>
              <a:t>Impact</a:t>
            </a:r>
            <a:endParaRPr lang="en-US" sz="950" dirty="0"/>
          </a:p>
        </p:txBody>
      </p:sp>
      <p:sp>
        <p:nvSpPr>
          <p:cNvPr id="9" name="Shape 7"/>
          <p:cNvSpPr/>
          <p:nvPr/>
        </p:nvSpPr>
        <p:spPr>
          <a:xfrm>
            <a:off x="5120640" y="960120"/>
            <a:ext cx="1371600" cy="411480"/>
          </a:xfrm>
          <a:prstGeom prst="rect">
            <a:avLst/>
          </a:prstGeom>
          <a:solidFill>
            <a:srgbClr val="1A2F5A"/>
          </a:solidFill>
          <a:ln w="12700">
            <a:solidFill>
              <a:srgbClr val="1A2F5A"/>
            </a:solidFill>
            <a:prstDash val="solid"/>
          </a:ln>
        </p:spPr>
        <p:txBody>
          <a:bodyPr/>
          <a:lstStyle/>
          <a:p>
            <a:endParaRPr lang="en-US"/>
          </a:p>
        </p:txBody>
      </p:sp>
      <p:sp>
        <p:nvSpPr>
          <p:cNvPr id="10" name="Text 8"/>
          <p:cNvSpPr/>
          <p:nvPr/>
        </p:nvSpPr>
        <p:spPr>
          <a:xfrm>
            <a:off x="5120640" y="960120"/>
            <a:ext cx="1371600" cy="411480"/>
          </a:xfrm>
          <a:prstGeom prst="rect">
            <a:avLst/>
          </a:prstGeom>
          <a:noFill/>
          <a:ln/>
        </p:spPr>
        <p:txBody>
          <a:bodyPr wrap="square" lIns="0" tIns="0" rIns="0" bIns="0" rtlCol="0" anchor="ctr"/>
          <a:lstStyle/>
          <a:p>
            <a:pPr marL="0" indent="0" algn="ctr">
              <a:buNone/>
            </a:pPr>
            <a:r>
              <a:rPr lang="en-US" sz="950" b="1" dirty="0">
                <a:solidFill>
                  <a:srgbClr val="00D4FF"/>
                </a:solidFill>
              </a:rPr>
              <a:t>Likelihood</a:t>
            </a:r>
            <a:endParaRPr lang="en-US" sz="950" dirty="0"/>
          </a:p>
        </p:txBody>
      </p:sp>
      <p:sp>
        <p:nvSpPr>
          <p:cNvPr id="11" name="Shape 9"/>
          <p:cNvSpPr/>
          <p:nvPr/>
        </p:nvSpPr>
        <p:spPr>
          <a:xfrm>
            <a:off x="6583680" y="960120"/>
            <a:ext cx="5166360" cy="411480"/>
          </a:xfrm>
          <a:prstGeom prst="rect">
            <a:avLst/>
          </a:prstGeom>
          <a:solidFill>
            <a:srgbClr val="1A2F5A"/>
          </a:solidFill>
          <a:ln w="12700">
            <a:solidFill>
              <a:srgbClr val="1A2F5A"/>
            </a:solidFill>
            <a:prstDash val="solid"/>
          </a:ln>
        </p:spPr>
        <p:txBody>
          <a:bodyPr/>
          <a:lstStyle/>
          <a:p>
            <a:endParaRPr lang="en-US"/>
          </a:p>
        </p:txBody>
      </p:sp>
      <p:sp>
        <p:nvSpPr>
          <p:cNvPr id="12" name="Text 10"/>
          <p:cNvSpPr/>
          <p:nvPr/>
        </p:nvSpPr>
        <p:spPr>
          <a:xfrm>
            <a:off x="6583680" y="960120"/>
            <a:ext cx="5166360" cy="411480"/>
          </a:xfrm>
          <a:prstGeom prst="rect">
            <a:avLst/>
          </a:prstGeom>
          <a:noFill/>
          <a:ln/>
        </p:spPr>
        <p:txBody>
          <a:bodyPr wrap="square" lIns="0" tIns="0" rIns="0" bIns="0" rtlCol="0" anchor="ctr"/>
          <a:lstStyle/>
          <a:p>
            <a:pPr marL="0" indent="0" algn="ctr">
              <a:buNone/>
            </a:pPr>
            <a:r>
              <a:rPr lang="en-US" sz="950" b="1" dirty="0">
                <a:solidFill>
                  <a:srgbClr val="00D4FF"/>
                </a:solidFill>
              </a:rPr>
              <a:t>Mitigation Controls</a:t>
            </a:r>
            <a:endParaRPr lang="en-US" sz="950" dirty="0"/>
          </a:p>
        </p:txBody>
      </p:sp>
      <p:sp>
        <p:nvSpPr>
          <p:cNvPr id="13" name="Shape 11"/>
          <p:cNvSpPr/>
          <p:nvPr/>
        </p:nvSpPr>
        <p:spPr>
          <a:xfrm>
            <a:off x="274320" y="1417320"/>
            <a:ext cx="3291840" cy="868680"/>
          </a:xfrm>
          <a:prstGeom prst="roundRect">
            <a:avLst>
              <a:gd name="adj" fmla="val 6316"/>
            </a:avLst>
          </a:prstGeom>
          <a:solidFill>
            <a:srgbClr val="243752"/>
          </a:solidFill>
          <a:ln w="12700">
            <a:solidFill>
              <a:srgbClr val="EF4444"/>
            </a:solidFill>
            <a:prstDash val="solid"/>
          </a:ln>
        </p:spPr>
        <p:txBody>
          <a:bodyPr/>
          <a:lstStyle/>
          <a:p>
            <a:endParaRPr lang="en-US"/>
          </a:p>
        </p:txBody>
      </p:sp>
      <p:sp>
        <p:nvSpPr>
          <p:cNvPr id="14" name="Text 12"/>
          <p:cNvSpPr/>
          <p:nvPr/>
        </p:nvSpPr>
        <p:spPr>
          <a:xfrm>
            <a:off x="365760" y="1417320"/>
            <a:ext cx="3154680" cy="868680"/>
          </a:xfrm>
          <a:prstGeom prst="rect">
            <a:avLst/>
          </a:prstGeom>
          <a:noFill/>
          <a:ln/>
        </p:spPr>
        <p:txBody>
          <a:bodyPr wrap="square" lIns="0" tIns="0" rIns="0" bIns="0" rtlCol="0" anchor="ctr"/>
          <a:lstStyle/>
          <a:p>
            <a:pPr marL="0" indent="0">
              <a:buNone/>
            </a:pPr>
            <a:r>
              <a:rPr lang="en-US" sz="1100" b="1" dirty="0">
                <a:solidFill>
                  <a:srgbClr val="FFFFFF"/>
                </a:solidFill>
              </a:rPr>
              <a:t>Hallucination Risk</a:t>
            </a:r>
            <a:endParaRPr lang="en-US" sz="1100" dirty="0"/>
          </a:p>
        </p:txBody>
      </p:sp>
      <p:sp>
        <p:nvSpPr>
          <p:cNvPr id="15" name="Shape 13"/>
          <p:cNvSpPr/>
          <p:nvPr/>
        </p:nvSpPr>
        <p:spPr>
          <a:xfrm>
            <a:off x="3840480" y="1600200"/>
            <a:ext cx="1005840" cy="502920"/>
          </a:xfrm>
          <a:prstGeom prst="roundRect">
            <a:avLst>
              <a:gd name="adj" fmla="val 9091"/>
            </a:avLst>
          </a:prstGeom>
          <a:solidFill>
            <a:srgbClr val="F59E0B">
              <a:alpha val="80000"/>
            </a:srgbClr>
          </a:solidFill>
          <a:ln w="12700">
            <a:solidFill>
              <a:srgbClr val="F59E0B"/>
            </a:solidFill>
            <a:prstDash val="solid"/>
          </a:ln>
        </p:spPr>
        <p:txBody>
          <a:bodyPr/>
          <a:lstStyle/>
          <a:p>
            <a:endParaRPr lang="en-US"/>
          </a:p>
        </p:txBody>
      </p:sp>
      <p:sp>
        <p:nvSpPr>
          <p:cNvPr id="16" name="Text 14"/>
          <p:cNvSpPr/>
          <p:nvPr/>
        </p:nvSpPr>
        <p:spPr>
          <a:xfrm>
            <a:off x="3840480" y="1600200"/>
            <a:ext cx="1005840" cy="502920"/>
          </a:xfrm>
          <a:prstGeom prst="rect">
            <a:avLst/>
          </a:prstGeom>
          <a:noFill/>
          <a:ln/>
        </p:spPr>
        <p:txBody>
          <a:bodyPr wrap="square" lIns="0" tIns="0" rIns="0" bIns="0" rtlCol="0" anchor="ctr"/>
          <a:lstStyle/>
          <a:p>
            <a:pPr marL="0" indent="0" algn="ctr">
              <a:buNone/>
            </a:pPr>
            <a:r>
              <a:rPr lang="en-US" sz="900" b="1" dirty="0">
                <a:solidFill>
                  <a:srgbClr val="FFFFFF"/>
                </a:solidFill>
              </a:rPr>
              <a:t>HIGH</a:t>
            </a:r>
            <a:endParaRPr lang="en-US" sz="900" dirty="0"/>
          </a:p>
        </p:txBody>
      </p:sp>
      <p:sp>
        <p:nvSpPr>
          <p:cNvPr id="17" name="Shape 15"/>
          <p:cNvSpPr/>
          <p:nvPr/>
        </p:nvSpPr>
        <p:spPr>
          <a:xfrm>
            <a:off x="5303520" y="1600200"/>
            <a:ext cx="1005840" cy="502920"/>
          </a:xfrm>
          <a:prstGeom prst="roundRect">
            <a:avLst>
              <a:gd name="adj" fmla="val 9091"/>
            </a:avLst>
          </a:prstGeom>
          <a:solidFill>
            <a:srgbClr val="8B5CF6">
              <a:alpha val="80000"/>
            </a:srgbClr>
          </a:solidFill>
          <a:ln w="12700">
            <a:solidFill>
              <a:srgbClr val="8B5CF6"/>
            </a:solidFill>
            <a:prstDash val="solid"/>
          </a:ln>
        </p:spPr>
        <p:txBody>
          <a:bodyPr/>
          <a:lstStyle/>
          <a:p>
            <a:endParaRPr lang="en-US"/>
          </a:p>
        </p:txBody>
      </p:sp>
      <p:sp>
        <p:nvSpPr>
          <p:cNvPr id="18" name="Text 16"/>
          <p:cNvSpPr/>
          <p:nvPr/>
        </p:nvSpPr>
        <p:spPr>
          <a:xfrm>
            <a:off x="5303520" y="1600200"/>
            <a:ext cx="1005840" cy="502920"/>
          </a:xfrm>
          <a:prstGeom prst="rect">
            <a:avLst/>
          </a:prstGeom>
          <a:noFill/>
          <a:ln/>
        </p:spPr>
        <p:txBody>
          <a:bodyPr wrap="square" lIns="0" tIns="0" rIns="0" bIns="0" rtlCol="0" anchor="ctr"/>
          <a:lstStyle/>
          <a:p>
            <a:pPr marL="0" indent="0" algn="ctr">
              <a:buNone/>
            </a:pPr>
            <a:r>
              <a:rPr lang="en-US" sz="900" b="1" dirty="0">
                <a:solidFill>
                  <a:srgbClr val="FFFFFF"/>
                </a:solidFill>
              </a:rPr>
              <a:t>MED</a:t>
            </a:r>
            <a:endParaRPr lang="en-US" sz="900" dirty="0"/>
          </a:p>
        </p:txBody>
      </p:sp>
      <p:sp>
        <p:nvSpPr>
          <p:cNvPr id="19" name="Shape 17"/>
          <p:cNvSpPr/>
          <p:nvPr/>
        </p:nvSpPr>
        <p:spPr>
          <a:xfrm>
            <a:off x="6583680" y="1417320"/>
            <a:ext cx="5166360" cy="868680"/>
          </a:xfrm>
          <a:prstGeom prst="roundRect">
            <a:avLst>
              <a:gd name="adj" fmla="val 6316"/>
            </a:avLst>
          </a:prstGeom>
          <a:solidFill>
            <a:srgbClr val="0D2340"/>
          </a:solidFill>
          <a:ln w="12700">
            <a:solidFill>
              <a:srgbClr val="243752"/>
            </a:solidFill>
            <a:prstDash val="solid"/>
          </a:ln>
        </p:spPr>
        <p:txBody>
          <a:bodyPr/>
          <a:lstStyle/>
          <a:p>
            <a:endParaRPr lang="en-US"/>
          </a:p>
        </p:txBody>
      </p:sp>
      <p:sp>
        <p:nvSpPr>
          <p:cNvPr id="20" name="Text 18"/>
          <p:cNvSpPr/>
          <p:nvPr/>
        </p:nvSpPr>
        <p:spPr>
          <a:xfrm>
            <a:off x="6675120" y="1417320"/>
            <a:ext cx="5029200" cy="868680"/>
          </a:xfrm>
          <a:prstGeom prst="rect">
            <a:avLst/>
          </a:prstGeom>
          <a:noFill/>
          <a:ln/>
        </p:spPr>
        <p:txBody>
          <a:bodyPr wrap="square" lIns="0" tIns="0" rIns="0" bIns="0" rtlCol="0" anchor="ctr"/>
          <a:lstStyle/>
          <a:p>
            <a:pPr marL="0" indent="0">
              <a:buNone/>
            </a:pPr>
            <a:r>
              <a:rPr lang="en-US" sz="850" dirty="0">
                <a:solidFill>
                  <a:srgbClr val="CBD5E1"/>
                </a:solidFill>
              </a:rPr>
              <a:t>RAG grounding on verified codebases · Human review gates · Confidence scoring with auto-escalation</a:t>
            </a:r>
            <a:endParaRPr lang="en-US" sz="850" dirty="0"/>
          </a:p>
        </p:txBody>
      </p:sp>
      <p:sp>
        <p:nvSpPr>
          <p:cNvPr id="21" name="Shape 19"/>
          <p:cNvSpPr/>
          <p:nvPr/>
        </p:nvSpPr>
        <p:spPr>
          <a:xfrm>
            <a:off x="274320" y="2377440"/>
            <a:ext cx="3291840" cy="868680"/>
          </a:xfrm>
          <a:prstGeom prst="roundRect">
            <a:avLst>
              <a:gd name="adj" fmla="val 6316"/>
            </a:avLst>
          </a:prstGeom>
          <a:solidFill>
            <a:srgbClr val="243752"/>
          </a:solidFill>
          <a:ln w="12700">
            <a:solidFill>
              <a:srgbClr val="EF4444"/>
            </a:solidFill>
            <a:prstDash val="solid"/>
          </a:ln>
        </p:spPr>
        <p:txBody>
          <a:bodyPr/>
          <a:lstStyle/>
          <a:p>
            <a:endParaRPr lang="en-US"/>
          </a:p>
        </p:txBody>
      </p:sp>
      <p:sp>
        <p:nvSpPr>
          <p:cNvPr id="22" name="Text 20"/>
          <p:cNvSpPr/>
          <p:nvPr/>
        </p:nvSpPr>
        <p:spPr>
          <a:xfrm>
            <a:off x="365760" y="2377440"/>
            <a:ext cx="3154680" cy="868680"/>
          </a:xfrm>
          <a:prstGeom prst="rect">
            <a:avLst/>
          </a:prstGeom>
          <a:noFill/>
          <a:ln/>
        </p:spPr>
        <p:txBody>
          <a:bodyPr wrap="square" lIns="0" tIns="0" rIns="0" bIns="0" rtlCol="0" anchor="ctr"/>
          <a:lstStyle/>
          <a:p>
            <a:pPr marL="0" indent="0">
              <a:buNone/>
            </a:pPr>
            <a:r>
              <a:rPr lang="en-US" sz="1100" b="1" dirty="0">
                <a:solidFill>
                  <a:srgbClr val="FFFFFF"/>
                </a:solidFill>
              </a:rPr>
              <a:t>Security &amp; Data Leakage</a:t>
            </a:r>
            <a:endParaRPr lang="en-US" sz="1100" dirty="0"/>
          </a:p>
        </p:txBody>
      </p:sp>
      <p:sp>
        <p:nvSpPr>
          <p:cNvPr id="23" name="Shape 21"/>
          <p:cNvSpPr/>
          <p:nvPr/>
        </p:nvSpPr>
        <p:spPr>
          <a:xfrm>
            <a:off x="3840480" y="2560320"/>
            <a:ext cx="1005840" cy="502920"/>
          </a:xfrm>
          <a:prstGeom prst="roundRect">
            <a:avLst>
              <a:gd name="adj" fmla="val 9091"/>
            </a:avLst>
          </a:prstGeom>
          <a:solidFill>
            <a:srgbClr val="EF4444">
              <a:alpha val="80000"/>
            </a:srgbClr>
          </a:solidFill>
          <a:ln w="12700">
            <a:solidFill>
              <a:srgbClr val="EF4444"/>
            </a:solidFill>
            <a:prstDash val="solid"/>
          </a:ln>
        </p:spPr>
        <p:txBody>
          <a:bodyPr/>
          <a:lstStyle/>
          <a:p>
            <a:endParaRPr lang="en-US"/>
          </a:p>
        </p:txBody>
      </p:sp>
      <p:sp>
        <p:nvSpPr>
          <p:cNvPr id="24" name="Text 22"/>
          <p:cNvSpPr/>
          <p:nvPr/>
        </p:nvSpPr>
        <p:spPr>
          <a:xfrm>
            <a:off x="3840480" y="2560320"/>
            <a:ext cx="1005840" cy="502920"/>
          </a:xfrm>
          <a:prstGeom prst="rect">
            <a:avLst/>
          </a:prstGeom>
          <a:noFill/>
          <a:ln/>
        </p:spPr>
        <p:txBody>
          <a:bodyPr wrap="square" lIns="0" tIns="0" rIns="0" bIns="0" rtlCol="0" anchor="ctr"/>
          <a:lstStyle/>
          <a:p>
            <a:pPr marL="0" indent="0" algn="ctr">
              <a:buNone/>
            </a:pPr>
            <a:r>
              <a:rPr lang="en-US" sz="900" b="1" dirty="0">
                <a:solidFill>
                  <a:srgbClr val="FFFFFF"/>
                </a:solidFill>
              </a:rPr>
              <a:t>CRITICAL</a:t>
            </a:r>
            <a:endParaRPr lang="en-US" sz="900" dirty="0"/>
          </a:p>
        </p:txBody>
      </p:sp>
      <p:sp>
        <p:nvSpPr>
          <p:cNvPr id="25" name="Shape 23"/>
          <p:cNvSpPr/>
          <p:nvPr/>
        </p:nvSpPr>
        <p:spPr>
          <a:xfrm>
            <a:off x="5303520" y="2560320"/>
            <a:ext cx="1005840" cy="502920"/>
          </a:xfrm>
          <a:prstGeom prst="roundRect">
            <a:avLst>
              <a:gd name="adj" fmla="val 9091"/>
            </a:avLst>
          </a:prstGeom>
          <a:solidFill>
            <a:srgbClr val="10B981">
              <a:alpha val="80000"/>
            </a:srgbClr>
          </a:solidFill>
          <a:ln w="12700">
            <a:solidFill>
              <a:srgbClr val="10B981"/>
            </a:solidFill>
            <a:prstDash val="solid"/>
          </a:ln>
        </p:spPr>
        <p:txBody>
          <a:bodyPr/>
          <a:lstStyle/>
          <a:p>
            <a:endParaRPr lang="en-US"/>
          </a:p>
        </p:txBody>
      </p:sp>
      <p:sp>
        <p:nvSpPr>
          <p:cNvPr id="26" name="Text 24"/>
          <p:cNvSpPr/>
          <p:nvPr/>
        </p:nvSpPr>
        <p:spPr>
          <a:xfrm>
            <a:off x="5303520" y="2560320"/>
            <a:ext cx="1005840" cy="502920"/>
          </a:xfrm>
          <a:prstGeom prst="rect">
            <a:avLst/>
          </a:prstGeom>
          <a:noFill/>
          <a:ln/>
        </p:spPr>
        <p:txBody>
          <a:bodyPr wrap="square" lIns="0" tIns="0" rIns="0" bIns="0" rtlCol="0" anchor="ctr"/>
          <a:lstStyle/>
          <a:p>
            <a:pPr marL="0" indent="0" algn="ctr">
              <a:buNone/>
            </a:pPr>
            <a:r>
              <a:rPr lang="en-US" sz="900" b="1" dirty="0">
                <a:solidFill>
                  <a:srgbClr val="FFFFFF"/>
                </a:solidFill>
              </a:rPr>
              <a:t>LOW</a:t>
            </a:r>
            <a:endParaRPr lang="en-US" sz="900" dirty="0"/>
          </a:p>
        </p:txBody>
      </p:sp>
      <p:sp>
        <p:nvSpPr>
          <p:cNvPr id="27" name="Shape 25"/>
          <p:cNvSpPr/>
          <p:nvPr/>
        </p:nvSpPr>
        <p:spPr>
          <a:xfrm>
            <a:off x="6583680" y="2377440"/>
            <a:ext cx="5166360" cy="868680"/>
          </a:xfrm>
          <a:prstGeom prst="roundRect">
            <a:avLst>
              <a:gd name="adj" fmla="val 6316"/>
            </a:avLst>
          </a:prstGeom>
          <a:solidFill>
            <a:srgbClr val="0D2340"/>
          </a:solidFill>
          <a:ln w="12700">
            <a:solidFill>
              <a:srgbClr val="243752"/>
            </a:solidFill>
            <a:prstDash val="solid"/>
          </a:ln>
        </p:spPr>
        <p:txBody>
          <a:bodyPr/>
          <a:lstStyle/>
          <a:p>
            <a:endParaRPr lang="en-US"/>
          </a:p>
        </p:txBody>
      </p:sp>
      <p:sp>
        <p:nvSpPr>
          <p:cNvPr id="28" name="Text 26"/>
          <p:cNvSpPr/>
          <p:nvPr/>
        </p:nvSpPr>
        <p:spPr>
          <a:xfrm>
            <a:off x="6675120" y="2377440"/>
            <a:ext cx="5029200" cy="868680"/>
          </a:xfrm>
          <a:prstGeom prst="rect">
            <a:avLst/>
          </a:prstGeom>
          <a:noFill/>
          <a:ln/>
        </p:spPr>
        <p:txBody>
          <a:bodyPr wrap="square" lIns="0" tIns="0" rIns="0" bIns="0" rtlCol="0" anchor="ctr"/>
          <a:lstStyle/>
          <a:p>
            <a:pPr marL="0" indent="0">
              <a:buNone/>
            </a:pPr>
            <a:r>
              <a:rPr lang="en-US" sz="850" dirty="0">
                <a:solidFill>
                  <a:srgbClr val="CBD5E1"/>
                </a:solidFill>
              </a:rPr>
              <a:t>Private LLM deployment (Azure OpenAI / Bedrock) · Data residency controls · Agent network isolation</a:t>
            </a:r>
            <a:endParaRPr lang="en-US" sz="850" dirty="0"/>
          </a:p>
        </p:txBody>
      </p:sp>
      <p:sp>
        <p:nvSpPr>
          <p:cNvPr id="29" name="Shape 27"/>
          <p:cNvSpPr/>
          <p:nvPr/>
        </p:nvSpPr>
        <p:spPr>
          <a:xfrm>
            <a:off x="274320" y="3337560"/>
            <a:ext cx="3291840" cy="868680"/>
          </a:xfrm>
          <a:prstGeom prst="roundRect">
            <a:avLst>
              <a:gd name="adj" fmla="val 6316"/>
            </a:avLst>
          </a:prstGeom>
          <a:solidFill>
            <a:srgbClr val="243752"/>
          </a:solidFill>
          <a:ln w="12700">
            <a:solidFill>
              <a:srgbClr val="F59E0B"/>
            </a:solidFill>
            <a:prstDash val="solid"/>
          </a:ln>
        </p:spPr>
        <p:txBody>
          <a:bodyPr/>
          <a:lstStyle/>
          <a:p>
            <a:endParaRPr lang="en-US"/>
          </a:p>
        </p:txBody>
      </p:sp>
      <p:sp>
        <p:nvSpPr>
          <p:cNvPr id="30" name="Text 28"/>
          <p:cNvSpPr/>
          <p:nvPr/>
        </p:nvSpPr>
        <p:spPr>
          <a:xfrm>
            <a:off x="365760" y="3337560"/>
            <a:ext cx="3154680" cy="868680"/>
          </a:xfrm>
          <a:prstGeom prst="rect">
            <a:avLst/>
          </a:prstGeom>
          <a:noFill/>
          <a:ln/>
        </p:spPr>
        <p:txBody>
          <a:bodyPr wrap="square" lIns="0" tIns="0" rIns="0" bIns="0" rtlCol="0" anchor="ctr"/>
          <a:lstStyle/>
          <a:p>
            <a:pPr marL="0" indent="0">
              <a:buNone/>
            </a:pPr>
            <a:r>
              <a:rPr lang="en-US" sz="1100" b="1" dirty="0">
                <a:solidFill>
                  <a:srgbClr val="FFFFFF"/>
                </a:solidFill>
              </a:rPr>
              <a:t>Compliance &amp; Audit Trail</a:t>
            </a:r>
            <a:endParaRPr lang="en-US" sz="1100" dirty="0"/>
          </a:p>
        </p:txBody>
      </p:sp>
      <p:sp>
        <p:nvSpPr>
          <p:cNvPr id="31" name="Shape 29"/>
          <p:cNvSpPr/>
          <p:nvPr/>
        </p:nvSpPr>
        <p:spPr>
          <a:xfrm>
            <a:off x="3840480" y="3520440"/>
            <a:ext cx="1005840" cy="502920"/>
          </a:xfrm>
          <a:prstGeom prst="roundRect">
            <a:avLst>
              <a:gd name="adj" fmla="val 9091"/>
            </a:avLst>
          </a:prstGeom>
          <a:solidFill>
            <a:srgbClr val="F59E0B">
              <a:alpha val="80000"/>
            </a:srgbClr>
          </a:solidFill>
          <a:ln w="12700">
            <a:solidFill>
              <a:srgbClr val="F59E0B"/>
            </a:solidFill>
            <a:prstDash val="solid"/>
          </a:ln>
        </p:spPr>
        <p:txBody>
          <a:bodyPr/>
          <a:lstStyle/>
          <a:p>
            <a:endParaRPr lang="en-US"/>
          </a:p>
        </p:txBody>
      </p:sp>
      <p:sp>
        <p:nvSpPr>
          <p:cNvPr id="32" name="Text 30"/>
          <p:cNvSpPr/>
          <p:nvPr/>
        </p:nvSpPr>
        <p:spPr>
          <a:xfrm>
            <a:off x="3840480" y="3520440"/>
            <a:ext cx="1005840" cy="502920"/>
          </a:xfrm>
          <a:prstGeom prst="rect">
            <a:avLst/>
          </a:prstGeom>
          <a:noFill/>
          <a:ln/>
        </p:spPr>
        <p:txBody>
          <a:bodyPr wrap="square" lIns="0" tIns="0" rIns="0" bIns="0" rtlCol="0" anchor="ctr"/>
          <a:lstStyle/>
          <a:p>
            <a:pPr marL="0" indent="0" algn="ctr">
              <a:buNone/>
            </a:pPr>
            <a:r>
              <a:rPr lang="en-US" sz="900" b="1" dirty="0">
                <a:solidFill>
                  <a:srgbClr val="FFFFFF"/>
                </a:solidFill>
              </a:rPr>
              <a:t>HIGH</a:t>
            </a:r>
            <a:endParaRPr lang="en-US" sz="900" dirty="0"/>
          </a:p>
        </p:txBody>
      </p:sp>
      <p:sp>
        <p:nvSpPr>
          <p:cNvPr id="33" name="Shape 31"/>
          <p:cNvSpPr/>
          <p:nvPr/>
        </p:nvSpPr>
        <p:spPr>
          <a:xfrm>
            <a:off x="5303520" y="3520440"/>
            <a:ext cx="1005840" cy="502920"/>
          </a:xfrm>
          <a:prstGeom prst="roundRect">
            <a:avLst>
              <a:gd name="adj" fmla="val 9091"/>
            </a:avLst>
          </a:prstGeom>
          <a:solidFill>
            <a:srgbClr val="8B5CF6">
              <a:alpha val="80000"/>
            </a:srgbClr>
          </a:solidFill>
          <a:ln w="12700">
            <a:solidFill>
              <a:srgbClr val="8B5CF6"/>
            </a:solidFill>
            <a:prstDash val="solid"/>
          </a:ln>
        </p:spPr>
        <p:txBody>
          <a:bodyPr/>
          <a:lstStyle/>
          <a:p>
            <a:endParaRPr lang="en-US"/>
          </a:p>
        </p:txBody>
      </p:sp>
      <p:sp>
        <p:nvSpPr>
          <p:cNvPr id="34" name="Text 32"/>
          <p:cNvSpPr/>
          <p:nvPr/>
        </p:nvSpPr>
        <p:spPr>
          <a:xfrm>
            <a:off x="5303520" y="3520440"/>
            <a:ext cx="1005840" cy="502920"/>
          </a:xfrm>
          <a:prstGeom prst="rect">
            <a:avLst/>
          </a:prstGeom>
          <a:noFill/>
          <a:ln/>
        </p:spPr>
        <p:txBody>
          <a:bodyPr wrap="square" lIns="0" tIns="0" rIns="0" bIns="0" rtlCol="0" anchor="ctr"/>
          <a:lstStyle/>
          <a:p>
            <a:pPr marL="0" indent="0" algn="ctr">
              <a:buNone/>
            </a:pPr>
            <a:r>
              <a:rPr lang="en-US" sz="900" b="1" dirty="0">
                <a:solidFill>
                  <a:srgbClr val="FFFFFF"/>
                </a:solidFill>
              </a:rPr>
              <a:t>MED</a:t>
            </a:r>
            <a:endParaRPr lang="en-US" sz="900" dirty="0"/>
          </a:p>
        </p:txBody>
      </p:sp>
      <p:sp>
        <p:nvSpPr>
          <p:cNvPr id="35" name="Shape 33"/>
          <p:cNvSpPr/>
          <p:nvPr/>
        </p:nvSpPr>
        <p:spPr>
          <a:xfrm>
            <a:off x="6583680" y="3337560"/>
            <a:ext cx="5166360" cy="868680"/>
          </a:xfrm>
          <a:prstGeom prst="roundRect">
            <a:avLst>
              <a:gd name="adj" fmla="val 6316"/>
            </a:avLst>
          </a:prstGeom>
          <a:solidFill>
            <a:srgbClr val="0D2340"/>
          </a:solidFill>
          <a:ln w="12700">
            <a:solidFill>
              <a:srgbClr val="243752"/>
            </a:solidFill>
            <a:prstDash val="solid"/>
          </a:ln>
        </p:spPr>
        <p:txBody>
          <a:bodyPr/>
          <a:lstStyle/>
          <a:p>
            <a:endParaRPr lang="en-US"/>
          </a:p>
        </p:txBody>
      </p:sp>
      <p:sp>
        <p:nvSpPr>
          <p:cNvPr id="36" name="Text 34"/>
          <p:cNvSpPr/>
          <p:nvPr/>
        </p:nvSpPr>
        <p:spPr>
          <a:xfrm>
            <a:off x="6675120" y="3337560"/>
            <a:ext cx="5029200" cy="868680"/>
          </a:xfrm>
          <a:prstGeom prst="rect">
            <a:avLst/>
          </a:prstGeom>
          <a:noFill/>
          <a:ln/>
        </p:spPr>
        <p:txBody>
          <a:bodyPr wrap="square" lIns="0" tIns="0" rIns="0" bIns="0" rtlCol="0" anchor="ctr"/>
          <a:lstStyle/>
          <a:p>
            <a:pPr marL="0" indent="0">
              <a:buNone/>
            </a:pPr>
            <a:r>
              <a:rPr lang="en-US" sz="850" dirty="0">
                <a:solidFill>
                  <a:srgbClr val="CBD5E1"/>
                </a:solidFill>
              </a:rPr>
              <a:t>Immutable audit log for every agent action · SOX / PCI mapping · Evidence auto-generation</a:t>
            </a:r>
            <a:endParaRPr lang="en-US" sz="850" dirty="0"/>
          </a:p>
        </p:txBody>
      </p:sp>
      <p:sp>
        <p:nvSpPr>
          <p:cNvPr id="37" name="Shape 35"/>
          <p:cNvSpPr/>
          <p:nvPr/>
        </p:nvSpPr>
        <p:spPr>
          <a:xfrm>
            <a:off x="274320" y="4297680"/>
            <a:ext cx="3291840" cy="868680"/>
          </a:xfrm>
          <a:prstGeom prst="roundRect">
            <a:avLst>
              <a:gd name="adj" fmla="val 6316"/>
            </a:avLst>
          </a:prstGeom>
          <a:solidFill>
            <a:srgbClr val="243752"/>
          </a:solidFill>
          <a:ln w="12700">
            <a:solidFill>
              <a:srgbClr val="F59E0B"/>
            </a:solidFill>
            <a:prstDash val="solid"/>
          </a:ln>
        </p:spPr>
        <p:txBody>
          <a:bodyPr/>
          <a:lstStyle/>
          <a:p>
            <a:endParaRPr lang="en-US"/>
          </a:p>
        </p:txBody>
      </p:sp>
      <p:sp>
        <p:nvSpPr>
          <p:cNvPr id="38" name="Text 36"/>
          <p:cNvSpPr/>
          <p:nvPr/>
        </p:nvSpPr>
        <p:spPr>
          <a:xfrm>
            <a:off x="365760" y="4297680"/>
            <a:ext cx="3154680" cy="868680"/>
          </a:xfrm>
          <a:prstGeom prst="rect">
            <a:avLst/>
          </a:prstGeom>
          <a:noFill/>
          <a:ln/>
        </p:spPr>
        <p:txBody>
          <a:bodyPr wrap="square" lIns="0" tIns="0" rIns="0" bIns="0" rtlCol="0" anchor="ctr"/>
          <a:lstStyle/>
          <a:p>
            <a:pPr marL="0" indent="0">
              <a:buNone/>
            </a:pPr>
            <a:r>
              <a:rPr lang="en-US" sz="1100" b="1" dirty="0">
                <a:solidFill>
                  <a:srgbClr val="FFFFFF"/>
                </a:solidFill>
              </a:rPr>
              <a:t>Over-reliance / De-skilling</a:t>
            </a:r>
            <a:endParaRPr lang="en-US" sz="1100" dirty="0"/>
          </a:p>
        </p:txBody>
      </p:sp>
      <p:sp>
        <p:nvSpPr>
          <p:cNvPr id="39" name="Shape 37"/>
          <p:cNvSpPr/>
          <p:nvPr/>
        </p:nvSpPr>
        <p:spPr>
          <a:xfrm>
            <a:off x="3840480" y="4480560"/>
            <a:ext cx="1005840" cy="502920"/>
          </a:xfrm>
          <a:prstGeom prst="roundRect">
            <a:avLst>
              <a:gd name="adj" fmla="val 9091"/>
            </a:avLst>
          </a:prstGeom>
          <a:solidFill>
            <a:srgbClr val="10B981">
              <a:alpha val="80000"/>
            </a:srgbClr>
          </a:solidFill>
          <a:ln w="12700">
            <a:solidFill>
              <a:srgbClr val="10B981"/>
            </a:solidFill>
            <a:prstDash val="solid"/>
          </a:ln>
        </p:spPr>
        <p:txBody>
          <a:bodyPr/>
          <a:lstStyle/>
          <a:p>
            <a:endParaRPr lang="en-US"/>
          </a:p>
        </p:txBody>
      </p:sp>
      <p:sp>
        <p:nvSpPr>
          <p:cNvPr id="40" name="Text 38"/>
          <p:cNvSpPr/>
          <p:nvPr/>
        </p:nvSpPr>
        <p:spPr>
          <a:xfrm>
            <a:off x="3840480" y="4480560"/>
            <a:ext cx="1005840" cy="502920"/>
          </a:xfrm>
          <a:prstGeom prst="rect">
            <a:avLst/>
          </a:prstGeom>
          <a:noFill/>
          <a:ln/>
        </p:spPr>
        <p:txBody>
          <a:bodyPr wrap="square" lIns="0" tIns="0" rIns="0" bIns="0" rtlCol="0" anchor="ctr"/>
          <a:lstStyle/>
          <a:p>
            <a:pPr marL="0" indent="0" algn="ctr">
              <a:buNone/>
            </a:pPr>
            <a:r>
              <a:rPr lang="en-US" sz="900" b="1" dirty="0">
                <a:solidFill>
                  <a:srgbClr val="FFFFFF"/>
                </a:solidFill>
              </a:rPr>
              <a:t>MED</a:t>
            </a:r>
            <a:endParaRPr lang="en-US" sz="900" dirty="0"/>
          </a:p>
        </p:txBody>
      </p:sp>
      <p:sp>
        <p:nvSpPr>
          <p:cNvPr id="41" name="Shape 39"/>
          <p:cNvSpPr/>
          <p:nvPr/>
        </p:nvSpPr>
        <p:spPr>
          <a:xfrm>
            <a:off x="5303520" y="4480560"/>
            <a:ext cx="1005840" cy="502920"/>
          </a:xfrm>
          <a:prstGeom prst="roundRect">
            <a:avLst>
              <a:gd name="adj" fmla="val 9091"/>
            </a:avLst>
          </a:prstGeom>
          <a:solidFill>
            <a:srgbClr val="F59E0B">
              <a:alpha val="80000"/>
            </a:srgbClr>
          </a:solidFill>
          <a:ln w="12700">
            <a:solidFill>
              <a:srgbClr val="F59E0B"/>
            </a:solidFill>
            <a:prstDash val="solid"/>
          </a:ln>
        </p:spPr>
        <p:txBody>
          <a:bodyPr/>
          <a:lstStyle/>
          <a:p>
            <a:endParaRPr lang="en-US"/>
          </a:p>
        </p:txBody>
      </p:sp>
      <p:sp>
        <p:nvSpPr>
          <p:cNvPr id="42" name="Text 40"/>
          <p:cNvSpPr/>
          <p:nvPr/>
        </p:nvSpPr>
        <p:spPr>
          <a:xfrm>
            <a:off x="5303520" y="4480560"/>
            <a:ext cx="1005840" cy="502920"/>
          </a:xfrm>
          <a:prstGeom prst="rect">
            <a:avLst/>
          </a:prstGeom>
          <a:noFill/>
          <a:ln/>
        </p:spPr>
        <p:txBody>
          <a:bodyPr wrap="square" lIns="0" tIns="0" rIns="0" bIns="0" rtlCol="0" anchor="ctr"/>
          <a:lstStyle/>
          <a:p>
            <a:pPr marL="0" indent="0" algn="ctr">
              <a:buNone/>
            </a:pPr>
            <a:r>
              <a:rPr lang="en-US" sz="900" b="1" dirty="0">
                <a:solidFill>
                  <a:srgbClr val="FFFFFF"/>
                </a:solidFill>
              </a:rPr>
              <a:t>HIGH</a:t>
            </a:r>
            <a:endParaRPr lang="en-US" sz="900" dirty="0"/>
          </a:p>
        </p:txBody>
      </p:sp>
      <p:sp>
        <p:nvSpPr>
          <p:cNvPr id="43" name="Shape 41"/>
          <p:cNvSpPr/>
          <p:nvPr/>
        </p:nvSpPr>
        <p:spPr>
          <a:xfrm>
            <a:off x="6583680" y="4297680"/>
            <a:ext cx="5166360" cy="868680"/>
          </a:xfrm>
          <a:prstGeom prst="roundRect">
            <a:avLst>
              <a:gd name="adj" fmla="val 6316"/>
            </a:avLst>
          </a:prstGeom>
          <a:solidFill>
            <a:srgbClr val="0D2340"/>
          </a:solidFill>
          <a:ln w="12700">
            <a:solidFill>
              <a:srgbClr val="243752"/>
            </a:solidFill>
            <a:prstDash val="solid"/>
          </a:ln>
        </p:spPr>
        <p:txBody>
          <a:bodyPr/>
          <a:lstStyle/>
          <a:p>
            <a:endParaRPr lang="en-US"/>
          </a:p>
        </p:txBody>
      </p:sp>
      <p:sp>
        <p:nvSpPr>
          <p:cNvPr id="44" name="Text 42"/>
          <p:cNvSpPr/>
          <p:nvPr/>
        </p:nvSpPr>
        <p:spPr>
          <a:xfrm>
            <a:off x="6675120" y="4297680"/>
            <a:ext cx="5029200" cy="868680"/>
          </a:xfrm>
          <a:prstGeom prst="rect">
            <a:avLst/>
          </a:prstGeom>
          <a:noFill/>
          <a:ln/>
        </p:spPr>
        <p:txBody>
          <a:bodyPr wrap="square" lIns="0" tIns="0" rIns="0" bIns="0" rtlCol="0" anchor="ctr"/>
          <a:lstStyle/>
          <a:p>
            <a:pPr marL="0" indent="0">
              <a:buNone/>
            </a:pPr>
            <a:r>
              <a:rPr lang="en-US" sz="850" dirty="0">
                <a:solidFill>
                  <a:srgbClr val="CBD5E1"/>
                </a:solidFill>
              </a:rPr>
              <a:t>Human-in-the-loop at critical checkpoints · Structured AI literacy program · Agent transparency dashboards</a:t>
            </a:r>
            <a:endParaRPr lang="en-US" sz="850" dirty="0"/>
          </a:p>
        </p:txBody>
      </p:sp>
      <p:sp>
        <p:nvSpPr>
          <p:cNvPr id="45" name="Shape 43"/>
          <p:cNvSpPr/>
          <p:nvPr/>
        </p:nvSpPr>
        <p:spPr>
          <a:xfrm>
            <a:off x="274320" y="5257800"/>
            <a:ext cx="3291840" cy="868680"/>
          </a:xfrm>
          <a:prstGeom prst="roundRect">
            <a:avLst>
              <a:gd name="adj" fmla="val 6316"/>
            </a:avLst>
          </a:prstGeom>
          <a:solidFill>
            <a:srgbClr val="243752"/>
          </a:solidFill>
          <a:ln w="12700">
            <a:solidFill>
              <a:srgbClr val="8B5CF6"/>
            </a:solidFill>
            <a:prstDash val="solid"/>
          </a:ln>
        </p:spPr>
        <p:txBody>
          <a:bodyPr/>
          <a:lstStyle/>
          <a:p>
            <a:endParaRPr lang="en-US"/>
          </a:p>
        </p:txBody>
      </p:sp>
      <p:sp>
        <p:nvSpPr>
          <p:cNvPr id="46" name="Text 44"/>
          <p:cNvSpPr/>
          <p:nvPr/>
        </p:nvSpPr>
        <p:spPr>
          <a:xfrm>
            <a:off x="365760" y="5257800"/>
            <a:ext cx="3154680" cy="868680"/>
          </a:xfrm>
          <a:prstGeom prst="rect">
            <a:avLst/>
          </a:prstGeom>
          <a:noFill/>
          <a:ln/>
        </p:spPr>
        <p:txBody>
          <a:bodyPr wrap="square" lIns="0" tIns="0" rIns="0" bIns="0" rtlCol="0" anchor="ctr"/>
          <a:lstStyle/>
          <a:p>
            <a:pPr marL="0" indent="0">
              <a:buNone/>
            </a:pPr>
            <a:r>
              <a:rPr lang="en-US" sz="1100" b="1" dirty="0">
                <a:solidFill>
                  <a:srgbClr val="FFFFFF"/>
                </a:solidFill>
              </a:rPr>
              <a:t>Model Governance</a:t>
            </a:r>
            <a:endParaRPr lang="en-US" sz="1100" dirty="0"/>
          </a:p>
        </p:txBody>
      </p:sp>
      <p:sp>
        <p:nvSpPr>
          <p:cNvPr id="47" name="Shape 45"/>
          <p:cNvSpPr/>
          <p:nvPr/>
        </p:nvSpPr>
        <p:spPr>
          <a:xfrm>
            <a:off x="3840480" y="5440680"/>
            <a:ext cx="1005840" cy="502920"/>
          </a:xfrm>
          <a:prstGeom prst="roundRect">
            <a:avLst>
              <a:gd name="adj" fmla="val 9091"/>
            </a:avLst>
          </a:prstGeom>
          <a:solidFill>
            <a:srgbClr val="10B981">
              <a:alpha val="80000"/>
            </a:srgbClr>
          </a:solidFill>
          <a:ln w="12700">
            <a:solidFill>
              <a:srgbClr val="10B981"/>
            </a:solidFill>
            <a:prstDash val="solid"/>
          </a:ln>
        </p:spPr>
        <p:txBody>
          <a:bodyPr/>
          <a:lstStyle/>
          <a:p>
            <a:endParaRPr lang="en-US"/>
          </a:p>
        </p:txBody>
      </p:sp>
      <p:sp>
        <p:nvSpPr>
          <p:cNvPr id="48" name="Text 46"/>
          <p:cNvSpPr/>
          <p:nvPr/>
        </p:nvSpPr>
        <p:spPr>
          <a:xfrm>
            <a:off x="3840480" y="5440680"/>
            <a:ext cx="1005840" cy="502920"/>
          </a:xfrm>
          <a:prstGeom prst="rect">
            <a:avLst/>
          </a:prstGeom>
          <a:noFill/>
          <a:ln/>
        </p:spPr>
        <p:txBody>
          <a:bodyPr wrap="square" lIns="0" tIns="0" rIns="0" bIns="0" rtlCol="0" anchor="ctr"/>
          <a:lstStyle/>
          <a:p>
            <a:pPr marL="0" indent="0" algn="ctr">
              <a:buNone/>
            </a:pPr>
            <a:r>
              <a:rPr lang="en-US" sz="900" b="1" dirty="0">
                <a:solidFill>
                  <a:srgbClr val="FFFFFF"/>
                </a:solidFill>
              </a:rPr>
              <a:t>MED</a:t>
            </a:r>
            <a:endParaRPr lang="en-US" sz="900" dirty="0"/>
          </a:p>
        </p:txBody>
      </p:sp>
      <p:sp>
        <p:nvSpPr>
          <p:cNvPr id="49" name="Shape 47"/>
          <p:cNvSpPr/>
          <p:nvPr/>
        </p:nvSpPr>
        <p:spPr>
          <a:xfrm>
            <a:off x="5303520" y="5440680"/>
            <a:ext cx="1005840" cy="502920"/>
          </a:xfrm>
          <a:prstGeom prst="roundRect">
            <a:avLst>
              <a:gd name="adj" fmla="val 9091"/>
            </a:avLst>
          </a:prstGeom>
          <a:solidFill>
            <a:srgbClr val="8B5CF6">
              <a:alpha val="80000"/>
            </a:srgbClr>
          </a:solidFill>
          <a:ln w="12700">
            <a:solidFill>
              <a:srgbClr val="8B5CF6"/>
            </a:solidFill>
            <a:prstDash val="solid"/>
          </a:ln>
        </p:spPr>
        <p:txBody>
          <a:bodyPr/>
          <a:lstStyle/>
          <a:p>
            <a:endParaRPr lang="en-US"/>
          </a:p>
        </p:txBody>
      </p:sp>
      <p:sp>
        <p:nvSpPr>
          <p:cNvPr id="50" name="Text 48"/>
          <p:cNvSpPr/>
          <p:nvPr/>
        </p:nvSpPr>
        <p:spPr>
          <a:xfrm>
            <a:off x="5303520" y="5440680"/>
            <a:ext cx="1005840" cy="502920"/>
          </a:xfrm>
          <a:prstGeom prst="rect">
            <a:avLst/>
          </a:prstGeom>
          <a:noFill/>
          <a:ln/>
        </p:spPr>
        <p:txBody>
          <a:bodyPr wrap="square" lIns="0" tIns="0" rIns="0" bIns="0" rtlCol="0" anchor="ctr"/>
          <a:lstStyle/>
          <a:p>
            <a:pPr marL="0" indent="0" algn="ctr">
              <a:buNone/>
            </a:pPr>
            <a:r>
              <a:rPr lang="en-US" sz="900" b="1" dirty="0">
                <a:solidFill>
                  <a:srgbClr val="FFFFFF"/>
                </a:solidFill>
              </a:rPr>
              <a:t>MED</a:t>
            </a:r>
            <a:endParaRPr lang="en-US" sz="900" dirty="0"/>
          </a:p>
        </p:txBody>
      </p:sp>
      <p:sp>
        <p:nvSpPr>
          <p:cNvPr id="51" name="Shape 49"/>
          <p:cNvSpPr/>
          <p:nvPr/>
        </p:nvSpPr>
        <p:spPr>
          <a:xfrm>
            <a:off x="6583680" y="5257800"/>
            <a:ext cx="5166360" cy="868680"/>
          </a:xfrm>
          <a:prstGeom prst="roundRect">
            <a:avLst>
              <a:gd name="adj" fmla="val 6316"/>
            </a:avLst>
          </a:prstGeom>
          <a:solidFill>
            <a:srgbClr val="0D2340"/>
          </a:solidFill>
          <a:ln w="12700">
            <a:solidFill>
              <a:srgbClr val="243752"/>
            </a:solidFill>
            <a:prstDash val="solid"/>
          </a:ln>
        </p:spPr>
        <p:txBody>
          <a:bodyPr/>
          <a:lstStyle/>
          <a:p>
            <a:endParaRPr lang="en-US"/>
          </a:p>
        </p:txBody>
      </p:sp>
      <p:sp>
        <p:nvSpPr>
          <p:cNvPr id="52" name="Text 50"/>
          <p:cNvSpPr/>
          <p:nvPr/>
        </p:nvSpPr>
        <p:spPr>
          <a:xfrm>
            <a:off x="6675120" y="5257800"/>
            <a:ext cx="5029200" cy="868680"/>
          </a:xfrm>
          <a:prstGeom prst="rect">
            <a:avLst/>
          </a:prstGeom>
          <a:noFill/>
          <a:ln/>
        </p:spPr>
        <p:txBody>
          <a:bodyPr wrap="square" lIns="0" tIns="0" rIns="0" bIns="0" rtlCol="0" anchor="ctr"/>
          <a:lstStyle/>
          <a:p>
            <a:pPr marL="0" indent="0">
              <a:buNone/>
            </a:pPr>
            <a:r>
              <a:rPr lang="en-US" sz="850" dirty="0">
                <a:solidFill>
                  <a:srgbClr val="CBD5E1"/>
                </a:solidFill>
              </a:rPr>
              <a:t>Model versioning &amp; rollback controls · Bias monitoring · Quarterly AI ethics review</a:t>
            </a:r>
            <a:endParaRPr lang="en-US" sz="850" dirty="0"/>
          </a:p>
        </p:txBody>
      </p:sp>
      <p:sp>
        <p:nvSpPr>
          <p:cNvPr id="53" name="Shape 51"/>
          <p:cNvSpPr/>
          <p:nvPr/>
        </p:nvSpPr>
        <p:spPr>
          <a:xfrm>
            <a:off x="274320" y="6263640"/>
            <a:ext cx="11612880" cy="502920"/>
          </a:xfrm>
          <a:prstGeom prst="roundRect">
            <a:avLst>
              <a:gd name="adj" fmla="val 10909"/>
            </a:avLst>
          </a:prstGeom>
          <a:solidFill>
            <a:srgbClr val="1A2F5A"/>
          </a:solidFill>
          <a:ln w="12700">
            <a:solidFill>
              <a:srgbClr val="0099BB"/>
            </a:solidFill>
            <a:prstDash val="solid"/>
          </a:ln>
        </p:spPr>
        <p:txBody>
          <a:bodyPr/>
          <a:lstStyle/>
          <a:p>
            <a:endParaRPr lang="en-US"/>
          </a:p>
        </p:txBody>
      </p:sp>
      <p:sp>
        <p:nvSpPr>
          <p:cNvPr id="54" name="Text 52"/>
          <p:cNvSpPr/>
          <p:nvPr/>
        </p:nvSpPr>
        <p:spPr>
          <a:xfrm>
            <a:off x="365760" y="6263640"/>
            <a:ext cx="2286000" cy="502920"/>
          </a:xfrm>
          <a:prstGeom prst="rect">
            <a:avLst/>
          </a:prstGeom>
          <a:noFill/>
          <a:ln/>
        </p:spPr>
        <p:txBody>
          <a:bodyPr wrap="square" lIns="0" tIns="0" rIns="0" bIns="0" rtlCol="0" anchor="ctr"/>
          <a:lstStyle/>
          <a:p>
            <a:pPr marL="0" indent="0" algn="ctr">
              <a:buNone/>
            </a:pPr>
            <a:r>
              <a:rPr lang="en-US" sz="900" dirty="0">
                <a:solidFill>
                  <a:srgbClr val="00D4FF"/>
                </a:solidFill>
              </a:rPr>
              <a:t>🔐  Zero Trust Security</a:t>
            </a:r>
            <a:endParaRPr lang="en-US" sz="900" dirty="0"/>
          </a:p>
        </p:txBody>
      </p:sp>
      <p:sp>
        <p:nvSpPr>
          <p:cNvPr id="55" name="Text 53"/>
          <p:cNvSpPr/>
          <p:nvPr/>
        </p:nvSpPr>
        <p:spPr>
          <a:xfrm>
            <a:off x="2697480" y="6263640"/>
            <a:ext cx="2286000" cy="502920"/>
          </a:xfrm>
          <a:prstGeom prst="rect">
            <a:avLst/>
          </a:prstGeom>
          <a:noFill/>
          <a:ln/>
        </p:spPr>
        <p:txBody>
          <a:bodyPr wrap="square" lIns="0" tIns="0" rIns="0" bIns="0" rtlCol="0" anchor="ctr"/>
          <a:lstStyle/>
          <a:p>
            <a:pPr marL="0" indent="0" algn="ctr">
              <a:buNone/>
            </a:pPr>
            <a:r>
              <a:rPr lang="en-US" sz="900" dirty="0">
                <a:solidFill>
                  <a:srgbClr val="00D4FF"/>
                </a:solidFill>
              </a:rPr>
              <a:t>📋  Immutable Audit Trail</a:t>
            </a:r>
            <a:endParaRPr lang="en-US" sz="900" dirty="0"/>
          </a:p>
        </p:txBody>
      </p:sp>
      <p:sp>
        <p:nvSpPr>
          <p:cNvPr id="56" name="Text 54"/>
          <p:cNvSpPr/>
          <p:nvPr/>
        </p:nvSpPr>
        <p:spPr>
          <a:xfrm>
            <a:off x="5029200" y="6263640"/>
            <a:ext cx="2286000" cy="502920"/>
          </a:xfrm>
          <a:prstGeom prst="rect">
            <a:avLst/>
          </a:prstGeom>
          <a:noFill/>
          <a:ln/>
        </p:spPr>
        <p:txBody>
          <a:bodyPr wrap="square" lIns="0" tIns="0" rIns="0" bIns="0" rtlCol="0" anchor="ctr"/>
          <a:lstStyle/>
          <a:p>
            <a:pPr marL="0" indent="0" algn="ctr">
              <a:buNone/>
            </a:pPr>
            <a:r>
              <a:rPr lang="en-US" sz="900" dirty="0">
                <a:solidFill>
                  <a:srgbClr val="00D4FF"/>
                </a:solidFill>
              </a:rPr>
              <a:t>👤  Human Oversight Gates</a:t>
            </a:r>
            <a:endParaRPr lang="en-US" sz="900" dirty="0"/>
          </a:p>
        </p:txBody>
      </p:sp>
      <p:sp>
        <p:nvSpPr>
          <p:cNvPr id="57" name="Text 55"/>
          <p:cNvSpPr/>
          <p:nvPr/>
        </p:nvSpPr>
        <p:spPr>
          <a:xfrm>
            <a:off x="7360920" y="6263640"/>
            <a:ext cx="2286000" cy="502920"/>
          </a:xfrm>
          <a:prstGeom prst="rect">
            <a:avLst/>
          </a:prstGeom>
          <a:noFill/>
          <a:ln/>
        </p:spPr>
        <p:txBody>
          <a:bodyPr wrap="square" lIns="0" tIns="0" rIns="0" bIns="0" rtlCol="0" anchor="ctr"/>
          <a:lstStyle/>
          <a:p>
            <a:pPr marL="0" indent="0" algn="ctr">
              <a:buNone/>
            </a:pPr>
            <a:r>
              <a:rPr lang="en-US" sz="900" dirty="0">
                <a:solidFill>
                  <a:srgbClr val="00D4FF"/>
                </a:solidFill>
              </a:rPr>
              <a:t>🧪  Continuous Eval Harness</a:t>
            </a:r>
            <a:endParaRPr lang="en-US" sz="900" dirty="0"/>
          </a:p>
        </p:txBody>
      </p:sp>
      <p:sp>
        <p:nvSpPr>
          <p:cNvPr id="58" name="Text 56"/>
          <p:cNvSpPr/>
          <p:nvPr/>
        </p:nvSpPr>
        <p:spPr>
          <a:xfrm>
            <a:off x="9692640" y="6263640"/>
            <a:ext cx="2286000" cy="502920"/>
          </a:xfrm>
          <a:prstGeom prst="rect">
            <a:avLst/>
          </a:prstGeom>
          <a:noFill/>
          <a:ln/>
        </p:spPr>
        <p:txBody>
          <a:bodyPr wrap="square" lIns="0" tIns="0" rIns="0" bIns="0" rtlCol="0" anchor="ctr"/>
          <a:lstStyle/>
          <a:p>
            <a:pPr marL="0" indent="0" algn="ctr">
              <a:buNone/>
            </a:pPr>
            <a:r>
              <a:rPr lang="en-US" sz="900" dirty="0">
                <a:solidFill>
                  <a:srgbClr val="00D4FF"/>
                </a:solidFill>
              </a:rPr>
              <a:t>📊  Model Governance Board</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8229600" y="-1371600"/>
            <a:ext cx="5486400" cy="5486400"/>
          </a:xfrm>
          <a:prstGeom prst="ellipse">
            <a:avLst/>
          </a:prstGeom>
          <a:solidFill>
            <a:srgbClr val="1A2F5A"/>
          </a:solidFill>
          <a:ln w="12700">
            <a:solidFill>
              <a:srgbClr val="1A2F5A"/>
            </a:solidFill>
            <a:prstDash val="solid"/>
          </a:ln>
        </p:spPr>
        <p:txBody>
          <a:bodyPr/>
          <a:lstStyle/>
          <a:p>
            <a:endParaRPr lang="en-US"/>
          </a:p>
        </p:txBody>
      </p:sp>
      <p:sp>
        <p:nvSpPr>
          <p:cNvPr id="3" name="Shape 1"/>
          <p:cNvSpPr/>
          <p:nvPr/>
        </p:nvSpPr>
        <p:spPr>
          <a:xfrm>
            <a:off x="9601200" y="-457200"/>
            <a:ext cx="3200400" cy="3200400"/>
          </a:xfrm>
          <a:prstGeom prst="ellipse">
            <a:avLst/>
          </a:prstGeom>
          <a:solidFill>
            <a:srgbClr val="0099BB">
              <a:alpha val="25000"/>
            </a:srgbClr>
          </a:solidFill>
          <a:ln w="12700">
            <a:solidFill>
              <a:srgbClr val="0099BB">
                <a:alpha val="25000"/>
              </a:srgbClr>
            </a:solidFill>
            <a:prstDash val="solid"/>
          </a:ln>
        </p:spPr>
        <p:txBody>
          <a:bodyPr/>
          <a:lstStyle/>
          <a:p>
            <a:endParaRPr lang="en-US"/>
          </a:p>
        </p:txBody>
      </p:sp>
      <p:sp>
        <p:nvSpPr>
          <p:cNvPr id="4" name="Text 2"/>
          <p:cNvSpPr/>
          <p:nvPr/>
        </p:nvSpPr>
        <p:spPr>
          <a:xfrm>
            <a:off x="457200" y="274320"/>
            <a:ext cx="7315200" cy="347472"/>
          </a:xfrm>
          <a:prstGeom prst="rect">
            <a:avLst/>
          </a:prstGeom>
          <a:noFill/>
          <a:ln/>
        </p:spPr>
        <p:txBody>
          <a:bodyPr wrap="square" lIns="0" tIns="0" rIns="0" bIns="0" rtlCol="0" anchor="ctr"/>
          <a:lstStyle/>
          <a:p>
            <a:pPr marL="0" indent="0">
              <a:buNone/>
            </a:pPr>
            <a:r>
              <a:rPr lang="en-US" sz="1000" b="1" kern="0" spc="200" dirty="0">
                <a:solidFill>
                  <a:srgbClr val="00D4FF"/>
                </a:solidFill>
              </a:rPr>
              <a:t>EXECUTIVE RECOMMENDATIONS</a:t>
            </a:r>
            <a:endParaRPr lang="en-US" sz="1000" dirty="0"/>
          </a:p>
        </p:txBody>
      </p:sp>
      <p:sp>
        <p:nvSpPr>
          <p:cNvPr id="5" name="Text 3"/>
          <p:cNvSpPr/>
          <p:nvPr/>
        </p:nvSpPr>
        <p:spPr>
          <a:xfrm>
            <a:off x="457200" y="640080"/>
            <a:ext cx="6400800" cy="11887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Five Actions for</a:t>
            </a:r>
            <a:endParaRPr lang="en-US" sz="3600" dirty="0"/>
          </a:p>
          <a:p>
            <a:pPr marL="0" indent="0">
              <a:buNone/>
            </a:pPr>
            <a:r>
              <a:rPr lang="en-US" sz="3600" b="1" dirty="0">
                <a:solidFill>
                  <a:srgbClr val="FFFFFF"/>
                </a:solidFill>
                <a:latin typeface="Cambria" pitchFamily="34" charset="0"/>
                <a:ea typeface="Cambria" pitchFamily="34" charset="-122"/>
                <a:cs typeface="Cambria" pitchFamily="34" charset="-120"/>
              </a:rPr>
              <a:t>the Next 90 Days</a:t>
            </a:r>
            <a:endParaRPr lang="en-US" sz="3600" dirty="0"/>
          </a:p>
        </p:txBody>
      </p:sp>
      <p:sp>
        <p:nvSpPr>
          <p:cNvPr id="6" name="Shape 4"/>
          <p:cNvSpPr/>
          <p:nvPr/>
        </p:nvSpPr>
        <p:spPr>
          <a:xfrm>
            <a:off x="365760" y="1920240"/>
            <a:ext cx="5669280" cy="1371600"/>
          </a:xfrm>
          <a:prstGeom prst="roundRect">
            <a:avLst>
              <a:gd name="adj" fmla="val 6667"/>
            </a:avLst>
          </a:prstGeom>
          <a:solidFill>
            <a:srgbClr val="243752"/>
          </a:solidFill>
          <a:ln w="19050">
            <a:solidFill>
              <a:srgbClr val="10B981"/>
            </a:solidFill>
            <a:prstDash val="solid"/>
          </a:ln>
          <a:effectLst>
            <a:outerShdw blurRad="101600" dist="38100" dir="2700000" algn="bl" rotWithShape="0">
              <a:srgbClr val="000000">
                <a:alpha val="12000"/>
              </a:srgbClr>
            </a:outerShdw>
          </a:effectLst>
        </p:spPr>
        <p:txBody>
          <a:bodyPr/>
          <a:lstStyle/>
          <a:p>
            <a:endParaRPr lang="en-US"/>
          </a:p>
        </p:txBody>
      </p:sp>
      <p:sp>
        <p:nvSpPr>
          <p:cNvPr id="7" name="Shape 5"/>
          <p:cNvSpPr/>
          <p:nvPr/>
        </p:nvSpPr>
        <p:spPr>
          <a:xfrm>
            <a:off x="475488" y="2029968"/>
            <a:ext cx="731520" cy="731520"/>
          </a:xfrm>
          <a:prstGeom prst="ellipse">
            <a:avLst/>
          </a:prstGeom>
          <a:solidFill>
            <a:srgbClr val="10B981"/>
          </a:solidFill>
          <a:ln w="12700">
            <a:solidFill>
              <a:srgbClr val="10B981"/>
            </a:solidFill>
            <a:prstDash val="solid"/>
          </a:ln>
        </p:spPr>
        <p:txBody>
          <a:bodyPr/>
          <a:lstStyle/>
          <a:p>
            <a:endParaRPr lang="en-US"/>
          </a:p>
        </p:txBody>
      </p:sp>
      <p:sp>
        <p:nvSpPr>
          <p:cNvPr id="8" name="Text 6"/>
          <p:cNvSpPr/>
          <p:nvPr/>
        </p:nvSpPr>
        <p:spPr>
          <a:xfrm>
            <a:off x="475488" y="2029968"/>
            <a:ext cx="731520" cy="731520"/>
          </a:xfrm>
          <a:prstGeom prst="rect">
            <a:avLst/>
          </a:prstGeom>
          <a:noFill/>
          <a:ln/>
        </p:spPr>
        <p:txBody>
          <a:bodyPr wrap="square" lIns="0" tIns="0" rIns="0" bIns="0" rtlCol="0" anchor="ctr"/>
          <a:lstStyle/>
          <a:p>
            <a:pPr marL="0" indent="0" algn="ctr">
              <a:buNone/>
            </a:pPr>
            <a:r>
              <a:rPr lang="en-US" sz="1400" b="1" dirty="0">
                <a:solidFill>
                  <a:srgbClr val="FFFFFF"/>
                </a:solidFill>
              </a:rPr>
              <a:t>01</a:t>
            </a:r>
            <a:endParaRPr lang="en-US" sz="1400" dirty="0"/>
          </a:p>
        </p:txBody>
      </p:sp>
      <p:sp>
        <p:nvSpPr>
          <p:cNvPr id="9" name="Text 7"/>
          <p:cNvSpPr/>
          <p:nvPr/>
        </p:nvSpPr>
        <p:spPr>
          <a:xfrm>
            <a:off x="1325880" y="2011680"/>
            <a:ext cx="4572000" cy="384048"/>
          </a:xfrm>
          <a:prstGeom prst="rect">
            <a:avLst/>
          </a:prstGeom>
          <a:noFill/>
          <a:ln/>
        </p:spPr>
        <p:txBody>
          <a:bodyPr wrap="square" lIns="0" tIns="0" rIns="0" bIns="0" rtlCol="0" anchor="ctr"/>
          <a:lstStyle/>
          <a:p>
            <a:pPr marL="0" indent="0">
              <a:buNone/>
            </a:pPr>
            <a:r>
              <a:rPr lang="en-US" sz="1200" b="1" dirty="0">
                <a:solidFill>
                  <a:srgbClr val="FFFFFF"/>
                </a:solidFill>
              </a:rPr>
              <a:t>Fund Three Parallel PoCs</a:t>
            </a:r>
            <a:endParaRPr lang="en-US" sz="1200" dirty="0"/>
          </a:p>
        </p:txBody>
      </p:sp>
      <p:sp>
        <p:nvSpPr>
          <p:cNvPr id="10" name="Text 8"/>
          <p:cNvSpPr/>
          <p:nvPr/>
        </p:nvSpPr>
        <p:spPr>
          <a:xfrm>
            <a:off x="1325880" y="2423160"/>
            <a:ext cx="4572000" cy="822960"/>
          </a:xfrm>
          <a:prstGeom prst="rect">
            <a:avLst/>
          </a:prstGeom>
          <a:noFill/>
          <a:ln/>
        </p:spPr>
        <p:txBody>
          <a:bodyPr wrap="square" lIns="0" tIns="0" rIns="0" bIns="0" rtlCol="0" anchor="ctr"/>
          <a:lstStyle/>
          <a:p>
            <a:pPr marL="0" indent="0">
              <a:buNone/>
            </a:pPr>
            <a:r>
              <a:rPr lang="en-US" sz="850" dirty="0">
                <a:solidFill>
                  <a:srgbClr val="CBD5E1"/>
                </a:solidFill>
              </a:rPr>
              <a:t>Authorize Code Review Agent, Requirements-to-Code Agent, and Incident Resolution Agent PoCs simultaneously. Target &lt;$500K combined investment with measurable KPIs in 60 days.</a:t>
            </a:r>
            <a:endParaRPr lang="en-US" sz="850" dirty="0"/>
          </a:p>
        </p:txBody>
      </p:sp>
      <p:sp>
        <p:nvSpPr>
          <p:cNvPr id="11" name="Shape 9"/>
          <p:cNvSpPr/>
          <p:nvPr/>
        </p:nvSpPr>
        <p:spPr>
          <a:xfrm>
            <a:off x="365760" y="3429000"/>
            <a:ext cx="5669280" cy="1371600"/>
          </a:xfrm>
          <a:prstGeom prst="roundRect">
            <a:avLst>
              <a:gd name="adj" fmla="val 6667"/>
            </a:avLst>
          </a:prstGeom>
          <a:solidFill>
            <a:srgbClr val="243752"/>
          </a:solidFill>
          <a:ln w="19050">
            <a:solidFill>
              <a:srgbClr val="8B5CF6"/>
            </a:solidFill>
            <a:prstDash val="solid"/>
          </a:ln>
          <a:effectLst>
            <a:outerShdw blurRad="101600" dist="38100" dir="2700000" algn="bl" rotWithShape="0">
              <a:srgbClr val="000000">
                <a:alpha val="12000"/>
              </a:srgbClr>
            </a:outerShdw>
          </a:effectLst>
        </p:spPr>
        <p:txBody>
          <a:bodyPr/>
          <a:lstStyle/>
          <a:p>
            <a:endParaRPr lang="en-US"/>
          </a:p>
        </p:txBody>
      </p:sp>
      <p:sp>
        <p:nvSpPr>
          <p:cNvPr id="12" name="Shape 10"/>
          <p:cNvSpPr/>
          <p:nvPr/>
        </p:nvSpPr>
        <p:spPr>
          <a:xfrm>
            <a:off x="475488" y="3538728"/>
            <a:ext cx="731520" cy="731520"/>
          </a:xfrm>
          <a:prstGeom prst="ellipse">
            <a:avLst/>
          </a:prstGeom>
          <a:solidFill>
            <a:srgbClr val="8B5CF6"/>
          </a:solidFill>
          <a:ln w="12700">
            <a:solidFill>
              <a:srgbClr val="8B5CF6"/>
            </a:solidFill>
            <a:prstDash val="solid"/>
          </a:ln>
        </p:spPr>
        <p:txBody>
          <a:bodyPr/>
          <a:lstStyle/>
          <a:p>
            <a:endParaRPr lang="en-US"/>
          </a:p>
        </p:txBody>
      </p:sp>
      <p:sp>
        <p:nvSpPr>
          <p:cNvPr id="13" name="Text 11"/>
          <p:cNvSpPr/>
          <p:nvPr/>
        </p:nvSpPr>
        <p:spPr>
          <a:xfrm>
            <a:off x="475488" y="3538728"/>
            <a:ext cx="731520" cy="731520"/>
          </a:xfrm>
          <a:prstGeom prst="rect">
            <a:avLst/>
          </a:prstGeom>
          <a:noFill/>
          <a:ln/>
        </p:spPr>
        <p:txBody>
          <a:bodyPr wrap="square" lIns="0" tIns="0" rIns="0" bIns="0" rtlCol="0" anchor="ctr"/>
          <a:lstStyle/>
          <a:p>
            <a:pPr marL="0" indent="0" algn="ctr">
              <a:buNone/>
            </a:pPr>
            <a:r>
              <a:rPr lang="en-US" sz="1400" b="1" dirty="0">
                <a:solidFill>
                  <a:srgbClr val="FFFFFF"/>
                </a:solidFill>
              </a:rPr>
              <a:t>02</a:t>
            </a:r>
            <a:endParaRPr lang="en-US" sz="1400" dirty="0"/>
          </a:p>
        </p:txBody>
      </p:sp>
      <p:sp>
        <p:nvSpPr>
          <p:cNvPr id="14" name="Text 12"/>
          <p:cNvSpPr/>
          <p:nvPr/>
        </p:nvSpPr>
        <p:spPr>
          <a:xfrm>
            <a:off x="1325880" y="3520440"/>
            <a:ext cx="4572000" cy="384048"/>
          </a:xfrm>
          <a:prstGeom prst="rect">
            <a:avLst/>
          </a:prstGeom>
          <a:noFill/>
          <a:ln/>
        </p:spPr>
        <p:txBody>
          <a:bodyPr wrap="square" lIns="0" tIns="0" rIns="0" bIns="0" rtlCol="0" anchor="ctr"/>
          <a:lstStyle/>
          <a:p>
            <a:pPr marL="0" indent="0">
              <a:buNone/>
            </a:pPr>
            <a:r>
              <a:rPr lang="en-US" sz="1200" b="1" dirty="0">
                <a:solidFill>
                  <a:srgbClr val="FFFFFF"/>
                </a:solidFill>
              </a:rPr>
              <a:t>Appoint an Agentic AI Product Owner</a:t>
            </a:r>
            <a:endParaRPr lang="en-US" sz="1200" dirty="0"/>
          </a:p>
        </p:txBody>
      </p:sp>
      <p:sp>
        <p:nvSpPr>
          <p:cNvPr id="15" name="Text 13"/>
          <p:cNvSpPr/>
          <p:nvPr/>
        </p:nvSpPr>
        <p:spPr>
          <a:xfrm>
            <a:off x="1325880" y="3931920"/>
            <a:ext cx="4572000" cy="822960"/>
          </a:xfrm>
          <a:prstGeom prst="rect">
            <a:avLst/>
          </a:prstGeom>
          <a:noFill/>
          <a:ln/>
        </p:spPr>
        <p:txBody>
          <a:bodyPr wrap="square" lIns="0" tIns="0" rIns="0" bIns="0" rtlCol="0" anchor="ctr"/>
          <a:lstStyle/>
          <a:p>
            <a:pPr marL="0" indent="0">
              <a:buNone/>
            </a:pPr>
            <a:r>
              <a:rPr lang="en-US" sz="850" dirty="0">
                <a:solidFill>
                  <a:srgbClr val="CBD5E1"/>
                </a:solidFill>
              </a:rPr>
              <a:t>Dedicate a senior engineering leader as platform owner. This is not a vendor relationship — it requires internal ownership of agent strategy, governance, and adoption.</a:t>
            </a:r>
            <a:endParaRPr lang="en-US" sz="850" dirty="0"/>
          </a:p>
        </p:txBody>
      </p:sp>
      <p:sp>
        <p:nvSpPr>
          <p:cNvPr id="16" name="Shape 14"/>
          <p:cNvSpPr/>
          <p:nvPr/>
        </p:nvSpPr>
        <p:spPr>
          <a:xfrm>
            <a:off x="365760" y="4937760"/>
            <a:ext cx="5669280" cy="1371600"/>
          </a:xfrm>
          <a:prstGeom prst="roundRect">
            <a:avLst>
              <a:gd name="adj" fmla="val 6667"/>
            </a:avLst>
          </a:prstGeom>
          <a:solidFill>
            <a:srgbClr val="243752"/>
          </a:solidFill>
          <a:ln w="19050">
            <a:solidFill>
              <a:srgbClr val="00D4FF"/>
            </a:solidFill>
            <a:prstDash val="solid"/>
          </a:ln>
          <a:effectLst>
            <a:outerShdw blurRad="101600" dist="38100" dir="2700000" algn="bl" rotWithShape="0">
              <a:srgbClr val="000000">
                <a:alpha val="12000"/>
              </a:srgbClr>
            </a:outerShdw>
          </a:effectLst>
        </p:spPr>
        <p:txBody>
          <a:bodyPr/>
          <a:lstStyle/>
          <a:p>
            <a:endParaRPr lang="en-US"/>
          </a:p>
        </p:txBody>
      </p:sp>
      <p:sp>
        <p:nvSpPr>
          <p:cNvPr id="17" name="Shape 15"/>
          <p:cNvSpPr/>
          <p:nvPr/>
        </p:nvSpPr>
        <p:spPr>
          <a:xfrm>
            <a:off x="475488" y="5047488"/>
            <a:ext cx="731520" cy="731520"/>
          </a:xfrm>
          <a:prstGeom prst="ellipse">
            <a:avLst/>
          </a:prstGeom>
          <a:solidFill>
            <a:srgbClr val="00D4FF"/>
          </a:solidFill>
          <a:ln w="12700">
            <a:solidFill>
              <a:srgbClr val="00D4FF"/>
            </a:solidFill>
            <a:prstDash val="solid"/>
          </a:ln>
        </p:spPr>
        <p:txBody>
          <a:bodyPr/>
          <a:lstStyle/>
          <a:p>
            <a:endParaRPr lang="en-US"/>
          </a:p>
        </p:txBody>
      </p:sp>
      <p:sp>
        <p:nvSpPr>
          <p:cNvPr id="18" name="Text 16"/>
          <p:cNvSpPr/>
          <p:nvPr/>
        </p:nvSpPr>
        <p:spPr>
          <a:xfrm>
            <a:off x="475488" y="5047488"/>
            <a:ext cx="731520" cy="731520"/>
          </a:xfrm>
          <a:prstGeom prst="rect">
            <a:avLst/>
          </a:prstGeom>
          <a:noFill/>
          <a:ln/>
        </p:spPr>
        <p:txBody>
          <a:bodyPr wrap="square" lIns="0" tIns="0" rIns="0" bIns="0" rtlCol="0" anchor="ctr"/>
          <a:lstStyle/>
          <a:p>
            <a:pPr marL="0" indent="0" algn="ctr">
              <a:buNone/>
            </a:pPr>
            <a:r>
              <a:rPr lang="en-US" sz="1400" b="1" dirty="0">
                <a:solidFill>
                  <a:srgbClr val="FFFFFF"/>
                </a:solidFill>
              </a:rPr>
              <a:t>03</a:t>
            </a:r>
            <a:endParaRPr lang="en-US" sz="1400" dirty="0"/>
          </a:p>
        </p:txBody>
      </p:sp>
      <p:sp>
        <p:nvSpPr>
          <p:cNvPr id="19" name="Text 17"/>
          <p:cNvSpPr/>
          <p:nvPr/>
        </p:nvSpPr>
        <p:spPr>
          <a:xfrm>
            <a:off x="1325880" y="5029200"/>
            <a:ext cx="4572000" cy="384048"/>
          </a:xfrm>
          <a:prstGeom prst="rect">
            <a:avLst/>
          </a:prstGeom>
          <a:noFill/>
          <a:ln/>
        </p:spPr>
        <p:txBody>
          <a:bodyPr wrap="square" lIns="0" tIns="0" rIns="0" bIns="0" rtlCol="0" anchor="ctr"/>
          <a:lstStyle/>
          <a:p>
            <a:pPr marL="0" indent="0">
              <a:buNone/>
            </a:pPr>
            <a:r>
              <a:rPr lang="en-US" sz="1200" b="1" dirty="0">
                <a:solidFill>
                  <a:srgbClr val="FFFFFF"/>
                </a:solidFill>
              </a:rPr>
              <a:t>Establish the MCP Integration Foundation</a:t>
            </a:r>
            <a:endParaRPr lang="en-US" sz="1200" dirty="0"/>
          </a:p>
        </p:txBody>
      </p:sp>
      <p:sp>
        <p:nvSpPr>
          <p:cNvPr id="20" name="Text 18"/>
          <p:cNvSpPr/>
          <p:nvPr/>
        </p:nvSpPr>
        <p:spPr>
          <a:xfrm>
            <a:off x="1325880" y="5440680"/>
            <a:ext cx="4572000" cy="822960"/>
          </a:xfrm>
          <a:prstGeom prst="rect">
            <a:avLst/>
          </a:prstGeom>
          <a:noFill/>
          <a:ln/>
        </p:spPr>
        <p:txBody>
          <a:bodyPr wrap="square" lIns="0" tIns="0" rIns="0" bIns="0" rtlCol="0" anchor="ctr"/>
          <a:lstStyle/>
          <a:p>
            <a:pPr marL="0" indent="0">
              <a:buNone/>
            </a:pPr>
            <a:r>
              <a:rPr lang="en-US" sz="850" dirty="0">
                <a:solidFill>
                  <a:srgbClr val="CBD5E1"/>
                </a:solidFill>
              </a:rPr>
              <a:t>Begin Jira, GitHub, and Confluence MCP integrations immediately. This infrastructure is a force multiplier — every agent built on it is accelerated by weeks.</a:t>
            </a:r>
            <a:endParaRPr lang="en-US" sz="850" dirty="0"/>
          </a:p>
        </p:txBody>
      </p:sp>
      <p:sp>
        <p:nvSpPr>
          <p:cNvPr id="21" name="Shape 19"/>
          <p:cNvSpPr/>
          <p:nvPr/>
        </p:nvSpPr>
        <p:spPr>
          <a:xfrm>
            <a:off x="6309360" y="1920240"/>
            <a:ext cx="5669280" cy="1371600"/>
          </a:xfrm>
          <a:prstGeom prst="roundRect">
            <a:avLst>
              <a:gd name="adj" fmla="val 6667"/>
            </a:avLst>
          </a:prstGeom>
          <a:solidFill>
            <a:srgbClr val="243752"/>
          </a:solidFill>
          <a:ln w="19050">
            <a:solidFill>
              <a:srgbClr val="F59E0B"/>
            </a:solidFill>
            <a:prstDash val="solid"/>
          </a:ln>
          <a:effectLst>
            <a:outerShdw blurRad="101600" dist="38100" dir="2700000" algn="bl" rotWithShape="0">
              <a:srgbClr val="000000">
                <a:alpha val="12000"/>
              </a:srgbClr>
            </a:outerShdw>
          </a:effectLst>
        </p:spPr>
        <p:txBody>
          <a:bodyPr/>
          <a:lstStyle/>
          <a:p>
            <a:endParaRPr lang="en-US"/>
          </a:p>
        </p:txBody>
      </p:sp>
      <p:sp>
        <p:nvSpPr>
          <p:cNvPr id="22" name="Shape 20"/>
          <p:cNvSpPr/>
          <p:nvPr/>
        </p:nvSpPr>
        <p:spPr>
          <a:xfrm>
            <a:off x="6419088" y="2029968"/>
            <a:ext cx="731520" cy="731520"/>
          </a:xfrm>
          <a:prstGeom prst="ellipse">
            <a:avLst/>
          </a:prstGeom>
          <a:solidFill>
            <a:srgbClr val="F59E0B"/>
          </a:solidFill>
          <a:ln w="12700">
            <a:solidFill>
              <a:srgbClr val="F59E0B"/>
            </a:solidFill>
            <a:prstDash val="solid"/>
          </a:ln>
        </p:spPr>
        <p:txBody>
          <a:bodyPr/>
          <a:lstStyle/>
          <a:p>
            <a:endParaRPr lang="en-US"/>
          </a:p>
        </p:txBody>
      </p:sp>
      <p:sp>
        <p:nvSpPr>
          <p:cNvPr id="23" name="Text 21"/>
          <p:cNvSpPr/>
          <p:nvPr/>
        </p:nvSpPr>
        <p:spPr>
          <a:xfrm>
            <a:off x="6419088" y="2029968"/>
            <a:ext cx="731520" cy="731520"/>
          </a:xfrm>
          <a:prstGeom prst="rect">
            <a:avLst/>
          </a:prstGeom>
          <a:noFill/>
          <a:ln/>
        </p:spPr>
        <p:txBody>
          <a:bodyPr wrap="square" lIns="0" tIns="0" rIns="0" bIns="0" rtlCol="0" anchor="ctr"/>
          <a:lstStyle/>
          <a:p>
            <a:pPr marL="0" indent="0" algn="ctr">
              <a:buNone/>
            </a:pPr>
            <a:r>
              <a:rPr lang="en-US" sz="1400" b="1" dirty="0">
                <a:solidFill>
                  <a:srgbClr val="FFFFFF"/>
                </a:solidFill>
              </a:rPr>
              <a:t>04</a:t>
            </a:r>
            <a:endParaRPr lang="en-US" sz="1400" dirty="0"/>
          </a:p>
        </p:txBody>
      </p:sp>
      <p:sp>
        <p:nvSpPr>
          <p:cNvPr id="24" name="Text 22"/>
          <p:cNvSpPr/>
          <p:nvPr/>
        </p:nvSpPr>
        <p:spPr>
          <a:xfrm>
            <a:off x="7269480" y="2011680"/>
            <a:ext cx="4572000" cy="384048"/>
          </a:xfrm>
          <a:prstGeom prst="rect">
            <a:avLst/>
          </a:prstGeom>
          <a:noFill/>
          <a:ln/>
        </p:spPr>
        <p:txBody>
          <a:bodyPr wrap="square" lIns="0" tIns="0" rIns="0" bIns="0" rtlCol="0" anchor="ctr"/>
          <a:lstStyle/>
          <a:p>
            <a:pPr marL="0" indent="0">
              <a:buNone/>
            </a:pPr>
            <a:r>
              <a:rPr lang="en-US" sz="1200" b="1" dirty="0">
                <a:solidFill>
                  <a:srgbClr val="FFFFFF"/>
                </a:solidFill>
              </a:rPr>
              <a:t>Define the Human-in-the-Loop Policy</a:t>
            </a:r>
            <a:endParaRPr lang="en-US" sz="1200" dirty="0"/>
          </a:p>
        </p:txBody>
      </p:sp>
      <p:sp>
        <p:nvSpPr>
          <p:cNvPr id="25" name="Text 23"/>
          <p:cNvSpPr/>
          <p:nvPr/>
        </p:nvSpPr>
        <p:spPr>
          <a:xfrm>
            <a:off x="7269480" y="2423160"/>
            <a:ext cx="4572000" cy="822960"/>
          </a:xfrm>
          <a:prstGeom prst="rect">
            <a:avLst/>
          </a:prstGeom>
          <a:noFill/>
          <a:ln/>
        </p:spPr>
        <p:txBody>
          <a:bodyPr wrap="square" lIns="0" tIns="0" rIns="0" bIns="0" rtlCol="0" anchor="ctr"/>
          <a:lstStyle/>
          <a:p>
            <a:pPr marL="0" indent="0">
              <a:buNone/>
            </a:pPr>
            <a:r>
              <a:rPr lang="en-US" sz="850" dirty="0">
                <a:solidFill>
                  <a:srgbClr val="CBD5E1"/>
                </a:solidFill>
              </a:rPr>
              <a:t>Document which SDLC decisions require human approval and which agents can act autonomously. This governance foundation prevents both risk and adoption friction.</a:t>
            </a:r>
            <a:endParaRPr lang="en-US" sz="850" dirty="0"/>
          </a:p>
        </p:txBody>
      </p:sp>
      <p:sp>
        <p:nvSpPr>
          <p:cNvPr id="26" name="Shape 24"/>
          <p:cNvSpPr/>
          <p:nvPr/>
        </p:nvSpPr>
        <p:spPr>
          <a:xfrm>
            <a:off x="6309360" y="3429000"/>
            <a:ext cx="5669280" cy="1371600"/>
          </a:xfrm>
          <a:prstGeom prst="roundRect">
            <a:avLst>
              <a:gd name="adj" fmla="val 6667"/>
            </a:avLst>
          </a:prstGeom>
          <a:solidFill>
            <a:srgbClr val="243752"/>
          </a:solidFill>
          <a:ln w="19050">
            <a:solidFill>
              <a:srgbClr val="0099BB"/>
            </a:solidFill>
            <a:prstDash val="solid"/>
          </a:ln>
          <a:effectLst>
            <a:outerShdw blurRad="101600" dist="38100" dir="2700000" algn="bl" rotWithShape="0">
              <a:srgbClr val="000000">
                <a:alpha val="12000"/>
              </a:srgbClr>
            </a:outerShdw>
          </a:effectLst>
        </p:spPr>
        <p:txBody>
          <a:bodyPr/>
          <a:lstStyle/>
          <a:p>
            <a:endParaRPr lang="en-US"/>
          </a:p>
        </p:txBody>
      </p:sp>
      <p:sp>
        <p:nvSpPr>
          <p:cNvPr id="27" name="Shape 25"/>
          <p:cNvSpPr/>
          <p:nvPr/>
        </p:nvSpPr>
        <p:spPr>
          <a:xfrm>
            <a:off x="6419088" y="3538728"/>
            <a:ext cx="731520" cy="731520"/>
          </a:xfrm>
          <a:prstGeom prst="ellipse">
            <a:avLst/>
          </a:prstGeom>
          <a:solidFill>
            <a:srgbClr val="0099BB"/>
          </a:solidFill>
          <a:ln w="12700">
            <a:solidFill>
              <a:srgbClr val="0099BB"/>
            </a:solidFill>
            <a:prstDash val="solid"/>
          </a:ln>
        </p:spPr>
        <p:txBody>
          <a:bodyPr/>
          <a:lstStyle/>
          <a:p>
            <a:endParaRPr lang="en-US"/>
          </a:p>
        </p:txBody>
      </p:sp>
      <p:sp>
        <p:nvSpPr>
          <p:cNvPr id="28" name="Text 26"/>
          <p:cNvSpPr/>
          <p:nvPr/>
        </p:nvSpPr>
        <p:spPr>
          <a:xfrm>
            <a:off x="6419088" y="3538728"/>
            <a:ext cx="731520" cy="731520"/>
          </a:xfrm>
          <a:prstGeom prst="rect">
            <a:avLst/>
          </a:prstGeom>
          <a:noFill/>
          <a:ln/>
        </p:spPr>
        <p:txBody>
          <a:bodyPr wrap="square" lIns="0" tIns="0" rIns="0" bIns="0" rtlCol="0" anchor="ctr"/>
          <a:lstStyle/>
          <a:p>
            <a:pPr marL="0" indent="0" algn="ctr">
              <a:buNone/>
            </a:pPr>
            <a:r>
              <a:rPr lang="en-US" sz="1400" b="1" dirty="0">
                <a:solidFill>
                  <a:srgbClr val="FFFFFF"/>
                </a:solidFill>
              </a:rPr>
              <a:t>05</a:t>
            </a:r>
            <a:endParaRPr lang="en-US" sz="1400" dirty="0"/>
          </a:p>
        </p:txBody>
      </p:sp>
      <p:sp>
        <p:nvSpPr>
          <p:cNvPr id="29" name="Text 27"/>
          <p:cNvSpPr/>
          <p:nvPr/>
        </p:nvSpPr>
        <p:spPr>
          <a:xfrm>
            <a:off x="7269480" y="3520440"/>
            <a:ext cx="4572000" cy="384048"/>
          </a:xfrm>
          <a:prstGeom prst="rect">
            <a:avLst/>
          </a:prstGeom>
          <a:noFill/>
          <a:ln/>
        </p:spPr>
        <p:txBody>
          <a:bodyPr wrap="square" lIns="0" tIns="0" rIns="0" bIns="0" rtlCol="0" anchor="ctr"/>
          <a:lstStyle/>
          <a:p>
            <a:pPr marL="0" indent="0">
              <a:buNone/>
            </a:pPr>
            <a:r>
              <a:rPr lang="en-US" sz="1200" b="1" dirty="0">
                <a:solidFill>
                  <a:srgbClr val="FFFFFF"/>
                </a:solidFill>
              </a:rPr>
              <a:t>Run a 30-Day SDLC Discovery Sprint</a:t>
            </a:r>
            <a:endParaRPr lang="en-US" sz="1200" dirty="0"/>
          </a:p>
        </p:txBody>
      </p:sp>
      <p:sp>
        <p:nvSpPr>
          <p:cNvPr id="30" name="Text 28"/>
          <p:cNvSpPr/>
          <p:nvPr/>
        </p:nvSpPr>
        <p:spPr>
          <a:xfrm>
            <a:off x="7269480" y="3931920"/>
            <a:ext cx="4572000" cy="822960"/>
          </a:xfrm>
          <a:prstGeom prst="rect">
            <a:avLst/>
          </a:prstGeom>
          <a:noFill/>
          <a:ln/>
        </p:spPr>
        <p:txBody>
          <a:bodyPr wrap="square" lIns="0" tIns="0" rIns="0" bIns="0" rtlCol="0" anchor="ctr"/>
          <a:lstStyle/>
          <a:p>
            <a:pPr marL="0" indent="0">
              <a:buNone/>
            </a:pPr>
            <a:r>
              <a:rPr lang="en-US" sz="850" dirty="0">
                <a:solidFill>
                  <a:srgbClr val="CBD5E1"/>
                </a:solidFill>
              </a:rPr>
              <a:t>Map actual current-state metrics: cycle time, defect rate, toil hours, MTTR. This creates the baseline for measuring ROI and builds internal stakeholder alignment.</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1828800" y="-1828800"/>
            <a:ext cx="7315200" cy="7315200"/>
          </a:xfrm>
          <a:prstGeom prst="ellipse">
            <a:avLst/>
          </a:prstGeom>
          <a:solidFill>
            <a:srgbClr val="1A2F5A"/>
          </a:solidFill>
          <a:ln w="12700">
            <a:solidFill>
              <a:srgbClr val="1A2F5A"/>
            </a:solidFill>
            <a:prstDash val="solid"/>
          </a:ln>
        </p:spPr>
        <p:txBody>
          <a:bodyPr/>
          <a:lstStyle/>
          <a:p>
            <a:endParaRPr lang="en-US"/>
          </a:p>
        </p:txBody>
      </p:sp>
      <p:sp>
        <p:nvSpPr>
          <p:cNvPr id="3" name="Shape 1"/>
          <p:cNvSpPr/>
          <p:nvPr/>
        </p:nvSpPr>
        <p:spPr>
          <a:xfrm>
            <a:off x="7772400" y="2743200"/>
            <a:ext cx="5486400" cy="5486400"/>
          </a:xfrm>
          <a:prstGeom prst="ellipse">
            <a:avLst/>
          </a:prstGeom>
          <a:solidFill>
            <a:srgbClr val="1A2F5A"/>
          </a:solidFill>
          <a:ln w="12700">
            <a:solidFill>
              <a:srgbClr val="1A2F5A"/>
            </a:solidFill>
            <a:prstDash val="solid"/>
          </a:ln>
        </p:spPr>
        <p:txBody>
          <a:bodyPr/>
          <a:lstStyle/>
          <a:p>
            <a:endParaRPr lang="en-US"/>
          </a:p>
        </p:txBody>
      </p:sp>
      <p:sp>
        <p:nvSpPr>
          <p:cNvPr id="4" name="Shape 2"/>
          <p:cNvSpPr/>
          <p:nvPr/>
        </p:nvSpPr>
        <p:spPr>
          <a:xfrm>
            <a:off x="8686800" y="2286000"/>
            <a:ext cx="3657600" cy="3657600"/>
          </a:xfrm>
          <a:prstGeom prst="ellipse">
            <a:avLst/>
          </a:prstGeom>
          <a:solidFill>
            <a:srgbClr val="0099BB">
              <a:alpha val="30000"/>
            </a:srgbClr>
          </a:solidFill>
          <a:ln w="12700">
            <a:solidFill>
              <a:srgbClr val="0099BB">
                <a:alpha val="30000"/>
              </a:srgbClr>
            </a:solidFill>
            <a:prstDash val="solid"/>
          </a:ln>
        </p:spPr>
        <p:txBody>
          <a:bodyPr/>
          <a:lstStyle/>
          <a:p>
            <a:endParaRPr lang="en-US"/>
          </a:p>
        </p:txBody>
      </p:sp>
      <p:sp>
        <p:nvSpPr>
          <p:cNvPr id="5" name="Shape 3"/>
          <p:cNvSpPr/>
          <p:nvPr/>
        </p:nvSpPr>
        <p:spPr>
          <a:xfrm>
            <a:off x="548640" y="1645920"/>
            <a:ext cx="1371600" cy="54864"/>
          </a:xfrm>
          <a:prstGeom prst="rect">
            <a:avLst/>
          </a:prstGeom>
          <a:solidFill>
            <a:srgbClr val="00D4FF"/>
          </a:solidFill>
          <a:ln w="12700">
            <a:solidFill>
              <a:srgbClr val="00D4FF"/>
            </a:solidFill>
            <a:prstDash val="solid"/>
          </a:ln>
        </p:spPr>
        <p:txBody>
          <a:bodyPr/>
          <a:lstStyle/>
          <a:p>
            <a:endParaRPr lang="en-US"/>
          </a:p>
        </p:txBody>
      </p:sp>
      <p:sp>
        <p:nvSpPr>
          <p:cNvPr id="6" name="Text 4"/>
          <p:cNvSpPr/>
          <p:nvPr/>
        </p:nvSpPr>
        <p:spPr>
          <a:xfrm>
            <a:off x="548640" y="1810512"/>
            <a:ext cx="7772400" cy="201168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The Agentic</a:t>
            </a:r>
            <a:endParaRPr lang="en-US" sz="5200" dirty="0"/>
          </a:p>
          <a:p>
            <a:pPr marL="0" indent="0">
              <a:buNone/>
            </a:pPr>
            <a:r>
              <a:rPr lang="en-US" sz="5200" b="1" dirty="0">
                <a:solidFill>
                  <a:srgbClr val="FFFFFF"/>
                </a:solidFill>
                <a:latin typeface="Cambria" pitchFamily="34" charset="0"/>
                <a:ea typeface="Cambria" pitchFamily="34" charset="-122"/>
                <a:cs typeface="Cambria" pitchFamily="34" charset="-120"/>
              </a:rPr>
              <a:t>SDLC is Here.</a:t>
            </a:r>
            <a:endParaRPr lang="en-US" sz="5200" dirty="0"/>
          </a:p>
        </p:txBody>
      </p:sp>
      <p:sp>
        <p:nvSpPr>
          <p:cNvPr id="7" name="Text 5"/>
          <p:cNvSpPr/>
          <p:nvPr/>
        </p:nvSpPr>
        <p:spPr>
          <a:xfrm>
            <a:off x="548640" y="3886200"/>
            <a:ext cx="7772400" cy="548640"/>
          </a:xfrm>
          <a:prstGeom prst="rect">
            <a:avLst/>
          </a:prstGeom>
          <a:noFill/>
          <a:ln/>
        </p:spPr>
        <p:txBody>
          <a:bodyPr wrap="square" lIns="0" tIns="0" rIns="0" bIns="0" rtlCol="0" anchor="ctr"/>
          <a:lstStyle/>
          <a:p>
            <a:pPr marL="0" indent="0">
              <a:buNone/>
            </a:pPr>
            <a:r>
              <a:rPr lang="en-US" sz="1600" i="1" dirty="0">
                <a:solidFill>
                  <a:srgbClr val="E8F4F8"/>
                </a:solidFill>
                <a:latin typeface="Calibri" pitchFamily="34" charset="0"/>
                <a:ea typeface="Calibri" pitchFamily="34" charset="-122"/>
                <a:cs typeface="Calibri" pitchFamily="34" charset="-120"/>
              </a:rPr>
              <a:t>The only question is whether you lead it or follow it.</a:t>
            </a:r>
            <a:endParaRPr lang="en-US" sz="1600" dirty="0"/>
          </a:p>
        </p:txBody>
      </p:sp>
      <p:sp>
        <p:nvSpPr>
          <p:cNvPr id="8" name="Text 6"/>
          <p:cNvSpPr/>
          <p:nvPr/>
        </p:nvSpPr>
        <p:spPr>
          <a:xfrm>
            <a:off x="548640" y="4663440"/>
            <a:ext cx="4572000" cy="320040"/>
          </a:xfrm>
          <a:prstGeom prst="rect">
            <a:avLst/>
          </a:prstGeom>
          <a:noFill/>
          <a:ln/>
        </p:spPr>
        <p:txBody>
          <a:bodyPr wrap="square" lIns="0" tIns="0" rIns="0" bIns="0" rtlCol="0" anchor="ctr"/>
          <a:lstStyle/>
          <a:p>
            <a:pPr marL="0" indent="0">
              <a:buNone/>
            </a:pPr>
            <a:r>
              <a:rPr lang="en-US" sz="900" b="1" kern="0" spc="200" dirty="0">
                <a:solidFill>
                  <a:srgbClr val="00D4FF"/>
                </a:solidFill>
              </a:rPr>
              <a:t>AGREED NEXT STEPS</a:t>
            </a:r>
            <a:endParaRPr lang="en-US" sz="900" dirty="0"/>
          </a:p>
        </p:txBody>
      </p:sp>
      <p:sp>
        <p:nvSpPr>
          <p:cNvPr id="9" name="Shape 7"/>
          <p:cNvSpPr/>
          <p:nvPr/>
        </p:nvSpPr>
        <p:spPr>
          <a:xfrm>
            <a:off x="548640" y="5029200"/>
            <a:ext cx="7315200" cy="365760"/>
          </a:xfrm>
          <a:prstGeom prst="roundRect">
            <a:avLst>
              <a:gd name="adj" fmla="val 12500"/>
            </a:avLst>
          </a:prstGeom>
          <a:solidFill>
            <a:srgbClr val="243752"/>
          </a:solidFill>
          <a:ln w="12700">
            <a:solidFill>
              <a:srgbClr val="1A2F5A"/>
            </a:solidFill>
            <a:prstDash val="solid"/>
          </a:ln>
        </p:spPr>
        <p:txBody>
          <a:bodyPr/>
          <a:lstStyle/>
          <a:p>
            <a:endParaRPr lang="en-US"/>
          </a:p>
        </p:txBody>
      </p:sp>
      <p:sp>
        <p:nvSpPr>
          <p:cNvPr id="10" name="Text 8"/>
          <p:cNvSpPr/>
          <p:nvPr/>
        </p:nvSpPr>
        <p:spPr>
          <a:xfrm>
            <a:off x="548640" y="5029200"/>
            <a:ext cx="365760" cy="365760"/>
          </a:xfrm>
          <a:prstGeom prst="rect">
            <a:avLst/>
          </a:prstGeom>
          <a:noFill/>
          <a:ln/>
        </p:spPr>
        <p:txBody>
          <a:bodyPr wrap="square" lIns="0" tIns="0" rIns="0" bIns="0" rtlCol="0" anchor="ctr"/>
          <a:lstStyle/>
          <a:p>
            <a:pPr marL="0" indent="0" algn="ctr">
              <a:buNone/>
            </a:pPr>
            <a:r>
              <a:rPr lang="en-US" sz="900" b="1" dirty="0">
                <a:solidFill>
                  <a:srgbClr val="00D4FF"/>
                </a:solidFill>
              </a:rPr>
              <a:t>1</a:t>
            </a:r>
            <a:endParaRPr lang="en-US" sz="900" dirty="0"/>
          </a:p>
        </p:txBody>
      </p:sp>
      <p:sp>
        <p:nvSpPr>
          <p:cNvPr id="11" name="Text 9"/>
          <p:cNvSpPr/>
          <p:nvPr/>
        </p:nvSpPr>
        <p:spPr>
          <a:xfrm>
            <a:off x="960120" y="5029200"/>
            <a:ext cx="3474720" cy="365760"/>
          </a:xfrm>
          <a:prstGeom prst="rect">
            <a:avLst/>
          </a:prstGeom>
          <a:noFill/>
          <a:ln/>
        </p:spPr>
        <p:txBody>
          <a:bodyPr wrap="square" lIns="0" tIns="0" rIns="0" bIns="0" rtlCol="0" anchor="ctr"/>
          <a:lstStyle/>
          <a:p>
            <a:pPr marL="0" indent="0">
              <a:buNone/>
            </a:pPr>
            <a:r>
              <a:rPr lang="en-US" sz="900" dirty="0">
                <a:solidFill>
                  <a:srgbClr val="FFFFFF"/>
                </a:solidFill>
              </a:rPr>
              <a:t>Agree PoC scope &amp; budget</a:t>
            </a:r>
            <a:endParaRPr lang="en-US" sz="900" dirty="0"/>
          </a:p>
        </p:txBody>
      </p:sp>
      <p:sp>
        <p:nvSpPr>
          <p:cNvPr id="12" name="Text 10"/>
          <p:cNvSpPr/>
          <p:nvPr/>
        </p:nvSpPr>
        <p:spPr>
          <a:xfrm>
            <a:off x="4434840" y="5029200"/>
            <a:ext cx="2011680" cy="365760"/>
          </a:xfrm>
          <a:prstGeom prst="rect">
            <a:avLst/>
          </a:prstGeom>
          <a:noFill/>
          <a:ln/>
        </p:spPr>
        <p:txBody>
          <a:bodyPr wrap="square" lIns="0" tIns="0" rIns="0" bIns="0" rtlCol="0" anchor="ctr"/>
          <a:lstStyle/>
          <a:p>
            <a:pPr marL="0" indent="0" algn="ctr">
              <a:buNone/>
            </a:pPr>
            <a:r>
              <a:rPr lang="en-US" sz="850" dirty="0">
                <a:solidFill>
                  <a:srgbClr val="64748B"/>
                </a:solidFill>
              </a:rPr>
              <a:t>CTO + VP Eng</a:t>
            </a:r>
            <a:endParaRPr lang="en-US" sz="850" dirty="0"/>
          </a:p>
        </p:txBody>
      </p:sp>
      <p:sp>
        <p:nvSpPr>
          <p:cNvPr id="13" name="Text 11"/>
          <p:cNvSpPr/>
          <p:nvPr/>
        </p:nvSpPr>
        <p:spPr>
          <a:xfrm>
            <a:off x="6446520" y="5029200"/>
            <a:ext cx="1371600" cy="365760"/>
          </a:xfrm>
          <a:prstGeom prst="rect">
            <a:avLst/>
          </a:prstGeom>
          <a:noFill/>
          <a:ln/>
        </p:spPr>
        <p:txBody>
          <a:bodyPr wrap="square" lIns="0" tIns="0" rIns="0" bIns="0" rtlCol="0" anchor="ctr"/>
          <a:lstStyle/>
          <a:p>
            <a:pPr marL="0" indent="0" algn="ctr">
              <a:buNone/>
            </a:pPr>
            <a:r>
              <a:rPr lang="en-US" sz="850" b="1" dirty="0">
                <a:solidFill>
                  <a:srgbClr val="0099BB"/>
                </a:solidFill>
              </a:rPr>
              <a:t>Week 1</a:t>
            </a:r>
            <a:endParaRPr lang="en-US" sz="850" dirty="0"/>
          </a:p>
        </p:txBody>
      </p:sp>
      <p:sp>
        <p:nvSpPr>
          <p:cNvPr id="14" name="Shape 12"/>
          <p:cNvSpPr/>
          <p:nvPr/>
        </p:nvSpPr>
        <p:spPr>
          <a:xfrm>
            <a:off x="548640" y="5468112"/>
            <a:ext cx="7315200" cy="365760"/>
          </a:xfrm>
          <a:prstGeom prst="roundRect">
            <a:avLst>
              <a:gd name="adj" fmla="val 12500"/>
            </a:avLst>
          </a:prstGeom>
          <a:solidFill>
            <a:srgbClr val="243752"/>
          </a:solidFill>
          <a:ln w="12700">
            <a:solidFill>
              <a:srgbClr val="1A2F5A"/>
            </a:solidFill>
            <a:prstDash val="solid"/>
          </a:ln>
        </p:spPr>
        <p:txBody>
          <a:bodyPr/>
          <a:lstStyle/>
          <a:p>
            <a:endParaRPr lang="en-US"/>
          </a:p>
        </p:txBody>
      </p:sp>
      <p:sp>
        <p:nvSpPr>
          <p:cNvPr id="15" name="Text 13"/>
          <p:cNvSpPr/>
          <p:nvPr/>
        </p:nvSpPr>
        <p:spPr>
          <a:xfrm>
            <a:off x="548640" y="5468112"/>
            <a:ext cx="365760" cy="365760"/>
          </a:xfrm>
          <a:prstGeom prst="rect">
            <a:avLst/>
          </a:prstGeom>
          <a:noFill/>
          <a:ln/>
        </p:spPr>
        <p:txBody>
          <a:bodyPr wrap="square" lIns="0" tIns="0" rIns="0" bIns="0" rtlCol="0" anchor="ctr"/>
          <a:lstStyle/>
          <a:p>
            <a:pPr marL="0" indent="0" algn="ctr">
              <a:buNone/>
            </a:pPr>
            <a:r>
              <a:rPr lang="en-US" sz="900" b="1" dirty="0">
                <a:solidFill>
                  <a:srgbClr val="00D4FF"/>
                </a:solidFill>
              </a:rPr>
              <a:t>2</a:t>
            </a:r>
            <a:endParaRPr lang="en-US" sz="900" dirty="0"/>
          </a:p>
        </p:txBody>
      </p:sp>
      <p:sp>
        <p:nvSpPr>
          <p:cNvPr id="16" name="Text 14"/>
          <p:cNvSpPr/>
          <p:nvPr/>
        </p:nvSpPr>
        <p:spPr>
          <a:xfrm>
            <a:off x="960120" y="5468112"/>
            <a:ext cx="3474720" cy="365760"/>
          </a:xfrm>
          <a:prstGeom prst="rect">
            <a:avLst/>
          </a:prstGeom>
          <a:noFill/>
          <a:ln/>
        </p:spPr>
        <p:txBody>
          <a:bodyPr wrap="square" lIns="0" tIns="0" rIns="0" bIns="0" rtlCol="0" anchor="ctr"/>
          <a:lstStyle/>
          <a:p>
            <a:pPr marL="0" indent="0">
              <a:buNone/>
            </a:pPr>
            <a:r>
              <a:rPr lang="en-US" sz="900" dirty="0">
                <a:solidFill>
                  <a:srgbClr val="FFFFFF"/>
                </a:solidFill>
              </a:rPr>
              <a:t>Discovery sprint kickoff</a:t>
            </a:r>
            <a:endParaRPr lang="en-US" sz="900" dirty="0"/>
          </a:p>
        </p:txBody>
      </p:sp>
      <p:sp>
        <p:nvSpPr>
          <p:cNvPr id="17" name="Text 15"/>
          <p:cNvSpPr/>
          <p:nvPr/>
        </p:nvSpPr>
        <p:spPr>
          <a:xfrm>
            <a:off x="4434840" y="5468112"/>
            <a:ext cx="2011680" cy="365760"/>
          </a:xfrm>
          <a:prstGeom prst="rect">
            <a:avLst/>
          </a:prstGeom>
          <a:noFill/>
          <a:ln/>
        </p:spPr>
        <p:txBody>
          <a:bodyPr wrap="square" lIns="0" tIns="0" rIns="0" bIns="0" rtlCol="0" anchor="ctr"/>
          <a:lstStyle/>
          <a:p>
            <a:pPr marL="0" indent="0" algn="ctr">
              <a:buNone/>
            </a:pPr>
            <a:r>
              <a:rPr lang="en-US" sz="850" dirty="0">
                <a:solidFill>
                  <a:srgbClr val="64748B"/>
                </a:solidFill>
              </a:rPr>
              <a:t>Delivery Lead</a:t>
            </a:r>
            <a:endParaRPr lang="en-US" sz="850" dirty="0"/>
          </a:p>
        </p:txBody>
      </p:sp>
      <p:sp>
        <p:nvSpPr>
          <p:cNvPr id="18" name="Text 16"/>
          <p:cNvSpPr/>
          <p:nvPr/>
        </p:nvSpPr>
        <p:spPr>
          <a:xfrm>
            <a:off x="6446520" y="5468112"/>
            <a:ext cx="1371600" cy="365760"/>
          </a:xfrm>
          <a:prstGeom prst="rect">
            <a:avLst/>
          </a:prstGeom>
          <a:noFill/>
          <a:ln/>
        </p:spPr>
        <p:txBody>
          <a:bodyPr wrap="square" lIns="0" tIns="0" rIns="0" bIns="0" rtlCol="0" anchor="ctr"/>
          <a:lstStyle/>
          <a:p>
            <a:pPr marL="0" indent="0" algn="ctr">
              <a:buNone/>
            </a:pPr>
            <a:r>
              <a:rPr lang="en-US" sz="850" b="1" dirty="0">
                <a:solidFill>
                  <a:srgbClr val="0099BB"/>
                </a:solidFill>
              </a:rPr>
              <a:t>Week 2</a:t>
            </a:r>
            <a:endParaRPr lang="en-US" sz="850" dirty="0"/>
          </a:p>
        </p:txBody>
      </p:sp>
      <p:sp>
        <p:nvSpPr>
          <p:cNvPr id="19" name="Shape 17"/>
          <p:cNvSpPr/>
          <p:nvPr/>
        </p:nvSpPr>
        <p:spPr>
          <a:xfrm>
            <a:off x="548640" y="5907024"/>
            <a:ext cx="7315200" cy="365760"/>
          </a:xfrm>
          <a:prstGeom prst="roundRect">
            <a:avLst>
              <a:gd name="adj" fmla="val 12500"/>
            </a:avLst>
          </a:prstGeom>
          <a:solidFill>
            <a:srgbClr val="243752"/>
          </a:solidFill>
          <a:ln w="12700">
            <a:solidFill>
              <a:srgbClr val="1A2F5A"/>
            </a:solidFill>
            <a:prstDash val="solid"/>
          </a:ln>
        </p:spPr>
        <p:txBody>
          <a:bodyPr/>
          <a:lstStyle/>
          <a:p>
            <a:endParaRPr lang="en-US"/>
          </a:p>
        </p:txBody>
      </p:sp>
      <p:sp>
        <p:nvSpPr>
          <p:cNvPr id="20" name="Text 18"/>
          <p:cNvSpPr/>
          <p:nvPr/>
        </p:nvSpPr>
        <p:spPr>
          <a:xfrm>
            <a:off x="548640" y="5907024"/>
            <a:ext cx="365760" cy="365760"/>
          </a:xfrm>
          <a:prstGeom prst="rect">
            <a:avLst/>
          </a:prstGeom>
          <a:noFill/>
          <a:ln/>
        </p:spPr>
        <p:txBody>
          <a:bodyPr wrap="square" lIns="0" tIns="0" rIns="0" bIns="0" rtlCol="0" anchor="ctr"/>
          <a:lstStyle/>
          <a:p>
            <a:pPr marL="0" indent="0" algn="ctr">
              <a:buNone/>
            </a:pPr>
            <a:r>
              <a:rPr lang="en-US" sz="900" b="1" dirty="0">
                <a:solidFill>
                  <a:srgbClr val="00D4FF"/>
                </a:solidFill>
              </a:rPr>
              <a:t>3</a:t>
            </a:r>
            <a:endParaRPr lang="en-US" sz="900" dirty="0"/>
          </a:p>
        </p:txBody>
      </p:sp>
      <p:sp>
        <p:nvSpPr>
          <p:cNvPr id="21" name="Text 19"/>
          <p:cNvSpPr/>
          <p:nvPr/>
        </p:nvSpPr>
        <p:spPr>
          <a:xfrm>
            <a:off x="960120" y="5907024"/>
            <a:ext cx="3474720" cy="365760"/>
          </a:xfrm>
          <a:prstGeom prst="rect">
            <a:avLst/>
          </a:prstGeom>
          <a:noFill/>
          <a:ln/>
        </p:spPr>
        <p:txBody>
          <a:bodyPr wrap="square" lIns="0" tIns="0" rIns="0" bIns="0" rtlCol="0" anchor="ctr"/>
          <a:lstStyle/>
          <a:p>
            <a:pPr marL="0" indent="0">
              <a:buNone/>
            </a:pPr>
            <a:r>
              <a:rPr lang="en-US" sz="900" dirty="0">
                <a:solidFill>
                  <a:srgbClr val="FFFFFF"/>
                </a:solidFill>
              </a:rPr>
              <a:t>MCP integration architecture</a:t>
            </a:r>
            <a:endParaRPr lang="en-US" sz="900" dirty="0"/>
          </a:p>
        </p:txBody>
      </p:sp>
      <p:sp>
        <p:nvSpPr>
          <p:cNvPr id="22" name="Text 20"/>
          <p:cNvSpPr/>
          <p:nvPr/>
        </p:nvSpPr>
        <p:spPr>
          <a:xfrm>
            <a:off x="4434840" y="5907024"/>
            <a:ext cx="2011680" cy="365760"/>
          </a:xfrm>
          <a:prstGeom prst="rect">
            <a:avLst/>
          </a:prstGeom>
          <a:noFill/>
          <a:ln/>
        </p:spPr>
        <p:txBody>
          <a:bodyPr wrap="square" lIns="0" tIns="0" rIns="0" bIns="0" rtlCol="0" anchor="ctr"/>
          <a:lstStyle/>
          <a:p>
            <a:pPr marL="0" indent="0" algn="ctr">
              <a:buNone/>
            </a:pPr>
            <a:r>
              <a:rPr lang="en-US" sz="850" dirty="0">
                <a:solidFill>
                  <a:srgbClr val="64748B"/>
                </a:solidFill>
              </a:rPr>
              <a:t>Enterprise Arch</a:t>
            </a:r>
            <a:endParaRPr lang="en-US" sz="850" dirty="0"/>
          </a:p>
        </p:txBody>
      </p:sp>
      <p:sp>
        <p:nvSpPr>
          <p:cNvPr id="23" name="Text 21"/>
          <p:cNvSpPr/>
          <p:nvPr/>
        </p:nvSpPr>
        <p:spPr>
          <a:xfrm>
            <a:off x="6446520" y="5907024"/>
            <a:ext cx="1371600" cy="365760"/>
          </a:xfrm>
          <a:prstGeom prst="rect">
            <a:avLst/>
          </a:prstGeom>
          <a:noFill/>
          <a:ln/>
        </p:spPr>
        <p:txBody>
          <a:bodyPr wrap="square" lIns="0" tIns="0" rIns="0" bIns="0" rtlCol="0" anchor="ctr"/>
          <a:lstStyle/>
          <a:p>
            <a:pPr marL="0" indent="0" algn="ctr">
              <a:buNone/>
            </a:pPr>
            <a:r>
              <a:rPr lang="en-US" sz="850" b="1" dirty="0">
                <a:solidFill>
                  <a:srgbClr val="0099BB"/>
                </a:solidFill>
              </a:rPr>
              <a:t>Week 2–3</a:t>
            </a:r>
            <a:endParaRPr lang="en-US" sz="850" dirty="0"/>
          </a:p>
        </p:txBody>
      </p:sp>
      <p:sp>
        <p:nvSpPr>
          <p:cNvPr id="24" name="Shape 22"/>
          <p:cNvSpPr/>
          <p:nvPr/>
        </p:nvSpPr>
        <p:spPr>
          <a:xfrm>
            <a:off x="548640" y="6345936"/>
            <a:ext cx="7315200" cy="365760"/>
          </a:xfrm>
          <a:prstGeom prst="roundRect">
            <a:avLst>
              <a:gd name="adj" fmla="val 12500"/>
            </a:avLst>
          </a:prstGeom>
          <a:solidFill>
            <a:srgbClr val="243752"/>
          </a:solidFill>
          <a:ln w="12700">
            <a:solidFill>
              <a:srgbClr val="1A2F5A"/>
            </a:solidFill>
            <a:prstDash val="solid"/>
          </a:ln>
        </p:spPr>
        <p:txBody>
          <a:bodyPr/>
          <a:lstStyle/>
          <a:p>
            <a:endParaRPr lang="en-US"/>
          </a:p>
        </p:txBody>
      </p:sp>
      <p:sp>
        <p:nvSpPr>
          <p:cNvPr id="25" name="Text 23"/>
          <p:cNvSpPr/>
          <p:nvPr/>
        </p:nvSpPr>
        <p:spPr>
          <a:xfrm>
            <a:off x="548640" y="6345936"/>
            <a:ext cx="365760" cy="365760"/>
          </a:xfrm>
          <a:prstGeom prst="rect">
            <a:avLst/>
          </a:prstGeom>
          <a:noFill/>
          <a:ln/>
        </p:spPr>
        <p:txBody>
          <a:bodyPr wrap="square" lIns="0" tIns="0" rIns="0" bIns="0" rtlCol="0" anchor="ctr"/>
          <a:lstStyle/>
          <a:p>
            <a:pPr marL="0" indent="0" algn="ctr">
              <a:buNone/>
            </a:pPr>
            <a:r>
              <a:rPr lang="en-US" sz="900" b="1" dirty="0">
                <a:solidFill>
                  <a:srgbClr val="00D4FF"/>
                </a:solidFill>
              </a:rPr>
              <a:t>4</a:t>
            </a:r>
            <a:endParaRPr lang="en-US" sz="900" dirty="0"/>
          </a:p>
        </p:txBody>
      </p:sp>
      <p:sp>
        <p:nvSpPr>
          <p:cNvPr id="26" name="Text 24"/>
          <p:cNvSpPr/>
          <p:nvPr/>
        </p:nvSpPr>
        <p:spPr>
          <a:xfrm>
            <a:off x="960120" y="6345936"/>
            <a:ext cx="3474720" cy="365760"/>
          </a:xfrm>
          <a:prstGeom prst="rect">
            <a:avLst/>
          </a:prstGeom>
          <a:noFill/>
          <a:ln/>
        </p:spPr>
        <p:txBody>
          <a:bodyPr wrap="square" lIns="0" tIns="0" rIns="0" bIns="0" rtlCol="0" anchor="ctr"/>
          <a:lstStyle/>
          <a:p>
            <a:pPr marL="0" indent="0">
              <a:buNone/>
            </a:pPr>
            <a:r>
              <a:rPr lang="en-US" sz="900" dirty="0">
                <a:solidFill>
                  <a:srgbClr val="FFFFFF"/>
                </a:solidFill>
              </a:rPr>
              <a:t>PoC team assembly</a:t>
            </a:r>
            <a:endParaRPr lang="en-US" sz="900" dirty="0"/>
          </a:p>
        </p:txBody>
      </p:sp>
      <p:sp>
        <p:nvSpPr>
          <p:cNvPr id="27" name="Text 25"/>
          <p:cNvSpPr/>
          <p:nvPr/>
        </p:nvSpPr>
        <p:spPr>
          <a:xfrm>
            <a:off x="4434840" y="6345936"/>
            <a:ext cx="2011680" cy="365760"/>
          </a:xfrm>
          <a:prstGeom prst="rect">
            <a:avLst/>
          </a:prstGeom>
          <a:noFill/>
          <a:ln/>
        </p:spPr>
        <p:txBody>
          <a:bodyPr wrap="square" lIns="0" tIns="0" rIns="0" bIns="0" rtlCol="0" anchor="ctr"/>
          <a:lstStyle/>
          <a:p>
            <a:pPr marL="0" indent="0" algn="ctr">
              <a:buNone/>
            </a:pPr>
            <a:r>
              <a:rPr lang="en-US" sz="850" dirty="0">
                <a:solidFill>
                  <a:srgbClr val="64748B"/>
                </a:solidFill>
              </a:rPr>
              <a:t>CTO</a:t>
            </a:r>
            <a:endParaRPr lang="en-US" sz="850" dirty="0"/>
          </a:p>
        </p:txBody>
      </p:sp>
      <p:sp>
        <p:nvSpPr>
          <p:cNvPr id="28" name="Text 26"/>
          <p:cNvSpPr/>
          <p:nvPr/>
        </p:nvSpPr>
        <p:spPr>
          <a:xfrm>
            <a:off x="6446520" y="6345936"/>
            <a:ext cx="1371600" cy="365760"/>
          </a:xfrm>
          <a:prstGeom prst="rect">
            <a:avLst/>
          </a:prstGeom>
          <a:noFill/>
          <a:ln/>
        </p:spPr>
        <p:txBody>
          <a:bodyPr wrap="square" lIns="0" tIns="0" rIns="0" bIns="0" rtlCol="0" anchor="ctr"/>
          <a:lstStyle/>
          <a:p>
            <a:pPr marL="0" indent="0" algn="ctr">
              <a:buNone/>
            </a:pPr>
            <a:r>
              <a:rPr lang="en-US" sz="850" b="1" dirty="0">
                <a:solidFill>
                  <a:srgbClr val="0099BB"/>
                </a:solidFill>
              </a:rPr>
              <a:t>Week 3</a:t>
            </a:r>
            <a:endParaRPr lang="en-US" sz="850" dirty="0"/>
          </a:p>
        </p:txBody>
      </p:sp>
      <p:sp>
        <p:nvSpPr>
          <p:cNvPr id="29" name="Text 27"/>
          <p:cNvSpPr/>
          <p:nvPr/>
        </p:nvSpPr>
        <p:spPr>
          <a:xfrm>
            <a:off x="457200" y="6537960"/>
            <a:ext cx="10972800" cy="228600"/>
          </a:xfrm>
          <a:prstGeom prst="rect">
            <a:avLst/>
          </a:prstGeom>
          <a:noFill/>
          <a:ln/>
        </p:spPr>
        <p:txBody>
          <a:bodyPr wrap="square" lIns="0" tIns="0" rIns="0" bIns="0" rtlCol="0" anchor="ctr"/>
          <a:lstStyle/>
          <a:p>
            <a:pPr marL="0" indent="0">
              <a:buNone/>
            </a:pPr>
            <a:r>
              <a:rPr lang="en-US" sz="750" dirty="0">
                <a:solidFill>
                  <a:srgbClr val="64748B"/>
                </a:solidFill>
              </a:rPr>
              <a:t>CONFIDENTIAL  |  Technology Strategy Practice  |  Not for Distribution</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5029</Words>
  <Application>Microsoft Macintosh PowerPoint</Application>
  <PresentationFormat>Widescreen</PresentationFormat>
  <Paragraphs>1502</Paragraphs>
  <Slides>23</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SDLC Transformation</dc:title>
  <dc:subject>PptxGenJS Presentation</dc:subject>
  <dc:creator>Technology Strategy Consulting</dc:creator>
  <cp:lastModifiedBy>sourav mahapatra</cp:lastModifiedBy>
  <cp:revision>3</cp:revision>
  <dcterms:created xsi:type="dcterms:W3CDTF">2026-06-20T08:18:58Z</dcterms:created>
  <dcterms:modified xsi:type="dcterms:W3CDTF">2026-06-20T20:56:41Z</dcterms:modified>
</cp:coreProperties>
</file>