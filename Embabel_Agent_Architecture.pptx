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371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4"/>
    <p:restoredTop sz="94656"/>
  </p:normalViewPr>
  <p:slideViewPr>
    <p:cSldViewPr snapToGrid="0" snapToObjects="1">
      <p:cViewPr>
        <p:scale>
          <a:sx n="100" d="100"/>
          <a:sy n="100" d="100"/>
        </p:scale>
        <p:origin x="119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1F301E-F2BD-8047-8F15-1BEC96F3B7B2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DF7DD4-7DB7-B244-B275-AEC9F89D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669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F7DD4-7DB7-B244-B275-AEC9F89D31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2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6EE79-0102-3264-F27D-FB492785A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F867B2-5E43-6C1B-1B14-A17BDE7CEF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283DE4-2250-47AA-B5BE-83860DAB7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D42FD-617D-288A-5BBD-B50E7B1F73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F7DD4-7DB7-B244-B275-AEC9F89D31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8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50" Type="http://schemas.openxmlformats.org/officeDocument/2006/relationships/image" Target="../media/image48.png"/><Relationship Id="rId55" Type="http://schemas.openxmlformats.org/officeDocument/2006/relationships/image" Target="../media/image5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56" Type="http://schemas.openxmlformats.org/officeDocument/2006/relationships/image" Target="../media/image54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50" Type="http://schemas.openxmlformats.org/officeDocument/2006/relationships/image" Target="../media/image48.png"/><Relationship Id="rId55" Type="http://schemas.openxmlformats.org/officeDocument/2006/relationships/image" Target="../media/image5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56" Type="http://schemas.openxmlformats.org/officeDocument/2006/relationships/image" Target="../media/image54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13636" y="-34281"/>
            <a:ext cx="3288722" cy="47089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2700" b="1" dirty="0">
                <a:solidFill>
                  <a:srgbClr val="122444"/>
                </a:solidFill>
                <a:latin typeface="Aptos"/>
              </a:rPr>
              <a:t>Agentic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60677" y="357834"/>
            <a:ext cx="4794647" cy="2535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1288" b="0" dirty="0">
                <a:solidFill>
                  <a:srgbClr val="68707A"/>
                </a:solidFill>
                <a:latin typeface="Aptos"/>
              </a:rPr>
              <a:t>Goal-Driven • Plan-Execute-Adapt • Observable • Enterprise Ready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" y="1810512"/>
            <a:ext cx="1554480" cy="3712463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B8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659" y="1968942"/>
            <a:ext cx="1543179" cy="25006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1265" b="1">
                <a:solidFill>
                  <a:srgbClr val="2D5D9A"/>
                </a:solidFill>
                <a:latin typeface="Aptos"/>
              </a:rPr>
              <a:t>EXTERNAL SYSTEMS</a:t>
            </a:r>
          </a:p>
        </p:txBody>
      </p:sp>
      <p:pic>
        <p:nvPicPr>
          <p:cNvPr id="6" name="ExtIcon1"/>
          <p:cNvPicPr/>
          <p:nvPr/>
        </p:nvPicPr>
        <p:blipFill>
          <a:blip r:embed="rId3"/>
          <a:stretch>
            <a:fillRect/>
          </a:stretch>
        </p:blipFill>
        <p:spPr>
          <a:xfrm>
            <a:off x="254660" y="2413558"/>
            <a:ext cx="274320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1276" y="2448295"/>
            <a:ext cx="627672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 dirty="0">
                <a:solidFill>
                  <a:srgbClr val="23272D"/>
                </a:solidFill>
                <a:latin typeface="Aptos"/>
              </a:rPr>
              <a:t>CRM / ERP</a:t>
            </a:r>
          </a:p>
        </p:txBody>
      </p:sp>
      <p:pic>
        <p:nvPicPr>
          <p:cNvPr id="8" name="ExtIcon2"/>
          <p:cNvPicPr/>
          <p:nvPr/>
        </p:nvPicPr>
        <p:blipFill>
          <a:blip r:embed="rId4"/>
          <a:stretch>
            <a:fillRect/>
          </a:stretch>
        </p:blipFill>
        <p:spPr>
          <a:xfrm>
            <a:off x="254660" y="2934766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1276" y="2969503"/>
            <a:ext cx="642099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 dirty="0">
                <a:solidFill>
                  <a:srgbClr val="23272D"/>
                </a:solidFill>
                <a:latin typeface="Aptos"/>
              </a:rPr>
              <a:t>Databases</a:t>
            </a:r>
          </a:p>
        </p:txBody>
      </p:sp>
      <p:pic>
        <p:nvPicPr>
          <p:cNvPr id="10" name="ExtIcon3"/>
          <p:cNvPicPr/>
          <p:nvPr/>
        </p:nvPicPr>
        <p:blipFill>
          <a:blip r:embed="rId5"/>
          <a:stretch>
            <a:fillRect/>
          </a:stretch>
        </p:blipFill>
        <p:spPr>
          <a:xfrm>
            <a:off x="254660" y="3455974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1276" y="3415529"/>
            <a:ext cx="735073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23272D"/>
                </a:solidFill>
                <a:latin typeface="Aptos"/>
              </a:rPr>
              <a:t>Enterprise
Applications</a:t>
            </a:r>
          </a:p>
        </p:txBody>
      </p:sp>
      <p:pic>
        <p:nvPicPr>
          <p:cNvPr id="12" name="ExtIcon4"/>
          <p:cNvPicPr/>
          <p:nvPr/>
        </p:nvPicPr>
        <p:blipFill>
          <a:blip r:embed="rId6"/>
          <a:stretch>
            <a:fillRect/>
          </a:stretch>
        </p:blipFill>
        <p:spPr>
          <a:xfrm>
            <a:off x="254660" y="3977182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1276" y="3936738"/>
            <a:ext cx="808811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23272D"/>
                </a:solidFill>
                <a:latin typeface="Aptos"/>
              </a:rPr>
              <a:t>APIs &amp;
Microservices</a:t>
            </a:r>
          </a:p>
        </p:txBody>
      </p:sp>
      <p:pic>
        <p:nvPicPr>
          <p:cNvPr id="14" name="ExtIcon5"/>
          <p:cNvPicPr/>
          <p:nvPr/>
        </p:nvPicPr>
        <p:blipFill>
          <a:blip r:embed="rId7"/>
          <a:stretch>
            <a:fillRect/>
          </a:stretch>
        </p:blipFill>
        <p:spPr>
          <a:xfrm>
            <a:off x="254660" y="4498390"/>
            <a:ext cx="274320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1276" y="4457946"/>
            <a:ext cx="768737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23272D"/>
                </a:solidFill>
                <a:latin typeface="Aptos"/>
              </a:rPr>
              <a:t>Files / Object
Storage</a:t>
            </a:r>
          </a:p>
        </p:txBody>
      </p:sp>
      <p:pic>
        <p:nvPicPr>
          <p:cNvPr id="16" name="ExtIcon6"/>
          <p:cNvPicPr/>
          <p:nvPr/>
        </p:nvPicPr>
        <p:blipFill>
          <a:blip r:embed="rId8"/>
          <a:stretch>
            <a:fillRect/>
          </a:stretch>
        </p:blipFill>
        <p:spPr>
          <a:xfrm>
            <a:off x="254660" y="5019598"/>
            <a:ext cx="274320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1276" y="4979154"/>
            <a:ext cx="834459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23272D"/>
                </a:solidFill>
                <a:latin typeface="Aptos"/>
              </a:rPr>
              <a:t>Event Streams
(Kafka, etc.)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29968" y="630936"/>
            <a:ext cx="8741664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8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67128" y="770839"/>
            <a:ext cx="911403" cy="45179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1288" b="1">
                <a:solidFill>
                  <a:srgbClr val="2D5D9A"/>
                </a:solidFill>
                <a:latin typeface="Aptos"/>
              </a:rPr>
              <a:t>CLIENTS /
CHANNELS</a:t>
            </a:r>
          </a:p>
        </p:txBody>
      </p:sp>
      <p:pic>
        <p:nvPicPr>
          <p:cNvPr id="20" name="CliIcon1"/>
          <p:cNvPicPr/>
          <p:nvPr/>
        </p:nvPicPr>
        <p:blipFill>
          <a:blip r:embed="rId9"/>
          <a:stretch>
            <a:fillRect/>
          </a:stretch>
        </p:blipFill>
        <p:spPr>
          <a:xfrm>
            <a:off x="3877056" y="690372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790950" y="996696"/>
            <a:ext cx="446532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0" dirty="0">
                <a:solidFill>
                  <a:srgbClr val="68707A"/>
                </a:solidFill>
                <a:latin typeface="Aptos"/>
              </a:rPr>
              <a:t>Web UI</a:t>
            </a:r>
          </a:p>
        </p:txBody>
      </p:sp>
      <p:pic>
        <p:nvPicPr>
          <p:cNvPr id="22" name="CliIcon2"/>
          <p:cNvPicPr/>
          <p:nvPr/>
        </p:nvPicPr>
        <p:blipFill>
          <a:blip r:embed="rId10"/>
          <a:stretch>
            <a:fillRect/>
          </a:stretch>
        </p:blipFill>
        <p:spPr>
          <a:xfrm>
            <a:off x="5129784" y="690372"/>
            <a:ext cx="274320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935475" y="996696"/>
            <a:ext cx="662938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0">
                <a:solidFill>
                  <a:srgbClr val="68707A"/>
                </a:solidFill>
                <a:latin typeface="Aptos"/>
              </a:rPr>
              <a:t>Mobile App</a:t>
            </a:r>
          </a:p>
        </p:txBody>
      </p:sp>
      <p:pic>
        <p:nvPicPr>
          <p:cNvPr id="24" name="CliIcon3"/>
          <p:cNvPicPr/>
          <p:nvPr/>
        </p:nvPicPr>
        <p:blipFill>
          <a:blip r:embed="rId11"/>
          <a:stretch>
            <a:fillRect/>
          </a:stretch>
        </p:blipFill>
        <p:spPr>
          <a:xfrm>
            <a:off x="6409944" y="690372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106630" y="955548"/>
            <a:ext cx="880947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0">
                <a:solidFill>
                  <a:srgbClr val="68707A"/>
                </a:solidFill>
                <a:latin typeface="Aptos"/>
              </a:rPr>
              <a:t>Chat
(Slack / Teams)</a:t>
            </a:r>
          </a:p>
        </p:txBody>
      </p:sp>
      <p:pic>
        <p:nvPicPr>
          <p:cNvPr id="26" name="CliIcon4"/>
          <p:cNvPicPr/>
          <p:nvPr/>
        </p:nvPicPr>
        <p:blipFill>
          <a:blip r:embed="rId12"/>
          <a:stretch>
            <a:fillRect/>
          </a:stretch>
        </p:blipFill>
        <p:spPr>
          <a:xfrm>
            <a:off x="7872983" y="690372"/>
            <a:ext cx="274320" cy="274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32375" y="996696"/>
            <a:ext cx="555537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0">
                <a:solidFill>
                  <a:srgbClr val="68707A"/>
                </a:solidFill>
                <a:latin typeface="Aptos"/>
              </a:rPr>
              <a:t>API / SDK</a:t>
            </a:r>
          </a:p>
        </p:txBody>
      </p:sp>
      <p:pic>
        <p:nvPicPr>
          <p:cNvPr id="28" name="CliIcon5"/>
          <p:cNvPicPr/>
          <p:nvPr/>
        </p:nvPicPr>
        <p:blipFill>
          <a:blip r:embed="rId13"/>
          <a:stretch>
            <a:fillRect/>
          </a:stretch>
        </p:blipFill>
        <p:spPr>
          <a:xfrm>
            <a:off x="9427464" y="690372"/>
            <a:ext cx="274320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185064" y="996696"/>
            <a:ext cx="759119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0">
                <a:solidFill>
                  <a:srgbClr val="68707A"/>
                </a:solidFill>
                <a:latin typeface="Aptos"/>
              </a:rPr>
              <a:t>Other Agents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0" y="1399032"/>
            <a:ext cx="0" cy="274320"/>
          </a:xfrm>
          <a:prstGeom prst="line">
            <a:avLst/>
          </a:prstGeom>
          <a:ln w="17780">
            <a:solidFill>
              <a:srgbClr val="687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2029968" y="1716786"/>
            <a:ext cx="8741664" cy="2761488"/>
          </a:xfrm>
          <a:prstGeom prst="roundRect">
            <a:avLst/>
          </a:prstGeom>
          <a:solidFill>
            <a:srgbClr val="FAFDFA"/>
          </a:solidFill>
          <a:ln w="15875">
            <a:solidFill>
              <a:srgbClr val="479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709103" y="1781983"/>
            <a:ext cx="1337674" cy="2535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1288" b="1" dirty="0">
                <a:solidFill>
                  <a:srgbClr val="29744C"/>
                </a:solidFill>
                <a:latin typeface="Aptos"/>
              </a:rPr>
              <a:t> AGENT RUNTIME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57984" y="2064258"/>
            <a:ext cx="1517904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9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366657" y="2109978"/>
            <a:ext cx="1100558" cy="20403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66" b="1" dirty="0">
                <a:solidFill>
                  <a:srgbClr val="479D6B"/>
                </a:solidFill>
                <a:latin typeface="Aptos"/>
              </a:rPr>
              <a:t>1. GOAL RECEIVER</a:t>
            </a:r>
          </a:p>
        </p:txBody>
      </p:sp>
      <p:pic>
        <p:nvPicPr>
          <p:cNvPr id="42" name="RtIcon1"/>
          <p:cNvPicPr/>
          <p:nvPr/>
        </p:nvPicPr>
        <p:blipFill>
          <a:blip r:embed="rId14"/>
          <a:stretch>
            <a:fillRect/>
          </a:stretch>
        </p:blipFill>
        <p:spPr>
          <a:xfrm>
            <a:off x="2779775" y="2324706"/>
            <a:ext cx="274320" cy="27432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237615" y="2658618"/>
            <a:ext cx="1358642" cy="35612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77" b="0" dirty="0">
                <a:solidFill>
                  <a:srgbClr val="23272D"/>
                </a:solidFill>
                <a:latin typeface="Aptos"/>
              </a:rPr>
              <a:t>Receives user goal /
intent and initial context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931920" y="2064258"/>
            <a:ext cx="1517904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9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26541" y="2109978"/>
            <a:ext cx="728661" cy="20403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66" b="1" dirty="0">
                <a:solidFill>
                  <a:srgbClr val="479D6B"/>
                </a:solidFill>
                <a:latin typeface="Aptos"/>
              </a:rPr>
              <a:t>2. PLANNER</a:t>
            </a:r>
          </a:p>
        </p:txBody>
      </p:sp>
      <p:pic>
        <p:nvPicPr>
          <p:cNvPr id="46" name="RtIcon2"/>
          <p:cNvPicPr/>
          <p:nvPr/>
        </p:nvPicPr>
        <p:blipFill>
          <a:blip r:embed="rId15"/>
          <a:stretch>
            <a:fillRect/>
          </a:stretch>
        </p:blipFill>
        <p:spPr>
          <a:xfrm>
            <a:off x="4562855" y="2348364"/>
            <a:ext cx="256032" cy="25603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082083" y="2658618"/>
            <a:ext cx="1217577" cy="65684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77" b="0" dirty="0">
                <a:solidFill>
                  <a:srgbClr val="23272D"/>
                </a:solidFill>
                <a:latin typeface="Aptos"/>
              </a:rPr>
              <a:t>Creates plan using
Goals, Actions,
Conditions, Domain
Model &amp; current state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705856" y="2064258"/>
            <a:ext cx="181051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8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48623" y="2109978"/>
            <a:ext cx="1324978" cy="20403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66" b="1">
                <a:solidFill>
                  <a:srgbClr val="5B8EC9"/>
                </a:solidFill>
                <a:latin typeface="Aptos"/>
              </a:rPr>
              <a:t>3. EXECUTION ENGINE</a:t>
            </a:r>
          </a:p>
        </p:txBody>
      </p:sp>
      <p:pic>
        <p:nvPicPr>
          <p:cNvPr id="50" name="RtIcon3"/>
          <p:cNvPicPr/>
          <p:nvPr/>
        </p:nvPicPr>
        <p:blipFill>
          <a:blip r:embed="rId16"/>
          <a:stretch>
            <a:fillRect/>
          </a:stretch>
        </p:blipFill>
        <p:spPr>
          <a:xfrm>
            <a:off x="6478524" y="2329278"/>
            <a:ext cx="265176" cy="26517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847634" y="2658618"/>
            <a:ext cx="1526956" cy="80720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77" b="0" dirty="0">
                <a:solidFill>
                  <a:srgbClr val="23272D"/>
                </a:solidFill>
                <a:latin typeface="Aptos"/>
              </a:rPr>
              <a:t>Executes plan step-by-step
• Validate preconditions
• Execute action / tool
• Update state
• Re-plan if needed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90688" y="2064258"/>
            <a:ext cx="1609344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27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041875" y="2109978"/>
            <a:ext cx="1106970" cy="352661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66" b="1">
                <a:solidFill>
                  <a:srgbClr val="927DC1"/>
                </a:solidFill>
                <a:latin typeface="Aptos"/>
              </a:rPr>
              <a:t>4. STATE, MEMORY
&amp; CONTEXT</a:t>
            </a:r>
          </a:p>
        </p:txBody>
      </p:sp>
      <p:pic>
        <p:nvPicPr>
          <p:cNvPr id="54" name="RtIcon4"/>
          <p:cNvPicPr/>
          <p:nvPr/>
        </p:nvPicPr>
        <p:blipFill>
          <a:blip r:embed="rId17"/>
          <a:stretch>
            <a:fillRect/>
          </a:stretch>
        </p:blipFill>
        <p:spPr>
          <a:xfrm>
            <a:off x="8463685" y="2452722"/>
            <a:ext cx="263347" cy="27432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795011" y="2759202"/>
            <a:ext cx="1600696" cy="65684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77" b="0" dirty="0">
                <a:solidFill>
                  <a:srgbClr val="23272D"/>
                </a:solidFill>
                <a:latin typeface="Aptos"/>
              </a:rPr>
              <a:t>Manages state, short-term
memory, long-term memory,
conversation context and
retrieved knowledge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646920" y="2064258"/>
            <a:ext cx="960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B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723375" y="2109978"/>
            <a:ext cx="807209" cy="352661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66" b="1">
                <a:solidFill>
                  <a:srgbClr val="E5B55B"/>
                </a:solidFill>
                <a:latin typeface="Aptos"/>
              </a:rPr>
              <a:t>5. RESPONSE
GENERATOR</a:t>
            </a:r>
          </a:p>
        </p:txBody>
      </p:sp>
      <p:pic>
        <p:nvPicPr>
          <p:cNvPr id="58" name="RtIcon5"/>
          <p:cNvPicPr/>
          <p:nvPr/>
        </p:nvPicPr>
        <p:blipFill>
          <a:blip r:embed="rId18"/>
          <a:stretch>
            <a:fillRect/>
          </a:stretch>
        </p:blipFill>
        <p:spPr>
          <a:xfrm>
            <a:off x="9996055" y="2452722"/>
            <a:ext cx="261850" cy="27432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603151" y="2759202"/>
            <a:ext cx="1047659" cy="65684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77" b="0" dirty="0">
                <a:solidFill>
                  <a:srgbClr val="23272D"/>
                </a:solidFill>
                <a:latin typeface="Aptos"/>
              </a:rPr>
              <a:t>Synthesizes final
answer / response
with citations &amp;
evidence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675887" y="2795778"/>
            <a:ext cx="256032" cy="0"/>
          </a:xfrm>
          <a:prstGeom prst="line">
            <a:avLst/>
          </a:prstGeom>
          <a:ln w="19050">
            <a:solidFill>
              <a:srgbClr val="687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5449824" y="2795778"/>
            <a:ext cx="256032" cy="0"/>
          </a:xfrm>
          <a:prstGeom prst="line">
            <a:avLst/>
          </a:prstGeom>
          <a:ln w="19050">
            <a:solidFill>
              <a:srgbClr val="687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516368" y="2795778"/>
            <a:ext cx="274320" cy="0"/>
          </a:xfrm>
          <a:prstGeom prst="line">
            <a:avLst/>
          </a:prstGeom>
          <a:ln w="19050">
            <a:solidFill>
              <a:srgbClr val="687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400032" y="2795778"/>
            <a:ext cx="246888" cy="0"/>
          </a:xfrm>
          <a:prstGeom prst="line">
            <a:avLst/>
          </a:prstGeom>
          <a:ln w="19050">
            <a:solidFill>
              <a:srgbClr val="687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627632" y="2423160"/>
            <a:ext cx="402336" cy="0"/>
          </a:xfrm>
          <a:prstGeom prst="line">
            <a:avLst/>
          </a:prstGeom>
          <a:ln w="17780">
            <a:solidFill>
              <a:srgbClr val="68707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627632" y="3154680"/>
            <a:ext cx="402336" cy="0"/>
          </a:xfrm>
          <a:prstGeom prst="line">
            <a:avLst/>
          </a:prstGeom>
          <a:ln w="17780">
            <a:solidFill>
              <a:srgbClr val="68707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789920" y="2996946"/>
            <a:ext cx="274320" cy="0"/>
          </a:xfrm>
          <a:prstGeom prst="line">
            <a:avLst/>
          </a:prstGeom>
          <a:ln w="17780">
            <a:solidFill>
              <a:srgbClr val="68707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627632" y="3886200"/>
            <a:ext cx="402336" cy="0"/>
          </a:xfrm>
          <a:prstGeom prst="line">
            <a:avLst/>
          </a:prstGeom>
          <a:ln w="17780">
            <a:solidFill>
              <a:srgbClr val="68707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0771632" y="5385816"/>
            <a:ext cx="283464" cy="0"/>
          </a:xfrm>
          <a:prstGeom prst="line">
            <a:avLst/>
          </a:prstGeom>
          <a:ln w="17780">
            <a:solidFill>
              <a:srgbClr val="68707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2363724" y="3819906"/>
            <a:ext cx="8074152" cy="548640"/>
          </a:xfrm>
          <a:prstGeom prst="roundRect">
            <a:avLst/>
          </a:prstGeom>
          <a:solidFill>
            <a:srgbClr val="FDF8E9"/>
          </a:solidFill>
          <a:ln w="12700">
            <a:solidFill>
              <a:srgbClr val="E5B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722402" y="3871112"/>
            <a:ext cx="1860959" cy="2535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1288" b="1" dirty="0">
                <a:solidFill>
                  <a:srgbClr val="DD8B30"/>
                </a:solidFill>
                <a:latin typeface="Aptos"/>
              </a:rPr>
              <a:t>DOMAIN MODEL (Typed)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89804" y="3838194"/>
            <a:ext cx="3731086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0" dirty="0">
                <a:solidFill>
                  <a:srgbClr val="68707A"/>
                </a:solidFill>
                <a:latin typeface="Aptos"/>
              </a:rPr>
              <a:t>Typed domain entities, relationships, business rules and constraints
used by Planner, Actions and Conditions</a:t>
            </a:r>
          </a:p>
        </p:txBody>
      </p:sp>
      <p:sp>
        <p:nvSpPr>
          <p:cNvPr id="79" name="Icon 79"/>
          <p:cNvSpPr>
            <a:spLocks/>
          </p:cNvSpPr>
          <p:nvPr/>
        </p:nvSpPr>
        <p:spPr>
          <a:xfrm>
            <a:off x="2478024" y="3934206"/>
            <a:ext cx="210000" cy="210000"/>
          </a:xfrm>
          <a:prstGeom prst="cube">
            <a:avLst/>
          </a:prstGeom>
          <a:noFill/>
          <a:ln w="15875" cap="rnd">
            <a:solidFill>
              <a:srgbClr val="23272D"/>
            </a:solidFill>
            <a:round/>
          </a:ln>
        </p:spPr>
        <p:txBody>
          <a:bodyPr/>
          <a:lstStyle/>
          <a:p>
            <a:endParaRPr lang="en-US" sz="100"/>
          </a:p>
        </p:txBody>
      </p:sp>
      <p:cxnSp>
        <p:nvCxnSpPr>
          <p:cNvPr id="80" name="Connector 79"/>
          <p:cNvCxnSpPr/>
          <p:nvPr/>
        </p:nvCxnSpPr>
        <p:spPr>
          <a:xfrm>
            <a:off x="6327648" y="3527298"/>
            <a:ext cx="0" cy="292608"/>
          </a:xfrm>
          <a:prstGeom prst="line">
            <a:avLst/>
          </a:prstGeom>
          <a:ln w="16510">
            <a:solidFill>
              <a:srgbClr val="68707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8668512" y="3527298"/>
            <a:ext cx="0" cy="292608"/>
          </a:xfrm>
          <a:prstGeom prst="line">
            <a:avLst/>
          </a:prstGeom>
          <a:ln w="16510">
            <a:solidFill>
              <a:srgbClr val="68707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2029968" y="4832604"/>
            <a:ext cx="8741664" cy="1042416"/>
          </a:xfrm>
          <a:prstGeom prst="roundRect">
            <a:avLst/>
          </a:prstGeom>
          <a:solidFill>
            <a:srgbClr val="F5F2FB"/>
          </a:solidFill>
          <a:ln w="13970">
            <a:solidFill>
              <a:srgbClr val="927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678952" y="4869180"/>
            <a:ext cx="3489417" cy="2535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1288" b="1" dirty="0">
                <a:solidFill>
                  <a:srgbClr val="704EA4"/>
                </a:solidFill>
                <a:latin typeface="Aptos"/>
              </a:rPr>
              <a:t>ACTIONS &amp; TOOLS (Anything the agent can do)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185416" y="5106924"/>
            <a:ext cx="1389888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C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5" name="AtIcon1"/>
          <p:cNvPicPr/>
          <p:nvPr/>
        </p:nvPicPr>
        <p:blipFill>
          <a:blip r:embed="rId19"/>
          <a:stretch>
            <a:fillRect/>
          </a:stretch>
        </p:blipFill>
        <p:spPr>
          <a:xfrm>
            <a:off x="2231136" y="5147916"/>
            <a:ext cx="274320" cy="27432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2593313" y="5157216"/>
            <a:ext cx="839269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1">
                <a:solidFill>
                  <a:srgbClr val="634B97"/>
                </a:solidFill>
                <a:latin typeface="Aptos"/>
              </a:rPr>
              <a:t>RAG Retrieval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305234" y="5408676"/>
            <a:ext cx="1150251" cy="35612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77" b="0">
                <a:solidFill>
                  <a:srgbClr val="68707A"/>
                </a:solidFill>
                <a:latin typeface="Aptos"/>
              </a:rPr>
              <a:t>Search &amp; retrieve
relevant information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694176" y="5106924"/>
            <a:ext cx="1389888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C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9" name="AtIcon2"/>
          <p:cNvPicPr/>
          <p:nvPr/>
        </p:nvPicPr>
        <p:blipFill>
          <a:blip r:embed="rId20"/>
          <a:srcRect t="1556" b="4000"/>
          <a:stretch>
            <a:fillRect/>
          </a:stretch>
        </p:blipFill>
        <p:spPr>
          <a:xfrm>
            <a:off x="3739896" y="5147916"/>
            <a:ext cx="274320" cy="27432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4194246" y="5157216"/>
            <a:ext cx="654924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1" dirty="0">
                <a:solidFill>
                  <a:srgbClr val="634B97"/>
                </a:solidFill>
                <a:latin typeface="Aptos"/>
              </a:rPr>
              <a:t>MCP Tools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967081" y="5408676"/>
            <a:ext cx="844078" cy="35612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77" b="0" dirty="0">
                <a:solidFill>
                  <a:srgbClr val="68707A"/>
                </a:solidFill>
                <a:latin typeface="Aptos"/>
              </a:rPr>
              <a:t>Model Context
Protocol tools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202936" y="5106924"/>
            <a:ext cx="1389888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C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3" name="AtIcon3"/>
          <p:cNvPicPr/>
          <p:nvPr/>
        </p:nvPicPr>
        <p:blipFill>
          <a:blip r:embed="rId21"/>
          <a:srcRect l="2273" r="2273"/>
          <a:stretch>
            <a:fillRect/>
          </a:stretch>
        </p:blipFill>
        <p:spPr>
          <a:xfrm>
            <a:off x="5248656" y="5147916"/>
            <a:ext cx="274320" cy="27432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5741478" y="5157216"/>
            <a:ext cx="577979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1">
                <a:solidFill>
                  <a:srgbClr val="634B97"/>
                </a:solidFill>
                <a:latin typeface="Aptos"/>
              </a:rPr>
              <a:t>API Tools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506298" y="5408676"/>
            <a:ext cx="783164" cy="35612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77" b="0">
                <a:solidFill>
                  <a:srgbClr val="68707A"/>
                </a:solidFill>
                <a:latin typeface="Aptos"/>
              </a:rPr>
              <a:t>Call internal /
external APIs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711696" y="5106924"/>
            <a:ext cx="1389888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C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7" name="AtIcon4"/>
          <p:cNvPicPr/>
          <p:nvPr/>
        </p:nvPicPr>
        <p:blipFill>
          <a:blip r:embed="rId22"/>
          <a:stretch>
            <a:fillRect/>
          </a:stretch>
        </p:blipFill>
        <p:spPr>
          <a:xfrm>
            <a:off x="6764274" y="5147916"/>
            <a:ext cx="260604" cy="274320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7207758" y="5157216"/>
            <a:ext cx="662938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1">
                <a:solidFill>
                  <a:srgbClr val="634B97"/>
                </a:solidFill>
                <a:latin typeface="Aptos"/>
              </a:rPr>
              <a:t>DB / Query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047118" y="5408676"/>
            <a:ext cx="719044" cy="35612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77" b="0">
                <a:solidFill>
                  <a:srgbClr val="68707A"/>
                </a:solidFill>
                <a:latin typeface="Aptos"/>
              </a:rPr>
              <a:t>Read / Write
Databases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220456" y="5106924"/>
            <a:ext cx="1389888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C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181673" y="5125212"/>
            <a:ext cx="443326" cy="32085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1725" b="0">
                <a:solidFill>
                  <a:srgbClr val="927DC1"/>
                </a:solidFill>
                <a:latin typeface="Segoe UI Symbol"/>
              </a:rPr>
              <a:t>&lt;/&gt;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97896" y="5157216"/>
            <a:ext cx="900183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1">
                <a:solidFill>
                  <a:srgbClr val="634B97"/>
                </a:solidFill>
                <a:latin typeface="Aptos"/>
              </a:rPr>
              <a:t>Business Logic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511795" y="5408676"/>
            <a:ext cx="807209" cy="20576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77" b="0" dirty="0">
                <a:solidFill>
                  <a:srgbClr val="68707A"/>
                </a:solidFill>
                <a:latin typeface="Aptos"/>
              </a:rPr>
              <a:t>Custom </a:t>
            </a:r>
            <a:r>
              <a:rPr lang="en-US" sz="977" dirty="0">
                <a:solidFill>
                  <a:srgbClr val="68707A"/>
                </a:solidFill>
                <a:latin typeface="Aptos"/>
              </a:rPr>
              <a:t>Code</a:t>
            </a:r>
            <a:endParaRPr lang="en-US" sz="977" b="0" dirty="0">
              <a:solidFill>
                <a:srgbClr val="68707A"/>
              </a:solidFill>
              <a:latin typeface="Aptos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9729216" y="5106924"/>
            <a:ext cx="877824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C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0031920" y="5027853"/>
            <a:ext cx="242952" cy="36317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2000" dirty="0">
                <a:solidFill>
                  <a:srgbClr val="927DC1"/>
                </a:solidFill>
                <a:latin typeface="Segoe UI Symbol"/>
              </a:rPr>
              <a:t>…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21430" y="5408676"/>
            <a:ext cx="693396" cy="35612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77" b="0">
                <a:solidFill>
                  <a:srgbClr val="68707A"/>
                </a:solidFill>
                <a:latin typeface="Aptos"/>
              </a:rPr>
              <a:t>Any custom
action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1064240" y="4663440"/>
            <a:ext cx="256032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8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1483940" y="4775738"/>
            <a:ext cx="1720920" cy="22345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1092" b="1">
                <a:solidFill>
                  <a:srgbClr val="2D5D9A"/>
                </a:solidFill>
                <a:latin typeface="Aptos"/>
              </a:rPr>
              <a:t>LLM &amp; MODEL PROVIDERS</a:t>
            </a:r>
          </a:p>
        </p:txBody>
      </p:sp>
      <p:pic>
        <p:nvPicPr>
          <p:cNvPr id="110" name="LlmIcon1"/>
          <p:cNvPicPr/>
          <p:nvPr/>
        </p:nvPicPr>
        <p:blipFill>
          <a:blip r:embed="rId23"/>
          <a:stretch>
            <a:fillRect/>
          </a:stretch>
        </p:blipFill>
        <p:spPr>
          <a:xfrm>
            <a:off x="11283696" y="5033314"/>
            <a:ext cx="274320" cy="274320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11567160" y="5068051"/>
            <a:ext cx="457754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 dirty="0">
                <a:solidFill>
                  <a:srgbClr val="68707A"/>
                </a:solidFill>
                <a:latin typeface="Aptos"/>
              </a:rPr>
              <a:t>OpenAI</a:t>
            </a:r>
          </a:p>
        </p:txBody>
      </p:sp>
      <p:pic>
        <p:nvPicPr>
          <p:cNvPr id="112" name="LlmIcon2"/>
          <p:cNvPicPr/>
          <p:nvPr/>
        </p:nvPicPr>
        <p:blipFill>
          <a:blip r:embed="rId24"/>
          <a:stretch>
            <a:fillRect/>
          </a:stretch>
        </p:blipFill>
        <p:spPr>
          <a:xfrm>
            <a:off x="12435840" y="5033314"/>
            <a:ext cx="274320" cy="274320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12710160" y="5068051"/>
            <a:ext cx="584391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 dirty="0">
                <a:solidFill>
                  <a:srgbClr val="68707A"/>
                </a:solidFill>
                <a:latin typeface="Aptos"/>
              </a:rPr>
              <a:t>Anthropic</a:t>
            </a:r>
          </a:p>
        </p:txBody>
      </p:sp>
      <p:pic>
        <p:nvPicPr>
          <p:cNvPr id="114" name="LlmIcon3"/>
          <p:cNvPicPr/>
          <p:nvPr/>
        </p:nvPicPr>
        <p:blipFill>
          <a:blip r:embed="rId25"/>
          <a:stretch>
            <a:fillRect/>
          </a:stretch>
        </p:blipFill>
        <p:spPr>
          <a:xfrm>
            <a:off x="11283696" y="5426506"/>
            <a:ext cx="274320" cy="274320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11567160" y="5461243"/>
            <a:ext cx="940257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68707A"/>
                </a:solidFill>
                <a:latin typeface="Aptos"/>
              </a:rPr>
              <a:t>Google Vertex AI</a:t>
            </a:r>
          </a:p>
        </p:txBody>
      </p:sp>
      <p:pic>
        <p:nvPicPr>
          <p:cNvPr id="116" name="LlmIcon4"/>
          <p:cNvPicPr/>
          <p:nvPr/>
        </p:nvPicPr>
        <p:blipFill>
          <a:blip r:embed="rId26"/>
          <a:stretch>
            <a:fillRect/>
          </a:stretch>
        </p:blipFill>
        <p:spPr>
          <a:xfrm>
            <a:off x="12435840" y="5426506"/>
            <a:ext cx="274320" cy="274320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12710160" y="5461243"/>
            <a:ext cx="789575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68707A"/>
                </a:solidFill>
                <a:latin typeface="Aptos"/>
              </a:rPr>
              <a:t>Azure OpenAI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1683897" y="5794999"/>
            <a:ext cx="1275286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0">
                <a:solidFill>
                  <a:srgbClr val="68707A"/>
                </a:solidFill>
                <a:latin typeface="Aptos"/>
              </a:rPr>
              <a:t>…   Any model provider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029968" y="6229350"/>
            <a:ext cx="8741664" cy="804672"/>
          </a:xfrm>
          <a:prstGeom prst="roundRect">
            <a:avLst/>
          </a:prstGeom>
          <a:solidFill>
            <a:srgbClr val="F6FAFF"/>
          </a:solidFill>
          <a:ln w="13970">
            <a:solidFill>
              <a:srgbClr val="5B8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4817962" y="6284214"/>
            <a:ext cx="3119957" cy="2535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1288" b="1" dirty="0">
                <a:solidFill>
                  <a:srgbClr val="2D5D9A"/>
                </a:solidFill>
                <a:latin typeface="Aptos"/>
              </a:rPr>
              <a:t>AI INTEGRATION / AI FOUNDATION LAYER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2185416" y="6531102"/>
            <a:ext cx="1170432" cy="42062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3" name="SaIcon1"/>
          <p:cNvPicPr/>
          <p:nvPr/>
        </p:nvPicPr>
        <p:blipFill>
          <a:blip r:embed="rId27"/>
          <a:stretch>
            <a:fillRect/>
          </a:stretch>
        </p:blipFill>
        <p:spPr>
          <a:xfrm>
            <a:off x="2221992" y="6583524"/>
            <a:ext cx="274320" cy="260604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2533843" y="6553962"/>
            <a:ext cx="747898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1" dirty="0" err="1">
                <a:solidFill>
                  <a:srgbClr val="2D5D9A"/>
                </a:solidFill>
                <a:latin typeface="Aptos"/>
              </a:rPr>
              <a:t>ChatClient</a:t>
            </a:r>
            <a:r>
              <a:rPr lang="en-US" sz="977" b="1" dirty="0">
                <a:solidFill>
                  <a:srgbClr val="2D5D9A"/>
                </a:solidFill>
                <a:latin typeface="Aptos"/>
              </a:rPr>
              <a:t> /
LLM Calls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3401568" y="6531102"/>
            <a:ext cx="1170432" cy="42062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6" name="SaIcon2"/>
          <p:cNvPicPr/>
          <p:nvPr/>
        </p:nvPicPr>
        <p:blipFill>
          <a:blip r:embed="rId28"/>
          <a:stretch>
            <a:fillRect/>
          </a:stretch>
        </p:blipFill>
        <p:spPr>
          <a:xfrm>
            <a:off x="3445002" y="6576666"/>
            <a:ext cx="260604" cy="274320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3742781" y="6628943"/>
            <a:ext cx="762325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1">
                <a:solidFill>
                  <a:srgbClr val="2D5D9A"/>
                </a:solidFill>
                <a:latin typeface="Aptos"/>
              </a:rPr>
              <a:t>Embeddings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617720" y="6531102"/>
            <a:ext cx="1170432" cy="42062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9" name="SaIcon3"/>
          <p:cNvPicPr/>
          <p:nvPr/>
        </p:nvPicPr>
        <p:blipFill>
          <a:blip r:embed="rId29"/>
          <a:stretch>
            <a:fillRect/>
          </a:stretch>
        </p:blipFill>
        <p:spPr>
          <a:xfrm>
            <a:off x="4654296" y="6576666"/>
            <a:ext cx="274320" cy="274320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4924469" y="6629142"/>
            <a:ext cx="831253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1" dirty="0">
                <a:solidFill>
                  <a:srgbClr val="2D5D9A"/>
                </a:solidFill>
                <a:latin typeface="Aptos"/>
              </a:rPr>
              <a:t>Vector Stores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833872" y="6531102"/>
            <a:ext cx="1170432" cy="42062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2" name="SaIcon4"/>
          <p:cNvPicPr/>
          <p:nvPr/>
        </p:nvPicPr>
        <p:blipFill>
          <a:blip r:embed="rId30"/>
          <a:stretch>
            <a:fillRect/>
          </a:stretch>
        </p:blipFill>
        <p:spPr>
          <a:xfrm>
            <a:off x="5870448" y="6576666"/>
            <a:ext cx="274320" cy="274320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6146231" y="6553962"/>
            <a:ext cx="820033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1">
                <a:solidFill>
                  <a:srgbClr val="2D5D9A"/>
                </a:solidFill>
                <a:latin typeface="Aptos"/>
              </a:rPr>
              <a:t>Document
Transformers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7050024" y="6531102"/>
            <a:ext cx="1170432" cy="42062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5" name="SaIcon5"/>
          <p:cNvPicPr/>
          <p:nvPr/>
        </p:nvPicPr>
        <p:blipFill>
          <a:blip r:embed="rId31"/>
          <a:stretch>
            <a:fillRect/>
          </a:stretch>
        </p:blipFill>
        <p:spPr>
          <a:xfrm>
            <a:off x="7086600" y="6576666"/>
            <a:ext cx="274320" cy="274320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7354368" y="6553962"/>
            <a:ext cx="836063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1">
                <a:solidFill>
                  <a:srgbClr val="2D5D9A"/>
                </a:solidFill>
                <a:latin typeface="Aptos"/>
              </a:rPr>
              <a:t>Tool Calling &amp;
Functions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8266176" y="6531102"/>
            <a:ext cx="1170432" cy="42062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8255919" y="6580480"/>
            <a:ext cx="367986" cy="26776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1380" b="0">
                <a:solidFill>
                  <a:srgbClr val="2D5D9A"/>
                </a:solidFill>
                <a:latin typeface="Segoe UI Symbol"/>
              </a:rPr>
              <a:t>&lt;/&gt;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743645" y="6553962"/>
            <a:ext cx="489814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1">
                <a:solidFill>
                  <a:srgbClr val="2D5D9A"/>
                </a:solidFill>
                <a:latin typeface="Aptos"/>
              </a:rPr>
              <a:t>Output
Parsers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9482328" y="6531102"/>
            <a:ext cx="1170432" cy="42062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2" name="SaIcon6"/>
          <p:cNvPicPr/>
          <p:nvPr/>
        </p:nvPicPr>
        <p:blipFill>
          <a:blip r:embed="rId32"/>
          <a:stretch>
            <a:fillRect/>
          </a:stretch>
        </p:blipFill>
        <p:spPr>
          <a:xfrm>
            <a:off x="9525762" y="6576666"/>
            <a:ext cx="260604" cy="274320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9849009" y="6628943"/>
            <a:ext cx="656526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1">
                <a:solidFill>
                  <a:srgbClr val="2D5D9A"/>
                </a:solidFill>
                <a:latin typeface="Aptos"/>
              </a:rPr>
              <a:t>Guardrails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6355080" y="7068312"/>
            <a:ext cx="0" cy="274320"/>
          </a:xfrm>
          <a:prstGeom prst="line">
            <a:avLst/>
          </a:prstGeom>
          <a:ln w="15240">
            <a:solidFill>
              <a:srgbClr val="687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ounded Rectangle 144"/>
          <p:cNvSpPr/>
          <p:nvPr/>
        </p:nvSpPr>
        <p:spPr>
          <a:xfrm>
            <a:off x="2029968" y="7388352"/>
            <a:ext cx="874166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5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6" name="TextBox 145"/>
          <p:cNvSpPr txBox="1"/>
          <p:nvPr/>
        </p:nvSpPr>
        <p:spPr>
          <a:xfrm>
            <a:off x="5404117" y="7420356"/>
            <a:ext cx="1993366" cy="2535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1288" b="1" dirty="0">
                <a:solidFill>
                  <a:srgbClr val="122444"/>
                </a:solidFill>
                <a:latin typeface="Aptos"/>
              </a:rPr>
              <a:t>DATA &amp; INFRASTRUCTURE</a:t>
            </a:r>
          </a:p>
        </p:txBody>
      </p:sp>
      <p:pic>
        <p:nvPicPr>
          <p:cNvPr id="147" name="DiIcon1"/>
          <p:cNvPicPr/>
          <p:nvPr/>
        </p:nvPicPr>
        <p:blipFill>
          <a:blip r:embed="rId33"/>
          <a:srcRect l="4500" r="5500"/>
          <a:stretch>
            <a:fillRect/>
          </a:stretch>
        </p:blipFill>
        <p:spPr>
          <a:xfrm>
            <a:off x="2212848" y="7675318"/>
            <a:ext cx="274320" cy="274320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2532888" y="7698334"/>
            <a:ext cx="598818" cy="20576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lang="en-US" sz="977" b="0" dirty="0">
                <a:solidFill>
                  <a:srgbClr val="68707A"/>
                </a:solidFill>
                <a:latin typeface="Aptos"/>
              </a:rPr>
              <a:t>Vector DB</a:t>
            </a:r>
          </a:p>
        </p:txBody>
      </p:sp>
      <p:pic>
        <p:nvPicPr>
          <p:cNvPr id="149" name="DiIcon2"/>
          <p:cNvPicPr/>
          <p:nvPr/>
        </p:nvPicPr>
        <p:blipFill>
          <a:blip r:embed="rId34"/>
          <a:stretch>
            <a:fillRect/>
          </a:stretch>
        </p:blipFill>
        <p:spPr>
          <a:xfrm>
            <a:off x="3458753" y="7675318"/>
            <a:ext cx="274320" cy="274320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3807822" y="7625182"/>
            <a:ext cx="1204753" cy="35612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lang="en-US" sz="977" b="0" dirty="0">
                <a:solidFill>
                  <a:srgbClr val="68707A"/>
                </a:solidFill>
                <a:latin typeface="Aptos"/>
              </a:rPr>
              <a:t>Relational DB</a:t>
            </a:r>
          </a:p>
          <a:p>
            <a:pPr algn="l"/>
            <a:r>
              <a:rPr lang="en-US" sz="977" b="0" dirty="0">
                <a:solidFill>
                  <a:srgbClr val="68707A"/>
                </a:solidFill>
                <a:latin typeface="Aptos"/>
              </a:rPr>
              <a:t>(PostgreSQL, MySQL)</a:t>
            </a:r>
          </a:p>
        </p:txBody>
      </p:sp>
      <p:pic>
        <p:nvPicPr>
          <p:cNvPr id="151" name="DiIcon3"/>
          <p:cNvPicPr/>
          <p:nvPr/>
        </p:nvPicPr>
        <p:blipFill>
          <a:blip r:embed="rId35"/>
          <a:stretch>
            <a:fillRect/>
          </a:stretch>
        </p:blipFill>
        <p:spPr>
          <a:xfrm>
            <a:off x="5183634" y="7689948"/>
            <a:ext cx="274320" cy="274320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5532702" y="7639812"/>
            <a:ext cx="880947" cy="35612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lang="en-US" sz="977" b="0" dirty="0">
                <a:solidFill>
                  <a:srgbClr val="68707A"/>
                </a:solidFill>
                <a:latin typeface="Aptos"/>
              </a:rPr>
              <a:t>Object Storage</a:t>
            </a:r>
          </a:p>
          <a:p>
            <a:pPr algn="l"/>
            <a:r>
              <a:rPr lang="en-US" sz="977" b="0" dirty="0">
                <a:solidFill>
                  <a:srgbClr val="68707A"/>
                </a:solidFill>
                <a:latin typeface="Aptos"/>
              </a:rPr>
              <a:t>(S3, GCS, Blob)</a:t>
            </a:r>
          </a:p>
        </p:txBody>
      </p:sp>
      <p:pic>
        <p:nvPicPr>
          <p:cNvPr id="153" name="DiIcon4"/>
          <p:cNvPicPr/>
          <p:nvPr/>
        </p:nvPicPr>
        <p:blipFill>
          <a:blip r:embed="rId36"/>
          <a:stretch>
            <a:fillRect/>
          </a:stretch>
        </p:blipFill>
        <p:spPr>
          <a:xfrm>
            <a:off x="6797766" y="7689948"/>
            <a:ext cx="274320" cy="274320"/>
          </a:xfrm>
          <a:prstGeom prst="rect">
            <a:avLst/>
          </a:prstGeom>
        </p:spPr>
      </p:pic>
      <p:sp>
        <p:nvSpPr>
          <p:cNvPr id="154" name="TextBox 153"/>
          <p:cNvSpPr txBox="1"/>
          <p:nvPr/>
        </p:nvSpPr>
        <p:spPr>
          <a:xfrm>
            <a:off x="7132320" y="7654442"/>
            <a:ext cx="432106" cy="35612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lang="en-US" sz="977" b="0">
                <a:solidFill>
                  <a:srgbClr val="68707A"/>
                </a:solidFill>
                <a:latin typeface="Aptos"/>
              </a:rPr>
              <a:t>Cache
(Redis)</a:t>
            </a:r>
          </a:p>
        </p:txBody>
      </p:sp>
      <p:pic>
        <p:nvPicPr>
          <p:cNvPr id="155" name="DiIcon5"/>
          <p:cNvPicPr/>
          <p:nvPr/>
        </p:nvPicPr>
        <p:blipFill>
          <a:blip r:embed="rId37"/>
          <a:stretch>
            <a:fillRect/>
          </a:stretch>
        </p:blipFill>
        <p:spPr>
          <a:xfrm>
            <a:off x="7933219" y="7703664"/>
            <a:ext cx="261850" cy="274320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8247024" y="7639812"/>
            <a:ext cx="1073307" cy="35612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lang="en-US" sz="977" b="0" dirty="0">
                <a:solidFill>
                  <a:srgbClr val="68707A"/>
                </a:solidFill>
                <a:latin typeface="Aptos"/>
              </a:rPr>
              <a:t>Message Broker
(Kafka / RabbitMQ)</a:t>
            </a:r>
          </a:p>
        </p:txBody>
      </p:sp>
      <p:pic>
        <p:nvPicPr>
          <p:cNvPr id="157" name="DiIcon6"/>
          <p:cNvPicPr/>
          <p:nvPr/>
        </p:nvPicPr>
        <p:blipFill>
          <a:blip r:embed="rId38"/>
          <a:stretch>
            <a:fillRect/>
          </a:stretch>
        </p:blipFill>
        <p:spPr>
          <a:xfrm>
            <a:off x="9520646" y="7710883"/>
            <a:ext cx="274320" cy="259882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9811657" y="7726680"/>
            <a:ext cx="824841" cy="20576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lang="en-US" sz="977" b="0" dirty="0">
                <a:solidFill>
                  <a:srgbClr val="68707A"/>
                </a:solidFill>
                <a:latin typeface="Aptos"/>
              </a:rPr>
              <a:t>Search Engine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1064240" y="1828800"/>
            <a:ext cx="2560320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5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11785305" y="1945787"/>
            <a:ext cx="1118190" cy="232371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1150" b="1">
                <a:solidFill>
                  <a:srgbClr val="524783"/>
                </a:solidFill>
                <a:latin typeface="Aptos"/>
              </a:rPr>
              <a:t>OBSERVABILITY</a:t>
            </a:r>
          </a:p>
        </p:txBody>
      </p:sp>
      <p:pic>
        <p:nvPicPr>
          <p:cNvPr id="161" name="ObsIcon1"/>
          <p:cNvPicPr/>
          <p:nvPr/>
        </p:nvPicPr>
        <p:blipFill>
          <a:blip r:embed="rId39"/>
          <a:stretch>
            <a:fillRect/>
          </a:stretch>
        </p:blipFill>
        <p:spPr>
          <a:xfrm>
            <a:off x="11770614" y="2354580"/>
            <a:ext cx="210312" cy="210312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12126316" y="2356855"/>
            <a:ext cx="449739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 dirty="0">
                <a:solidFill>
                  <a:srgbClr val="23272D"/>
                </a:solidFill>
                <a:latin typeface="Aptos"/>
              </a:rPr>
              <a:t>Tracing</a:t>
            </a:r>
          </a:p>
        </p:txBody>
      </p:sp>
      <p:pic>
        <p:nvPicPr>
          <p:cNvPr id="163" name="ObsIcon2"/>
          <p:cNvPicPr/>
          <p:nvPr/>
        </p:nvPicPr>
        <p:blipFill>
          <a:blip r:embed="rId40"/>
          <a:stretch>
            <a:fillRect/>
          </a:stretch>
        </p:blipFill>
        <p:spPr>
          <a:xfrm>
            <a:off x="11770614" y="2711196"/>
            <a:ext cx="210312" cy="210312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12126316" y="2713471"/>
            <a:ext cx="459357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23272D"/>
                </a:solidFill>
                <a:latin typeface="Aptos"/>
              </a:rPr>
              <a:t>Metrics</a:t>
            </a:r>
          </a:p>
        </p:txBody>
      </p:sp>
      <p:pic>
        <p:nvPicPr>
          <p:cNvPr id="165" name="ObsIcon3"/>
          <p:cNvPicPr/>
          <p:nvPr/>
        </p:nvPicPr>
        <p:blipFill>
          <a:blip r:embed="rId41"/>
          <a:stretch>
            <a:fillRect/>
          </a:stretch>
        </p:blipFill>
        <p:spPr>
          <a:xfrm>
            <a:off x="11770614" y="3067812"/>
            <a:ext cx="210312" cy="210312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12126316" y="3070087"/>
            <a:ext cx="468975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23272D"/>
                </a:solidFill>
                <a:latin typeface="Aptos"/>
              </a:rPr>
              <a:t>Logging</a:t>
            </a:r>
          </a:p>
        </p:txBody>
      </p:sp>
      <p:pic>
        <p:nvPicPr>
          <p:cNvPr id="167" name="ObsIcon4"/>
          <p:cNvPicPr/>
          <p:nvPr/>
        </p:nvPicPr>
        <p:blipFill>
          <a:blip r:embed="rId42"/>
          <a:stretch>
            <a:fillRect/>
          </a:stretch>
        </p:blipFill>
        <p:spPr>
          <a:xfrm>
            <a:off x="11770614" y="3424428"/>
            <a:ext cx="210312" cy="210312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12126316" y="3426703"/>
            <a:ext cx="626069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23272D"/>
                </a:solidFill>
                <a:latin typeface="Aptos"/>
              </a:rPr>
              <a:t>Evaluation</a:t>
            </a:r>
          </a:p>
        </p:txBody>
      </p:sp>
      <p:pic>
        <p:nvPicPr>
          <p:cNvPr id="169" name="ObsIcon5"/>
          <p:cNvPicPr/>
          <p:nvPr/>
        </p:nvPicPr>
        <p:blipFill>
          <a:blip r:embed="rId43"/>
          <a:stretch>
            <a:fillRect/>
          </a:stretch>
        </p:blipFill>
        <p:spPr>
          <a:xfrm>
            <a:off x="11770614" y="3781044"/>
            <a:ext cx="210312" cy="210312"/>
          </a:xfrm>
          <a:prstGeom prst="rect">
            <a:avLst/>
          </a:prstGeom>
        </p:spPr>
      </p:pic>
      <p:sp>
        <p:nvSpPr>
          <p:cNvPr id="170" name="TextBox 169"/>
          <p:cNvSpPr txBox="1"/>
          <p:nvPr/>
        </p:nvSpPr>
        <p:spPr>
          <a:xfrm>
            <a:off x="12126316" y="3783319"/>
            <a:ext cx="501035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23272D"/>
                </a:solidFill>
                <a:latin typeface="Aptos"/>
              </a:rPr>
              <a:t>Auditing</a:t>
            </a:r>
          </a:p>
        </p:txBody>
      </p:sp>
      <p:pic>
        <p:nvPicPr>
          <p:cNvPr id="171" name="ObsIcon6"/>
          <p:cNvPicPr/>
          <p:nvPr/>
        </p:nvPicPr>
        <p:blipFill>
          <a:blip r:embed="rId44"/>
          <a:stretch>
            <a:fillRect/>
          </a:stretch>
        </p:blipFill>
        <p:spPr>
          <a:xfrm>
            <a:off x="11770614" y="4139488"/>
            <a:ext cx="210312" cy="210312"/>
          </a:xfrm>
          <a:prstGeom prst="rect">
            <a:avLst/>
          </a:prstGeom>
        </p:spPr>
      </p:pic>
      <p:sp>
        <p:nvSpPr>
          <p:cNvPr id="172" name="TextBox 171"/>
          <p:cNvSpPr txBox="1"/>
          <p:nvPr/>
        </p:nvSpPr>
        <p:spPr>
          <a:xfrm>
            <a:off x="12126316" y="4139935"/>
            <a:ext cx="792781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23272D"/>
                </a:solidFill>
                <a:latin typeface="Aptos"/>
              </a:rPr>
              <a:t>Cost Tracking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11064240" y="6291072"/>
            <a:ext cx="2560320" cy="1792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9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11455887" y="6407943"/>
            <a:ext cx="1777025" cy="22345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1092" b="1">
                <a:solidFill>
                  <a:srgbClr val="29744C"/>
                </a:solidFill>
                <a:latin typeface="Aptos"/>
              </a:rPr>
              <a:t>GOVERNANCE &amp; SECURITY</a:t>
            </a:r>
          </a:p>
        </p:txBody>
      </p:sp>
      <p:pic>
        <p:nvPicPr>
          <p:cNvPr id="175" name="GovIcon1"/>
          <p:cNvPicPr/>
          <p:nvPr/>
        </p:nvPicPr>
        <p:blipFill>
          <a:blip r:embed="rId45"/>
          <a:stretch>
            <a:fillRect/>
          </a:stretch>
        </p:blipFill>
        <p:spPr>
          <a:xfrm>
            <a:off x="11300155" y="6761530"/>
            <a:ext cx="274320" cy="274320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11656771" y="6796267"/>
            <a:ext cx="1674433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68707A"/>
                </a:solidFill>
                <a:latin typeface="Aptos"/>
              </a:rPr>
              <a:t>Authentication / Authorization</a:t>
            </a:r>
          </a:p>
        </p:txBody>
      </p:sp>
      <p:pic>
        <p:nvPicPr>
          <p:cNvPr id="177" name="GovIcon2"/>
          <p:cNvPicPr/>
          <p:nvPr/>
        </p:nvPicPr>
        <p:blipFill>
          <a:blip r:embed="rId46"/>
          <a:stretch>
            <a:fillRect/>
          </a:stretch>
        </p:blipFill>
        <p:spPr>
          <a:xfrm>
            <a:off x="11300155" y="7017562"/>
            <a:ext cx="274320" cy="274320"/>
          </a:xfrm>
          <a:prstGeom prst="rect">
            <a:avLst/>
          </a:prstGeom>
        </p:spPr>
      </p:pic>
      <p:sp>
        <p:nvSpPr>
          <p:cNvPr id="178" name="TextBox 177"/>
          <p:cNvSpPr txBox="1"/>
          <p:nvPr/>
        </p:nvSpPr>
        <p:spPr>
          <a:xfrm>
            <a:off x="11656771" y="7052299"/>
            <a:ext cx="1732141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68707A"/>
                </a:solidFill>
                <a:latin typeface="Aptos"/>
              </a:rPr>
              <a:t>Row / Document Level Security</a:t>
            </a:r>
          </a:p>
        </p:txBody>
      </p:sp>
      <p:pic>
        <p:nvPicPr>
          <p:cNvPr id="179" name="GovIcon3"/>
          <p:cNvPicPr/>
          <p:nvPr/>
        </p:nvPicPr>
        <p:blipFill>
          <a:blip r:embed="rId47"/>
          <a:stretch>
            <a:fillRect/>
          </a:stretch>
        </p:blipFill>
        <p:spPr>
          <a:xfrm>
            <a:off x="11300155" y="7273594"/>
            <a:ext cx="274320" cy="274320"/>
          </a:xfrm>
          <a:prstGeom prst="rect">
            <a:avLst/>
          </a:prstGeom>
        </p:spPr>
      </p:pic>
      <p:sp>
        <p:nvSpPr>
          <p:cNvPr id="180" name="TextBox 179"/>
          <p:cNvSpPr txBox="1"/>
          <p:nvPr/>
        </p:nvSpPr>
        <p:spPr>
          <a:xfrm>
            <a:off x="11656771" y="7308331"/>
            <a:ext cx="1427570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68707A"/>
                </a:solidFill>
                <a:latin typeface="Aptos"/>
              </a:rPr>
              <a:t>PII Protection / Redaction</a:t>
            </a:r>
          </a:p>
        </p:txBody>
      </p:sp>
      <p:pic>
        <p:nvPicPr>
          <p:cNvPr id="181" name="GovIcon4"/>
          <p:cNvPicPr/>
          <p:nvPr/>
        </p:nvPicPr>
        <p:blipFill>
          <a:blip r:embed="rId48"/>
          <a:stretch>
            <a:fillRect/>
          </a:stretch>
        </p:blipFill>
        <p:spPr>
          <a:xfrm>
            <a:off x="11300155" y="7529626"/>
            <a:ext cx="274320" cy="274320"/>
          </a:xfrm>
          <a:prstGeom prst="rect">
            <a:avLst/>
          </a:prstGeom>
        </p:spPr>
      </p:pic>
      <p:sp>
        <p:nvSpPr>
          <p:cNvPr id="182" name="TextBox 181"/>
          <p:cNvSpPr txBox="1"/>
          <p:nvPr/>
        </p:nvSpPr>
        <p:spPr>
          <a:xfrm>
            <a:off x="11656771" y="7564363"/>
            <a:ext cx="1106970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68707A"/>
                </a:solidFill>
                <a:latin typeface="Aptos"/>
              </a:rPr>
              <a:t>Policy Enforcement</a:t>
            </a:r>
          </a:p>
        </p:txBody>
      </p:sp>
      <p:pic>
        <p:nvPicPr>
          <p:cNvPr id="183" name="GovIcon5"/>
          <p:cNvPicPr/>
          <p:nvPr/>
        </p:nvPicPr>
        <p:blipFill>
          <a:blip r:embed="rId49"/>
          <a:stretch>
            <a:fillRect/>
          </a:stretch>
        </p:blipFill>
        <p:spPr>
          <a:xfrm>
            <a:off x="11300155" y="7785658"/>
            <a:ext cx="274320" cy="274320"/>
          </a:xfrm>
          <a:prstGeom prst="rect">
            <a:avLst/>
          </a:prstGeom>
        </p:spPr>
      </p:pic>
      <p:sp>
        <p:nvSpPr>
          <p:cNvPr id="184" name="TextBox 183"/>
          <p:cNvSpPr txBox="1"/>
          <p:nvPr/>
        </p:nvSpPr>
        <p:spPr>
          <a:xfrm>
            <a:off x="11656771" y="7820395"/>
            <a:ext cx="1135824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68707A"/>
                </a:solidFill>
                <a:latin typeface="Aptos"/>
              </a:rPr>
              <a:t>Audit &amp; Compliance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530352" y="8321040"/>
            <a:ext cx="13075920" cy="694944"/>
          </a:xfrm>
          <a:prstGeom prst="roundRect">
            <a:avLst/>
          </a:prstGeom>
          <a:solidFill>
            <a:srgbClr val="FDF8E9"/>
          </a:solidFill>
          <a:ln w="12700">
            <a:solidFill>
              <a:srgbClr val="E5B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6303457" y="8313113"/>
            <a:ext cx="1109086" cy="2535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1288" b="1" dirty="0">
                <a:solidFill>
                  <a:srgbClr val="DD8B30"/>
                </a:solidFill>
                <a:latin typeface="Aptos"/>
              </a:rPr>
              <a:t>KEY BENEFITS</a:t>
            </a:r>
          </a:p>
        </p:txBody>
      </p:sp>
      <p:pic>
        <p:nvPicPr>
          <p:cNvPr id="189" name="KbIcon1"/>
          <p:cNvPicPr/>
          <p:nvPr/>
        </p:nvPicPr>
        <p:blipFill>
          <a:blip r:embed="rId50"/>
          <a:stretch>
            <a:fillRect/>
          </a:stretch>
        </p:blipFill>
        <p:spPr>
          <a:xfrm>
            <a:off x="832104" y="8595360"/>
            <a:ext cx="274320" cy="274320"/>
          </a:xfrm>
          <a:prstGeom prst="rect">
            <a:avLst/>
          </a:prstGeom>
        </p:spPr>
      </p:pic>
      <p:sp>
        <p:nvSpPr>
          <p:cNvPr id="190" name="TextBox 189"/>
          <p:cNvSpPr txBox="1"/>
          <p:nvPr/>
        </p:nvSpPr>
        <p:spPr>
          <a:xfrm>
            <a:off x="1170432" y="8615923"/>
            <a:ext cx="686983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68707A"/>
                </a:solidFill>
                <a:latin typeface="Aptos"/>
              </a:rPr>
              <a:t>Goal Driven</a:t>
            </a:r>
          </a:p>
        </p:txBody>
      </p:sp>
      <p:pic>
        <p:nvPicPr>
          <p:cNvPr id="191" name="KbIcon2"/>
          <p:cNvPicPr/>
          <p:nvPr/>
        </p:nvPicPr>
        <p:blipFill>
          <a:blip r:embed="rId51"/>
          <a:stretch>
            <a:fillRect/>
          </a:stretch>
        </p:blipFill>
        <p:spPr>
          <a:xfrm>
            <a:off x="2859024" y="8595360"/>
            <a:ext cx="243840" cy="274320"/>
          </a:xfrm>
          <a:prstGeom prst="rect">
            <a:avLst/>
          </a:prstGeom>
        </p:spPr>
      </p:pic>
      <p:sp>
        <p:nvSpPr>
          <p:cNvPr id="192" name="TextBox 191"/>
          <p:cNvSpPr txBox="1"/>
          <p:nvPr/>
        </p:nvSpPr>
        <p:spPr>
          <a:xfrm>
            <a:off x="3182112" y="8540742"/>
            <a:ext cx="1490088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68707A"/>
                </a:solidFill>
                <a:latin typeface="Aptos"/>
              </a:rPr>
              <a:t>Dynamic Planning
(Re-plan as state changes)</a:t>
            </a:r>
          </a:p>
        </p:txBody>
      </p:sp>
      <p:pic>
        <p:nvPicPr>
          <p:cNvPr id="193" name="KbIcon3"/>
          <p:cNvPicPr/>
          <p:nvPr/>
        </p:nvPicPr>
        <p:blipFill>
          <a:blip r:embed="rId52"/>
          <a:stretch>
            <a:fillRect/>
          </a:stretch>
        </p:blipFill>
        <p:spPr>
          <a:xfrm>
            <a:off x="4917948" y="8595360"/>
            <a:ext cx="259080" cy="274320"/>
          </a:xfrm>
          <a:prstGeom prst="rect">
            <a:avLst/>
          </a:prstGeom>
        </p:spPr>
      </p:pic>
      <p:sp>
        <p:nvSpPr>
          <p:cNvPr id="194" name="TextBox 193"/>
          <p:cNvSpPr txBox="1"/>
          <p:nvPr/>
        </p:nvSpPr>
        <p:spPr>
          <a:xfrm>
            <a:off x="5248656" y="8540742"/>
            <a:ext cx="1106970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 dirty="0">
                <a:solidFill>
                  <a:srgbClr val="68707A"/>
                </a:solidFill>
                <a:latin typeface="Aptos"/>
              </a:rPr>
              <a:t>Capability Oriented
(Reusable Actions)</a:t>
            </a:r>
          </a:p>
        </p:txBody>
      </p:sp>
      <p:pic>
        <p:nvPicPr>
          <p:cNvPr id="195" name="KbIcon4"/>
          <p:cNvPicPr/>
          <p:nvPr/>
        </p:nvPicPr>
        <p:blipFill>
          <a:blip r:embed="rId53"/>
          <a:stretch>
            <a:fillRect/>
          </a:stretch>
        </p:blipFill>
        <p:spPr>
          <a:xfrm>
            <a:off x="6931152" y="8595360"/>
            <a:ext cx="274320" cy="274320"/>
          </a:xfrm>
          <a:prstGeom prst="rect">
            <a:avLst/>
          </a:prstGeom>
        </p:spPr>
      </p:pic>
      <p:sp>
        <p:nvSpPr>
          <p:cNvPr id="196" name="TextBox 195"/>
          <p:cNvSpPr txBox="1"/>
          <p:nvPr/>
        </p:nvSpPr>
        <p:spPr>
          <a:xfrm>
            <a:off x="7269480" y="8615923"/>
            <a:ext cx="1172693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 dirty="0">
                <a:solidFill>
                  <a:srgbClr val="68707A"/>
                </a:solidFill>
                <a:latin typeface="Aptos"/>
              </a:rPr>
              <a:t>Tool &amp; Data Agnostic</a:t>
            </a:r>
          </a:p>
        </p:txBody>
      </p:sp>
      <p:pic>
        <p:nvPicPr>
          <p:cNvPr id="197" name="KbIcon5"/>
          <p:cNvPicPr/>
          <p:nvPr/>
        </p:nvPicPr>
        <p:blipFill>
          <a:blip r:embed="rId54"/>
          <a:stretch>
            <a:fillRect/>
          </a:stretch>
        </p:blipFill>
        <p:spPr>
          <a:xfrm>
            <a:off x="8513064" y="8604504"/>
            <a:ext cx="274320" cy="256032"/>
          </a:xfrm>
          <a:prstGeom prst="rect">
            <a:avLst/>
          </a:prstGeom>
        </p:spPr>
      </p:pic>
      <p:sp>
        <p:nvSpPr>
          <p:cNvPr id="198" name="TextBox 197"/>
          <p:cNvSpPr txBox="1"/>
          <p:nvPr/>
        </p:nvSpPr>
        <p:spPr>
          <a:xfrm>
            <a:off x="8851392" y="8540742"/>
            <a:ext cx="970715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68707A"/>
                </a:solidFill>
                <a:latin typeface="Aptos"/>
              </a:rPr>
              <a:t>Enterprise Ready
&amp; Scalable</a:t>
            </a:r>
          </a:p>
        </p:txBody>
      </p:sp>
      <p:pic>
        <p:nvPicPr>
          <p:cNvPr id="199" name="KbIcon6"/>
          <p:cNvPicPr/>
          <p:nvPr/>
        </p:nvPicPr>
        <p:blipFill>
          <a:blip r:embed="rId55"/>
          <a:stretch>
            <a:fillRect/>
          </a:stretch>
        </p:blipFill>
        <p:spPr>
          <a:xfrm>
            <a:off x="10131552" y="8595360"/>
            <a:ext cx="274320" cy="27432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10469880" y="8540742"/>
            <a:ext cx="1264064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68707A"/>
                </a:solidFill>
                <a:latin typeface="Aptos"/>
              </a:rPr>
              <a:t>Observable, Governed
&amp; Compliant</a:t>
            </a:r>
          </a:p>
        </p:txBody>
      </p:sp>
      <p:pic>
        <p:nvPicPr>
          <p:cNvPr id="201" name="KbIcon7"/>
          <p:cNvPicPr/>
          <p:nvPr/>
        </p:nvPicPr>
        <p:blipFill>
          <a:blip r:embed="rId56"/>
          <a:stretch>
            <a:fillRect/>
          </a:stretch>
        </p:blipFill>
        <p:spPr>
          <a:xfrm>
            <a:off x="11960352" y="8595360"/>
            <a:ext cx="274320" cy="274320"/>
          </a:xfrm>
          <a:prstGeom prst="rect">
            <a:avLst/>
          </a:prstGeom>
        </p:spPr>
      </p:pic>
      <p:sp>
        <p:nvSpPr>
          <p:cNvPr id="202" name="TextBox 201"/>
          <p:cNvSpPr txBox="1"/>
          <p:nvPr/>
        </p:nvSpPr>
        <p:spPr>
          <a:xfrm>
            <a:off x="12298680" y="8540742"/>
            <a:ext cx="996363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68707A"/>
                </a:solidFill>
                <a:latin typeface="Aptos"/>
              </a:rPr>
              <a:t>Built on Spring AI
&amp; JVM Ecosystem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6355080" y="5911596"/>
            <a:ext cx="0" cy="274320"/>
          </a:xfrm>
          <a:prstGeom prst="line">
            <a:avLst/>
          </a:prstGeom>
          <a:ln w="15240">
            <a:solidFill>
              <a:srgbClr val="687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79">
            <a:extLst>
              <a:ext uri="{FF2B5EF4-FFF2-40B4-BE49-F238E27FC236}">
                <a16:creationId xmlns:a16="http://schemas.microsoft.com/office/drawing/2014/main" id="{91B0358C-3AB0-AF7E-D9E1-AB6CB02B2924}"/>
              </a:ext>
            </a:extLst>
          </p:cNvPr>
          <p:cNvCxnSpPr/>
          <p:nvPr/>
        </p:nvCxnSpPr>
        <p:spPr>
          <a:xfrm>
            <a:off x="8395498" y="4517136"/>
            <a:ext cx="0" cy="274320"/>
          </a:xfrm>
          <a:prstGeom prst="line">
            <a:avLst/>
          </a:prstGeom>
          <a:ln w="16510">
            <a:solidFill>
              <a:srgbClr val="68707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79">
            <a:extLst>
              <a:ext uri="{FF2B5EF4-FFF2-40B4-BE49-F238E27FC236}">
                <a16:creationId xmlns:a16="http://schemas.microsoft.com/office/drawing/2014/main" id="{20025D3E-DB00-F77F-A2F6-FEC2DEF574E9}"/>
              </a:ext>
            </a:extLst>
          </p:cNvPr>
          <p:cNvCxnSpPr/>
          <p:nvPr/>
        </p:nvCxnSpPr>
        <p:spPr>
          <a:xfrm>
            <a:off x="4690872" y="3527298"/>
            <a:ext cx="0" cy="292608"/>
          </a:xfrm>
          <a:prstGeom prst="line">
            <a:avLst/>
          </a:prstGeom>
          <a:ln w="16510">
            <a:solidFill>
              <a:srgbClr val="68707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79">
            <a:extLst>
              <a:ext uri="{FF2B5EF4-FFF2-40B4-BE49-F238E27FC236}">
                <a16:creationId xmlns:a16="http://schemas.microsoft.com/office/drawing/2014/main" id="{FC8C8D70-9253-60D0-C8FF-F3F33AE35644}"/>
              </a:ext>
            </a:extLst>
          </p:cNvPr>
          <p:cNvCxnSpPr/>
          <p:nvPr/>
        </p:nvCxnSpPr>
        <p:spPr>
          <a:xfrm>
            <a:off x="4088530" y="4517136"/>
            <a:ext cx="0" cy="274320"/>
          </a:xfrm>
          <a:prstGeom prst="line">
            <a:avLst/>
          </a:prstGeom>
          <a:ln w="16510">
            <a:solidFill>
              <a:srgbClr val="68707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Elbow Connector 234">
            <a:extLst>
              <a:ext uri="{FF2B5EF4-FFF2-40B4-BE49-F238E27FC236}">
                <a16:creationId xmlns:a16="http://schemas.microsoft.com/office/drawing/2014/main" id="{4C5425C1-C815-F087-042F-3C5009A3C206}"/>
              </a:ext>
            </a:extLst>
          </p:cNvPr>
          <p:cNvCxnSpPr>
            <a:stCxn id="120" idx="3"/>
            <a:endCxn id="173" idx="1"/>
          </p:cNvCxnSpPr>
          <p:nvPr/>
        </p:nvCxnSpPr>
        <p:spPr>
          <a:xfrm>
            <a:off x="10771632" y="6631686"/>
            <a:ext cx="292608" cy="555498"/>
          </a:xfrm>
          <a:prstGeom prst="bentConnector3">
            <a:avLst/>
          </a:prstGeom>
          <a:ln w="16510">
            <a:solidFill>
              <a:srgbClr val="687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258459-9AA6-AAE5-9513-324C33EA8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2868D1-0CB6-FB2E-BC6D-4AE9BF8D5AE5}"/>
              </a:ext>
            </a:extLst>
          </p:cNvPr>
          <p:cNvSpPr txBox="1"/>
          <p:nvPr/>
        </p:nvSpPr>
        <p:spPr>
          <a:xfrm>
            <a:off x="3411864" y="-34281"/>
            <a:ext cx="6892271" cy="47089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2700" b="1">
                <a:solidFill>
                  <a:srgbClr val="122444"/>
                </a:solidFill>
                <a:latin typeface="Aptos"/>
              </a:rPr>
              <a:t>Embabel Agent Architecture (with Spring AI)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0083AA-75BA-4DBE-07F8-CA7A234DDF6C}"/>
              </a:ext>
            </a:extLst>
          </p:cNvPr>
          <p:cNvSpPr txBox="1"/>
          <p:nvPr/>
        </p:nvSpPr>
        <p:spPr>
          <a:xfrm>
            <a:off x="4460677" y="357834"/>
            <a:ext cx="4794647" cy="2535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1288" b="0" dirty="0">
                <a:solidFill>
                  <a:srgbClr val="68707A"/>
                </a:solidFill>
                <a:latin typeface="Aptos"/>
              </a:rPr>
              <a:t>Goal-Driven • Plan-Execute-Adapt • Observable • Enterprise Ready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8FA6DC8-A3CB-0073-80F4-63466BFD6539}"/>
              </a:ext>
            </a:extLst>
          </p:cNvPr>
          <p:cNvSpPr/>
          <p:nvPr/>
        </p:nvSpPr>
        <p:spPr>
          <a:xfrm>
            <a:off x="73152" y="1810512"/>
            <a:ext cx="1554480" cy="3712463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B8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3BB7D3-3ACA-93B8-25C4-C7F6F6C1CACA}"/>
              </a:ext>
            </a:extLst>
          </p:cNvPr>
          <p:cNvSpPr txBox="1"/>
          <p:nvPr/>
        </p:nvSpPr>
        <p:spPr>
          <a:xfrm>
            <a:off x="69659" y="1968942"/>
            <a:ext cx="1543179" cy="25006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1265" b="1">
                <a:solidFill>
                  <a:srgbClr val="2D5D9A"/>
                </a:solidFill>
                <a:latin typeface="Aptos"/>
              </a:rPr>
              <a:t>EXTERNAL SYSTEMS</a:t>
            </a:r>
          </a:p>
        </p:txBody>
      </p:sp>
      <p:pic>
        <p:nvPicPr>
          <p:cNvPr id="6" name="ExtIcon1">
            <a:extLst>
              <a:ext uri="{FF2B5EF4-FFF2-40B4-BE49-F238E27FC236}">
                <a16:creationId xmlns:a16="http://schemas.microsoft.com/office/drawing/2014/main" id="{01516E40-7348-5518-49F4-8134981AFB9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54660" y="2413558"/>
            <a:ext cx="274320" cy="2743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EF5643-742A-E00E-BBD8-A776710EC063}"/>
              </a:ext>
            </a:extLst>
          </p:cNvPr>
          <p:cNvSpPr txBox="1"/>
          <p:nvPr/>
        </p:nvSpPr>
        <p:spPr>
          <a:xfrm>
            <a:off x="611276" y="2448295"/>
            <a:ext cx="627672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 dirty="0">
                <a:solidFill>
                  <a:srgbClr val="23272D"/>
                </a:solidFill>
                <a:latin typeface="Aptos"/>
              </a:rPr>
              <a:t>CRM / ERP</a:t>
            </a:r>
          </a:p>
        </p:txBody>
      </p:sp>
      <p:pic>
        <p:nvPicPr>
          <p:cNvPr id="8" name="ExtIcon2">
            <a:extLst>
              <a:ext uri="{FF2B5EF4-FFF2-40B4-BE49-F238E27FC236}">
                <a16:creationId xmlns:a16="http://schemas.microsoft.com/office/drawing/2014/main" id="{D602EE21-96F2-0F49-58F4-57D460080D4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54660" y="2934766"/>
            <a:ext cx="274320" cy="2743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6AFB04-DE88-8381-BE09-0C591FA1D866}"/>
              </a:ext>
            </a:extLst>
          </p:cNvPr>
          <p:cNvSpPr txBox="1"/>
          <p:nvPr/>
        </p:nvSpPr>
        <p:spPr>
          <a:xfrm>
            <a:off x="611276" y="2969503"/>
            <a:ext cx="642099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 dirty="0">
                <a:solidFill>
                  <a:srgbClr val="23272D"/>
                </a:solidFill>
                <a:latin typeface="Aptos"/>
              </a:rPr>
              <a:t>Databases</a:t>
            </a:r>
          </a:p>
        </p:txBody>
      </p:sp>
      <p:pic>
        <p:nvPicPr>
          <p:cNvPr id="10" name="ExtIcon3">
            <a:extLst>
              <a:ext uri="{FF2B5EF4-FFF2-40B4-BE49-F238E27FC236}">
                <a16:creationId xmlns:a16="http://schemas.microsoft.com/office/drawing/2014/main" id="{02927046-D967-4DBF-1CB0-911930D87CA3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254660" y="3455974"/>
            <a:ext cx="274320" cy="2743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C16B8E4-07A5-BA95-63C6-1CEA00A2B47B}"/>
              </a:ext>
            </a:extLst>
          </p:cNvPr>
          <p:cNvSpPr txBox="1"/>
          <p:nvPr/>
        </p:nvSpPr>
        <p:spPr>
          <a:xfrm>
            <a:off x="611276" y="3415529"/>
            <a:ext cx="735073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23272D"/>
                </a:solidFill>
                <a:latin typeface="Aptos"/>
              </a:rPr>
              <a:t>Enterprise
Applications</a:t>
            </a:r>
          </a:p>
        </p:txBody>
      </p:sp>
      <p:pic>
        <p:nvPicPr>
          <p:cNvPr id="12" name="ExtIcon4">
            <a:extLst>
              <a:ext uri="{FF2B5EF4-FFF2-40B4-BE49-F238E27FC236}">
                <a16:creationId xmlns:a16="http://schemas.microsoft.com/office/drawing/2014/main" id="{7051E1D2-EF52-35C7-6CC3-C2C0CC82143B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254660" y="3977182"/>
            <a:ext cx="274320" cy="2743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801536F-07DA-122B-5DB0-6D873B121C8D}"/>
              </a:ext>
            </a:extLst>
          </p:cNvPr>
          <p:cNvSpPr txBox="1"/>
          <p:nvPr/>
        </p:nvSpPr>
        <p:spPr>
          <a:xfrm>
            <a:off x="611276" y="3936738"/>
            <a:ext cx="808811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23272D"/>
                </a:solidFill>
                <a:latin typeface="Aptos"/>
              </a:rPr>
              <a:t>APIs &amp;
Microservices</a:t>
            </a:r>
          </a:p>
        </p:txBody>
      </p:sp>
      <p:pic>
        <p:nvPicPr>
          <p:cNvPr id="14" name="ExtIcon5">
            <a:extLst>
              <a:ext uri="{FF2B5EF4-FFF2-40B4-BE49-F238E27FC236}">
                <a16:creationId xmlns:a16="http://schemas.microsoft.com/office/drawing/2014/main" id="{51CFD8C0-348C-82F6-99F2-EF8161C22C51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254660" y="4498390"/>
            <a:ext cx="274320" cy="2743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B852625-73C9-713B-7C8C-4F4C258377DD}"/>
              </a:ext>
            </a:extLst>
          </p:cNvPr>
          <p:cNvSpPr txBox="1"/>
          <p:nvPr/>
        </p:nvSpPr>
        <p:spPr>
          <a:xfrm>
            <a:off x="611276" y="4457946"/>
            <a:ext cx="768737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23272D"/>
                </a:solidFill>
                <a:latin typeface="Aptos"/>
              </a:rPr>
              <a:t>Files / Object
Storage</a:t>
            </a:r>
          </a:p>
        </p:txBody>
      </p:sp>
      <p:pic>
        <p:nvPicPr>
          <p:cNvPr id="16" name="ExtIcon6">
            <a:extLst>
              <a:ext uri="{FF2B5EF4-FFF2-40B4-BE49-F238E27FC236}">
                <a16:creationId xmlns:a16="http://schemas.microsoft.com/office/drawing/2014/main" id="{4131C362-7A69-90A6-F164-7D342AFF4831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254660" y="5019598"/>
            <a:ext cx="274320" cy="27432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FE57A38-81FB-E484-A5BA-84664559C16E}"/>
              </a:ext>
            </a:extLst>
          </p:cNvPr>
          <p:cNvSpPr txBox="1"/>
          <p:nvPr/>
        </p:nvSpPr>
        <p:spPr>
          <a:xfrm>
            <a:off x="611276" y="4979154"/>
            <a:ext cx="834459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23272D"/>
                </a:solidFill>
                <a:latin typeface="Aptos"/>
              </a:rPr>
              <a:t>Event Streams
(Kafka, etc.)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A66952C-79C8-8D92-996C-A916C65A01FD}"/>
              </a:ext>
            </a:extLst>
          </p:cNvPr>
          <p:cNvSpPr/>
          <p:nvPr/>
        </p:nvSpPr>
        <p:spPr>
          <a:xfrm>
            <a:off x="2029968" y="630936"/>
            <a:ext cx="8741664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8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E5F373-CD0F-2197-4563-C5A0528D4A49}"/>
              </a:ext>
            </a:extLst>
          </p:cNvPr>
          <p:cNvSpPr txBox="1"/>
          <p:nvPr/>
        </p:nvSpPr>
        <p:spPr>
          <a:xfrm>
            <a:off x="2167128" y="770839"/>
            <a:ext cx="911403" cy="45179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1288" b="1">
                <a:solidFill>
                  <a:srgbClr val="2D5D9A"/>
                </a:solidFill>
                <a:latin typeface="Aptos"/>
              </a:rPr>
              <a:t>CLIENTS /
CHANNELS</a:t>
            </a:r>
          </a:p>
        </p:txBody>
      </p:sp>
      <p:pic>
        <p:nvPicPr>
          <p:cNvPr id="20" name="CliIcon1">
            <a:extLst>
              <a:ext uri="{FF2B5EF4-FFF2-40B4-BE49-F238E27FC236}">
                <a16:creationId xmlns:a16="http://schemas.microsoft.com/office/drawing/2014/main" id="{4482901D-6D1E-890A-AFE0-EE7E612BF0EB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>
            <a:off x="3877056" y="690372"/>
            <a:ext cx="274320" cy="27432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9E724CF-B021-BFA2-2E97-6EF363A7F4E5}"/>
              </a:ext>
            </a:extLst>
          </p:cNvPr>
          <p:cNvSpPr txBox="1"/>
          <p:nvPr/>
        </p:nvSpPr>
        <p:spPr>
          <a:xfrm>
            <a:off x="3790950" y="996696"/>
            <a:ext cx="446532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0" dirty="0">
                <a:solidFill>
                  <a:srgbClr val="68707A"/>
                </a:solidFill>
                <a:latin typeface="Aptos"/>
              </a:rPr>
              <a:t>Web UI</a:t>
            </a:r>
          </a:p>
        </p:txBody>
      </p:sp>
      <p:pic>
        <p:nvPicPr>
          <p:cNvPr id="22" name="CliIcon2">
            <a:extLst>
              <a:ext uri="{FF2B5EF4-FFF2-40B4-BE49-F238E27FC236}">
                <a16:creationId xmlns:a16="http://schemas.microsoft.com/office/drawing/2014/main" id="{38902042-4B7E-DCF4-CCF1-09F58479FF34}"/>
              </a:ext>
            </a:extLst>
          </p:cNvPr>
          <p:cNvPicPr/>
          <p:nvPr/>
        </p:nvPicPr>
        <p:blipFill>
          <a:blip r:embed="rId10"/>
          <a:stretch>
            <a:fillRect/>
          </a:stretch>
        </p:blipFill>
        <p:spPr>
          <a:xfrm>
            <a:off x="5129784" y="690372"/>
            <a:ext cx="274320" cy="27432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A99C4C9-1A1D-DA54-7316-7F8DD1106906}"/>
              </a:ext>
            </a:extLst>
          </p:cNvPr>
          <p:cNvSpPr txBox="1"/>
          <p:nvPr/>
        </p:nvSpPr>
        <p:spPr>
          <a:xfrm>
            <a:off x="4935475" y="996696"/>
            <a:ext cx="662938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0">
                <a:solidFill>
                  <a:srgbClr val="68707A"/>
                </a:solidFill>
                <a:latin typeface="Aptos"/>
              </a:rPr>
              <a:t>Mobile App</a:t>
            </a:r>
          </a:p>
        </p:txBody>
      </p:sp>
      <p:pic>
        <p:nvPicPr>
          <p:cNvPr id="24" name="CliIcon3">
            <a:extLst>
              <a:ext uri="{FF2B5EF4-FFF2-40B4-BE49-F238E27FC236}">
                <a16:creationId xmlns:a16="http://schemas.microsoft.com/office/drawing/2014/main" id="{BA7890B7-F75A-B895-DD1B-C14E5E03F11B}"/>
              </a:ext>
            </a:extLst>
          </p:cNvPr>
          <p:cNvPicPr/>
          <p:nvPr/>
        </p:nvPicPr>
        <p:blipFill>
          <a:blip r:embed="rId11"/>
          <a:stretch>
            <a:fillRect/>
          </a:stretch>
        </p:blipFill>
        <p:spPr>
          <a:xfrm>
            <a:off x="6409944" y="690372"/>
            <a:ext cx="274320" cy="27432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1FC0067-B739-F966-46E6-326FCEC30351}"/>
              </a:ext>
            </a:extLst>
          </p:cNvPr>
          <p:cNvSpPr txBox="1"/>
          <p:nvPr/>
        </p:nvSpPr>
        <p:spPr>
          <a:xfrm>
            <a:off x="6106630" y="955548"/>
            <a:ext cx="880947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0">
                <a:solidFill>
                  <a:srgbClr val="68707A"/>
                </a:solidFill>
                <a:latin typeface="Aptos"/>
              </a:rPr>
              <a:t>Chat
(Slack / Teams)</a:t>
            </a:r>
          </a:p>
        </p:txBody>
      </p:sp>
      <p:pic>
        <p:nvPicPr>
          <p:cNvPr id="26" name="CliIcon4">
            <a:extLst>
              <a:ext uri="{FF2B5EF4-FFF2-40B4-BE49-F238E27FC236}">
                <a16:creationId xmlns:a16="http://schemas.microsoft.com/office/drawing/2014/main" id="{3B9BC088-E7AB-D863-D651-820EB72988C0}"/>
              </a:ext>
            </a:extLst>
          </p:cNvPr>
          <p:cNvPicPr/>
          <p:nvPr/>
        </p:nvPicPr>
        <p:blipFill>
          <a:blip r:embed="rId12"/>
          <a:stretch>
            <a:fillRect/>
          </a:stretch>
        </p:blipFill>
        <p:spPr>
          <a:xfrm>
            <a:off x="7872983" y="690372"/>
            <a:ext cx="274320" cy="27432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B32C278-D61A-E988-4061-970DF2C86C75}"/>
              </a:ext>
            </a:extLst>
          </p:cNvPr>
          <p:cNvSpPr txBox="1"/>
          <p:nvPr/>
        </p:nvSpPr>
        <p:spPr>
          <a:xfrm>
            <a:off x="7732375" y="996696"/>
            <a:ext cx="555537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0">
                <a:solidFill>
                  <a:srgbClr val="68707A"/>
                </a:solidFill>
                <a:latin typeface="Aptos"/>
              </a:rPr>
              <a:t>API / SDK</a:t>
            </a:r>
          </a:p>
        </p:txBody>
      </p:sp>
      <p:pic>
        <p:nvPicPr>
          <p:cNvPr id="28" name="CliIcon5">
            <a:extLst>
              <a:ext uri="{FF2B5EF4-FFF2-40B4-BE49-F238E27FC236}">
                <a16:creationId xmlns:a16="http://schemas.microsoft.com/office/drawing/2014/main" id="{EB23991D-583C-36F5-B876-9EA26BC99B19}"/>
              </a:ext>
            </a:extLst>
          </p:cNvPr>
          <p:cNvPicPr/>
          <p:nvPr/>
        </p:nvPicPr>
        <p:blipFill>
          <a:blip r:embed="rId13"/>
          <a:stretch>
            <a:fillRect/>
          </a:stretch>
        </p:blipFill>
        <p:spPr>
          <a:xfrm>
            <a:off x="9427464" y="690372"/>
            <a:ext cx="274320" cy="27432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6CEBB9D-49C7-62DA-9E2A-309A697C7F32}"/>
              </a:ext>
            </a:extLst>
          </p:cNvPr>
          <p:cNvSpPr txBox="1"/>
          <p:nvPr/>
        </p:nvSpPr>
        <p:spPr>
          <a:xfrm>
            <a:off x="9185064" y="996696"/>
            <a:ext cx="759119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0">
                <a:solidFill>
                  <a:srgbClr val="68707A"/>
                </a:solidFill>
                <a:latin typeface="Aptos"/>
              </a:rPr>
              <a:t>Other Agents</a:t>
            </a:r>
          </a:p>
        </p:txBody>
      </p:sp>
      <p:cxnSp>
        <p:nvCxnSpPr>
          <p:cNvPr id="30" name="Connector 29">
            <a:extLst>
              <a:ext uri="{FF2B5EF4-FFF2-40B4-BE49-F238E27FC236}">
                <a16:creationId xmlns:a16="http://schemas.microsoft.com/office/drawing/2014/main" id="{AEDE1FC8-AA84-5746-1E3A-A8917FD4048A}"/>
              </a:ext>
            </a:extLst>
          </p:cNvPr>
          <p:cNvCxnSpPr/>
          <p:nvPr/>
        </p:nvCxnSpPr>
        <p:spPr>
          <a:xfrm>
            <a:off x="6400800" y="1399032"/>
            <a:ext cx="0" cy="274320"/>
          </a:xfrm>
          <a:prstGeom prst="line">
            <a:avLst/>
          </a:prstGeom>
          <a:ln w="17780">
            <a:solidFill>
              <a:srgbClr val="687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9BCE3CB6-A936-E6A5-0678-04332DD8C6B5}"/>
              </a:ext>
            </a:extLst>
          </p:cNvPr>
          <p:cNvSpPr/>
          <p:nvPr/>
        </p:nvSpPr>
        <p:spPr>
          <a:xfrm>
            <a:off x="2029968" y="1716786"/>
            <a:ext cx="8741664" cy="2761488"/>
          </a:xfrm>
          <a:prstGeom prst="roundRect">
            <a:avLst/>
          </a:prstGeom>
          <a:solidFill>
            <a:srgbClr val="FAFDFA"/>
          </a:solidFill>
          <a:ln w="15875">
            <a:solidFill>
              <a:srgbClr val="479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EFFFEC-6453-2975-15F4-D885064746F5}"/>
              </a:ext>
            </a:extLst>
          </p:cNvPr>
          <p:cNvSpPr txBox="1"/>
          <p:nvPr/>
        </p:nvSpPr>
        <p:spPr>
          <a:xfrm>
            <a:off x="5351153" y="1781983"/>
            <a:ext cx="2053575" cy="2535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1288" b="1" dirty="0">
                <a:solidFill>
                  <a:srgbClr val="29744C"/>
                </a:solidFill>
                <a:latin typeface="Aptos"/>
              </a:rPr>
              <a:t>EMBABEL AGENT RUNTIME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1B8F9B7-0C8A-92A3-DE04-4884CFFA7C61}"/>
              </a:ext>
            </a:extLst>
          </p:cNvPr>
          <p:cNvSpPr/>
          <p:nvPr/>
        </p:nvSpPr>
        <p:spPr>
          <a:xfrm>
            <a:off x="2157984" y="2064258"/>
            <a:ext cx="1517904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9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820D38-7C85-12A5-4C03-AB828797B0B8}"/>
              </a:ext>
            </a:extLst>
          </p:cNvPr>
          <p:cNvSpPr txBox="1"/>
          <p:nvPr/>
        </p:nvSpPr>
        <p:spPr>
          <a:xfrm>
            <a:off x="2366657" y="2109978"/>
            <a:ext cx="1100558" cy="20403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66" b="1" dirty="0">
                <a:solidFill>
                  <a:srgbClr val="479D6B"/>
                </a:solidFill>
                <a:latin typeface="Aptos"/>
              </a:rPr>
              <a:t>1. GOAL RECEIVER</a:t>
            </a:r>
          </a:p>
        </p:txBody>
      </p:sp>
      <p:pic>
        <p:nvPicPr>
          <p:cNvPr id="42" name="RtIcon1">
            <a:extLst>
              <a:ext uri="{FF2B5EF4-FFF2-40B4-BE49-F238E27FC236}">
                <a16:creationId xmlns:a16="http://schemas.microsoft.com/office/drawing/2014/main" id="{195048E3-B73A-8E05-33A7-92393BE197D4}"/>
              </a:ext>
            </a:extLst>
          </p:cNvPr>
          <p:cNvPicPr/>
          <p:nvPr/>
        </p:nvPicPr>
        <p:blipFill>
          <a:blip r:embed="rId14"/>
          <a:stretch>
            <a:fillRect/>
          </a:stretch>
        </p:blipFill>
        <p:spPr>
          <a:xfrm>
            <a:off x="2779775" y="2324706"/>
            <a:ext cx="274320" cy="27432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FBE6E94E-ABD3-C89E-0F80-B51DD300436F}"/>
              </a:ext>
            </a:extLst>
          </p:cNvPr>
          <p:cNvSpPr txBox="1"/>
          <p:nvPr/>
        </p:nvSpPr>
        <p:spPr>
          <a:xfrm>
            <a:off x="2237615" y="2658618"/>
            <a:ext cx="1358642" cy="35612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77" b="0" dirty="0">
                <a:solidFill>
                  <a:srgbClr val="23272D"/>
                </a:solidFill>
                <a:latin typeface="Aptos"/>
              </a:rPr>
              <a:t>Receives user goal /
intent and initial context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0B51CC9C-9296-B669-A099-7AFCD35C3F4A}"/>
              </a:ext>
            </a:extLst>
          </p:cNvPr>
          <p:cNvSpPr/>
          <p:nvPr/>
        </p:nvSpPr>
        <p:spPr>
          <a:xfrm>
            <a:off x="3931920" y="2064258"/>
            <a:ext cx="1517904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9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2620FC-7874-9DF0-CE28-C2707A903F5F}"/>
              </a:ext>
            </a:extLst>
          </p:cNvPr>
          <p:cNvSpPr txBox="1"/>
          <p:nvPr/>
        </p:nvSpPr>
        <p:spPr>
          <a:xfrm>
            <a:off x="4110937" y="2109978"/>
            <a:ext cx="1159869" cy="20403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66" b="1" dirty="0">
                <a:solidFill>
                  <a:srgbClr val="479D6B"/>
                </a:solidFill>
                <a:latin typeface="Aptos"/>
              </a:rPr>
              <a:t>2. PLANNER (GOAP)</a:t>
            </a:r>
          </a:p>
        </p:txBody>
      </p:sp>
      <p:pic>
        <p:nvPicPr>
          <p:cNvPr id="46" name="RtIcon2">
            <a:extLst>
              <a:ext uri="{FF2B5EF4-FFF2-40B4-BE49-F238E27FC236}">
                <a16:creationId xmlns:a16="http://schemas.microsoft.com/office/drawing/2014/main" id="{DAF42A7C-D226-3AB6-3FFA-ED0875C15453}"/>
              </a:ext>
            </a:extLst>
          </p:cNvPr>
          <p:cNvPicPr/>
          <p:nvPr/>
        </p:nvPicPr>
        <p:blipFill>
          <a:blip r:embed="rId15"/>
          <a:stretch>
            <a:fillRect/>
          </a:stretch>
        </p:blipFill>
        <p:spPr>
          <a:xfrm>
            <a:off x="4562855" y="2348364"/>
            <a:ext cx="256032" cy="256032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1CAFEAB4-E858-8D3F-62E2-EB125CD57EE1}"/>
              </a:ext>
            </a:extLst>
          </p:cNvPr>
          <p:cNvSpPr txBox="1"/>
          <p:nvPr/>
        </p:nvSpPr>
        <p:spPr>
          <a:xfrm>
            <a:off x="4082083" y="2658618"/>
            <a:ext cx="1217577" cy="65684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77" b="0" dirty="0">
                <a:solidFill>
                  <a:srgbClr val="23272D"/>
                </a:solidFill>
                <a:latin typeface="Aptos"/>
              </a:rPr>
              <a:t>Creates plan using
Goals, Actions,
Conditions, Domain
Model &amp; current state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9A58EF2D-BB5D-867B-0AB4-E29577E98967}"/>
              </a:ext>
            </a:extLst>
          </p:cNvPr>
          <p:cNvSpPr/>
          <p:nvPr/>
        </p:nvSpPr>
        <p:spPr>
          <a:xfrm>
            <a:off x="5705856" y="2064258"/>
            <a:ext cx="181051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8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51142C-E1A9-A315-CB32-F422B07887CD}"/>
              </a:ext>
            </a:extLst>
          </p:cNvPr>
          <p:cNvSpPr txBox="1"/>
          <p:nvPr/>
        </p:nvSpPr>
        <p:spPr>
          <a:xfrm>
            <a:off x="5948623" y="2109978"/>
            <a:ext cx="1324978" cy="20403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66" b="1">
                <a:solidFill>
                  <a:srgbClr val="5B8EC9"/>
                </a:solidFill>
                <a:latin typeface="Aptos"/>
              </a:rPr>
              <a:t>3. EXECUTION ENGINE</a:t>
            </a:r>
          </a:p>
        </p:txBody>
      </p:sp>
      <p:pic>
        <p:nvPicPr>
          <p:cNvPr id="50" name="RtIcon3">
            <a:extLst>
              <a:ext uri="{FF2B5EF4-FFF2-40B4-BE49-F238E27FC236}">
                <a16:creationId xmlns:a16="http://schemas.microsoft.com/office/drawing/2014/main" id="{D46E722B-7580-AE8F-E0B0-123D6B4BE403}"/>
              </a:ext>
            </a:extLst>
          </p:cNvPr>
          <p:cNvPicPr/>
          <p:nvPr/>
        </p:nvPicPr>
        <p:blipFill>
          <a:blip r:embed="rId16"/>
          <a:stretch>
            <a:fillRect/>
          </a:stretch>
        </p:blipFill>
        <p:spPr>
          <a:xfrm>
            <a:off x="6478524" y="2329278"/>
            <a:ext cx="265176" cy="265176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3241FD62-9B6E-001F-8365-D87D12F0B11E}"/>
              </a:ext>
            </a:extLst>
          </p:cNvPr>
          <p:cNvSpPr txBox="1"/>
          <p:nvPr/>
        </p:nvSpPr>
        <p:spPr>
          <a:xfrm>
            <a:off x="5847634" y="2658618"/>
            <a:ext cx="1526956" cy="80720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77" b="0" dirty="0">
                <a:solidFill>
                  <a:srgbClr val="23272D"/>
                </a:solidFill>
                <a:latin typeface="Aptos"/>
              </a:rPr>
              <a:t>Executes plan step-by-step
• Validate preconditions
• Execute action / tool
• Update state
• Re-plan if needed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1EE43949-4037-A9AE-1A20-5E5C4C7FAB7E}"/>
              </a:ext>
            </a:extLst>
          </p:cNvPr>
          <p:cNvSpPr/>
          <p:nvPr/>
        </p:nvSpPr>
        <p:spPr>
          <a:xfrm>
            <a:off x="7790688" y="2064258"/>
            <a:ext cx="1609344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27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40D0AE-41E3-72B2-8F75-C95B0E4B8EFF}"/>
              </a:ext>
            </a:extLst>
          </p:cNvPr>
          <p:cNvSpPr txBox="1"/>
          <p:nvPr/>
        </p:nvSpPr>
        <p:spPr>
          <a:xfrm>
            <a:off x="8041875" y="2109978"/>
            <a:ext cx="1106970" cy="352661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66" b="1">
                <a:solidFill>
                  <a:srgbClr val="927DC1"/>
                </a:solidFill>
                <a:latin typeface="Aptos"/>
              </a:rPr>
              <a:t>4. STATE, MEMORY
&amp; CONTEXT</a:t>
            </a:r>
          </a:p>
        </p:txBody>
      </p:sp>
      <p:pic>
        <p:nvPicPr>
          <p:cNvPr id="54" name="RtIcon4">
            <a:extLst>
              <a:ext uri="{FF2B5EF4-FFF2-40B4-BE49-F238E27FC236}">
                <a16:creationId xmlns:a16="http://schemas.microsoft.com/office/drawing/2014/main" id="{98201C7F-AB98-9AB4-29E6-FD9E00D59950}"/>
              </a:ext>
            </a:extLst>
          </p:cNvPr>
          <p:cNvPicPr/>
          <p:nvPr/>
        </p:nvPicPr>
        <p:blipFill>
          <a:blip r:embed="rId17"/>
          <a:stretch>
            <a:fillRect/>
          </a:stretch>
        </p:blipFill>
        <p:spPr>
          <a:xfrm>
            <a:off x="8463685" y="2452722"/>
            <a:ext cx="263347" cy="27432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BA43FF17-8804-559B-3191-07FFE926F5A1}"/>
              </a:ext>
            </a:extLst>
          </p:cNvPr>
          <p:cNvSpPr txBox="1"/>
          <p:nvPr/>
        </p:nvSpPr>
        <p:spPr>
          <a:xfrm>
            <a:off x="7795011" y="2759202"/>
            <a:ext cx="1600696" cy="65684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77" b="0" dirty="0">
                <a:solidFill>
                  <a:srgbClr val="23272D"/>
                </a:solidFill>
                <a:latin typeface="Aptos"/>
              </a:rPr>
              <a:t>Manages state, short-term
memory, long-term memory,
conversation context and
retrieved knowledge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2ADFDF25-2EA0-06B7-6363-4D8D441E4418}"/>
              </a:ext>
            </a:extLst>
          </p:cNvPr>
          <p:cNvSpPr/>
          <p:nvPr/>
        </p:nvSpPr>
        <p:spPr>
          <a:xfrm>
            <a:off x="9646920" y="2064258"/>
            <a:ext cx="960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B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2E7ADE5-6B59-E3C0-E9C2-A64023A59FD7}"/>
              </a:ext>
            </a:extLst>
          </p:cNvPr>
          <p:cNvSpPr txBox="1"/>
          <p:nvPr/>
        </p:nvSpPr>
        <p:spPr>
          <a:xfrm>
            <a:off x="9723375" y="2109978"/>
            <a:ext cx="807209" cy="352661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66" b="1">
                <a:solidFill>
                  <a:srgbClr val="E5B55B"/>
                </a:solidFill>
                <a:latin typeface="Aptos"/>
              </a:rPr>
              <a:t>5. RESPONSE
GENERATOR</a:t>
            </a:r>
          </a:p>
        </p:txBody>
      </p:sp>
      <p:pic>
        <p:nvPicPr>
          <p:cNvPr id="58" name="RtIcon5">
            <a:extLst>
              <a:ext uri="{FF2B5EF4-FFF2-40B4-BE49-F238E27FC236}">
                <a16:creationId xmlns:a16="http://schemas.microsoft.com/office/drawing/2014/main" id="{E6E48433-BEE9-B7F0-1FAB-46764ECC11B1}"/>
              </a:ext>
            </a:extLst>
          </p:cNvPr>
          <p:cNvPicPr/>
          <p:nvPr/>
        </p:nvPicPr>
        <p:blipFill>
          <a:blip r:embed="rId18"/>
          <a:stretch>
            <a:fillRect/>
          </a:stretch>
        </p:blipFill>
        <p:spPr>
          <a:xfrm>
            <a:off x="9996055" y="2452722"/>
            <a:ext cx="261850" cy="27432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910FA43C-2990-1324-0F5C-277925C32222}"/>
              </a:ext>
            </a:extLst>
          </p:cNvPr>
          <p:cNvSpPr txBox="1"/>
          <p:nvPr/>
        </p:nvSpPr>
        <p:spPr>
          <a:xfrm>
            <a:off x="9603151" y="2759202"/>
            <a:ext cx="1047659" cy="65684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77" b="0" dirty="0">
                <a:solidFill>
                  <a:srgbClr val="23272D"/>
                </a:solidFill>
                <a:latin typeface="Aptos"/>
              </a:rPr>
              <a:t>Synthesizes final
answer / response
with citations &amp;
evidence</a:t>
            </a:r>
          </a:p>
        </p:txBody>
      </p:sp>
      <p:cxnSp>
        <p:nvCxnSpPr>
          <p:cNvPr id="60" name="Connector 59">
            <a:extLst>
              <a:ext uri="{FF2B5EF4-FFF2-40B4-BE49-F238E27FC236}">
                <a16:creationId xmlns:a16="http://schemas.microsoft.com/office/drawing/2014/main" id="{71929DF1-EB72-15A2-FB42-F079E349A80B}"/>
              </a:ext>
            </a:extLst>
          </p:cNvPr>
          <p:cNvCxnSpPr/>
          <p:nvPr/>
        </p:nvCxnSpPr>
        <p:spPr>
          <a:xfrm>
            <a:off x="3675887" y="2795778"/>
            <a:ext cx="256032" cy="0"/>
          </a:xfrm>
          <a:prstGeom prst="line">
            <a:avLst/>
          </a:prstGeom>
          <a:ln w="19050">
            <a:solidFill>
              <a:srgbClr val="687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>
            <a:extLst>
              <a:ext uri="{FF2B5EF4-FFF2-40B4-BE49-F238E27FC236}">
                <a16:creationId xmlns:a16="http://schemas.microsoft.com/office/drawing/2014/main" id="{F3D7A75C-B0A3-3E3D-3A43-77E3588CA97D}"/>
              </a:ext>
            </a:extLst>
          </p:cNvPr>
          <p:cNvCxnSpPr/>
          <p:nvPr/>
        </p:nvCxnSpPr>
        <p:spPr>
          <a:xfrm>
            <a:off x="5449824" y="2795778"/>
            <a:ext cx="256032" cy="0"/>
          </a:xfrm>
          <a:prstGeom prst="line">
            <a:avLst/>
          </a:prstGeom>
          <a:ln w="19050">
            <a:solidFill>
              <a:srgbClr val="687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>
            <a:extLst>
              <a:ext uri="{FF2B5EF4-FFF2-40B4-BE49-F238E27FC236}">
                <a16:creationId xmlns:a16="http://schemas.microsoft.com/office/drawing/2014/main" id="{62DFFADB-3293-B773-081C-F0B1A797DAF2}"/>
              </a:ext>
            </a:extLst>
          </p:cNvPr>
          <p:cNvCxnSpPr/>
          <p:nvPr/>
        </p:nvCxnSpPr>
        <p:spPr>
          <a:xfrm>
            <a:off x="7516368" y="2795778"/>
            <a:ext cx="274320" cy="0"/>
          </a:xfrm>
          <a:prstGeom prst="line">
            <a:avLst/>
          </a:prstGeom>
          <a:ln w="19050">
            <a:solidFill>
              <a:srgbClr val="687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>
            <a:extLst>
              <a:ext uri="{FF2B5EF4-FFF2-40B4-BE49-F238E27FC236}">
                <a16:creationId xmlns:a16="http://schemas.microsoft.com/office/drawing/2014/main" id="{23A3BE07-E7C7-6362-6B00-E597F9BA5E1C}"/>
              </a:ext>
            </a:extLst>
          </p:cNvPr>
          <p:cNvCxnSpPr/>
          <p:nvPr/>
        </p:nvCxnSpPr>
        <p:spPr>
          <a:xfrm>
            <a:off x="9400032" y="2795778"/>
            <a:ext cx="246888" cy="0"/>
          </a:xfrm>
          <a:prstGeom prst="line">
            <a:avLst/>
          </a:prstGeom>
          <a:ln w="19050">
            <a:solidFill>
              <a:srgbClr val="687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>
            <a:extLst>
              <a:ext uri="{FF2B5EF4-FFF2-40B4-BE49-F238E27FC236}">
                <a16:creationId xmlns:a16="http://schemas.microsoft.com/office/drawing/2014/main" id="{423883D6-6722-C534-A4B6-E35B014C791F}"/>
              </a:ext>
            </a:extLst>
          </p:cNvPr>
          <p:cNvCxnSpPr/>
          <p:nvPr/>
        </p:nvCxnSpPr>
        <p:spPr>
          <a:xfrm>
            <a:off x="1627632" y="2423160"/>
            <a:ext cx="402336" cy="0"/>
          </a:xfrm>
          <a:prstGeom prst="line">
            <a:avLst/>
          </a:prstGeom>
          <a:ln w="17780">
            <a:solidFill>
              <a:srgbClr val="68707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>
            <a:extLst>
              <a:ext uri="{FF2B5EF4-FFF2-40B4-BE49-F238E27FC236}">
                <a16:creationId xmlns:a16="http://schemas.microsoft.com/office/drawing/2014/main" id="{42F3E1EC-6200-BE7E-3FA0-4D8FE30146AA}"/>
              </a:ext>
            </a:extLst>
          </p:cNvPr>
          <p:cNvCxnSpPr/>
          <p:nvPr/>
        </p:nvCxnSpPr>
        <p:spPr>
          <a:xfrm>
            <a:off x="1627632" y="3154680"/>
            <a:ext cx="402336" cy="0"/>
          </a:xfrm>
          <a:prstGeom prst="line">
            <a:avLst/>
          </a:prstGeom>
          <a:ln w="17780">
            <a:solidFill>
              <a:srgbClr val="68707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>
            <a:extLst>
              <a:ext uri="{FF2B5EF4-FFF2-40B4-BE49-F238E27FC236}">
                <a16:creationId xmlns:a16="http://schemas.microsoft.com/office/drawing/2014/main" id="{6FDEFCE5-04A8-1A61-386A-533A9A1ECEA4}"/>
              </a:ext>
            </a:extLst>
          </p:cNvPr>
          <p:cNvCxnSpPr/>
          <p:nvPr/>
        </p:nvCxnSpPr>
        <p:spPr>
          <a:xfrm>
            <a:off x="10789920" y="2996946"/>
            <a:ext cx="274320" cy="0"/>
          </a:xfrm>
          <a:prstGeom prst="line">
            <a:avLst/>
          </a:prstGeom>
          <a:ln w="17780">
            <a:solidFill>
              <a:srgbClr val="68707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>
            <a:extLst>
              <a:ext uri="{FF2B5EF4-FFF2-40B4-BE49-F238E27FC236}">
                <a16:creationId xmlns:a16="http://schemas.microsoft.com/office/drawing/2014/main" id="{72AF99AC-A83C-620D-2E2B-C0C5705F81A9}"/>
              </a:ext>
            </a:extLst>
          </p:cNvPr>
          <p:cNvCxnSpPr/>
          <p:nvPr/>
        </p:nvCxnSpPr>
        <p:spPr>
          <a:xfrm>
            <a:off x="1627632" y="3886200"/>
            <a:ext cx="402336" cy="0"/>
          </a:xfrm>
          <a:prstGeom prst="line">
            <a:avLst/>
          </a:prstGeom>
          <a:ln w="17780">
            <a:solidFill>
              <a:srgbClr val="68707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>
            <a:extLst>
              <a:ext uri="{FF2B5EF4-FFF2-40B4-BE49-F238E27FC236}">
                <a16:creationId xmlns:a16="http://schemas.microsoft.com/office/drawing/2014/main" id="{F190FFF1-4342-09D4-6AFF-D41E9BFED8A0}"/>
              </a:ext>
            </a:extLst>
          </p:cNvPr>
          <p:cNvCxnSpPr/>
          <p:nvPr/>
        </p:nvCxnSpPr>
        <p:spPr>
          <a:xfrm>
            <a:off x="10771632" y="5385816"/>
            <a:ext cx="283464" cy="0"/>
          </a:xfrm>
          <a:prstGeom prst="line">
            <a:avLst/>
          </a:prstGeom>
          <a:ln w="17780">
            <a:solidFill>
              <a:srgbClr val="68707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EBB8D07-32D5-471E-1A31-DD1B24B545D0}"/>
              </a:ext>
            </a:extLst>
          </p:cNvPr>
          <p:cNvSpPr/>
          <p:nvPr/>
        </p:nvSpPr>
        <p:spPr>
          <a:xfrm>
            <a:off x="2363724" y="3819906"/>
            <a:ext cx="8074152" cy="548640"/>
          </a:xfrm>
          <a:prstGeom prst="roundRect">
            <a:avLst/>
          </a:prstGeom>
          <a:solidFill>
            <a:srgbClr val="FDF8E9"/>
          </a:solidFill>
          <a:ln w="12700">
            <a:solidFill>
              <a:srgbClr val="E5B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EE11687-9BAA-3D0E-F416-BF4D9EFC61E3}"/>
              </a:ext>
            </a:extLst>
          </p:cNvPr>
          <p:cNvSpPr txBox="1"/>
          <p:nvPr/>
        </p:nvSpPr>
        <p:spPr>
          <a:xfrm>
            <a:off x="2722402" y="3871112"/>
            <a:ext cx="1860959" cy="2535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1288" b="1" dirty="0">
                <a:solidFill>
                  <a:srgbClr val="DD8B30"/>
                </a:solidFill>
                <a:latin typeface="Aptos"/>
              </a:rPr>
              <a:t>DOMAIN MODEL (Typed)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797AB71-3EB0-C8B0-CDB2-027F671ED3E4}"/>
              </a:ext>
            </a:extLst>
          </p:cNvPr>
          <p:cNvSpPr txBox="1"/>
          <p:nvPr/>
        </p:nvSpPr>
        <p:spPr>
          <a:xfrm>
            <a:off x="5289804" y="3838194"/>
            <a:ext cx="3731086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0" dirty="0">
                <a:solidFill>
                  <a:srgbClr val="68707A"/>
                </a:solidFill>
                <a:latin typeface="Aptos"/>
              </a:rPr>
              <a:t>Typed domain entities, relationships, business rules and constraints
used by Planner, Actions and Conditions</a:t>
            </a:r>
          </a:p>
        </p:txBody>
      </p:sp>
      <p:sp>
        <p:nvSpPr>
          <p:cNvPr id="79" name="Icon 79">
            <a:extLst>
              <a:ext uri="{FF2B5EF4-FFF2-40B4-BE49-F238E27FC236}">
                <a16:creationId xmlns:a16="http://schemas.microsoft.com/office/drawing/2014/main" id="{67A08106-6AD6-C8BE-B776-CE5D10519755}"/>
              </a:ext>
            </a:extLst>
          </p:cNvPr>
          <p:cNvSpPr>
            <a:spLocks/>
          </p:cNvSpPr>
          <p:nvPr/>
        </p:nvSpPr>
        <p:spPr>
          <a:xfrm>
            <a:off x="2478024" y="3934206"/>
            <a:ext cx="210000" cy="210000"/>
          </a:xfrm>
          <a:prstGeom prst="cube">
            <a:avLst/>
          </a:prstGeom>
          <a:noFill/>
          <a:ln w="15875" cap="rnd">
            <a:solidFill>
              <a:srgbClr val="23272D"/>
            </a:solidFill>
            <a:round/>
          </a:ln>
        </p:spPr>
        <p:txBody>
          <a:bodyPr/>
          <a:lstStyle/>
          <a:p>
            <a:endParaRPr lang="en-US" sz="100"/>
          </a:p>
        </p:txBody>
      </p:sp>
      <p:cxnSp>
        <p:nvCxnSpPr>
          <p:cNvPr id="80" name="Connector 79">
            <a:extLst>
              <a:ext uri="{FF2B5EF4-FFF2-40B4-BE49-F238E27FC236}">
                <a16:creationId xmlns:a16="http://schemas.microsoft.com/office/drawing/2014/main" id="{620A91E5-5553-C4F1-EF94-646567E911E4}"/>
              </a:ext>
            </a:extLst>
          </p:cNvPr>
          <p:cNvCxnSpPr/>
          <p:nvPr/>
        </p:nvCxnSpPr>
        <p:spPr>
          <a:xfrm>
            <a:off x="6327648" y="3527298"/>
            <a:ext cx="0" cy="292608"/>
          </a:xfrm>
          <a:prstGeom prst="line">
            <a:avLst/>
          </a:prstGeom>
          <a:ln w="16510">
            <a:solidFill>
              <a:srgbClr val="68707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>
            <a:extLst>
              <a:ext uri="{FF2B5EF4-FFF2-40B4-BE49-F238E27FC236}">
                <a16:creationId xmlns:a16="http://schemas.microsoft.com/office/drawing/2014/main" id="{2AA9D9C3-46D3-64BE-13BB-EDCA4D9DBA39}"/>
              </a:ext>
            </a:extLst>
          </p:cNvPr>
          <p:cNvCxnSpPr/>
          <p:nvPr/>
        </p:nvCxnSpPr>
        <p:spPr>
          <a:xfrm flipV="1">
            <a:off x="8668512" y="3527298"/>
            <a:ext cx="0" cy="292608"/>
          </a:xfrm>
          <a:prstGeom prst="line">
            <a:avLst/>
          </a:prstGeom>
          <a:ln w="16510">
            <a:solidFill>
              <a:srgbClr val="68707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3543D97D-8C23-9645-B125-9B62164398E3}"/>
              </a:ext>
            </a:extLst>
          </p:cNvPr>
          <p:cNvSpPr/>
          <p:nvPr/>
        </p:nvSpPr>
        <p:spPr>
          <a:xfrm>
            <a:off x="2029968" y="4832604"/>
            <a:ext cx="8741664" cy="1042416"/>
          </a:xfrm>
          <a:prstGeom prst="roundRect">
            <a:avLst/>
          </a:prstGeom>
          <a:solidFill>
            <a:srgbClr val="F5F2FB"/>
          </a:solidFill>
          <a:ln w="13970">
            <a:solidFill>
              <a:srgbClr val="927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CD9A70F-CCDE-3C24-BFE5-9C905AAB6670}"/>
              </a:ext>
            </a:extLst>
          </p:cNvPr>
          <p:cNvSpPr txBox="1"/>
          <p:nvPr/>
        </p:nvSpPr>
        <p:spPr>
          <a:xfrm>
            <a:off x="4678952" y="4869180"/>
            <a:ext cx="3489417" cy="2535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1288" b="1" dirty="0">
                <a:solidFill>
                  <a:srgbClr val="704EA4"/>
                </a:solidFill>
                <a:latin typeface="Aptos"/>
              </a:rPr>
              <a:t>ACTIONS &amp; TOOLS (Anything the agent can do)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C30CD1CB-E1B7-29B8-BB17-D57E8235B4C5}"/>
              </a:ext>
            </a:extLst>
          </p:cNvPr>
          <p:cNvSpPr/>
          <p:nvPr/>
        </p:nvSpPr>
        <p:spPr>
          <a:xfrm>
            <a:off x="2185416" y="5106924"/>
            <a:ext cx="1389888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C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5" name="AtIcon1">
            <a:extLst>
              <a:ext uri="{FF2B5EF4-FFF2-40B4-BE49-F238E27FC236}">
                <a16:creationId xmlns:a16="http://schemas.microsoft.com/office/drawing/2014/main" id="{78EEB158-724F-36D1-C9E2-ADA75C970D19}"/>
              </a:ext>
            </a:extLst>
          </p:cNvPr>
          <p:cNvPicPr/>
          <p:nvPr/>
        </p:nvPicPr>
        <p:blipFill>
          <a:blip r:embed="rId19"/>
          <a:stretch>
            <a:fillRect/>
          </a:stretch>
        </p:blipFill>
        <p:spPr>
          <a:xfrm>
            <a:off x="2231136" y="5147916"/>
            <a:ext cx="274320" cy="274320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EB5C0124-E7BA-1180-7382-28371685DF8F}"/>
              </a:ext>
            </a:extLst>
          </p:cNvPr>
          <p:cNvSpPr txBox="1"/>
          <p:nvPr/>
        </p:nvSpPr>
        <p:spPr>
          <a:xfrm>
            <a:off x="2593313" y="5157216"/>
            <a:ext cx="839269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1">
                <a:solidFill>
                  <a:srgbClr val="634B97"/>
                </a:solidFill>
                <a:latin typeface="Aptos"/>
              </a:rPr>
              <a:t>RAG Retrieval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98DAEFE-F223-3F74-1D40-74EEED355EE8}"/>
              </a:ext>
            </a:extLst>
          </p:cNvPr>
          <p:cNvSpPr txBox="1"/>
          <p:nvPr/>
        </p:nvSpPr>
        <p:spPr>
          <a:xfrm>
            <a:off x="2305234" y="5408676"/>
            <a:ext cx="1150251" cy="35612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77" b="0">
                <a:solidFill>
                  <a:srgbClr val="68707A"/>
                </a:solidFill>
                <a:latin typeface="Aptos"/>
              </a:rPr>
              <a:t>Search &amp; retrieve
relevant information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A55E8ADB-A225-8B32-CB6E-1B4855999CDD}"/>
              </a:ext>
            </a:extLst>
          </p:cNvPr>
          <p:cNvSpPr/>
          <p:nvPr/>
        </p:nvSpPr>
        <p:spPr>
          <a:xfrm>
            <a:off x="3694176" y="5106924"/>
            <a:ext cx="1389888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C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9" name="AtIcon2">
            <a:extLst>
              <a:ext uri="{FF2B5EF4-FFF2-40B4-BE49-F238E27FC236}">
                <a16:creationId xmlns:a16="http://schemas.microsoft.com/office/drawing/2014/main" id="{249839DA-5AE7-D49E-1160-E82FF4D49A60}"/>
              </a:ext>
            </a:extLst>
          </p:cNvPr>
          <p:cNvPicPr/>
          <p:nvPr/>
        </p:nvPicPr>
        <p:blipFill>
          <a:blip r:embed="rId20"/>
          <a:srcRect t="1556" b="4000"/>
          <a:stretch>
            <a:fillRect/>
          </a:stretch>
        </p:blipFill>
        <p:spPr>
          <a:xfrm>
            <a:off x="3739896" y="5147916"/>
            <a:ext cx="274320" cy="274320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C44FAB03-B41E-23AC-A360-E72B1E247195}"/>
              </a:ext>
            </a:extLst>
          </p:cNvPr>
          <p:cNvSpPr txBox="1"/>
          <p:nvPr/>
        </p:nvSpPr>
        <p:spPr>
          <a:xfrm>
            <a:off x="4194246" y="5157216"/>
            <a:ext cx="654924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1" dirty="0">
                <a:solidFill>
                  <a:srgbClr val="634B97"/>
                </a:solidFill>
                <a:latin typeface="Aptos"/>
              </a:rPr>
              <a:t>MCP Tools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A27A880-2FA9-5499-2668-981B8EEE4862}"/>
              </a:ext>
            </a:extLst>
          </p:cNvPr>
          <p:cNvSpPr txBox="1"/>
          <p:nvPr/>
        </p:nvSpPr>
        <p:spPr>
          <a:xfrm>
            <a:off x="3967081" y="5408676"/>
            <a:ext cx="844078" cy="35612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77" b="0" dirty="0">
                <a:solidFill>
                  <a:srgbClr val="68707A"/>
                </a:solidFill>
                <a:latin typeface="Aptos"/>
              </a:rPr>
              <a:t>Model Context
Protocol tools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10F6EB1E-144B-834A-52CA-60BAC5CCB45E}"/>
              </a:ext>
            </a:extLst>
          </p:cNvPr>
          <p:cNvSpPr/>
          <p:nvPr/>
        </p:nvSpPr>
        <p:spPr>
          <a:xfrm>
            <a:off x="5202936" y="5106924"/>
            <a:ext cx="1389888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C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3" name="AtIcon3">
            <a:extLst>
              <a:ext uri="{FF2B5EF4-FFF2-40B4-BE49-F238E27FC236}">
                <a16:creationId xmlns:a16="http://schemas.microsoft.com/office/drawing/2014/main" id="{E7D7D8DD-B799-EF7A-107A-A8C6E56CFE7B}"/>
              </a:ext>
            </a:extLst>
          </p:cNvPr>
          <p:cNvPicPr/>
          <p:nvPr/>
        </p:nvPicPr>
        <p:blipFill>
          <a:blip r:embed="rId21"/>
          <a:srcRect l="2273" r="2273"/>
          <a:stretch>
            <a:fillRect/>
          </a:stretch>
        </p:blipFill>
        <p:spPr>
          <a:xfrm>
            <a:off x="5248656" y="5147916"/>
            <a:ext cx="274320" cy="274320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412C63D8-E27B-56DF-53E9-73827B20D2EA}"/>
              </a:ext>
            </a:extLst>
          </p:cNvPr>
          <p:cNvSpPr txBox="1"/>
          <p:nvPr/>
        </p:nvSpPr>
        <p:spPr>
          <a:xfrm>
            <a:off x="5741478" y="5157216"/>
            <a:ext cx="577979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1">
                <a:solidFill>
                  <a:srgbClr val="634B97"/>
                </a:solidFill>
                <a:latin typeface="Aptos"/>
              </a:rPr>
              <a:t>API Tools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E16FFB0-8687-47DF-A2DF-B84D77D4EC30}"/>
              </a:ext>
            </a:extLst>
          </p:cNvPr>
          <p:cNvSpPr txBox="1"/>
          <p:nvPr/>
        </p:nvSpPr>
        <p:spPr>
          <a:xfrm>
            <a:off x="5506298" y="5408676"/>
            <a:ext cx="783164" cy="35612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77" b="0">
                <a:solidFill>
                  <a:srgbClr val="68707A"/>
                </a:solidFill>
                <a:latin typeface="Aptos"/>
              </a:rPr>
              <a:t>Call internal /
external APIs</a:t>
            </a: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A66DA05F-3DC0-38DD-B607-BCFC03045DDA}"/>
              </a:ext>
            </a:extLst>
          </p:cNvPr>
          <p:cNvSpPr/>
          <p:nvPr/>
        </p:nvSpPr>
        <p:spPr>
          <a:xfrm>
            <a:off x="6711696" y="5106924"/>
            <a:ext cx="1389888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C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7" name="AtIcon4">
            <a:extLst>
              <a:ext uri="{FF2B5EF4-FFF2-40B4-BE49-F238E27FC236}">
                <a16:creationId xmlns:a16="http://schemas.microsoft.com/office/drawing/2014/main" id="{2DA6756F-B44E-BFDF-A9EF-929FB20774FB}"/>
              </a:ext>
            </a:extLst>
          </p:cNvPr>
          <p:cNvPicPr/>
          <p:nvPr/>
        </p:nvPicPr>
        <p:blipFill>
          <a:blip r:embed="rId22"/>
          <a:stretch>
            <a:fillRect/>
          </a:stretch>
        </p:blipFill>
        <p:spPr>
          <a:xfrm>
            <a:off x="6764274" y="5147916"/>
            <a:ext cx="260604" cy="274320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2832316A-C780-B384-8724-9455EDD2C603}"/>
              </a:ext>
            </a:extLst>
          </p:cNvPr>
          <p:cNvSpPr txBox="1"/>
          <p:nvPr/>
        </p:nvSpPr>
        <p:spPr>
          <a:xfrm>
            <a:off x="7207758" y="5157216"/>
            <a:ext cx="662938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1">
                <a:solidFill>
                  <a:srgbClr val="634B97"/>
                </a:solidFill>
                <a:latin typeface="Aptos"/>
              </a:rPr>
              <a:t>DB / Query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8B195CC-A83C-3662-463D-DFBF8AF62667}"/>
              </a:ext>
            </a:extLst>
          </p:cNvPr>
          <p:cNvSpPr txBox="1"/>
          <p:nvPr/>
        </p:nvSpPr>
        <p:spPr>
          <a:xfrm>
            <a:off x="7047118" y="5408676"/>
            <a:ext cx="719044" cy="35612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77" b="0">
                <a:solidFill>
                  <a:srgbClr val="68707A"/>
                </a:solidFill>
                <a:latin typeface="Aptos"/>
              </a:rPr>
              <a:t>Read / Write
Databases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74B85A5D-2851-E67C-89DB-36A6D91CECD2}"/>
              </a:ext>
            </a:extLst>
          </p:cNvPr>
          <p:cNvSpPr/>
          <p:nvPr/>
        </p:nvSpPr>
        <p:spPr>
          <a:xfrm>
            <a:off x="8220456" y="5106924"/>
            <a:ext cx="1389888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C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2307E1C-D2DF-5266-53FE-B989567DA8D7}"/>
              </a:ext>
            </a:extLst>
          </p:cNvPr>
          <p:cNvSpPr txBox="1"/>
          <p:nvPr/>
        </p:nvSpPr>
        <p:spPr>
          <a:xfrm>
            <a:off x="8181673" y="5125212"/>
            <a:ext cx="443326" cy="32085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1725" b="0">
                <a:solidFill>
                  <a:srgbClr val="927DC1"/>
                </a:solidFill>
                <a:latin typeface="Segoe UI Symbol"/>
              </a:rPr>
              <a:t>&lt;/&gt;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AADC5FC-6607-83F0-7A16-F6834F694C33}"/>
              </a:ext>
            </a:extLst>
          </p:cNvPr>
          <p:cNvSpPr txBox="1"/>
          <p:nvPr/>
        </p:nvSpPr>
        <p:spPr>
          <a:xfrm>
            <a:off x="8597896" y="5157216"/>
            <a:ext cx="900183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1">
                <a:solidFill>
                  <a:srgbClr val="634B97"/>
                </a:solidFill>
                <a:latin typeface="Aptos"/>
              </a:rPr>
              <a:t>Business Logic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F7996A6-CAC3-6DE3-B7A8-181648C33804}"/>
              </a:ext>
            </a:extLst>
          </p:cNvPr>
          <p:cNvSpPr txBox="1"/>
          <p:nvPr/>
        </p:nvSpPr>
        <p:spPr>
          <a:xfrm>
            <a:off x="8506986" y="5408676"/>
            <a:ext cx="816827" cy="35612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77" b="0">
                <a:solidFill>
                  <a:srgbClr val="68707A"/>
                </a:solidFill>
                <a:latin typeface="Aptos"/>
              </a:rPr>
              <a:t>Custom Java /
Spring Beans</a:t>
            </a: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83E3B038-CA37-3EB2-720D-0F89DD894F2D}"/>
              </a:ext>
            </a:extLst>
          </p:cNvPr>
          <p:cNvSpPr/>
          <p:nvPr/>
        </p:nvSpPr>
        <p:spPr>
          <a:xfrm>
            <a:off x="9729216" y="5106924"/>
            <a:ext cx="877824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C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53D0B38-4F85-3FAE-A144-B1903B5396E0}"/>
              </a:ext>
            </a:extLst>
          </p:cNvPr>
          <p:cNvSpPr txBox="1"/>
          <p:nvPr/>
        </p:nvSpPr>
        <p:spPr>
          <a:xfrm>
            <a:off x="9803444" y="5125212"/>
            <a:ext cx="217304" cy="32085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1725" b="0">
                <a:solidFill>
                  <a:srgbClr val="927DC1"/>
                </a:solidFill>
                <a:latin typeface="Segoe UI Symbol"/>
              </a:rPr>
              <a:t>…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99F05D2-D40A-B3B3-8135-27B8A1867B8F}"/>
              </a:ext>
            </a:extLst>
          </p:cNvPr>
          <p:cNvSpPr txBox="1"/>
          <p:nvPr/>
        </p:nvSpPr>
        <p:spPr>
          <a:xfrm>
            <a:off x="10217712" y="5157216"/>
            <a:ext cx="166007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1">
                <a:solidFill>
                  <a:srgbClr val="634B97"/>
                </a:solidFill>
                <a:latin typeface="Aptos"/>
              </a:rPr>
              <a:t>...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BD013CC-1EFE-6622-2CB0-C91668FFACCF}"/>
              </a:ext>
            </a:extLst>
          </p:cNvPr>
          <p:cNvSpPr txBox="1"/>
          <p:nvPr/>
        </p:nvSpPr>
        <p:spPr>
          <a:xfrm>
            <a:off x="9821430" y="5408676"/>
            <a:ext cx="693396" cy="35612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977" b="0">
                <a:solidFill>
                  <a:srgbClr val="68707A"/>
                </a:solidFill>
                <a:latin typeface="Aptos"/>
              </a:rPr>
              <a:t>Any custom
action</a:t>
            </a:r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15E9CF31-F155-CD5F-7C4D-45A4196CF13F}"/>
              </a:ext>
            </a:extLst>
          </p:cNvPr>
          <p:cNvSpPr/>
          <p:nvPr/>
        </p:nvSpPr>
        <p:spPr>
          <a:xfrm>
            <a:off x="11064240" y="4663440"/>
            <a:ext cx="256032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8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F7C680E-357F-6268-7029-A6A364FDD41A}"/>
              </a:ext>
            </a:extLst>
          </p:cNvPr>
          <p:cNvSpPr txBox="1"/>
          <p:nvPr/>
        </p:nvSpPr>
        <p:spPr>
          <a:xfrm>
            <a:off x="11483940" y="4775738"/>
            <a:ext cx="1720920" cy="22345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1092" b="1">
                <a:solidFill>
                  <a:srgbClr val="2D5D9A"/>
                </a:solidFill>
                <a:latin typeface="Aptos"/>
              </a:rPr>
              <a:t>LLM &amp; MODEL PROVIDERS</a:t>
            </a:r>
          </a:p>
        </p:txBody>
      </p:sp>
      <p:pic>
        <p:nvPicPr>
          <p:cNvPr id="110" name="LlmIcon1">
            <a:extLst>
              <a:ext uri="{FF2B5EF4-FFF2-40B4-BE49-F238E27FC236}">
                <a16:creationId xmlns:a16="http://schemas.microsoft.com/office/drawing/2014/main" id="{2439F2FC-3C7D-BC81-98E7-79262C24DF9A}"/>
              </a:ext>
            </a:extLst>
          </p:cNvPr>
          <p:cNvPicPr/>
          <p:nvPr/>
        </p:nvPicPr>
        <p:blipFill>
          <a:blip r:embed="rId23"/>
          <a:stretch>
            <a:fillRect/>
          </a:stretch>
        </p:blipFill>
        <p:spPr>
          <a:xfrm>
            <a:off x="11283696" y="5033314"/>
            <a:ext cx="274320" cy="274320"/>
          </a:xfrm>
          <a:prstGeom prst="rect">
            <a:avLst/>
          </a:prstGeom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F1C9976D-550C-C0D5-700D-4CB960EE9DEE}"/>
              </a:ext>
            </a:extLst>
          </p:cNvPr>
          <p:cNvSpPr txBox="1"/>
          <p:nvPr/>
        </p:nvSpPr>
        <p:spPr>
          <a:xfrm>
            <a:off x="11567160" y="5068051"/>
            <a:ext cx="457754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 dirty="0">
                <a:solidFill>
                  <a:srgbClr val="68707A"/>
                </a:solidFill>
                <a:latin typeface="Aptos"/>
              </a:rPr>
              <a:t>OpenAI</a:t>
            </a:r>
          </a:p>
        </p:txBody>
      </p:sp>
      <p:pic>
        <p:nvPicPr>
          <p:cNvPr id="112" name="LlmIcon2">
            <a:extLst>
              <a:ext uri="{FF2B5EF4-FFF2-40B4-BE49-F238E27FC236}">
                <a16:creationId xmlns:a16="http://schemas.microsoft.com/office/drawing/2014/main" id="{B29C4451-D6B1-B105-0483-D7789BC04A8D}"/>
              </a:ext>
            </a:extLst>
          </p:cNvPr>
          <p:cNvPicPr/>
          <p:nvPr/>
        </p:nvPicPr>
        <p:blipFill>
          <a:blip r:embed="rId24"/>
          <a:stretch>
            <a:fillRect/>
          </a:stretch>
        </p:blipFill>
        <p:spPr>
          <a:xfrm>
            <a:off x="12435840" y="5033314"/>
            <a:ext cx="274320" cy="274320"/>
          </a:xfrm>
          <a:prstGeom prst="rect">
            <a:avLst/>
          </a:prstGeom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B64C55BF-76C6-F871-0E9F-7DF871EF7468}"/>
              </a:ext>
            </a:extLst>
          </p:cNvPr>
          <p:cNvSpPr txBox="1"/>
          <p:nvPr/>
        </p:nvSpPr>
        <p:spPr>
          <a:xfrm>
            <a:off x="12710160" y="5068051"/>
            <a:ext cx="584391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 dirty="0">
                <a:solidFill>
                  <a:srgbClr val="68707A"/>
                </a:solidFill>
                <a:latin typeface="Aptos"/>
              </a:rPr>
              <a:t>Anthropic</a:t>
            </a:r>
          </a:p>
        </p:txBody>
      </p:sp>
      <p:pic>
        <p:nvPicPr>
          <p:cNvPr id="114" name="LlmIcon3">
            <a:extLst>
              <a:ext uri="{FF2B5EF4-FFF2-40B4-BE49-F238E27FC236}">
                <a16:creationId xmlns:a16="http://schemas.microsoft.com/office/drawing/2014/main" id="{B15F25F7-38FE-ECFB-337F-99A415BB59E9}"/>
              </a:ext>
            </a:extLst>
          </p:cNvPr>
          <p:cNvPicPr/>
          <p:nvPr/>
        </p:nvPicPr>
        <p:blipFill>
          <a:blip r:embed="rId25"/>
          <a:stretch>
            <a:fillRect/>
          </a:stretch>
        </p:blipFill>
        <p:spPr>
          <a:xfrm>
            <a:off x="11283696" y="5426506"/>
            <a:ext cx="274320" cy="274320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4ED7B51D-8914-5101-3E7A-249335B30F8E}"/>
              </a:ext>
            </a:extLst>
          </p:cNvPr>
          <p:cNvSpPr txBox="1"/>
          <p:nvPr/>
        </p:nvSpPr>
        <p:spPr>
          <a:xfrm>
            <a:off x="11567160" y="5461243"/>
            <a:ext cx="940257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68707A"/>
                </a:solidFill>
                <a:latin typeface="Aptos"/>
              </a:rPr>
              <a:t>Google Vertex AI</a:t>
            </a:r>
          </a:p>
        </p:txBody>
      </p:sp>
      <p:pic>
        <p:nvPicPr>
          <p:cNvPr id="116" name="LlmIcon4">
            <a:extLst>
              <a:ext uri="{FF2B5EF4-FFF2-40B4-BE49-F238E27FC236}">
                <a16:creationId xmlns:a16="http://schemas.microsoft.com/office/drawing/2014/main" id="{65F3DC58-B4ED-6C32-9188-D60FE3ABD9CB}"/>
              </a:ext>
            </a:extLst>
          </p:cNvPr>
          <p:cNvPicPr/>
          <p:nvPr/>
        </p:nvPicPr>
        <p:blipFill>
          <a:blip r:embed="rId26"/>
          <a:stretch>
            <a:fillRect/>
          </a:stretch>
        </p:blipFill>
        <p:spPr>
          <a:xfrm>
            <a:off x="12435840" y="5426506"/>
            <a:ext cx="274320" cy="274320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F89594B4-D0B9-76E4-7233-508268CF6E59}"/>
              </a:ext>
            </a:extLst>
          </p:cNvPr>
          <p:cNvSpPr txBox="1"/>
          <p:nvPr/>
        </p:nvSpPr>
        <p:spPr>
          <a:xfrm>
            <a:off x="12710160" y="5461243"/>
            <a:ext cx="789575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68707A"/>
                </a:solidFill>
                <a:latin typeface="Aptos"/>
              </a:rPr>
              <a:t>Azure OpenAI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2F70541F-1082-D1D4-1B40-D170A75B30CD}"/>
              </a:ext>
            </a:extLst>
          </p:cNvPr>
          <p:cNvSpPr txBox="1"/>
          <p:nvPr/>
        </p:nvSpPr>
        <p:spPr>
          <a:xfrm>
            <a:off x="11683897" y="5794999"/>
            <a:ext cx="1275286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0">
                <a:solidFill>
                  <a:srgbClr val="68707A"/>
                </a:solidFill>
                <a:latin typeface="Aptos"/>
              </a:rPr>
              <a:t>…   Any model provider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9B0B5ECA-01C1-D030-FFFC-F9193A9386FD}"/>
              </a:ext>
            </a:extLst>
          </p:cNvPr>
          <p:cNvSpPr/>
          <p:nvPr/>
        </p:nvSpPr>
        <p:spPr>
          <a:xfrm>
            <a:off x="2029968" y="6229350"/>
            <a:ext cx="8741664" cy="804672"/>
          </a:xfrm>
          <a:prstGeom prst="roundRect">
            <a:avLst/>
          </a:prstGeom>
          <a:solidFill>
            <a:srgbClr val="F6FAFF"/>
          </a:solidFill>
          <a:ln w="13970">
            <a:solidFill>
              <a:srgbClr val="5B8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F8BB99E-E37D-C613-BF14-F419C3EDAA86}"/>
              </a:ext>
            </a:extLst>
          </p:cNvPr>
          <p:cNvSpPr txBox="1"/>
          <p:nvPr/>
        </p:nvSpPr>
        <p:spPr>
          <a:xfrm>
            <a:off x="4761471" y="6284214"/>
            <a:ext cx="3232937" cy="2535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1288" b="1" dirty="0">
                <a:solidFill>
                  <a:srgbClr val="2D5D9A"/>
                </a:solidFill>
                <a:latin typeface="Aptos"/>
              </a:rPr>
              <a:t>SPRING AI INTEGRATION / AI FOUNDATION</a:t>
            </a: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39BA70F4-8639-D0DA-636F-3C88601F018A}"/>
              </a:ext>
            </a:extLst>
          </p:cNvPr>
          <p:cNvSpPr/>
          <p:nvPr/>
        </p:nvSpPr>
        <p:spPr>
          <a:xfrm>
            <a:off x="2185416" y="6531102"/>
            <a:ext cx="1170432" cy="42062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3" name="SaIcon1">
            <a:extLst>
              <a:ext uri="{FF2B5EF4-FFF2-40B4-BE49-F238E27FC236}">
                <a16:creationId xmlns:a16="http://schemas.microsoft.com/office/drawing/2014/main" id="{CCA682EC-EF2A-DB71-E484-B0A2601ACFE9}"/>
              </a:ext>
            </a:extLst>
          </p:cNvPr>
          <p:cNvPicPr/>
          <p:nvPr/>
        </p:nvPicPr>
        <p:blipFill>
          <a:blip r:embed="rId27"/>
          <a:stretch>
            <a:fillRect/>
          </a:stretch>
        </p:blipFill>
        <p:spPr>
          <a:xfrm>
            <a:off x="2221992" y="6583524"/>
            <a:ext cx="274320" cy="260604"/>
          </a:xfrm>
          <a:prstGeom prst="rect">
            <a:avLst/>
          </a:prstGeom>
        </p:spPr>
      </p:pic>
      <p:sp>
        <p:nvSpPr>
          <p:cNvPr id="124" name="TextBox 123">
            <a:extLst>
              <a:ext uri="{FF2B5EF4-FFF2-40B4-BE49-F238E27FC236}">
                <a16:creationId xmlns:a16="http://schemas.microsoft.com/office/drawing/2014/main" id="{28F5546F-7C05-0B19-CEA7-BDF6E1C2EBCE}"/>
              </a:ext>
            </a:extLst>
          </p:cNvPr>
          <p:cNvSpPr txBox="1"/>
          <p:nvPr/>
        </p:nvSpPr>
        <p:spPr>
          <a:xfrm>
            <a:off x="2533843" y="6553962"/>
            <a:ext cx="747898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1" dirty="0" err="1">
                <a:solidFill>
                  <a:srgbClr val="2D5D9A"/>
                </a:solidFill>
                <a:latin typeface="Aptos"/>
              </a:rPr>
              <a:t>ChatClient</a:t>
            </a:r>
            <a:r>
              <a:rPr lang="en-US" sz="977" b="1" dirty="0">
                <a:solidFill>
                  <a:srgbClr val="2D5D9A"/>
                </a:solidFill>
                <a:latin typeface="Aptos"/>
              </a:rPr>
              <a:t> /
LLM Calls</a:t>
            </a:r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95E30E27-124C-52CC-0DC7-BAB559B729EE}"/>
              </a:ext>
            </a:extLst>
          </p:cNvPr>
          <p:cNvSpPr/>
          <p:nvPr/>
        </p:nvSpPr>
        <p:spPr>
          <a:xfrm>
            <a:off x="3401568" y="6531102"/>
            <a:ext cx="1170432" cy="42062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6" name="SaIcon2">
            <a:extLst>
              <a:ext uri="{FF2B5EF4-FFF2-40B4-BE49-F238E27FC236}">
                <a16:creationId xmlns:a16="http://schemas.microsoft.com/office/drawing/2014/main" id="{C8F6070E-F36E-E15F-AD32-AB23F528D3DB}"/>
              </a:ext>
            </a:extLst>
          </p:cNvPr>
          <p:cNvPicPr/>
          <p:nvPr/>
        </p:nvPicPr>
        <p:blipFill>
          <a:blip r:embed="rId28"/>
          <a:stretch>
            <a:fillRect/>
          </a:stretch>
        </p:blipFill>
        <p:spPr>
          <a:xfrm>
            <a:off x="3445002" y="6576666"/>
            <a:ext cx="260604" cy="274320"/>
          </a:xfrm>
          <a:prstGeom prst="rect">
            <a:avLst/>
          </a:prstGeom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7089B2AE-B6CF-6B30-AA50-03CE5F896BD8}"/>
              </a:ext>
            </a:extLst>
          </p:cNvPr>
          <p:cNvSpPr txBox="1"/>
          <p:nvPr/>
        </p:nvSpPr>
        <p:spPr>
          <a:xfrm>
            <a:off x="3742781" y="6628943"/>
            <a:ext cx="762325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1">
                <a:solidFill>
                  <a:srgbClr val="2D5D9A"/>
                </a:solidFill>
                <a:latin typeface="Aptos"/>
              </a:rPr>
              <a:t>Embeddings</a:t>
            </a:r>
          </a:p>
        </p:txBody>
      </p:sp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78F1E8EA-EA64-35C3-4D2D-39211FB14F84}"/>
              </a:ext>
            </a:extLst>
          </p:cNvPr>
          <p:cNvSpPr/>
          <p:nvPr/>
        </p:nvSpPr>
        <p:spPr>
          <a:xfrm>
            <a:off x="4617720" y="6531102"/>
            <a:ext cx="1170432" cy="42062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9" name="SaIcon3">
            <a:extLst>
              <a:ext uri="{FF2B5EF4-FFF2-40B4-BE49-F238E27FC236}">
                <a16:creationId xmlns:a16="http://schemas.microsoft.com/office/drawing/2014/main" id="{1B7EE30D-579E-A261-888B-7B189D860DB9}"/>
              </a:ext>
            </a:extLst>
          </p:cNvPr>
          <p:cNvPicPr/>
          <p:nvPr/>
        </p:nvPicPr>
        <p:blipFill>
          <a:blip r:embed="rId29"/>
          <a:stretch>
            <a:fillRect/>
          </a:stretch>
        </p:blipFill>
        <p:spPr>
          <a:xfrm>
            <a:off x="4654296" y="6576666"/>
            <a:ext cx="274320" cy="274320"/>
          </a:xfrm>
          <a:prstGeom prst="rect">
            <a:avLst/>
          </a:prstGeom>
        </p:spPr>
      </p:pic>
      <p:sp>
        <p:nvSpPr>
          <p:cNvPr id="130" name="TextBox 129">
            <a:extLst>
              <a:ext uri="{FF2B5EF4-FFF2-40B4-BE49-F238E27FC236}">
                <a16:creationId xmlns:a16="http://schemas.microsoft.com/office/drawing/2014/main" id="{A6604FF0-F9EA-2FBB-B5A4-F2D555F52961}"/>
              </a:ext>
            </a:extLst>
          </p:cNvPr>
          <p:cNvSpPr txBox="1"/>
          <p:nvPr/>
        </p:nvSpPr>
        <p:spPr>
          <a:xfrm>
            <a:off x="4924469" y="6553962"/>
            <a:ext cx="831253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1" dirty="0">
                <a:solidFill>
                  <a:srgbClr val="2D5D9A"/>
                </a:solidFill>
                <a:latin typeface="Aptos"/>
              </a:rPr>
              <a:t>Vector Stores</a:t>
            </a:r>
          </a:p>
          <a:p>
            <a:pPr algn="ctr"/>
            <a:r>
              <a:rPr lang="en-US" sz="977" b="1" dirty="0">
                <a:solidFill>
                  <a:srgbClr val="2D5D9A"/>
                </a:solidFill>
                <a:latin typeface="Aptos"/>
              </a:rPr>
              <a:t>(</a:t>
            </a:r>
            <a:r>
              <a:rPr lang="en-US" sz="977" b="1" dirty="0" err="1">
                <a:solidFill>
                  <a:srgbClr val="2D5D9A"/>
                </a:solidFill>
                <a:latin typeface="Aptos"/>
              </a:rPr>
              <a:t>pgvector</a:t>
            </a:r>
            <a:r>
              <a:rPr lang="en-US" sz="977" b="1" dirty="0">
                <a:solidFill>
                  <a:srgbClr val="2D5D9A"/>
                </a:solidFill>
                <a:latin typeface="Aptos"/>
              </a:rPr>
              <a:t>)</a:t>
            </a:r>
          </a:p>
        </p:txBody>
      </p: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475E449A-13DA-B442-D8BA-C02F48042F23}"/>
              </a:ext>
            </a:extLst>
          </p:cNvPr>
          <p:cNvSpPr/>
          <p:nvPr/>
        </p:nvSpPr>
        <p:spPr>
          <a:xfrm>
            <a:off x="5833872" y="6531102"/>
            <a:ext cx="1170432" cy="42062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2" name="SaIcon4">
            <a:extLst>
              <a:ext uri="{FF2B5EF4-FFF2-40B4-BE49-F238E27FC236}">
                <a16:creationId xmlns:a16="http://schemas.microsoft.com/office/drawing/2014/main" id="{750A1E37-D4CC-2C63-7DB2-52D1403D0013}"/>
              </a:ext>
            </a:extLst>
          </p:cNvPr>
          <p:cNvPicPr/>
          <p:nvPr/>
        </p:nvPicPr>
        <p:blipFill>
          <a:blip r:embed="rId30"/>
          <a:stretch>
            <a:fillRect/>
          </a:stretch>
        </p:blipFill>
        <p:spPr>
          <a:xfrm>
            <a:off x="5870448" y="6576666"/>
            <a:ext cx="274320" cy="274320"/>
          </a:xfrm>
          <a:prstGeom prst="rect">
            <a:avLst/>
          </a:prstGeom>
        </p:spPr>
      </p:pic>
      <p:sp>
        <p:nvSpPr>
          <p:cNvPr id="133" name="TextBox 132">
            <a:extLst>
              <a:ext uri="{FF2B5EF4-FFF2-40B4-BE49-F238E27FC236}">
                <a16:creationId xmlns:a16="http://schemas.microsoft.com/office/drawing/2014/main" id="{6D5DD222-3829-23E3-5BB9-5C17444401EC}"/>
              </a:ext>
            </a:extLst>
          </p:cNvPr>
          <p:cNvSpPr txBox="1"/>
          <p:nvPr/>
        </p:nvSpPr>
        <p:spPr>
          <a:xfrm>
            <a:off x="6146231" y="6553962"/>
            <a:ext cx="820033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1">
                <a:solidFill>
                  <a:srgbClr val="2D5D9A"/>
                </a:solidFill>
                <a:latin typeface="Aptos"/>
              </a:rPr>
              <a:t>Document
Transformers</a:t>
            </a:r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539D8F4C-6764-1AC2-4EFE-90B99B84548D}"/>
              </a:ext>
            </a:extLst>
          </p:cNvPr>
          <p:cNvSpPr/>
          <p:nvPr/>
        </p:nvSpPr>
        <p:spPr>
          <a:xfrm>
            <a:off x="7050024" y="6531102"/>
            <a:ext cx="1170432" cy="42062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5" name="SaIcon5">
            <a:extLst>
              <a:ext uri="{FF2B5EF4-FFF2-40B4-BE49-F238E27FC236}">
                <a16:creationId xmlns:a16="http://schemas.microsoft.com/office/drawing/2014/main" id="{113F3035-C603-D061-6D6A-B8FCBCBF7672}"/>
              </a:ext>
            </a:extLst>
          </p:cNvPr>
          <p:cNvPicPr/>
          <p:nvPr/>
        </p:nvPicPr>
        <p:blipFill>
          <a:blip r:embed="rId31"/>
          <a:stretch>
            <a:fillRect/>
          </a:stretch>
        </p:blipFill>
        <p:spPr>
          <a:xfrm>
            <a:off x="7086600" y="6576666"/>
            <a:ext cx="274320" cy="274320"/>
          </a:xfrm>
          <a:prstGeom prst="rect">
            <a:avLst/>
          </a:prstGeom>
        </p:spPr>
      </p:pic>
      <p:sp>
        <p:nvSpPr>
          <p:cNvPr id="136" name="TextBox 135">
            <a:extLst>
              <a:ext uri="{FF2B5EF4-FFF2-40B4-BE49-F238E27FC236}">
                <a16:creationId xmlns:a16="http://schemas.microsoft.com/office/drawing/2014/main" id="{E0F2286C-14A7-93B1-78C7-EA34428D6CBC}"/>
              </a:ext>
            </a:extLst>
          </p:cNvPr>
          <p:cNvSpPr txBox="1"/>
          <p:nvPr/>
        </p:nvSpPr>
        <p:spPr>
          <a:xfrm>
            <a:off x="7354368" y="6553962"/>
            <a:ext cx="836063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1">
                <a:solidFill>
                  <a:srgbClr val="2D5D9A"/>
                </a:solidFill>
                <a:latin typeface="Aptos"/>
              </a:rPr>
              <a:t>Tool Calling &amp;
Functions</a:t>
            </a:r>
          </a:p>
        </p:txBody>
      </p:sp>
      <p:sp>
        <p:nvSpPr>
          <p:cNvPr id="137" name="Rounded Rectangle 136">
            <a:extLst>
              <a:ext uri="{FF2B5EF4-FFF2-40B4-BE49-F238E27FC236}">
                <a16:creationId xmlns:a16="http://schemas.microsoft.com/office/drawing/2014/main" id="{E91564CA-F028-3501-D757-77785634B194}"/>
              </a:ext>
            </a:extLst>
          </p:cNvPr>
          <p:cNvSpPr/>
          <p:nvPr/>
        </p:nvSpPr>
        <p:spPr>
          <a:xfrm>
            <a:off x="8266176" y="6531102"/>
            <a:ext cx="1170432" cy="42062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012C581-2E70-1C89-F83D-647F81512BA4}"/>
              </a:ext>
            </a:extLst>
          </p:cNvPr>
          <p:cNvSpPr txBox="1"/>
          <p:nvPr/>
        </p:nvSpPr>
        <p:spPr>
          <a:xfrm>
            <a:off x="8255919" y="6580480"/>
            <a:ext cx="367986" cy="26776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1380" b="0">
                <a:solidFill>
                  <a:srgbClr val="2D5D9A"/>
                </a:solidFill>
                <a:latin typeface="Segoe UI Symbol"/>
              </a:rPr>
              <a:t>&lt;/&gt;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9DB0691-E772-8CF3-64F5-DA2B96E05885}"/>
              </a:ext>
            </a:extLst>
          </p:cNvPr>
          <p:cNvSpPr txBox="1"/>
          <p:nvPr/>
        </p:nvSpPr>
        <p:spPr>
          <a:xfrm>
            <a:off x="8743645" y="6553962"/>
            <a:ext cx="489814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1">
                <a:solidFill>
                  <a:srgbClr val="2D5D9A"/>
                </a:solidFill>
                <a:latin typeface="Aptos"/>
              </a:rPr>
              <a:t>Output
Parsers</a:t>
            </a:r>
          </a:p>
        </p:txBody>
      </p:sp>
      <p:sp>
        <p:nvSpPr>
          <p:cNvPr id="140" name="Rounded Rectangle 139">
            <a:extLst>
              <a:ext uri="{FF2B5EF4-FFF2-40B4-BE49-F238E27FC236}">
                <a16:creationId xmlns:a16="http://schemas.microsoft.com/office/drawing/2014/main" id="{77536A0D-7C2E-8DB8-0D17-6E2830869F32}"/>
              </a:ext>
            </a:extLst>
          </p:cNvPr>
          <p:cNvSpPr/>
          <p:nvPr/>
        </p:nvSpPr>
        <p:spPr>
          <a:xfrm>
            <a:off x="9482328" y="6531102"/>
            <a:ext cx="1170432" cy="42062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2" name="SaIcon6">
            <a:extLst>
              <a:ext uri="{FF2B5EF4-FFF2-40B4-BE49-F238E27FC236}">
                <a16:creationId xmlns:a16="http://schemas.microsoft.com/office/drawing/2014/main" id="{FE808916-7283-C7AA-97BE-F02DD43C749C}"/>
              </a:ext>
            </a:extLst>
          </p:cNvPr>
          <p:cNvPicPr/>
          <p:nvPr/>
        </p:nvPicPr>
        <p:blipFill>
          <a:blip r:embed="rId32"/>
          <a:stretch>
            <a:fillRect/>
          </a:stretch>
        </p:blipFill>
        <p:spPr>
          <a:xfrm>
            <a:off x="9525762" y="6576666"/>
            <a:ext cx="260604" cy="274320"/>
          </a:xfrm>
          <a:prstGeom prst="rect">
            <a:avLst/>
          </a:prstGeom>
        </p:spPr>
      </p:pic>
      <p:sp>
        <p:nvSpPr>
          <p:cNvPr id="143" name="TextBox 142">
            <a:extLst>
              <a:ext uri="{FF2B5EF4-FFF2-40B4-BE49-F238E27FC236}">
                <a16:creationId xmlns:a16="http://schemas.microsoft.com/office/drawing/2014/main" id="{3A76C58D-5648-E5CD-E433-E10D6A81B434}"/>
              </a:ext>
            </a:extLst>
          </p:cNvPr>
          <p:cNvSpPr txBox="1"/>
          <p:nvPr/>
        </p:nvSpPr>
        <p:spPr>
          <a:xfrm>
            <a:off x="9849009" y="6628943"/>
            <a:ext cx="656526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977" b="1">
                <a:solidFill>
                  <a:srgbClr val="2D5D9A"/>
                </a:solidFill>
                <a:latin typeface="Aptos"/>
              </a:rPr>
              <a:t>Guardrails</a:t>
            </a:r>
          </a:p>
        </p:txBody>
      </p:sp>
      <p:cxnSp>
        <p:nvCxnSpPr>
          <p:cNvPr id="144" name="Connector 143">
            <a:extLst>
              <a:ext uri="{FF2B5EF4-FFF2-40B4-BE49-F238E27FC236}">
                <a16:creationId xmlns:a16="http://schemas.microsoft.com/office/drawing/2014/main" id="{9DA024B1-9878-928A-EDA5-7F48BBBE6569}"/>
              </a:ext>
            </a:extLst>
          </p:cNvPr>
          <p:cNvCxnSpPr/>
          <p:nvPr/>
        </p:nvCxnSpPr>
        <p:spPr>
          <a:xfrm>
            <a:off x="6355080" y="7068312"/>
            <a:ext cx="0" cy="274320"/>
          </a:xfrm>
          <a:prstGeom prst="line">
            <a:avLst/>
          </a:prstGeom>
          <a:ln w="15240">
            <a:solidFill>
              <a:srgbClr val="687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ounded Rectangle 144">
            <a:extLst>
              <a:ext uri="{FF2B5EF4-FFF2-40B4-BE49-F238E27FC236}">
                <a16:creationId xmlns:a16="http://schemas.microsoft.com/office/drawing/2014/main" id="{224DD2BF-4192-F2BA-C1F7-6871DC17FA4D}"/>
              </a:ext>
            </a:extLst>
          </p:cNvPr>
          <p:cNvSpPr/>
          <p:nvPr/>
        </p:nvSpPr>
        <p:spPr>
          <a:xfrm>
            <a:off x="2029968" y="7388352"/>
            <a:ext cx="874166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5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8FD2D9E-B6A8-54A8-8205-9E77A8DB9526}"/>
              </a:ext>
            </a:extLst>
          </p:cNvPr>
          <p:cNvSpPr txBox="1"/>
          <p:nvPr/>
        </p:nvSpPr>
        <p:spPr>
          <a:xfrm>
            <a:off x="5404117" y="7420356"/>
            <a:ext cx="1993366" cy="2535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1288" b="1" dirty="0">
                <a:solidFill>
                  <a:srgbClr val="122444"/>
                </a:solidFill>
                <a:latin typeface="Aptos"/>
              </a:rPr>
              <a:t>DATA &amp; INFRASTRUCTURE</a:t>
            </a:r>
          </a:p>
        </p:txBody>
      </p:sp>
      <p:pic>
        <p:nvPicPr>
          <p:cNvPr id="147" name="DiIcon1">
            <a:extLst>
              <a:ext uri="{FF2B5EF4-FFF2-40B4-BE49-F238E27FC236}">
                <a16:creationId xmlns:a16="http://schemas.microsoft.com/office/drawing/2014/main" id="{4A3A23BB-1437-2D92-12CA-4A3F7B138F06}"/>
              </a:ext>
            </a:extLst>
          </p:cNvPr>
          <p:cNvPicPr/>
          <p:nvPr/>
        </p:nvPicPr>
        <p:blipFill>
          <a:blip r:embed="rId33"/>
          <a:srcRect l="4500" r="5500"/>
          <a:stretch>
            <a:fillRect/>
          </a:stretch>
        </p:blipFill>
        <p:spPr>
          <a:xfrm>
            <a:off x="2212848" y="7675318"/>
            <a:ext cx="274320" cy="274320"/>
          </a:xfrm>
          <a:prstGeom prst="rect">
            <a:avLst/>
          </a:prstGeom>
        </p:spPr>
      </p:pic>
      <p:sp>
        <p:nvSpPr>
          <p:cNvPr id="148" name="TextBox 147">
            <a:extLst>
              <a:ext uri="{FF2B5EF4-FFF2-40B4-BE49-F238E27FC236}">
                <a16:creationId xmlns:a16="http://schemas.microsoft.com/office/drawing/2014/main" id="{B0095A5E-DED7-849F-8DB6-22C3188A165E}"/>
              </a:ext>
            </a:extLst>
          </p:cNvPr>
          <p:cNvSpPr txBox="1"/>
          <p:nvPr/>
        </p:nvSpPr>
        <p:spPr>
          <a:xfrm>
            <a:off x="2532888" y="7698334"/>
            <a:ext cx="598818" cy="20576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lang="en-US" sz="977" b="0" dirty="0">
                <a:solidFill>
                  <a:srgbClr val="68707A"/>
                </a:solidFill>
                <a:latin typeface="Aptos"/>
              </a:rPr>
              <a:t>Vector DB</a:t>
            </a:r>
          </a:p>
        </p:txBody>
      </p:sp>
      <p:pic>
        <p:nvPicPr>
          <p:cNvPr id="149" name="DiIcon2">
            <a:extLst>
              <a:ext uri="{FF2B5EF4-FFF2-40B4-BE49-F238E27FC236}">
                <a16:creationId xmlns:a16="http://schemas.microsoft.com/office/drawing/2014/main" id="{586A36AF-9737-52D7-F59C-0144725E22A1}"/>
              </a:ext>
            </a:extLst>
          </p:cNvPr>
          <p:cNvPicPr/>
          <p:nvPr/>
        </p:nvPicPr>
        <p:blipFill>
          <a:blip r:embed="rId34"/>
          <a:stretch>
            <a:fillRect/>
          </a:stretch>
        </p:blipFill>
        <p:spPr>
          <a:xfrm>
            <a:off x="3458753" y="7675318"/>
            <a:ext cx="274320" cy="274320"/>
          </a:xfrm>
          <a:prstGeom prst="rect">
            <a:avLst/>
          </a:prstGeom>
        </p:spPr>
      </p:pic>
      <p:sp>
        <p:nvSpPr>
          <p:cNvPr id="150" name="TextBox 149">
            <a:extLst>
              <a:ext uri="{FF2B5EF4-FFF2-40B4-BE49-F238E27FC236}">
                <a16:creationId xmlns:a16="http://schemas.microsoft.com/office/drawing/2014/main" id="{A411A8BE-D267-3A10-9D69-5C488213975C}"/>
              </a:ext>
            </a:extLst>
          </p:cNvPr>
          <p:cNvSpPr txBox="1"/>
          <p:nvPr/>
        </p:nvSpPr>
        <p:spPr>
          <a:xfrm>
            <a:off x="3807822" y="7625182"/>
            <a:ext cx="1204753" cy="35612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lang="en-US" sz="977" b="0" dirty="0">
                <a:solidFill>
                  <a:srgbClr val="68707A"/>
                </a:solidFill>
                <a:latin typeface="Aptos"/>
              </a:rPr>
              <a:t>Relational DB</a:t>
            </a:r>
          </a:p>
          <a:p>
            <a:pPr algn="l"/>
            <a:r>
              <a:rPr lang="en-US" sz="977" b="0" dirty="0">
                <a:solidFill>
                  <a:srgbClr val="68707A"/>
                </a:solidFill>
                <a:latin typeface="Aptos"/>
              </a:rPr>
              <a:t>(PostgreSQL, MySQL)</a:t>
            </a:r>
          </a:p>
        </p:txBody>
      </p:sp>
      <p:pic>
        <p:nvPicPr>
          <p:cNvPr id="151" name="DiIcon3">
            <a:extLst>
              <a:ext uri="{FF2B5EF4-FFF2-40B4-BE49-F238E27FC236}">
                <a16:creationId xmlns:a16="http://schemas.microsoft.com/office/drawing/2014/main" id="{3F0B3295-CD9C-445E-F231-05A71666A80E}"/>
              </a:ext>
            </a:extLst>
          </p:cNvPr>
          <p:cNvPicPr/>
          <p:nvPr/>
        </p:nvPicPr>
        <p:blipFill>
          <a:blip r:embed="rId35"/>
          <a:stretch>
            <a:fillRect/>
          </a:stretch>
        </p:blipFill>
        <p:spPr>
          <a:xfrm>
            <a:off x="5183634" y="7689948"/>
            <a:ext cx="274320" cy="274320"/>
          </a:xfrm>
          <a:prstGeom prst="rect">
            <a:avLst/>
          </a:prstGeom>
        </p:spPr>
      </p:pic>
      <p:sp>
        <p:nvSpPr>
          <p:cNvPr id="152" name="TextBox 151">
            <a:extLst>
              <a:ext uri="{FF2B5EF4-FFF2-40B4-BE49-F238E27FC236}">
                <a16:creationId xmlns:a16="http://schemas.microsoft.com/office/drawing/2014/main" id="{91868FF4-F098-29AA-BBCD-1452E37114B0}"/>
              </a:ext>
            </a:extLst>
          </p:cNvPr>
          <p:cNvSpPr txBox="1"/>
          <p:nvPr/>
        </p:nvSpPr>
        <p:spPr>
          <a:xfrm>
            <a:off x="5532702" y="7639812"/>
            <a:ext cx="880947" cy="35612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lang="en-US" sz="977" b="0" dirty="0">
                <a:solidFill>
                  <a:srgbClr val="68707A"/>
                </a:solidFill>
                <a:latin typeface="Aptos"/>
              </a:rPr>
              <a:t>Object Storage</a:t>
            </a:r>
          </a:p>
          <a:p>
            <a:pPr algn="l"/>
            <a:r>
              <a:rPr lang="en-US" sz="977" b="0" dirty="0">
                <a:solidFill>
                  <a:srgbClr val="68707A"/>
                </a:solidFill>
                <a:latin typeface="Aptos"/>
              </a:rPr>
              <a:t>(S3, GCS, Blob)</a:t>
            </a:r>
          </a:p>
        </p:txBody>
      </p:sp>
      <p:pic>
        <p:nvPicPr>
          <p:cNvPr id="153" name="DiIcon4">
            <a:extLst>
              <a:ext uri="{FF2B5EF4-FFF2-40B4-BE49-F238E27FC236}">
                <a16:creationId xmlns:a16="http://schemas.microsoft.com/office/drawing/2014/main" id="{7ECC9ED4-33C6-9F7C-7A1F-0C48E84AA069}"/>
              </a:ext>
            </a:extLst>
          </p:cNvPr>
          <p:cNvPicPr/>
          <p:nvPr/>
        </p:nvPicPr>
        <p:blipFill>
          <a:blip r:embed="rId36"/>
          <a:stretch>
            <a:fillRect/>
          </a:stretch>
        </p:blipFill>
        <p:spPr>
          <a:xfrm>
            <a:off x="6797766" y="7689948"/>
            <a:ext cx="274320" cy="274320"/>
          </a:xfrm>
          <a:prstGeom prst="rect">
            <a:avLst/>
          </a:prstGeom>
        </p:spPr>
      </p:pic>
      <p:sp>
        <p:nvSpPr>
          <p:cNvPr id="154" name="TextBox 153">
            <a:extLst>
              <a:ext uri="{FF2B5EF4-FFF2-40B4-BE49-F238E27FC236}">
                <a16:creationId xmlns:a16="http://schemas.microsoft.com/office/drawing/2014/main" id="{352F561C-5BB5-F253-928D-C383E9E93A1F}"/>
              </a:ext>
            </a:extLst>
          </p:cNvPr>
          <p:cNvSpPr txBox="1"/>
          <p:nvPr/>
        </p:nvSpPr>
        <p:spPr>
          <a:xfrm>
            <a:off x="7132320" y="7654442"/>
            <a:ext cx="432106" cy="35612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lang="en-US" sz="977" b="0">
                <a:solidFill>
                  <a:srgbClr val="68707A"/>
                </a:solidFill>
                <a:latin typeface="Aptos"/>
              </a:rPr>
              <a:t>Cache
(Redis)</a:t>
            </a:r>
          </a:p>
        </p:txBody>
      </p:sp>
      <p:pic>
        <p:nvPicPr>
          <p:cNvPr id="155" name="DiIcon5">
            <a:extLst>
              <a:ext uri="{FF2B5EF4-FFF2-40B4-BE49-F238E27FC236}">
                <a16:creationId xmlns:a16="http://schemas.microsoft.com/office/drawing/2014/main" id="{981CE47B-80E6-692A-F78C-0BA775CE69E8}"/>
              </a:ext>
            </a:extLst>
          </p:cNvPr>
          <p:cNvPicPr/>
          <p:nvPr/>
        </p:nvPicPr>
        <p:blipFill>
          <a:blip r:embed="rId37"/>
          <a:stretch>
            <a:fillRect/>
          </a:stretch>
        </p:blipFill>
        <p:spPr>
          <a:xfrm>
            <a:off x="7933219" y="7703664"/>
            <a:ext cx="261850" cy="274320"/>
          </a:xfrm>
          <a:prstGeom prst="rect">
            <a:avLst/>
          </a:prstGeom>
        </p:spPr>
      </p:pic>
      <p:sp>
        <p:nvSpPr>
          <p:cNvPr id="156" name="TextBox 155">
            <a:extLst>
              <a:ext uri="{FF2B5EF4-FFF2-40B4-BE49-F238E27FC236}">
                <a16:creationId xmlns:a16="http://schemas.microsoft.com/office/drawing/2014/main" id="{F3F907C6-7F8F-36A0-669C-D0C98F7C5FDD}"/>
              </a:ext>
            </a:extLst>
          </p:cNvPr>
          <p:cNvSpPr txBox="1"/>
          <p:nvPr/>
        </p:nvSpPr>
        <p:spPr>
          <a:xfrm>
            <a:off x="8247024" y="7639812"/>
            <a:ext cx="1073307" cy="35612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lang="en-US" sz="977" b="0" dirty="0">
                <a:solidFill>
                  <a:srgbClr val="68707A"/>
                </a:solidFill>
                <a:latin typeface="Aptos"/>
              </a:rPr>
              <a:t>Message Broker
(Kafka / RabbitMQ)</a:t>
            </a:r>
          </a:p>
        </p:txBody>
      </p:sp>
      <p:pic>
        <p:nvPicPr>
          <p:cNvPr id="157" name="DiIcon6">
            <a:extLst>
              <a:ext uri="{FF2B5EF4-FFF2-40B4-BE49-F238E27FC236}">
                <a16:creationId xmlns:a16="http://schemas.microsoft.com/office/drawing/2014/main" id="{AE4FB507-9DB2-5665-C36A-5CD2C7F6EF62}"/>
              </a:ext>
            </a:extLst>
          </p:cNvPr>
          <p:cNvPicPr/>
          <p:nvPr/>
        </p:nvPicPr>
        <p:blipFill>
          <a:blip r:embed="rId38"/>
          <a:stretch>
            <a:fillRect/>
          </a:stretch>
        </p:blipFill>
        <p:spPr>
          <a:xfrm>
            <a:off x="9520646" y="7710883"/>
            <a:ext cx="274320" cy="259882"/>
          </a:xfrm>
          <a:prstGeom prst="rect">
            <a:avLst/>
          </a:prstGeom>
        </p:spPr>
      </p:pic>
      <p:sp>
        <p:nvSpPr>
          <p:cNvPr id="158" name="TextBox 157">
            <a:extLst>
              <a:ext uri="{FF2B5EF4-FFF2-40B4-BE49-F238E27FC236}">
                <a16:creationId xmlns:a16="http://schemas.microsoft.com/office/drawing/2014/main" id="{64FE0D05-2B51-A105-C9B3-EE89F17CB1A5}"/>
              </a:ext>
            </a:extLst>
          </p:cNvPr>
          <p:cNvSpPr txBox="1"/>
          <p:nvPr/>
        </p:nvSpPr>
        <p:spPr>
          <a:xfrm>
            <a:off x="9811657" y="7726680"/>
            <a:ext cx="824841" cy="20576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lang="en-US" sz="977" b="0" dirty="0">
                <a:solidFill>
                  <a:srgbClr val="68707A"/>
                </a:solidFill>
                <a:latin typeface="Aptos"/>
              </a:rPr>
              <a:t>Search Engine</a:t>
            </a:r>
          </a:p>
        </p:txBody>
      </p:sp>
      <p:sp>
        <p:nvSpPr>
          <p:cNvPr id="159" name="Rounded Rectangle 158">
            <a:extLst>
              <a:ext uri="{FF2B5EF4-FFF2-40B4-BE49-F238E27FC236}">
                <a16:creationId xmlns:a16="http://schemas.microsoft.com/office/drawing/2014/main" id="{88B12535-706F-CB9C-FB6F-5E1BAE265553}"/>
              </a:ext>
            </a:extLst>
          </p:cNvPr>
          <p:cNvSpPr/>
          <p:nvPr/>
        </p:nvSpPr>
        <p:spPr>
          <a:xfrm>
            <a:off x="11064240" y="1828800"/>
            <a:ext cx="2560320" cy="2670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5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BFAC90B-4E56-18B8-3600-3230FC717528}"/>
              </a:ext>
            </a:extLst>
          </p:cNvPr>
          <p:cNvSpPr txBox="1"/>
          <p:nvPr/>
        </p:nvSpPr>
        <p:spPr>
          <a:xfrm>
            <a:off x="11785305" y="1945787"/>
            <a:ext cx="1118190" cy="232371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1150" b="1">
                <a:solidFill>
                  <a:srgbClr val="524783"/>
                </a:solidFill>
                <a:latin typeface="Aptos"/>
              </a:rPr>
              <a:t>OBSERVABILITY</a:t>
            </a:r>
          </a:p>
        </p:txBody>
      </p:sp>
      <p:pic>
        <p:nvPicPr>
          <p:cNvPr id="161" name="ObsIcon1">
            <a:extLst>
              <a:ext uri="{FF2B5EF4-FFF2-40B4-BE49-F238E27FC236}">
                <a16:creationId xmlns:a16="http://schemas.microsoft.com/office/drawing/2014/main" id="{BF119A3A-52D5-F307-F0F9-3A0150217F54}"/>
              </a:ext>
            </a:extLst>
          </p:cNvPr>
          <p:cNvPicPr/>
          <p:nvPr/>
        </p:nvPicPr>
        <p:blipFill>
          <a:blip r:embed="rId39"/>
          <a:stretch>
            <a:fillRect/>
          </a:stretch>
        </p:blipFill>
        <p:spPr>
          <a:xfrm>
            <a:off x="11770614" y="2354580"/>
            <a:ext cx="210312" cy="210312"/>
          </a:xfrm>
          <a:prstGeom prst="rect">
            <a:avLst/>
          </a:prstGeom>
        </p:spPr>
      </p:pic>
      <p:sp>
        <p:nvSpPr>
          <p:cNvPr id="162" name="TextBox 161">
            <a:extLst>
              <a:ext uri="{FF2B5EF4-FFF2-40B4-BE49-F238E27FC236}">
                <a16:creationId xmlns:a16="http://schemas.microsoft.com/office/drawing/2014/main" id="{26260E8C-BCD9-F9F3-FDB9-BF2615A729E3}"/>
              </a:ext>
            </a:extLst>
          </p:cNvPr>
          <p:cNvSpPr txBox="1"/>
          <p:nvPr/>
        </p:nvSpPr>
        <p:spPr>
          <a:xfrm>
            <a:off x="12126316" y="2356855"/>
            <a:ext cx="449739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 dirty="0">
                <a:solidFill>
                  <a:srgbClr val="23272D"/>
                </a:solidFill>
                <a:latin typeface="Aptos"/>
              </a:rPr>
              <a:t>Tracing</a:t>
            </a:r>
          </a:p>
        </p:txBody>
      </p:sp>
      <p:pic>
        <p:nvPicPr>
          <p:cNvPr id="163" name="ObsIcon2">
            <a:extLst>
              <a:ext uri="{FF2B5EF4-FFF2-40B4-BE49-F238E27FC236}">
                <a16:creationId xmlns:a16="http://schemas.microsoft.com/office/drawing/2014/main" id="{2ABEE562-1E15-06A1-5F71-E120B082EACA}"/>
              </a:ext>
            </a:extLst>
          </p:cNvPr>
          <p:cNvPicPr/>
          <p:nvPr/>
        </p:nvPicPr>
        <p:blipFill>
          <a:blip r:embed="rId40"/>
          <a:stretch>
            <a:fillRect/>
          </a:stretch>
        </p:blipFill>
        <p:spPr>
          <a:xfrm>
            <a:off x="11770614" y="2711196"/>
            <a:ext cx="210312" cy="210312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30BFE9EA-34BD-7E46-2245-4EFBBC1C0D8F}"/>
              </a:ext>
            </a:extLst>
          </p:cNvPr>
          <p:cNvSpPr txBox="1"/>
          <p:nvPr/>
        </p:nvSpPr>
        <p:spPr>
          <a:xfrm>
            <a:off x="12126316" y="2713471"/>
            <a:ext cx="459357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23272D"/>
                </a:solidFill>
                <a:latin typeface="Aptos"/>
              </a:rPr>
              <a:t>Metrics</a:t>
            </a:r>
          </a:p>
        </p:txBody>
      </p:sp>
      <p:pic>
        <p:nvPicPr>
          <p:cNvPr id="165" name="ObsIcon3">
            <a:extLst>
              <a:ext uri="{FF2B5EF4-FFF2-40B4-BE49-F238E27FC236}">
                <a16:creationId xmlns:a16="http://schemas.microsoft.com/office/drawing/2014/main" id="{DF6B0833-CF17-80BE-4BCC-D458FF124AAA}"/>
              </a:ext>
            </a:extLst>
          </p:cNvPr>
          <p:cNvPicPr/>
          <p:nvPr/>
        </p:nvPicPr>
        <p:blipFill>
          <a:blip r:embed="rId41"/>
          <a:stretch>
            <a:fillRect/>
          </a:stretch>
        </p:blipFill>
        <p:spPr>
          <a:xfrm>
            <a:off x="11770614" y="3067812"/>
            <a:ext cx="210312" cy="210312"/>
          </a:xfrm>
          <a:prstGeom prst="rect">
            <a:avLst/>
          </a:prstGeom>
        </p:spPr>
      </p:pic>
      <p:sp>
        <p:nvSpPr>
          <p:cNvPr id="166" name="TextBox 165">
            <a:extLst>
              <a:ext uri="{FF2B5EF4-FFF2-40B4-BE49-F238E27FC236}">
                <a16:creationId xmlns:a16="http://schemas.microsoft.com/office/drawing/2014/main" id="{101E0224-0A71-42F3-1A1F-1BD2BC82A626}"/>
              </a:ext>
            </a:extLst>
          </p:cNvPr>
          <p:cNvSpPr txBox="1"/>
          <p:nvPr/>
        </p:nvSpPr>
        <p:spPr>
          <a:xfrm>
            <a:off x="12126316" y="3070087"/>
            <a:ext cx="468975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23272D"/>
                </a:solidFill>
                <a:latin typeface="Aptos"/>
              </a:rPr>
              <a:t>Logging</a:t>
            </a:r>
          </a:p>
        </p:txBody>
      </p:sp>
      <p:pic>
        <p:nvPicPr>
          <p:cNvPr id="167" name="ObsIcon4">
            <a:extLst>
              <a:ext uri="{FF2B5EF4-FFF2-40B4-BE49-F238E27FC236}">
                <a16:creationId xmlns:a16="http://schemas.microsoft.com/office/drawing/2014/main" id="{17119D25-80A4-1B54-F3B9-80B8A0305709}"/>
              </a:ext>
            </a:extLst>
          </p:cNvPr>
          <p:cNvPicPr/>
          <p:nvPr/>
        </p:nvPicPr>
        <p:blipFill>
          <a:blip r:embed="rId42"/>
          <a:stretch>
            <a:fillRect/>
          </a:stretch>
        </p:blipFill>
        <p:spPr>
          <a:xfrm>
            <a:off x="11770614" y="3424428"/>
            <a:ext cx="210312" cy="210312"/>
          </a:xfrm>
          <a:prstGeom prst="rect">
            <a:avLst/>
          </a:prstGeom>
        </p:spPr>
      </p:pic>
      <p:sp>
        <p:nvSpPr>
          <p:cNvPr id="168" name="TextBox 167">
            <a:extLst>
              <a:ext uri="{FF2B5EF4-FFF2-40B4-BE49-F238E27FC236}">
                <a16:creationId xmlns:a16="http://schemas.microsoft.com/office/drawing/2014/main" id="{11083488-2DB7-C30F-6B65-6544058CF2F8}"/>
              </a:ext>
            </a:extLst>
          </p:cNvPr>
          <p:cNvSpPr txBox="1"/>
          <p:nvPr/>
        </p:nvSpPr>
        <p:spPr>
          <a:xfrm>
            <a:off x="12126316" y="3426703"/>
            <a:ext cx="626069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23272D"/>
                </a:solidFill>
                <a:latin typeface="Aptos"/>
              </a:rPr>
              <a:t>Evaluation</a:t>
            </a:r>
          </a:p>
        </p:txBody>
      </p:sp>
      <p:pic>
        <p:nvPicPr>
          <p:cNvPr id="169" name="ObsIcon5">
            <a:extLst>
              <a:ext uri="{FF2B5EF4-FFF2-40B4-BE49-F238E27FC236}">
                <a16:creationId xmlns:a16="http://schemas.microsoft.com/office/drawing/2014/main" id="{6629A951-8CF2-8BBC-FE74-1DA8B7C6878D}"/>
              </a:ext>
            </a:extLst>
          </p:cNvPr>
          <p:cNvPicPr/>
          <p:nvPr/>
        </p:nvPicPr>
        <p:blipFill>
          <a:blip r:embed="rId43"/>
          <a:stretch>
            <a:fillRect/>
          </a:stretch>
        </p:blipFill>
        <p:spPr>
          <a:xfrm>
            <a:off x="11770614" y="3781044"/>
            <a:ext cx="210312" cy="210312"/>
          </a:xfrm>
          <a:prstGeom prst="rect">
            <a:avLst/>
          </a:prstGeom>
        </p:spPr>
      </p:pic>
      <p:sp>
        <p:nvSpPr>
          <p:cNvPr id="170" name="TextBox 169">
            <a:extLst>
              <a:ext uri="{FF2B5EF4-FFF2-40B4-BE49-F238E27FC236}">
                <a16:creationId xmlns:a16="http://schemas.microsoft.com/office/drawing/2014/main" id="{6C45A9BE-B1FE-19FE-13A3-202599473E87}"/>
              </a:ext>
            </a:extLst>
          </p:cNvPr>
          <p:cNvSpPr txBox="1"/>
          <p:nvPr/>
        </p:nvSpPr>
        <p:spPr>
          <a:xfrm>
            <a:off x="12126316" y="3783319"/>
            <a:ext cx="501035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23272D"/>
                </a:solidFill>
                <a:latin typeface="Aptos"/>
              </a:rPr>
              <a:t>Auditing</a:t>
            </a:r>
          </a:p>
        </p:txBody>
      </p:sp>
      <p:pic>
        <p:nvPicPr>
          <p:cNvPr id="171" name="ObsIcon6">
            <a:extLst>
              <a:ext uri="{FF2B5EF4-FFF2-40B4-BE49-F238E27FC236}">
                <a16:creationId xmlns:a16="http://schemas.microsoft.com/office/drawing/2014/main" id="{EED80731-C63A-C508-0484-9FF16018D4A0}"/>
              </a:ext>
            </a:extLst>
          </p:cNvPr>
          <p:cNvPicPr/>
          <p:nvPr/>
        </p:nvPicPr>
        <p:blipFill>
          <a:blip r:embed="rId44"/>
          <a:stretch>
            <a:fillRect/>
          </a:stretch>
        </p:blipFill>
        <p:spPr>
          <a:xfrm>
            <a:off x="11770614" y="4139488"/>
            <a:ext cx="210312" cy="210312"/>
          </a:xfrm>
          <a:prstGeom prst="rect">
            <a:avLst/>
          </a:prstGeom>
        </p:spPr>
      </p:pic>
      <p:sp>
        <p:nvSpPr>
          <p:cNvPr id="172" name="TextBox 171">
            <a:extLst>
              <a:ext uri="{FF2B5EF4-FFF2-40B4-BE49-F238E27FC236}">
                <a16:creationId xmlns:a16="http://schemas.microsoft.com/office/drawing/2014/main" id="{4762BDF4-D7EF-08FC-5577-F9BFAE4DA3AD}"/>
              </a:ext>
            </a:extLst>
          </p:cNvPr>
          <p:cNvSpPr txBox="1"/>
          <p:nvPr/>
        </p:nvSpPr>
        <p:spPr>
          <a:xfrm>
            <a:off x="12126316" y="4139935"/>
            <a:ext cx="792781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23272D"/>
                </a:solidFill>
                <a:latin typeface="Aptos"/>
              </a:rPr>
              <a:t>Cost Tracking</a:t>
            </a:r>
          </a:p>
        </p:txBody>
      </p:sp>
      <p:sp>
        <p:nvSpPr>
          <p:cNvPr id="173" name="Rounded Rectangle 172">
            <a:extLst>
              <a:ext uri="{FF2B5EF4-FFF2-40B4-BE49-F238E27FC236}">
                <a16:creationId xmlns:a16="http://schemas.microsoft.com/office/drawing/2014/main" id="{2F46C7DC-917C-0092-5E75-0539B8A462A5}"/>
              </a:ext>
            </a:extLst>
          </p:cNvPr>
          <p:cNvSpPr/>
          <p:nvPr/>
        </p:nvSpPr>
        <p:spPr>
          <a:xfrm>
            <a:off x="11064240" y="6291072"/>
            <a:ext cx="2560320" cy="1792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9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7B1F6D0-8D34-0E8D-80E6-93D2119219A2}"/>
              </a:ext>
            </a:extLst>
          </p:cNvPr>
          <p:cNvSpPr txBox="1"/>
          <p:nvPr/>
        </p:nvSpPr>
        <p:spPr>
          <a:xfrm>
            <a:off x="11455887" y="6407943"/>
            <a:ext cx="1777025" cy="22345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1092" b="1">
                <a:solidFill>
                  <a:srgbClr val="29744C"/>
                </a:solidFill>
                <a:latin typeface="Aptos"/>
              </a:rPr>
              <a:t>GOVERNANCE &amp; SECURITY</a:t>
            </a:r>
          </a:p>
        </p:txBody>
      </p:sp>
      <p:pic>
        <p:nvPicPr>
          <p:cNvPr id="175" name="GovIcon1">
            <a:extLst>
              <a:ext uri="{FF2B5EF4-FFF2-40B4-BE49-F238E27FC236}">
                <a16:creationId xmlns:a16="http://schemas.microsoft.com/office/drawing/2014/main" id="{7F0A0652-1EDA-D12A-1D83-EDB7A40E0E33}"/>
              </a:ext>
            </a:extLst>
          </p:cNvPr>
          <p:cNvPicPr/>
          <p:nvPr/>
        </p:nvPicPr>
        <p:blipFill>
          <a:blip r:embed="rId45"/>
          <a:stretch>
            <a:fillRect/>
          </a:stretch>
        </p:blipFill>
        <p:spPr>
          <a:xfrm>
            <a:off x="11300155" y="6761530"/>
            <a:ext cx="274320" cy="274320"/>
          </a:xfrm>
          <a:prstGeom prst="rect">
            <a:avLst/>
          </a:prstGeom>
        </p:spPr>
      </p:pic>
      <p:sp>
        <p:nvSpPr>
          <p:cNvPr id="176" name="TextBox 175">
            <a:extLst>
              <a:ext uri="{FF2B5EF4-FFF2-40B4-BE49-F238E27FC236}">
                <a16:creationId xmlns:a16="http://schemas.microsoft.com/office/drawing/2014/main" id="{AD58792F-94AC-FE6E-FAEE-A59A570D18E1}"/>
              </a:ext>
            </a:extLst>
          </p:cNvPr>
          <p:cNvSpPr txBox="1"/>
          <p:nvPr/>
        </p:nvSpPr>
        <p:spPr>
          <a:xfrm>
            <a:off x="11656771" y="6796267"/>
            <a:ext cx="1674433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68707A"/>
                </a:solidFill>
                <a:latin typeface="Aptos"/>
              </a:rPr>
              <a:t>Authentication / Authorization</a:t>
            </a:r>
          </a:p>
        </p:txBody>
      </p:sp>
      <p:pic>
        <p:nvPicPr>
          <p:cNvPr id="177" name="GovIcon2">
            <a:extLst>
              <a:ext uri="{FF2B5EF4-FFF2-40B4-BE49-F238E27FC236}">
                <a16:creationId xmlns:a16="http://schemas.microsoft.com/office/drawing/2014/main" id="{1D84A440-7399-3FEC-1105-A7F1CBA0FEE0}"/>
              </a:ext>
            </a:extLst>
          </p:cNvPr>
          <p:cNvPicPr/>
          <p:nvPr/>
        </p:nvPicPr>
        <p:blipFill>
          <a:blip r:embed="rId46"/>
          <a:stretch>
            <a:fillRect/>
          </a:stretch>
        </p:blipFill>
        <p:spPr>
          <a:xfrm>
            <a:off x="11300155" y="7017562"/>
            <a:ext cx="274320" cy="274320"/>
          </a:xfrm>
          <a:prstGeom prst="rect">
            <a:avLst/>
          </a:prstGeom>
        </p:spPr>
      </p:pic>
      <p:sp>
        <p:nvSpPr>
          <p:cNvPr id="178" name="TextBox 177">
            <a:extLst>
              <a:ext uri="{FF2B5EF4-FFF2-40B4-BE49-F238E27FC236}">
                <a16:creationId xmlns:a16="http://schemas.microsoft.com/office/drawing/2014/main" id="{F36A607F-10AD-9695-710F-B8B4BCEC2AD5}"/>
              </a:ext>
            </a:extLst>
          </p:cNvPr>
          <p:cNvSpPr txBox="1"/>
          <p:nvPr/>
        </p:nvSpPr>
        <p:spPr>
          <a:xfrm>
            <a:off x="11656771" y="7052299"/>
            <a:ext cx="1732141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68707A"/>
                </a:solidFill>
                <a:latin typeface="Aptos"/>
              </a:rPr>
              <a:t>Row / Document Level Security</a:t>
            </a:r>
          </a:p>
        </p:txBody>
      </p:sp>
      <p:pic>
        <p:nvPicPr>
          <p:cNvPr id="179" name="GovIcon3">
            <a:extLst>
              <a:ext uri="{FF2B5EF4-FFF2-40B4-BE49-F238E27FC236}">
                <a16:creationId xmlns:a16="http://schemas.microsoft.com/office/drawing/2014/main" id="{235437D1-ECEA-1C25-7D68-ACA63CE19E4A}"/>
              </a:ext>
            </a:extLst>
          </p:cNvPr>
          <p:cNvPicPr/>
          <p:nvPr/>
        </p:nvPicPr>
        <p:blipFill>
          <a:blip r:embed="rId47"/>
          <a:stretch>
            <a:fillRect/>
          </a:stretch>
        </p:blipFill>
        <p:spPr>
          <a:xfrm>
            <a:off x="11300155" y="7273594"/>
            <a:ext cx="274320" cy="274320"/>
          </a:xfrm>
          <a:prstGeom prst="rect">
            <a:avLst/>
          </a:prstGeom>
        </p:spPr>
      </p:pic>
      <p:sp>
        <p:nvSpPr>
          <p:cNvPr id="180" name="TextBox 179">
            <a:extLst>
              <a:ext uri="{FF2B5EF4-FFF2-40B4-BE49-F238E27FC236}">
                <a16:creationId xmlns:a16="http://schemas.microsoft.com/office/drawing/2014/main" id="{5BC31F6B-CE5C-9C7C-F05D-78846AE36F0E}"/>
              </a:ext>
            </a:extLst>
          </p:cNvPr>
          <p:cNvSpPr txBox="1"/>
          <p:nvPr/>
        </p:nvSpPr>
        <p:spPr>
          <a:xfrm>
            <a:off x="11656771" y="7308331"/>
            <a:ext cx="1427570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68707A"/>
                </a:solidFill>
                <a:latin typeface="Aptos"/>
              </a:rPr>
              <a:t>PII Protection / Redaction</a:t>
            </a:r>
          </a:p>
        </p:txBody>
      </p:sp>
      <p:pic>
        <p:nvPicPr>
          <p:cNvPr id="181" name="GovIcon4">
            <a:extLst>
              <a:ext uri="{FF2B5EF4-FFF2-40B4-BE49-F238E27FC236}">
                <a16:creationId xmlns:a16="http://schemas.microsoft.com/office/drawing/2014/main" id="{84381134-5EC4-43F3-FB90-FB658DE3CEB5}"/>
              </a:ext>
            </a:extLst>
          </p:cNvPr>
          <p:cNvPicPr/>
          <p:nvPr/>
        </p:nvPicPr>
        <p:blipFill>
          <a:blip r:embed="rId48"/>
          <a:stretch>
            <a:fillRect/>
          </a:stretch>
        </p:blipFill>
        <p:spPr>
          <a:xfrm>
            <a:off x="11300155" y="7529626"/>
            <a:ext cx="274320" cy="274320"/>
          </a:xfrm>
          <a:prstGeom prst="rect">
            <a:avLst/>
          </a:prstGeom>
        </p:spPr>
      </p:pic>
      <p:sp>
        <p:nvSpPr>
          <p:cNvPr id="182" name="TextBox 181">
            <a:extLst>
              <a:ext uri="{FF2B5EF4-FFF2-40B4-BE49-F238E27FC236}">
                <a16:creationId xmlns:a16="http://schemas.microsoft.com/office/drawing/2014/main" id="{E3E7B78E-1CEA-B7DA-35A7-2E2876D7E646}"/>
              </a:ext>
            </a:extLst>
          </p:cNvPr>
          <p:cNvSpPr txBox="1"/>
          <p:nvPr/>
        </p:nvSpPr>
        <p:spPr>
          <a:xfrm>
            <a:off x="11656771" y="7564363"/>
            <a:ext cx="1106970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68707A"/>
                </a:solidFill>
                <a:latin typeface="Aptos"/>
              </a:rPr>
              <a:t>Policy Enforcement</a:t>
            </a:r>
          </a:p>
        </p:txBody>
      </p:sp>
      <p:pic>
        <p:nvPicPr>
          <p:cNvPr id="183" name="GovIcon5">
            <a:extLst>
              <a:ext uri="{FF2B5EF4-FFF2-40B4-BE49-F238E27FC236}">
                <a16:creationId xmlns:a16="http://schemas.microsoft.com/office/drawing/2014/main" id="{FF1FFA70-ADCF-1B45-FBA6-E03FF90CC47F}"/>
              </a:ext>
            </a:extLst>
          </p:cNvPr>
          <p:cNvPicPr/>
          <p:nvPr/>
        </p:nvPicPr>
        <p:blipFill>
          <a:blip r:embed="rId49"/>
          <a:stretch>
            <a:fillRect/>
          </a:stretch>
        </p:blipFill>
        <p:spPr>
          <a:xfrm>
            <a:off x="11300155" y="7785658"/>
            <a:ext cx="274320" cy="274320"/>
          </a:xfrm>
          <a:prstGeom prst="rect">
            <a:avLst/>
          </a:prstGeom>
        </p:spPr>
      </p:pic>
      <p:sp>
        <p:nvSpPr>
          <p:cNvPr id="184" name="TextBox 183">
            <a:extLst>
              <a:ext uri="{FF2B5EF4-FFF2-40B4-BE49-F238E27FC236}">
                <a16:creationId xmlns:a16="http://schemas.microsoft.com/office/drawing/2014/main" id="{1CE9B46C-0903-8C1F-CF2B-AF1F32ED0CF2}"/>
              </a:ext>
            </a:extLst>
          </p:cNvPr>
          <p:cNvSpPr txBox="1"/>
          <p:nvPr/>
        </p:nvSpPr>
        <p:spPr>
          <a:xfrm>
            <a:off x="11656771" y="7820395"/>
            <a:ext cx="1135824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68707A"/>
                </a:solidFill>
                <a:latin typeface="Aptos"/>
              </a:rPr>
              <a:t>Audit &amp; Compliance</a:t>
            </a:r>
          </a:p>
        </p:txBody>
      </p:sp>
      <p:sp>
        <p:nvSpPr>
          <p:cNvPr id="187" name="Rounded Rectangle 186">
            <a:extLst>
              <a:ext uri="{FF2B5EF4-FFF2-40B4-BE49-F238E27FC236}">
                <a16:creationId xmlns:a16="http://schemas.microsoft.com/office/drawing/2014/main" id="{56937B9A-B70C-A797-111A-3A274C158956}"/>
              </a:ext>
            </a:extLst>
          </p:cNvPr>
          <p:cNvSpPr/>
          <p:nvPr/>
        </p:nvSpPr>
        <p:spPr>
          <a:xfrm>
            <a:off x="530352" y="8321040"/>
            <a:ext cx="13075920" cy="694944"/>
          </a:xfrm>
          <a:prstGeom prst="roundRect">
            <a:avLst/>
          </a:prstGeom>
          <a:solidFill>
            <a:srgbClr val="FDF8E9"/>
          </a:solidFill>
          <a:ln w="12700">
            <a:solidFill>
              <a:srgbClr val="E5B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56BF1A3D-582B-E4C9-9835-23BB500ED1CA}"/>
              </a:ext>
            </a:extLst>
          </p:cNvPr>
          <p:cNvSpPr txBox="1"/>
          <p:nvPr/>
        </p:nvSpPr>
        <p:spPr>
          <a:xfrm>
            <a:off x="6303457" y="8313113"/>
            <a:ext cx="1109086" cy="2535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US" sz="1288" b="1" dirty="0">
                <a:solidFill>
                  <a:srgbClr val="DD8B30"/>
                </a:solidFill>
                <a:latin typeface="Aptos"/>
              </a:rPr>
              <a:t>KEY BENEFITS</a:t>
            </a:r>
          </a:p>
        </p:txBody>
      </p:sp>
      <p:pic>
        <p:nvPicPr>
          <p:cNvPr id="189" name="KbIcon1">
            <a:extLst>
              <a:ext uri="{FF2B5EF4-FFF2-40B4-BE49-F238E27FC236}">
                <a16:creationId xmlns:a16="http://schemas.microsoft.com/office/drawing/2014/main" id="{EA5F7905-1751-5F89-5CC4-E1824F74FE51}"/>
              </a:ext>
            </a:extLst>
          </p:cNvPr>
          <p:cNvPicPr/>
          <p:nvPr/>
        </p:nvPicPr>
        <p:blipFill>
          <a:blip r:embed="rId50"/>
          <a:stretch>
            <a:fillRect/>
          </a:stretch>
        </p:blipFill>
        <p:spPr>
          <a:xfrm>
            <a:off x="832104" y="8595360"/>
            <a:ext cx="274320" cy="274320"/>
          </a:xfrm>
          <a:prstGeom prst="rect">
            <a:avLst/>
          </a:prstGeom>
        </p:spPr>
      </p:pic>
      <p:sp>
        <p:nvSpPr>
          <p:cNvPr id="190" name="TextBox 189">
            <a:extLst>
              <a:ext uri="{FF2B5EF4-FFF2-40B4-BE49-F238E27FC236}">
                <a16:creationId xmlns:a16="http://schemas.microsoft.com/office/drawing/2014/main" id="{1B89A5B6-6AC2-BA85-8EF8-2E40FCC717D0}"/>
              </a:ext>
            </a:extLst>
          </p:cNvPr>
          <p:cNvSpPr txBox="1"/>
          <p:nvPr/>
        </p:nvSpPr>
        <p:spPr>
          <a:xfrm>
            <a:off x="1170432" y="8615923"/>
            <a:ext cx="686983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68707A"/>
                </a:solidFill>
                <a:latin typeface="Aptos"/>
              </a:rPr>
              <a:t>Goal Driven</a:t>
            </a:r>
          </a:p>
        </p:txBody>
      </p:sp>
      <p:pic>
        <p:nvPicPr>
          <p:cNvPr id="191" name="KbIcon2">
            <a:extLst>
              <a:ext uri="{FF2B5EF4-FFF2-40B4-BE49-F238E27FC236}">
                <a16:creationId xmlns:a16="http://schemas.microsoft.com/office/drawing/2014/main" id="{729FC902-05E1-DB1A-212B-35F1CE89C92F}"/>
              </a:ext>
            </a:extLst>
          </p:cNvPr>
          <p:cNvPicPr/>
          <p:nvPr/>
        </p:nvPicPr>
        <p:blipFill>
          <a:blip r:embed="rId51"/>
          <a:stretch>
            <a:fillRect/>
          </a:stretch>
        </p:blipFill>
        <p:spPr>
          <a:xfrm>
            <a:off x="2859024" y="8595360"/>
            <a:ext cx="243840" cy="274320"/>
          </a:xfrm>
          <a:prstGeom prst="rect">
            <a:avLst/>
          </a:prstGeom>
        </p:spPr>
      </p:pic>
      <p:sp>
        <p:nvSpPr>
          <p:cNvPr id="192" name="TextBox 191">
            <a:extLst>
              <a:ext uri="{FF2B5EF4-FFF2-40B4-BE49-F238E27FC236}">
                <a16:creationId xmlns:a16="http://schemas.microsoft.com/office/drawing/2014/main" id="{F7D5D31A-98D7-18ED-CCE8-EFE2FA48B422}"/>
              </a:ext>
            </a:extLst>
          </p:cNvPr>
          <p:cNvSpPr txBox="1"/>
          <p:nvPr/>
        </p:nvSpPr>
        <p:spPr>
          <a:xfrm>
            <a:off x="3182112" y="8540742"/>
            <a:ext cx="1490088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68707A"/>
                </a:solidFill>
                <a:latin typeface="Aptos"/>
              </a:rPr>
              <a:t>Dynamic Planning
(Re-plan as state changes)</a:t>
            </a:r>
          </a:p>
        </p:txBody>
      </p:sp>
      <p:pic>
        <p:nvPicPr>
          <p:cNvPr id="193" name="KbIcon3">
            <a:extLst>
              <a:ext uri="{FF2B5EF4-FFF2-40B4-BE49-F238E27FC236}">
                <a16:creationId xmlns:a16="http://schemas.microsoft.com/office/drawing/2014/main" id="{F8CF7B6C-280E-A98C-99CA-55E812166621}"/>
              </a:ext>
            </a:extLst>
          </p:cNvPr>
          <p:cNvPicPr/>
          <p:nvPr/>
        </p:nvPicPr>
        <p:blipFill>
          <a:blip r:embed="rId52"/>
          <a:stretch>
            <a:fillRect/>
          </a:stretch>
        </p:blipFill>
        <p:spPr>
          <a:xfrm>
            <a:off x="4917948" y="8595360"/>
            <a:ext cx="259080" cy="274320"/>
          </a:xfrm>
          <a:prstGeom prst="rect">
            <a:avLst/>
          </a:prstGeom>
        </p:spPr>
      </p:pic>
      <p:sp>
        <p:nvSpPr>
          <p:cNvPr id="194" name="TextBox 193">
            <a:extLst>
              <a:ext uri="{FF2B5EF4-FFF2-40B4-BE49-F238E27FC236}">
                <a16:creationId xmlns:a16="http://schemas.microsoft.com/office/drawing/2014/main" id="{F7F22506-93C7-57A7-05F2-9B613D55E201}"/>
              </a:ext>
            </a:extLst>
          </p:cNvPr>
          <p:cNvSpPr txBox="1"/>
          <p:nvPr/>
        </p:nvSpPr>
        <p:spPr>
          <a:xfrm>
            <a:off x="5248656" y="8540742"/>
            <a:ext cx="1106970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 dirty="0">
                <a:solidFill>
                  <a:srgbClr val="68707A"/>
                </a:solidFill>
                <a:latin typeface="Aptos"/>
              </a:rPr>
              <a:t>Capability Oriented
(Reusable Actions)</a:t>
            </a:r>
          </a:p>
        </p:txBody>
      </p:sp>
      <p:pic>
        <p:nvPicPr>
          <p:cNvPr id="195" name="KbIcon4">
            <a:extLst>
              <a:ext uri="{FF2B5EF4-FFF2-40B4-BE49-F238E27FC236}">
                <a16:creationId xmlns:a16="http://schemas.microsoft.com/office/drawing/2014/main" id="{918B69CA-9F7A-54A0-1284-AADFB3018FDF}"/>
              </a:ext>
            </a:extLst>
          </p:cNvPr>
          <p:cNvPicPr/>
          <p:nvPr/>
        </p:nvPicPr>
        <p:blipFill>
          <a:blip r:embed="rId53"/>
          <a:stretch>
            <a:fillRect/>
          </a:stretch>
        </p:blipFill>
        <p:spPr>
          <a:xfrm>
            <a:off x="6931152" y="8595360"/>
            <a:ext cx="274320" cy="274320"/>
          </a:xfrm>
          <a:prstGeom prst="rect">
            <a:avLst/>
          </a:prstGeom>
        </p:spPr>
      </p:pic>
      <p:sp>
        <p:nvSpPr>
          <p:cNvPr id="196" name="TextBox 195">
            <a:extLst>
              <a:ext uri="{FF2B5EF4-FFF2-40B4-BE49-F238E27FC236}">
                <a16:creationId xmlns:a16="http://schemas.microsoft.com/office/drawing/2014/main" id="{0EB72CDF-B955-F45C-50CB-99333A4DE8A3}"/>
              </a:ext>
            </a:extLst>
          </p:cNvPr>
          <p:cNvSpPr txBox="1"/>
          <p:nvPr/>
        </p:nvSpPr>
        <p:spPr>
          <a:xfrm>
            <a:off x="7269480" y="8615923"/>
            <a:ext cx="1172693" cy="20576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 dirty="0">
                <a:solidFill>
                  <a:srgbClr val="68707A"/>
                </a:solidFill>
                <a:latin typeface="Aptos"/>
              </a:rPr>
              <a:t>Tool &amp; Data Agnostic</a:t>
            </a:r>
          </a:p>
        </p:txBody>
      </p:sp>
      <p:pic>
        <p:nvPicPr>
          <p:cNvPr id="197" name="KbIcon5">
            <a:extLst>
              <a:ext uri="{FF2B5EF4-FFF2-40B4-BE49-F238E27FC236}">
                <a16:creationId xmlns:a16="http://schemas.microsoft.com/office/drawing/2014/main" id="{8A4D2B5F-7712-FC6C-661E-AB803547A584}"/>
              </a:ext>
            </a:extLst>
          </p:cNvPr>
          <p:cNvPicPr/>
          <p:nvPr/>
        </p:nvPicPr>
        <p:blipFill>
          <a:blip r:embed="rId54"/>
          <a:stretch>
            <a:fillRect/>
          </a:stretch>
        </p:blipFill>
        <p:spPr>
          <a:xfrm>
            <a:off x="8513064" y="8604504"/>
            <a:ext cx="274320" cy="256032"/>
          </a:xfrm>
          <a:prstGeom prst="rect">
            <a:avLst/>
          </a:prstGeom>
        </p:spPr>
      </p:pic>
      <p:sp>
        <p:nvSpPr>
          <p:cNvPr id="198" name="TextBox 197">
            <a:extLst>
              <a:ext uri="{FF2B5EF4-FFF2-40B4-BE49-F238E27FC236}">
                <a16:creationId xmlns:a16="http://schemas.microsoft.com/office/drawing/2014/main" id="{79348454-4450-E33A-5682-C449D3FC7695}"/>
              </a:ext>
            </a:extLst>
          </p:cNvPr>
          <p:cNvSpPr txBox="1"/>
          <p:nvPr/>
        </p:nvSpPr>
        <p:spPr>
          <a:xfrm>
            <a:off x="8851392" y="8540742"/>
            <a:ext cx="970715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68707A"/>
                </a:solidFill>
                <a:latin typeface="Aptos"/>
              </a:rPr>
              <a:t>Enterprise Ready
&amp; Scalable</a:t>
            </a:r>
          </a:p>
        </p:txBody>
      </p:sp>
      <p:pic>
        <p:nvPicPr>
          <p:cNvPr id="199" name="KbIcon6">
            <a:extLst>
              <a:ext uri="{FF2B5EF4-FFF2-40B4-BE49-F238E27FC236}">
                <a16:creationId xmlns:a16="http://schemas.microsoft.com/office/drawing/2014/main" id="{9578CF3A-DB39-A82A-F54A-EDC6FA65EE74}"/>
              </a:ext>
            </a:extLst>
          </p:cNvPr>
          <p:cNvPicPr/>
          <p:nvPr/>
        </p:nvPicPr>
        <p:blipFill>
          <a:blip r:embed="rId55"/>
          <a:stretch>
            <a:fillRect/>
          </a:stretch>
        </p:blipFill>
        <p:spPr>
          <a:xfrm>
            <a:off x="10131552" y="8595360"/>
            <a:ext cx="274320" cy="274320"/>
          </a:xfrm>
          <a:prstGeom prst="rect">
            <a:avLst/>
          </a:prstGeom>
        </p:spPr>
      </p:pic>
      <p:sp>
        <p:nvSpPr>
          <p:cNvPr id="200" name="TextBox 199">
            <a:extLst>
              <a:ext uri="{FF2B5EF4-FFF2-40B4-BE49-F238E27FC236}">
                <a16:creationId xmlns:a16="http://schemas.microsoft.com/office/drawing/2014/main" id="{47559962-0F18-944B-D831-EA22F0C157DB}"/>
              </a:ext>
            </a:extLst>
          </p:cNvPr>
          <p:cNvSpPr txBox="1"/>
          <p:nvPr/>
        </p:nvSpPr>
        <p:spPr>
          <a:xfrm>
            <a:off x="10469880" y="8540742"/>
            <a:ext cx="1264064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68707A"/>
                </a:solidFill>
                <a:latin typeface="Aptos"/>
              </a:rPr>
              <a:t>Observable, Governed
&amp; Compliant</a:t>
            </a:r>
          </a:p>
        </p:txBody>
      </p:sp>
      <p:pic>
        <p:nvPicPr>
          <p:cNvPr id="201" name="KbIcon7">
            <a:extLst>
              <a:ext uri="{FF2B5EF4-FFF2-40B4-BE49-F238E27FC236}">
                <a16:creationId xmlns:a16="http://schemas.microsoft.com/office/drawing/2014/main" id="{6B1355CB-A0D5-D1F0-0551-3D4B0240CE30}"/>
              </a:ext>
            </a:extLst>
          </p:cNvPr>
          <p:cNvPicPr/>
          <p:nvPr/>
        </p:nvPicPr>
        <p:blipFill>
          <a:blip r:embed="rId56"/>
          <a:stretch>
            <a:fillRect/>
          </a:stretch>
        </p:blipFill>
        <p:spPr>
          <a:xfrm>
            <a:off x="11960352" y="8595360"/>
            <a:ext cx="274320" cy="274320"/>
          </a:xfrm>
          <a:prstGeom prst="rect">
            <a:avLst/>
          </a:prstGeom>
        </p:spPr>
      </p:pic>
      <p:sp>
        <p:nvSpPr>
          <p:cNvPr id="202" name="TextBox 201">
            <a:extLst>
              <a:ext uri="{FF2B5EF4-FFF2-40B4-BE49-F238E27FC236}">
                <a16:creationId xmlns:a16="http://schemas.microsoft.com/office/drawing/2014/main" id="{32BD5435-29A7-23F0-2F23-25BA364AC222}"/>
              </a:ext>
            </a:extLst>
          </p:cNvPr>
          <p:cNvSpPr txBox="1"/>
          <p:nvPr/>
        </p:nvSpPr>
        <p:spPr>
          <a:xfrm>
            <a:off x="12298680" y="8540742"/>
            <a:ext cx="996363" cy="35612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lang="en-US" sz="977" b="0">
                <a:solidFill>
                  <a:srgbClr val="68707A"/>
                </a:solidFill>
                <a:latin typeface="Aptos"/>
              </a:rPr>
              <a:t>Built on Spring AI
&amp; JVM Ecosystem</a:t>
            </a:r>
          </a:p>
        </p:txBody>
      </p:sp>
      <p:cxnSp>
        <p:nvCxnSpPr>
          <p:cNvPr id="203" name="Connector 202">
            <a:extLst>
              <a:ext uri="{FF2B5EF4-FFF2-40B4-BE49-F238E27FC236}">
                <a16:creationId xmlns:a16="http://schemas.microsoft.com/office/drawing/2014/main" id="{013D7EF1-F19A-F9AB-5224-30078AA9CB2D}"/>
              </a:ext>
            </a:extLst>
          </p:cNvPr>
          <p:cNvCxnSpPr/>
          <p:nvPr/>
        </p:nvCxnSpPr>
        <p:spPr>
          <a:xfrm>
            <a:off x="6355080" y="5911596"/>
            <a:ext cx="0" cy="274320"/>
          </a:xfrm>
          <a:prstGeom prst="line">
            <a:avLst/>
          </a:prstGeom>
          <a:ln w="15240">
            <a:solidFill>
              <a:srgbClr val="687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79">
            <a:extLst>
              <a:ext uri="{FF2B5EF4-FFF2-40B4-BE49-F238E27FC236}">
                <a16:creationId xmlns:a16="http://schemas.microsoft.com/office/drawing/2014/main" id="{0FD0F7C2-AB37-97E4-B11B-997706E1D96F}"/>
              </a:ext>
            </a:extLst>
          </p:cNvPr>
          <p:cNvCxnSpPr/>
          <p:nvPr/>
        </p:nvCxnSpPr>
        <p:spPr>
          <a:xfrm>
            <a:off x="8395498" y="4517136"/>
            <a:ext cx="0" cy="274320"/>
          </a:xfrm>
          <a:prstGeom prst="line">
            <a:avLst/>
          </a:prstGeom>
          <a:ln w="16510">
            <a:solidFill>
              <a:srgbClr val="68707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79">
            <a:extLst>
              <a:ext uri="{FF2B5EF4-FFF2-40B4-BE49-F238E27FC236}">
                <a16:creationId xmlns:a16="http://schemas.microsoft.com/office/drawing/2014/main" id="{207C5857-8048-DB59-CC79-094E0D61E736}"/>
              </a:ext>
            </a:extLst>
          </p:cNvPr>
          <p:cNvCxnSpPr/>
          <p:nvPr/>
        </p:nvCxnSpPr>
        <p:spPr>
          <a:xfrm>
            <a:off x="4690872" y="3527298"/>
            <a:ext cx="0" cy="292608"/>
          </a:xfrm>
          <a:prstGeom prst="line">
            <a:avLst/>
          </a:prstGeom>
          <a:ln w="16510">
            <a:solidFill>
              <a:srgbClr val="68707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79">
            <a:extLst>
              <a:ext uri="{FF2B5EF4-FFF2-40B4-BE49-F238E27FC236}">
                <a16:creationId xmlns:a16="http://schemas.microsoft.com/office/drawing/2014/main" id="{9DD2FCE4-441C-5150-FC72-4A0728779F95}"/>
              </a:ext>
            </a:extLst>
          </p:cNvPr>
          <p:cNvCxnSpPr/>
          <p:nvPr/>
        </p:nvCxnSpPr>
        <p:spPr>
          <a:xfrm>
            <a:off x="4088530" y="4517136"/>
            <a:ext cx="0" cy="274320"/>
          </a:xfrm>
          <a:prstGeom prst="line">
            <a:avLst/>
          </a:prstGeom>
          <a:ln w="16510">
            <a:solidFill>
              <a:srgbClr val="68707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Elbow Connector 234">
            <a:extLst>
              <a:ext uri="{FF2B5EF4-FFF2-40B4-BE49-F238E27FC236}">
                <a16:creationId xmlns:a16="http://schemas.microsoft.com/office/drawing/2014/main" id="{8207479E-E5A5-5E92-5C55-DD2ACE225AD2}"/>
              </a:ext>
            </a:extLst>
          </p:cNvPr>
          <p:cNvCxnSpPr>
            <a:stCxn id="120" idx="3"/>
            <a:endCxn id="173" idx="1"/>
          </p:cNvCxnSpPr>
          <p:nvPr/>
        </p:nvCxnSpPr>
        <p:spPr>
          <a:xfrm>
            <a:off x="10771632" y="6631686"/>
            <a:ext cx="292608" cy="555498"/>
          </a:xfrm>
          <a:prstGeom prst="bentConnector3">
            <a:avLst/>
          </a:prstGeom>
          <a:ln w="16510">
            <a:solidFill>
              <a:srgbClr val="6870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700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785</Words>
  <Application>Microsoft Macintosh PowerPoint</Application>
  <PresentationFormat>Custom</PresentationFormat>
  <Paragraphs>178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Segoe UI Symbol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sourav mahapatra</cp:lastModifiedBy>
  <cp:revision>48</cp:revision>
  <dcterms:created xsi:type="dcterms:W3CDTF">2013-01-27T09:14:16Z</dcterms:created>
  <dcterms:modified xsi:type="dcterms:W3CDTF">2026-08-30T15:08:50Z</dcterms:modified>
  <cp:category/>
</cp:coreProperties>
</file>